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5143500" cx="9144000"/>
  <p:notesSz cx="6858000" cy="9144000"/>
  <p:embeddedFontLst>
    <p:embeddedFont>
      <p:font typeface="Roboto Medium"/>
      <p:regular r:id="rId43"/>
      <p:bold r:id="rId44"/>
      <p:italic r:id="rId45"/>
      <p:boldItalic r:id="rId46"/>
    </p:embeddedFont>
    <p:embeddedFont>
      <p:font typeface="Roboto"/>
      <p:regular r:id="rId47"/>
      <p:bold r:id="rId48"/>
      <p:italic r:id="rId49"/>
      <p:boldItalic r:id="rId50"/>
    </p:embeddedFont>
    <p:embeddedFont>
      <p:font typeface="PT Sans Narrow"/>
      <p:regular r:id="rId51"/>
      <p:bold r:id="rId52"/>
    </p:embeddedFont>
    <p:embeddedFont>
      <p:font typeface="Average"/>
      <p:regular r:id="rId53"/>
    </p:embeddedFont>
    <p:embeddedFont>
      <p:font typeface="Roboto Light"/>
      <p:regular r:id="rId54"/>
      <p:bold r:id="rId55"/>
      <p:italic r:id="rId56"/>
      <p:boldItalic r:id="rId57"/>
    </p:embeddedFont>
    <p:embeddedFont>
      <p:font typeface="Francois One"/>
      <p:regular r:id="rId58"/>
    </p:embeddedFont>
    <p:embeddedFont>
      <p:font typeface="Open Sans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3" roundtripDataSignature="AMtx7mhynT+1MNGPbrrYKxVYaZQQ3MvF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6D1F83A-98AF-45E6-BA8B-4BE50BCD673F}">
  <a:tblStyle styleId="{06D1F83A-98AF-45E6-BA8B-4BE50BCD673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RobotoMedium-bold.fntdata"/><Relationship Id="rId43" Type="http://schemas.openxmlformats.org/officeDocument/2006/relationships/font" Target="fonts/RobotoMedium-regular.fntdata"/><Relationship Id="rId46" Type="http://schemas.openxmlformats.org/officeDocument/2006/relationships/font" Target="fonts/RobotoMedium-boldItalic.fntdata"/><Relationship Id="rId45" Type="http://schemas.openxmlformats.org/officeDocument/2006/relationships/font" Target="fonts/RobotoMedium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-bold.fntdata"/><Relationship Id="rId47" Type="http://schemas.openxmlformats.org/officeDocument/2006/relationships/font" Target="fonts/Roboto-regular.fntdata"/><Relationship Id="rId49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OpenSans-boldItalic.fntdata"/><Relationship Id="rId61" Type="http://schemas.openxmlformats.org/officeDocument/2006/relationships/font" Target="fonts/OpenSans-italic.fntdata"/><Relationship Id="rId20" Type="http://schemas.openxmlformats.org/officeDocument/2006/relationships/slide" Target="slides/slide15.xml"/><Relationship Id="rId63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OpenSans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TSansNarrow-regular.fntdata"/><Relationship Id="rId50" Type="http://schemas.openxmlformats.org/officeDocument/2006/relationships/font" Target="fonts/Roboto-boldItalic.fntdata"/><Relationship Id="rId53" Type="http://schemas.openxmlformats.org/officeDocument/2006/relationships/font" Target="fonts/Average-regular.fntdata"/><Relationship Id="rId52" Type="http://schemas.openxmlformats.org/officeDocument/2006/relationships/font" Target="fonts/PTSansNarrow-bold.fntdata"/><Relationship Id="rId11" Type="http://schemas.openxmlformats.org/officeDocument/2006/relationships/slide" Target="slides/slide6.xml"/><Relationship Id="rId55" Type="http://schemas.openxmlformats.org/officeDocument/2006/relationships/font" Target="fonts/RobotoLight-bold.fntdata"/><Relationship Id="rId10" Type="http://schemas.openxmlformats.org/officeDocument/2006/relationships/slide" Target="slides/slide5.xml"/><Relationship Id="rId54" Type="http://schemas.openxmlformats.org/officeDocument/2006/relationships/font" Target="fonts/RobotoLight-regular.fntdata"/><Relationship Id="rId13" Type="http://schemas.openxmlformats.org/officeDocument/2006/relationships/slide" Target="slides/slide8.xml"/><Relationship Id="rId57" Type="http://schemas.openxmlformats.org/officeDocument/2006/relationships/font" Target="fonts/RobotoLight-boldItalic.fntdata"/><Relationship Id="rId12" Type="http://schemas.openxmlformats.org/officeDocument/2006/relationships/slide" Target="slides/slide7.xml"/><Relationship Id="rId56" Type="http://schemas.openxmlformats.org/officeDocument/2006/relationships/font" Target="fonts/RobotoLight-italic.fntdata"/><Relationship Id="rId15" Type="http://schemas.openxmlformats.org/officeDocument/2006/relationships/slide" Target="slides/slide10.xml"/><Relationship Id="rId59" Type="http://schemas.openxmlformats.org/officeDocument/2006/relationships/font" Target="fonts/OpenSans-regular.fntdata"/><Relationship Id="rId14" Type="http://schemas.openxmlformats.org/officeDocument/2006/relationships/slide" Target="slides/slide9.xml"/><Relationship Id="rId58" Type="http://schemas.openxmlformats.org/officeDocument/2006/relationships/font" Target="fonts/FrancoisOne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6a8c14dc2e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6a8c14dc2e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Slides template credit: Josh Hug, Lisa Yan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6a8da6ef7b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6a8da6ef7b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aa5533722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6aa5533722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aa5aa93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6aa5aa93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6aa5aa935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6aa5aa935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6aa5aa9355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6aa5aa935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6aa5aa9355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36aa5aa9355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6aa5aa9355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g36aa5aa9355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AS vs ISP: AS is a network that participates in the Internet; ISP provides internet access to others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6aa5aa9355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g36aa5aa9355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6aa5aa9355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g36aa5aa9355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6aa5aa9355_0_20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g36aa5aa9355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6aa5aa9355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g36aa5aa9355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eBGP — Learn routes to external destinations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iBGP — Distribute externally learned routes internally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IGP (“Interior Gateway Protocol” = Intradomain routing protocol) — Provide internal reachability, Travel shortest path to egress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Every router in AS has two routing tables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From IGP: next hop router to all internal destinations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From iBGP: egress router to all external destinations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For internal addresses (i.e. within AS), just use IGP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For external locations: use iBGP to find egress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main summary: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Scope: IGP (internal), EBGP (between AS), IBGP (within AS)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Purpose: IGP (internal routing), BGP (internet routing)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6aa5aa9355_0_8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g36aa5aa9355_0_8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rgbClr val="4A464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LOCAL PREFERENCE : AS can assign a higher value to more preferred routes (e.g. from customers), and a lower value to less preferred routes (e.g. from providers)</a:t>
            </a:r>
            <a:br>
              <a:rPr lang="en" sz="1200">
                <a:solidFill>
                  <a:srgbClr val="4A464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br>
              <a:rPr lang="en" sz="1200">
                <a:solidFill>
                  <a:srgbClr val="4A464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rgbClr val="4A464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ASPATH : attribute contains a list of ASes along the route being advertised (in reverse order)</a:t>
            </a:r>
            <a:endParaRPr sz="1200">
              <a:solidFill>
                <a:srgbClr val="4A464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6aa5aa9355_0_8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g36aa5aa9355_0_8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Multi-Exit Discriminator (MED) preferred output packet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→ ASes are interconnected via 2 or more links to specify how close a prefix is to the link it is announced on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iBGP path is to get the packet out quickly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Deeper slides are Hidden out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TABLE from LECTURE Priority Rule Remarks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 LOCAL PREF Pick highest LOCAL PREF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 ASPATH Pick shortest ASPATH length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 IGP path Lowest IGP cost to next hop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(egress router)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 MED MED preferred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 Router ID Smallest next-hop router’s IP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address as tie-breaker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BGP best path selection process is enforced when multiple routes exist for the same destination.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 is applied on every BGP-speaking router when deciding which route to install in the routing table and advertise to peers.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 runs every time BGP receives a route update or when network conditions change, such as: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	A new route is received.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	A route is withdrawn.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	Attributes of a route change (e.g., LOCAL PREF or MED is updated).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process applies to both iBGP and eBGP, but: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	LOCAL PREF is only used in iBGP.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	MED is typically used in eBGP.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	ASPATH is more relevant to eBGP.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	IGP cost is more relevant to iBGP.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6aa5aa9355_0_81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g36aa5aa9355_0_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6aa5aa9355_0_8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g36aa5aa9355_0_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6aa5aa9355_0_8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g36aa5aa9355_0_8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6aa5aa9355_0_9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g36aa5aa9355_0_9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6aa5aa9355_0_9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g36aa5aa9355_0_9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6aa5aa9355_0_9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g36aa5aa9355_0_9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6aa5aa9355_0_9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g36aa5aa9355_0_9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6aa5aa9355_0_10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g36aa5aa9355_0_10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6aa5aa9355_0_10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6" name="Google Shape;576;g36aa5aa9355_0_1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6aa5533722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g36aa55337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6aa5aa9355_0_1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" name="Google Shape;616;g36aa5aa9355_0_1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Used to avoid policy oscillation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Customer below you, peer next to you, and provider above you (in terms of the diagram on next slide)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6ec571d3a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2" name="Google Shape;622;g36ec571d3a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Multi-Exit Discriminator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6aa5aa9355_0_1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8" name="Google Shape;648;g36aa5aa9355_0_1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Since AS policy graph is a DAG, no cycles, hence no oscillation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6aa5aa9355_0_1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0" name="Google Shape;670;g36aa5aa9355_0_1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</a:rPr>
              <a:t>Since AS policy graph is a DAG, no cycles, hence no oscillation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6aa5aa9355_0_111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6" name="Google Shape;696;g36aa5aa9355_0_1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6e5b7558a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2" name="Google Shape;702;g36e5b7558a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6e5b7558ae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2" name="Google Shape;712;g36e5b7558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6e5b7558a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8" name="Google Shape;718;g36e5b7558a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6e5b7558ae_0_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1" name="Google Shape;731;g36e5b7558a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36e5b7558ae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7" name="Google Shape;737;g36e5b7558ae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6e5b7558ae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8" name="Google Shape;748;g36e5b7558ae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6a8da6ef7b_1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9" name="Google Shape;759;g36a8da6ef7b_1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1" name="Google Shape;11;p55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" name="Google Shape;12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5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6" name="Google Shape;16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" name="Google Shape;17;p58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" name="Google Shape;21;p57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2" name="Google Shape;22;p5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3" name="Google Shape;23;p57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5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3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28f2d3a351_0_56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9pPr>
          </a:lstStyle>
          <a:p/>
        </p:txBody>
      </p:sp>
      <p:sp>
        <p:nvSpPr>
          <p:cNvPr id="27" name="Google Shape;27;g328f2d3a351_0_5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  <a:defRPr b="1" i="0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56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556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6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56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5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" name="Google Shape;34;p56"/>
          <p:cNvCxnSpPr/>
          <p:nvPr/>
        </p:nvCxnSpPr>
        <p:spPr>
          <a:xfrm>
            <a:off x="0" y="5118865"/>
            <a:ext cx="9144000" cy="0"/>
          </a:xfrm>
          <a:prstGeom prst="straightConnector1">
            <a:avLst/>
          </a:prstGeom>
          <a:noFill/>
          <a:ln cap="flat" cmpd="sng" w="1270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3725"/>
              </a:srgbClr>
            </a:outerShdw>
          </a:effectLst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6a9663c22c_0_821"/>
          <p:cNvSpPr txBox="1"/>
          <p:nvPr>
            <p:ph idx="1" type="body"/>
          </p:nvPr>
        </p:nvSpPr>
        <p:spPr>
          <a:xfrm>
            <a:off x="722313" y="2180035"/>
            <a:ext cx="77724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b="1" i="0" sz="12000" u="none" cap="none" strike="noStrike">
                <a:solidFill>
                  <a:schemeClr val="accent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g36a9663c22c_0_821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g36a9663c22c_0_821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g36a9663c22c_0_82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3" name="Google Shape;43;p59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2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0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9pPr>
          </a:lstStyle>
          <a:p/>
        </p:txBody>
      </p:sp>
      <p:sp>
        <p:nvSpPr>
          <p:cNvPr id="46" name="Google Shape;46;p6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9" name="Google Shape;49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" name="Google Shape;50;p61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62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4" name="Google Shape;54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62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i="0" sz="2500" u="none" cap="none" strike="noStrike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Google Shape;56;p62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7" name="Google Shape;57;p6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8" name="Google Shape;58;p62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3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63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2" name="Google Shape;62;p63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i="0" sz="2500" u="none" cap="none" strike="noStrike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63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4" name="Google Shape;64;p63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5" name="Google Shape;65;p63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6" name="Google Shape;66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4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64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1" name="Google Shape;71;p64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2" name="Google Shape;72;p64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3" name="Google Shape;73;p64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4" name="Google Shape;74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" name="Google Shape;76;p64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i="0" sz="2500" u="none" cap="none" strike="noStrike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5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65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" name="Google Shape;80;p65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i="0" sz="2500" u="none" cap="none" strike="noStrike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" name="Google Shape;81;p65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82" name="Google Shape;82;p65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83" name="Google Shape;83;p65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4" name="Google Shape;84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6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6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9" name="Google Shape;89;p66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i="0" sz="2500" u="none" cap="none" strike="noStrike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66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1" name="Google Shape;91;p66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92" name="Google Shape;92;p66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3" name="Google Shape;93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" name="Google Shape;97;p67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8" name="Google Shape;98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9" name="Google Shape;99;p67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67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6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p69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70"/>
          <p:cNvSpPr txBox="1"/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113" name="Google Shape;113;p70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3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73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22" name="Google Shape;122;p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73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24" name="Google Shape;124;p73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73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7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9" name="Google Shape;129;p7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0" name="Google Shape;130;p7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5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75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75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75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8" name="Google Shape;138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6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76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76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76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5" name="Google Shape;145;p76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46" name="Google Shape;146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9" name="Google Shape;149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78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78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78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b="0" i="0" sz="1600" u="none" cap="none" strike="noStrike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b="0" i="0" sz="2800" u="none" cap="none" strike="noStrike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b="0" i="0" sz="2800" u="none" cap="none" strike="noStrike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b="0" i="0" sz="2800" u="none" cap="none" strike="noStrike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b="0" i="0" sz="2800" u="none" cap="none" strike="noStrike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b="0" i="0" sz="2800" u="none" cap="none" strike="noStrike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b="0" i="0" sz="2800" u="none" cap="none" strike="noStrike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b="0" i="0" sz="2800" u="none" cap="none" strike="noStrike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b="0" i="0" sz="2800" u="none" cap="none" strike="noStrike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54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.png"/><Relationship Id="rId4" Type="http://schemas.openxmlformats.org/officeDocument/2006/relationships/image" Target="../media/image7.png"/><Relationship Id="rId5" Type="http://schemas.openxmlformats.org/officeDocument/2006/relationships/image" Target="../media/image16.png"/><Relationship Id="rId6" Type="http://schemas.openxmlformats.org/officeDocument/2006/relationships/image" Target="../media/image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18.png"/><Relationship Id="rId6" Type="http://schemas.openxmlformats.org/officeDocument/2006/relationships/image" Target="../media/image1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a8c14dc2e_0_40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g36a8c14dc2e_0_401"/>
          <p:cNvSpPr txBox="1"/>
          <p:nvPr/>
        </p:nvSpPr>
        <p:spPr>
          <a:xfrm>
            <a:off x="311700" y="3854350"/>
            <a:ext cx="85206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CS 168, Summer 2025 @ UC Berkeley</a:t>
            </a:r>
            <a:endParaRPr b="0" i="0" sz="16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Slides credit: Sylvia Ratnasamy, Rob Shakir, Peyrin Kao, Iuniana Oprescu</a:t>
            </a:r>
            <a:endParaRPr b="0" i="0" sz="16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62" name="Google Shape;162;g36a8c14dc2e_0_401"/>
          <p:cNvSpPr txBox="1"/>
          <p:nvPr/>
        </p:nvSpPr>
        <p:spPr>
          <a:xfrm>
            <a:off x="311700" y="1658975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solidFill>
                  <a:schemeClr val="accent3"/>
                </a:solidFill>
                <a:latin typeface="Roboto Medium"/>
                <a:ea typeface="Roboto Medium"/>
                <a:cs typeface="Roboto Medium"/>
                <a:sym typeface="Roboto Medium"/>
              </a:rPr>
              <a:t>BGP</a:t>
            </a:r>
            <a:r>
              <a:rPr b="0" i="0" lang="en" sz="3600" u="none" cap="none" strike="noStrike">
                <a:solidFill>
                  <a:schemeClr val="accent3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 sz="3600">
                <a:solidFill>
                  <a:schemeClr val="accent3"/>
                </a:solidFill>
                <a:latin typeface="Roboto Medium"/>
                <a:ea typeface="Roboto Medium"/>
                <a:cs typeface="Roboto Medium"/>
                <a:sym typeface="Roboto Medium"/>
              </a:rPr>
              <a:t>📣</a:t>
            </a:r>
            <a:endParaRPr b="0" i="0" sz="3600" u="none" cap="none" strike="noStrike">
              <a:solidFill>
                <a:schemeClr val="accent3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63" name="Google Shape;163;g36a8c14dc2e_0_401"/>
          <p:cNvSpPr txBox="1"/>
          <p:nvPr>
            <p:ph idx="1" type="subTitle"/>
          </p:nvPr>
        </p:nvSpPr>
        <p:spPr>
          <a:xfrm>
            <a:off x="311700" y="2571750"/>
            <a:ext cx="85206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"/>
              <a:t>Discussion 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6a8da6ef7b_1_4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Logistics</a:t>
            </a:r>
            <a:endParaRPr/>
          </a:p>
        </p:txBody>
      </p:sp>
      <p:sp>
        <p:nvSpPr>
          <p:cNvPr id="169" name="Google Shape;169;g36a8da6ef7b_1_4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Project 2: Routing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Deadline: </a:t>
            </a:r>
            <a:r>
              <a:rPr b="1" lang="en" sz="2000"/>
              <a:t>Thursday, July 10th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Midterm on July 22nd, 7-9pm (put it in your calendar)!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You can bring two 8.5” x 11” cheat sheets, each two-sided (4 sides total)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Scope TBD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Routing</a:t>
            </a:r>
            <a:endParaRPr/>
          </a:p>
        </p:txBody>
      </p:sp>
      <p:sp>
        <p:nvSpPr>
          <p:cNvPr id="175" name="Google Shape;175;p3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Interdomain Routing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Export &amp; Selection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Types of ASes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6aa5533722_0_50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Interdomain Routing</a:t>
            </a:r>
            <a:endParaRPr/>
          </a:p>
        </p:txBody>
      </p:sp>
      <p:sp>
        <p:nvSpPr>
          <p:cNvPr id="181" name="Google Shape;181;g36aa5533722_0_50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Inter</a:t>
            </a:r>
            <a:r>
              <a:rPr lang="en" sz="2000"/>
              <a:t>domain routing is between autonomous systems (AS)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Similar goals as intradomain routing with scalability + policy compliance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Autonomous systems want privacy and autonomy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Border gateway protocol (BGP) is current design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Extends on top of DV (with some crucial differences)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aa5aa9355_0_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Export &amp; Selection</a:t>
            </a:r>
            <a:endParaRPr/>
          </a:p>
        </p:txBody>
      </p:sp>
      <p:sp>
        <p:nvSpPr>
          <p:cNvPr id="187" name="Google Shape;187;g36aa5aa9355_0_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If you are an AS: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Route Selection</a:t>
            </a:r>
            <a:endParaRPr sz="2000"/>
          </a:p>
          <a:p>
            <a:pPr indent="-355600" lvl="2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Where you send your packets</a:t>
            </a:r>
            <a:endParaRPr b="1" sz="2000"/>
          </a:p>
          <a:p>
            <a:pPr indent="-355600" lvl="2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</a:pPr>
            <a:r>
              <a:rPr lang="en" sz="2000"/>
              <a:t>Determine how to choose a valid route to a given IP prefix, when multiple paths through ASes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Route Export</a:t>
            </a:r>
            <a:endParaRPr sz="2000"/>
          </a:p>
          <a:p>
            <a:pPr indent="-355600" lvl="2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Which ASes will receive your route </a:t>
            </a:r>
            <a:endParaRPr b="1" sz="2000"/>
          </a:p>
          <a:p>
            <a:pPr indent="-355600" lvl="2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</a:pPr>
            <a:r>
              <a:rPr lang="en" sz="2000"/>
              <a:t>Other ASes will select your route and </a:t>
            </a:r>
            <a:r>
              <a:rPr b="1" lang="en" sz="2000"/>
              <a:t>send traffic to you</a:t>
            </a:r>
            <a:endParaRPr b="1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6aa5aa9355_0_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Export &amp; Selection</a:t>
            </a:r>
            <a:endParaRPr/>
          </a:p>
        </p:txBody>
      </p:sp>
      <p:sp>
        <p:nvSpPr>
          <p:cNvPr id="193" name="Google Shape;193;g36aa5aa9355_0_5"/>
          <p:cNvSpPr/>
          <p:nvPr/>
        </p:nvSpPr>
        <p:spPr>
          <a:xfrm>
            <a:off x="719191" y="1738294"/>
            <a:ext cx="1498500" cy="1319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8761D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2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6aa5aa9355_0_5"/>
          <p:cNvSpPr/>
          <p:nvPr/>
        </p:nvSpPr>
        <p:spPr>
          <a:xfrm>
            <a:off x="3792591" y="2624352"/>
            <a:ext cx="1498500" cy="1319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8761D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2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6aa5aa9355_0_5"/>
          <p:cNvSpPr/>
          <p:nvPr/>
        </p:nvSpPr>
        <p:spPr>
          <a:xfrm>
            <a:off x="6823657" y="1738294"/>
            <a:ext cx="1498500" cy="1319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8761D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2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" name="Google Shape;196;g36aa5aa9355_0_5"/>
          <p:cNvCxnSpPr/>
          <p:nvPr/>
        </p:nvCxnSpPr>
        <p:spPr>
          <a:xfrm>
            <a:off x="2229917" y="2233003"/>
            <a:ext cx="1562700" cy="46140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cxnSp>
        <p:nvCxnSpPr>
          <p:cNvPr id="197" name="Google Shape;197;g36aa5aa9355_0_5"/>
          <p:cNvCxnSpPr/>
          <p:nvPr/>
        </p:nvCxnSpPr>
        <p:spPr>
          <a:xfrm flipH="1" rot="10800000">
            <a:off x="2217791" y="3809750"/>
            <a:ext cx="1574700" cy="38280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198" name="Google Shape;198;g36aa5aa9355_0_5"/>
          <p:cNvSpPr txBox="1"/>
          <p:nvPr/>
        </p:nvSpPr>
        <p:spPr>
          <a:xfrm>
            <a:off x="731317" y="2171694"/>
            <a:ext cx="148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UC Berkeley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6aa5aa9355_0_5"/>
          <p:cNvSpPr txBox="1"/>
          <p:nvPr/>
        </p:nvSpPr>
        <p:spPr>
          <a:xfrm>
            <a:off x="4174867" y="3057752"/>
            <a:ext cx="75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AT&amp;T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6aa5aa9355_0_5"/>
          <p:cNvSpPr txBox="1"/>
          <p:nvPr/>
        </p:nvSpPr>
        <p:spPr>
          <a:xfrm>
            <a:off x="7108467" y="2233003"/>
            <a:ext cx="94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Google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6aa5aa9355_0_5"/>
          <p:cNvSpPr/>
          <p:nvPr/>
        </p:nvSpPr>
        <p:spPr>
          <a:xfrm>
            <a:off x="6828214" y="3535152"/>
            <a:ext cx="1498500" cy="1319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8761D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2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6aa5aa9355_0_5"/>
          <p:cNvSpPr txBox="1"/>
          <p:nvPr/>
        </p:nvSpPr>
        <p:spPr>
          <a:xfrm>
            <a:off x="7028831" y="4029861"/>
            <a:ext cx="111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Comcast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6aa5aa9355_0_5"/>
          <p:cNvSpPr/>
          <p:nvPr/>
        </p:nvSpPr>
        <p:spPr>
          <a:xfrm>
            <a:off x="731317" y="3535152"/>
            <a:ext cx="1498500" cy="1319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8761D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2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6aa5aa9355_0_5"/>
          <p:cNvSpPr txBox="1"/>
          <p:nvPr/>
        </p:nvSpPr>
        <p:spPr>
          <a:xfrm>
            <a:off x="880164" y="3968552"/>
            <a:ext cx="121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Facebook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" name="Google Shape;205;g36aa5aa9355_0_5"/>
          <p:cNvCxnSpPr/>
          <p:nvPr/>
        </p:nvCxnSpPr>
        <p:spPr>
          <a:xfrm rot="10800000">
            <a:off x="5291291" y="3809750"/>
            <a:ext cx="1574700" cy="38280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cxnSp>
        <p:nvCxnSpPr>
          <p:cNvPr id="206" name="Google Shape;206;g36aa5aa9355_0_5"/>
          <p:cNvCxnSpPr/>
          <p:nvPr/>
        </p:nvCxnSpPr>
        <p:spPr>
          <a:xfrm flipH="1">
            <a:off x="5257606" y="2233003"/>
            <a:ext cx="1562700" cy="46140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grpSp>
        <p:nvGrpSpPr>
          <p:cNvPr id="207" name="Google Shape;207;g36aa5aa9355_0_5"/>
          <p:cNvGrpSpPr/>
          <p:nvPr/>
        </p:nvGrpSpPr>
        <p:grpSpPr>
          <a:xfrm>
            <a:off x="2106115" y="3660884"/>
            <a:ext cx="962423" cy="1037684"/>
            <a:chOff x="2106115" y="3660884"/>
            <a:chExt cx="962423" cy="1037684"/>
          </a:xfrm>
        </p:grpSpPr>
        <p:pic>
          <p:nvPicPr>
            <p:cNvPr descr="documentation.png" id="208" name="Google Shape;208;g36aa5aa9355_0_5"/>
            <p:cNvPicPr preferRelativeResize="0"/>
            <p:nvPr/>
          </p:nvPicPr>
          <p:blipFill rotWithShape="1">
            <a:blip r:embed="rId3">
              <a:alphaModFix/>
            </a:blip>
            <a:srcRect b="0" l="0" r="14288" t="0"/>
            <a:stretch/>
          </p:blipFill>
          <p:spPr>
            <a:xfrm>
              <a:off x="2106115" y="3660884"/>
              <a:ext cx="962423" cy="10376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" name="Google Shape;209;g36aa5aa9355_0_5"/>
            <p:cNvSpPr/>
            <p:nvPr/>
          </p:nvSpPr>
          <p:spPr>
            <a:xfrm>
              <a:off x="2181257" y="3772398"/>
              <a:ext cx="733500" cy="861000"/>
            </a:xfrm>
            <a:prstGeom prst="roundRect">
              <a:avLst>
                <a:gd fmla="val 16667" name="adj"/>
              </a:avLst>
            </a:prstGeom>
            <a:solidFill>
              <a:srgbClr val="CFD4D9"/>
            </a:solidFill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rPr>
                <a:t>Stanford this way!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0" name="Google Shape;210;g36aa5aa9355_0_5"/>
          <p:cNvGrpSpPr/>
          <p:nvPr/>
        </p:nvGrpSpPr>
        <p:grpSpPr>
          <a:xfrm>
            <a:off x="2139732" y="1738294"/>
            <a:ext cx="962423" cy="1037684"/>
            <a:chOff x="2139732" y="1738294"/>
            <a:chExt cx="962423" cy="1037684"/>
          </a:xfrm>
        </p:grpSpPr>
        <p:pic>
          <p:nvPicPr>
            <p:cNvPr descr="documentation.png" id="211" name="Google Shape;211;g36aa5aa9355_0_5"/>
            <p:cNvPicPr preferRelativeResize="0"/>
            <p:nvPr/>
          </p:nvPicPr>
          <p:blipFill rotWithShape="1">
            <a:blip r:embed="rId3">
              <a:alphaModFix/>
            </a:blip>
            <a:srcRect b="0" l="0" r="14288" t="0"/>
            <a:stretch/>
          </p:blipFill>
          <p:spPr>
            <a:xfrm>
              <a:off x="2139732" y="1738294"/>
              <a:ext cx="962423" cy="10376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" name="Google Shape;212;g36aa5aa9355_0_5"/>
            <p:cNvSpPr/>
            <p:nvPr/>
          </p:nvSpPr>
          <p:spPr>
            <a:xfrm>
              <a:off x="2214874" y="1849808"/>
              <a:ext cx="733500" cy="861000"/>
            </a:xfrm>
            <a:prstGeom prst="roundRect">
              <a:avLst>
                <a:gd fmla="val 16667" name="adj"/>
              </a:avLst>
            </a:prstGeom>
            <a:solidFill>
              <a:srgbClr val="CFD4D9"/>
            </a:solidFill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rPr>
                <a:t>Stanford this way!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13" name="Google Shape;213;g36aa5aa9355_0_5"/>
          <p:cNvCxnSpPr>
            <a:stCxn id="193" idx="1"/>
          </p:cNvCxnSpPr>
          <p:nvPr/>
        </p:nvCxnSpPr>
        <p:spPr>
          <a:xfrm rot="10800000">
            <a:off x="91" y="2393494"/>
            <a:ext cx="719100" cy="450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cxnSp>
        <p:nvCxnSpPr>
          <p:cNvPr id="214" name="Google Shape;214;g36aa5aa9355_0_5"/>
          <p:cNvCxnSpPr/>
          <p:nvPr/>
        </p:nvCxnSpPr>
        <p:spPr>
          <a:xfrm rot="10800000">
            <a:off x="91" y="4211988"/>
            <a:ext cx="719100" cy="450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215" name="Google Shape;215;g36aa5aa9355_0_5"/>
          <p:cNvSpPr txBox="1"/>
          <p:nvPr/>
        </p:nvSpPr>
        <p:spPr>
          <a:xfrm>
            <a:off x="2277513" y="1138616"/>
            <a:ext cx="4830900" cy="3693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UCB and Facebook </a:t>
            </a:r>
            <a:r>
              <a:rPr b="1" i="0" lang="en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export</a:t>
            </a:r>
            <a:r>
              <a:rPr b="0" i="0" lang="en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 their route to Stanford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6aa5aa9355_0_5"/>
          <p:cNvSpPr txBox="1"/>
          <p:nvPr/>
        </p:nvSpPr>
        <p:spPr>
          <a:xfrm>
            <a:off x="2277513" y="1507884"/>
            <a:ext cx="4830900" cy="3693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They agree to </a:t>
            </a:r>
            <a:r>
              <a:rPr b="1" i="0" lang="en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carry</a:t>
            </a:r>
            <a:r>
              <a:rPr b="0" i="0" lang="en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 AT&amp;T’s traffic to Stanford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g36aa5aa9355_0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896617"/>
            <a:ext cx="353511" cy="353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g36aa5aa9355_0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720908"/>
            <a:ext cx="353511" cy="353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6aa5aa9355_0_6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Export &amp; Selection</a:t>
            </a:r>
            <a:endParaRPr/>
          </a:p>
        </p:txBody>
      </p:sp>
      <p:sp>
        <p:nvSpPr>
          <p:cNvPr id="224" name="Google Shape;224;g36aa5aa9355_0_62"/>
          <p:cNvSpPr/>
          <p:nvPr/>
        </p:nvSpPr>
        <p:spPr>
          <a:xfrm>
            <a:off x="719191" y="1738294"/>
            <a:ext cx="1498500" cy="1319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8761D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2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6aa5aa9355_0_62"/>
          <p:cNvSpPr/>
          <p:nvPr/>
        </p:nvSpPr>
        <p:spPr>
          <a:xfrm>
            <a:off x="3792591" y="2624352"/>
            <a:ext cx="1498500" cy="1319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8761D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2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6aa5aa9355_0_62"/>
          <p:cNvSpPr/>
          <p:nvPr/>
        </p:nvSpPr>
        <p:spPr>
          <a:xfrm>
            <a:off x="6823657" y="1738294"/>
            <a:ext cx="1498500" cy="1319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8761D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2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g36aa5aa9355_0_62"/>
          <p:cNvCxnSpPr/>
          <p:nvPr/>
        </p:nvCxnSpPr>
        <p:spPr>
          <a:xfrm>
            <a:off x="2229917" y="2233003"/>
            <a:ext cx="1562700" cy="46140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cxnSp>
        <p:nvCxnSpPr>
          <p:cNvPr id="228" name="Google Shape;228;g36aa5aa9355_0_62"/>
          <p:cNvCxnSpPr/>
          <p:nvPr/>
        </p:nvCxnSpPr>
        <p:spPr>
          <a:xfrm flipH="1" rot="10800000">
            <a:off x="2217791" y="3809750"/>
            <a:ext cx="1574700" cy="38280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229" name="Google Shape;229;g36aa5aa9355_0_62"/>
          <p:cNvSpPr txBox="1"/>
          <p:nvPr/>
        </p:nvSpPr>
        <p:spPr>
          <a:xfrm>
            <a:off x="731317" y="2171694"/>
            <a:ext cx="148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UC Berkeley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6aa5aa9355_0_62"/>
          <p:cNvSpPr txBox="1"/>
          <p:nvPr/>
        </p:nvSpPr>
        <p:spPr>
          <a:xfrm>
            <a:off x="4174867" y="3057752"/>
            <a:ext cx="75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AT&amp;T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6aa5aa9355_0_62"/>
          <p:cNvSpPr txBox="1"/>
          <p:nvPr/>
        </p:nvSpPr>
        <p:spPr>
          <a:xfrm>
            <a:off x="7108467" y="2233003"/>
            <a:ext cx="94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Google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6aa5aa9355_0_62"/>
          <p:cNvSpPr/>
          <p:nvPr/>
        </p:nvSpPr>
        <p:spPr>
          <a:xfrm>
            <a:off x="6828214" y="3535152"/>
            <a:ext cx="1498500" cy="1319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8761D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2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6aa5aa9355_0_62"/>
          <p:cNvSpPr txBox="1"/>
          <p:nvPr/>
        </p:nvSpPr>
        <p:spPr>
          <a:xfrm>
            <a:off x="7028831" y="4029861"/>
            <a:ext cx="111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Comcast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6aa5aa9355_0_62"/>
          <p:cNvSpPr/>
          <p:nvPr/>
        </p:nvSpPr>
        <p:spPr>
          <a:xfrm>
            <a:off x="731317" y="3535152"/>
            <a:ext cx="1498500" cy="1319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8761D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2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6aa5aa9355_0_62"/>
          <p:cNvSpPr txBox="1"/>
          <p:nvPr/>
        </p:nvSpPr>
        <p:spPr>
          <a:xfrm>
            <a:off x="880164" y="3968552"/>
            <a:ext cx="121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Facebook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6" name="Google Shape;236;g36aa5aa9355_0_62"/>
          <p:cNvCxnSpPr/>
          <p:nvPr/>
        </p:nvCxnSpPr>
        <p:spPr>
          <a:xfrm rot="10800000">
            <a:off x="5291291" y="3809750"/>
            <a:ext cx="1574700" cy="38280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cxnSp>
        <p:nvCxnSpPr>
          <p:cNvPr id="237" name="Google Shape;237;g36aa5aa9355_0_62"/>
          <p:cNvCxnSpPr/>
          <p:nvPr/>
        </p:nvCxnSpPr>
        <p:spPr>
          <a:xfrm flipH="1">
            <a:off x="5257606" y="2233003"/>
            <a:ext cx="1562700" cy="46140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grpSp>
        <p:nvGrpSpPr>
          <p:cNvPr id="238" name="Google Shape;238;g36aa5aa9355_0_62"/>
          <p:cNvGrpSpPr/>
          <p:nvPr/>
        </p:nvGrpSpPr>
        <p:grpSpPr>
          <a:xfrm>
            <a:off x="3319745" y="2064389"/>
            <a:ext cx="962423" cy="1037684"/>
            <a:chOff x="2139732" y="1738294"/>
            <a:chExt cx="962423" cy="1037684"/>
          </a:xfrm>
        </p:grpSpPr>
        <p:pic>
          <p:nvPicPr>
            <p:cNvPr descr="documentation.png" id="239" name="Google Shape;239;g36aa5aa9355_0_62"/>
            <p:cNvPicPr preferRelativeResize="0"/>
            <p:nvPr/>
          </p:nvPicPr>
          <p:blipFill rotWithShape="1">
            <a:blip r:embed="rId3">
              <a:alphaModFix/>
            </a:blip>
            <a:srcRect b="0" l="0" r="14288" t="0"/>
            <a:stretch/>
          </p:blipFill>
          <p:spPr>
            <a:xfrm>
              <a:off x="2139732" y="1738294"/>
              <a:ext cx="962423" cy="10376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" name="Google Shape;240;g36aa5aa9355_0_62"/>
            <p:cNvSpPr/>
            <p:nvPr/>
          </p:nvSpPr>
          <p:spPr>
            <a:xfrm>
              <a:off x="2214874" y="1849808"/>
              <a:ext cx="733500" cy="861000"/>
            </a:xfrm>
            <a:prstGeom prst="roundRect">
              <a:avLst>
                <a:gd fmla="val 16667" name="adj"/>
              </a:avLst>
            </a:prstGeom>
            <a:solidFill>
              <a:srgbClr val="CFD4D9"/>
            </a:solidFill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rPr>
                <a:t>Stanford this way!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41" name="Google Shape;241;g36aa5aa9355_0_62"/>
          <p:cNvCxnSpPr>
            <a:stCxn id="224" idx="1"/>
          </p:cNvCxnSpPr>
          <p:nvPr/>
        </p:nvCxnSpPr>
        <p:spPr>
          <a:xfrm rot="10800000">
            <a:off x="91" y="2393494"/>
            <a:ext cx="719100" cy="450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cxnSp>
        <p:nvCxnSpPr>
          <p:cNvPr id="242" name="Google Shape;242;g36aa5aa9355_0_62"/>
          <p:cNvCxnSpPr/>
          <p:nvPr/>
        </p:nvCxnSpPr>
        <p:spPr>
          <a:xfrm rot="10800000">
            <a:off x="91" y="4211988"/>
            <a:ext cx="719100" cy="450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243" name="Google Shape;243;g36aa5aa9355_0_62"/>
          <p:cNvSpPr txBox="1"/>
          <p:nvPr/>
        </p:nvSpPr>
        <p:spPr>
          <a:xfrm>
            <a:off x="2277513" y="1138616"/>
            <a:ext cx="4751400" cy="3693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AT&amp;T </a:t>
            </a:r>
            <a:r>
              <a:rPr b="1" i="0" lang="en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selects </a:t>
            </a:r>
            <a:r>
              <a:rPr b="0" i="0" lang="en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route through UC Berkeley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6aa5aa9355_0_62"/>
          <p:cNvSpPr txBox="1"/>
          <p:nvPr/>
        </p:nvSpPr>
        <p:spPr>
          <a:xfrm>
            <a:off x="2277513" y="1507948"/>
            <a:ext cx="4751400" cy="3693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AT&amp;T might now </a:t>
            </a:r>
            <a:r>
              <a:rPr b="1" i="0" lang="en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send </a:t>
            </a:r>
            <a:r>
              <a:rPr b="0" i="0" lang="en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traffic</a:t>
            </a:r>
            <a:r>
              <a:rPr b="1" i="0" lang="en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to Stanford via</a:t>
            </a:r>
            <a:r>
              <a:rPr b="1" i="0" lang="en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UCB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5" name="Google Shape;245;g36aa5aa9355_0_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896617"/>
            <a:ext cx="353511" cy="353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g36aa5aa9355_0_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720908"/>
            <a:ext cx="353511" cy="353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6aa5aa9355_0_13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Export &amp; Selection</a:t>
            </a:r>
            <a:endParaRPr/>
          </a:p>
        </p:txBody>
      </p:sp>
      <p:sp>
        <p:nvSpPr>
          <p:cNvPr id="252" name="Google Shape;252;g36aa5aa9355_0_138"/>
          <p:cNvSpPr/>
          <p:nvPr/>
        </p:nvSpPr>
        <p:spPr>
          <a:xfrm>
            <a:off x="719191" y="1738294"/>
            <a:ext cx="1498500" cy="1319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8761D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2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6aa5aa9355_0_138"/>
          <p:cNvSpPr/>
          <p:nvPr/>
        </p:nvSpPr>
        <p:spPr>
          <a:xfrm>
            <a:off x="3792591" y="2624352"/>
            <a:ext cx="1498500" cy="1319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8761D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2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6aa5aa9355_0_138"/>
          <p:cNvSpPr/>
          <p:nvPr/>
        </p:nvSpPr>
        <p:spPr>
          <a:xfrm>
            <a:off x="6823657" y="1738294"/>
            <a:ext cx="1498500" cy="1319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8761D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2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" name="Google Shape;255;g36aa5aa9355_0_138"/>
          <p:cNvCxnSpPr/>
          <p:nvPr/>
        </p:nvCxnSpPr>
        <p:spPr>
          <a:xfrm>
            <a:off x="2229917" y="2233003"/>
            <a:ext cx="1562700" cy="46140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cxnSp>
        <p:nvCxnSpPr>
          <p:cNvPr id="256" name="Google Shape;256;g36aa5aa9355_0_138"/>
          <p:cNvCxnSpPr/>
          <p:nvPr/>
        </p:nvCxnSpPr>
        <p:spPr>
          <a:xfrm flipH="1" rot="10800000">
            <a:off x="2217791" y="3809750"/>
            <a:ext cx="1574700" cy="38280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257" name="Google Shape;257;g36aa5aa9355_0_138"/>
          <p:cNvSpPr txBox="1"/>
          <p:nvPr/>
        </p:nvSpPr>
        <p:spPr>
          <a:xfrm>
            <a:off x="731317" y="2171694"/>
            <a:ext cx="148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UC Berkeley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36aa5aa9355_0_138"/>
          <p:cNvSpPr txBox="1"/>
          <p:nvPr/>
        </p:nvSpPr>
        <p:spPr>
          <a:xfrm>
            <a:off x="4174867" y="3057752"/>
            <a:ext cx="75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AT&amp;T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6aa5aa9355_0_138"/>
          <p:cNvSpPr txBox="1"/>
          <p:nvPr/>
        </p:nvSpPr>
        <p:spPr>
          <a:xfrm>
            <a:off x="7108467" y="2233003"/>
            <a:ext cx="94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Google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6aa5aa9355_0_138"/>
          <p:cNvSpPr/>
          <p:nvPr/>
        </p:nvSpPr>
        <p:spPr>
          <a:xfrm>
            <a:off x="6828214" y="3535152"/>
            <a:ext cx="1498500" cy="1319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8761D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2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6aa5aa9355_0_138"/>
          <p:cNvSpPr txBox="1"/>
          <p:nvPr/>
        </p:nvSpPr>
        <p:spPr>
          <a:xfrm>
            <a:off x="7028831" y="4029861"/>
            <a:ext cx="111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Comcast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6aa5aa9355_0_138"/>
          <p:cNvSpPr/>
          <p:nvPr/>
        </p:nvSpPr>
        <p:spPr>
          <a:xfrm>
            <a:off x="731317" y="3535152"/>
            <a:ext cx="1498500" cy="1319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8761D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2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6aa5aa9355_0_138"/>
          <p:cNvSpPr txBox="1"/>
          <p:nvPr/>
        </p:nvSpPr>
        <p:spPr>
          <a:xfrm>
            <a:off x="880164" y="3968552"/>
            <a:ext cx="121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Facebook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4" name="Google Shape;264;g36aa5aa9355_0_138"/>
          <p:cNvCxnSpPr/>
          <p:nvPr/>
        </p:nvCxnSpPr>
        <p:spPr>
          <a:xfrm rot="10800000">
            <a:off x="5291291" y="3809750"/>
            <a:ext cx="1574700" cy="38280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cxnSp>
        <p:nvCxnSpPr>
          <p:cNvPr id="265" name="Google Shape;265;g36aa5aa9355_0_138"/>
          <p:cNvCxnSpPr/>
          <p:nvPr/>
        </p:nvCxnSpPr>
        <p:spPr>
          <a:xfrm flipH="1">
            <a:off x="5257606" y="2233003"/>
            <a:ext cx="1562700" cy="46140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grpSp>
        <p:nvGrpSpPr>
          <p:cNvPr id="266" name="Google Shape;266;g36aa5aa9355_0_138"/>
          <p:cNvGrpSpPr/>
          <p:nvPr/>
        </p:nvGrpSpPr>
        <p:grpSpPr>
          <a:xfrm>
            <a:off x="4809208" y="2064389"/>
            <a:ext cx="962423" cy="1037684"/>
            <a:chOff x="2139732" y="1738294"/>
            <a:chExt cx="962423" cy="1037684"/>
          </a:xfrm>
        </p:grpSpPr>
        <p:pic>
          <p:nvPicPr>
            <p:cNvPr descr="documentation.png" id="267" name="Google Shape;267;g36aa5aa9355_0_138"/>
            <p:cNvPicPr preferRelativeResize="0"/>
            <p:nvPr/>
          </p:nvPicPr>
          <p:blipFill rotWithShape="1">
            <a:blip r:embed="rId3">
              <a:alphaModFix/>
            </a:blip>
            <a:srcRect b="0" l="0" r="14288" t="0"/>
            <a:stretch/>
          </p:blipFill>
          <p:spPr>
            <a:xfrm>
              <a:off x="2139732" y="1738294"/>
              <a:ext cx="962423" cy="10376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g36aa5aa9355_0_138"/>
            <p:cNvSpPr/>
            <p:nvPr/>
          </p:nvSpPr>
          <p:spPr>
            <a:xfrm>
              <a:off x="2214874" y="1849808"/>
              <a:ext cx="733500" cy="861000"/>
            </a:xfrm>
            <a:prstGeom prst="roundRect">
              <a:avLst>
                <a:gd fmla="val 16667" name="adj"/>
              </a:avLst>
            </a:prstGeom>
            <a:solidFill>
              <a:srgbClr val="CFD4D9"/>
            </a:solidFill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rPr>
                <a:t>Stanford this way!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69" name="Google Shape;269;g36aa5aa9355_0_138"/>
          <p:cNvCxnSpPr>
            <a:stCxn id="252" idx="1"/>
          </p:cNvCxnSpPr>
          <p:nvPr/>
        </p:nvCxnSpPr>
        <p:spPr>
          <a:xfrm rot="10800000">
            <a:off x="91" y="2393494"/>
            <a:ext cx="719100" cy="450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cxnSp>
        <p:nvCxnSpPr>
          <p:cNvPr id="270" name="Google Shape;270;g36aa5aa9355_0_138"/>
          <p:cNvCxnSpPr/>
          <p:nvPr/>
        </p:nvCxnSpPr>
        <p:spPr>
          <a:xfrm rot="10800000">
            <a:off x="91" y="4211988"/>
            <a:ext cx="719100" cy="450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271" name="Google Shape;271;g36aa5aa9355_0_138"/>
          <p:cNvSpPr txBox="1"/>
          <p:nvPr/>
        </p:nvSpPr>
        <p:spPr>
          <a:xfrm>
            <a:off x="2277513" y="1138616"/>
            <a:ext cx="4751400" cy="3693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AT&amp;T </a:t>
            </a:r>
            <a:r>
              <a:rPr b="1" i="0" lang="en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exports </a:t>
            </a:r>
            <a:r>
              <a:rPr b="0" i="0" lang="en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route to Google only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6aa5aa9355_0_138"/>
          <p:cNvSpPr txBox="1"/>
          <p:nvPr/>
        </p:nvSpPr>
        <p:spPr>
          <a:xfrm>
            <a:off x="2277513" y="1507948"/>
            <a:ext cx="4751400" cy="6462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Agrees to </a:t>
            </a:r>
            <a:r>
              <a:rPr b="1" i="0" lang="en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carry</a:t>
            </a:r>
            <a:r>
              <a:rPr b="0" i="0" lang="en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 Google’s traffic to Stanford, but not Comcast’s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" name="Google Shape;273;g36aa5aa9355_0_1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896617"/>
            <a:ext cx="353511" cy="353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g36aa5aa9355_0_1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720908"/>
            <a:ext cx="353511" cy="353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6aa5aa9355_0_18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Types of ASes (domains)</a:t>
            </a:r>
            <a:endParaRPr/>
          </a:p>
        </p:txBody>
      </p:sp>
      <p:sp>
        <p:nvSpPr>
          <p:cNvPr id="280" name="Google Shape;280;g36aa5aa9355_0_18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Stub</a:t>
            </a:r>
            <a:r>
              <a:rPr lang="en" sz="2000"/>
              <a:t>: only sends/receives traffic for its users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companies, universities, etc.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Transit</a:t>
            </a:r>
            <a:r>
              <a:rPr lang="en" sz="2000"/>
              <a:t>: carries traffic for other ASes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Global ISPs (Tier 1): fully connected mesh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Regional ISPs (Tier 2)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Local ISPs (Tier 3)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Lower tiers buy service from higher tiers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What’s the relationship between AS and ISP?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All ISPs are ASes, but not all ASes are ISPs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E.g. UC Berkeley is not an ISP but it is an AS</a:t>
            </a:r>
            <a:endParaRPr sz="2000"/>
          </a:p>
        </p:txBody>
      </p:sp>
      <p:sp>
        <p:nvSpPr>
          <p:cNvPr id="281" name="Google Shape;281;g36aa5aa9355_0_188"/>
          <p:cNvSpPr/>
          <p:nvPr/>
        </p:nvSpPr>
        <p:spPr>
          <a:xfrm>
            <a:off x="6323234" y="2274739"/>
            <a:ext cx="523200" cy="2214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" name="Google Shape;282;g36aa5aa9355_0_188"/>
          <p:cNvSpPr/>
          <p:nvPr/>
        </p:nvSpPr>
        <p:spPr>
          <a:xfrm>
            <a:off x="7314831" y="2274739"/>
            <a:ext cx="523200" cy="2214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3" name="Google Shape;283;g36aa5aa9355_0_188"/>
          <p:cNvCxnSpPr>
            <a:stCxn id="281" idx="4"/>
          </p:cNvCxnSpPr>
          <p:nvPr/>
        </p:nvCxnSpPr>
        <p:spPr>
          <a:xfrm flipH="1">
            <a:off x="6150134" y="2496139"/>
            <a:ext cx="434700" cy="321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4" name="Google Shape;284;g36aa5aa9355_0_188"/>
          <p:cNvCxnSpPr>
            <a:stCxn id="281" idx="4"/>
          </p:cNvCxnSpPr>
          <p:nvPr/>
        </p:nvCxnSpPr>
        <p:spPr>
          <a:xfrm>
            <a:off x="6584834" y="2496139"/>
            <a:ext cx="447900" cy="341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5" name="Google Shape;285;g36aa5aa9355_0_188"/>
          <p:cNvCxnSpPr>
            <a:stCxn id="281" idx="6"/>
            <a:endCxn id="282" idx="2"/>
          </p:cNvCxnSpPr>
          <p:nvPr/>
        </p:nvCxnSpPr>
        <p:spPr>
          <a:xfrm>
            <a:off x="6846434" y="2385439"/>
            <a:ext cx="468300" cy="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286" name="Google Shape;286;g36aa5aa9355_0_188"/>
          <p:cNvCxnSpPr>
            <a:stCxn id="282" idx="4"/>
          </p:cNvCxnSpPr>
          <p:nvPr/>
        </p:nvCxnSpPr>
        <p:spPr>
          <a:xfrm>
            <a:off x="7576431" y="2496139"/>
            <a:ext cx="258600" cy="360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7" name="Google Shape;287;g36aa5aa9355_0_188"/>
          <p:cNvSpPr/>
          <p:nvPr/>
        </p:nvSpPr>
        <p:spPr>
          <a:xfrm>
            <a:off x="8306429" y="2274739"/>
            <a:ext cx="523200" cy="2214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8" name="Google Shape;288;g36aa5aa9355_0_188"/>
          <p:cNvCxnSpPr>
            <a:stCxn id="282" idx="4"/>
          </p:cNvCxnSpPr>
          <p:nvPr/>
        </p:nvCxnSpPr>
        <p:spPr>
          <a:xfrm flipH="1">
            <a:off x="7327131" y="2496139"/>
            <a:ext cx="249300" cy="341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9" name="Google Shape;289;g36aa5aa9355_0_188"/>
          <p:cNvCxnSpPr>
            <a:stCxn id="281" idx="4"/>
          </p:cNvCxnSpPr>
          <p:nvPr/>
        </p:nvCxnSpPr>
        <p:spPr>
          <a:xfrm>
            <a:off x="6584834" y="2496139"/>
            <a:ext cx="0" cy="336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0" name="Google Shape;290;g36aa5aa9355_0_188"/>
          <p:cNvCxnSpPr>
            <a:stCxn id="287" idx="4"/>
          </p:cNvCxnSpPr>
          <p:nvPr/>
        </p:nvCxnSpPr>
        <p:spPr>
          <a:xfrm>
            <a:off x="8568029" y="2496139"/>
            <a:ext cx="258600" cy="360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1" name="Google Shape;291;g36aa5aa9355_0_188"/>
          <p:cNvCxnSpPr>
            <a:stCxn id="287" idx="4"/>
          </p:cNvCxnSpPr>
          <p:nvPr/>
        </p:nvCxnSpPr>
        <p:spPr>
          <a:xfrm flipH="1">
            <a:off x="8318729" y="2496139"/>
            <a:ext cx="249300" cy="341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" name="Google Shape;292;g36aa5aa9355_0_188"/>
          <p:cNvCxnSpPr>
            <a:stCxn id="282" idx="6"/>
            <a:endCxn id="287" idx="2"/>
          </p:cNvCxnSpPr>
          <p:nvPr/>
        </p:nvCxnSpPr>
        <p:spPr>
          <a:xfrm>
            <a:off x="7838031" y="2385439"/>
            <a:ext cx="468300" cy="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293" name="Google Shape;293;g36aa5aa9355_0_188"/>
          <p:cNvCxnSpPr>
            <a:stCxn id="281" idx="0"/>
          </p:cNvCxnSpPr>
          <p:nvPr/>
        </p:nvCxnSpPr>
        <p:spPr>
          <a:xfrm rot="10800000">
            <a:off x="6584834" y="2123239"/>
            <a:ext cx="0" cy="15150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94" name="Google Shape;294;g36aa5aa9355_0_188"/>
          <p:cNvCxnSpPr>
            <a:stCxn id="287" idx="0"/>
          </p:cNvCxnSpPr>
          <p:nvPr/>
        </p:nvCxnSpPr>
        <p:spPr>
          <a:xfrm rot="10800000">
            <a:off x="8568029" y="2123239"/>
            <a:ext cx="0" cy="15150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95" name="Google Shape;295;g36aa5aa9355_0_188"/>
          <p:cNvCxnSpPr/>
          <p:nvPr/>
        </p:nvCxnSpPr>
        <p:spPr>
          <a:xfrm>
            <a:off x="6592287" y="2128664"/>
            <a:ext cx="1983600" cy="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g36aa5aa9355_0_188"/>
          <p:cNvSpPr txBox="1"/>
          <p:nvPr>
            <p:ph idx="1" type="body"/>
          </p:nvPr>
        </p:nvSpPr>
        <p:spPr>
          <a:xfrm>
            <a:off x="6868650" y="1586875"/>
            <a:ext cx="16743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</a:rPr>
              <a:t>Tier 1 ASes</a:t>
            </a:r>
            <a:endParaRPr sz="2000">
              <a:solidFill>
                <a:srgbClr val="E0666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6aa5aa9355_0_19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Business Relationship </a:t>
            </a:r>
            <a:r>
              <a:rPr lang="en"/>
              <a:t>among</a:t>
            </a:r>
            <a:r>
              <a:rPr lang="en"/>
              <a:t> ASes</a:t>
            </a:r>
            <a:endParaRPr/>
          </a:p>
        </p:txBody>
      </p:sp>
      <p:sp>
        <p:nvSpPr>
          <p:cNvPr id="302" name="Google Shape;302;g36aa5aa9355_0_19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Two ASes will </a:t>
            </a:r>
            <a:r>
              <a:rPr b="1" lang="en" sz="2000"/>
              <a:t>connect</a:t>
            </a:r>
            <a:r>
              <a:rPr lang="en" sz="2000"/>
              <a:t> only if they have business relationship: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○"/>
            </a:pPr>
            <a:r>
              <a:rPr b="1" lang="en" sz="2000"/>
              <a:t>Customer-Provider</a:t>
            </a:r>
            <a:endParaRPr b="1" sz="2000"/>
          </a:p>
          <a:p>
            <a:pPr indent="-355600" lvl="2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</a:pPr>
            <a:r>
              <a:rPr i="1" lang="en" sz="2000"/>
              <a:t>Provider</a:t>
            </a:r>
            <a:r>
              <a:rPr lang="en" sz="2000"/>
              <a:t> B carries </a:t>
            </a:r>
            <a:r>
              <a:rPr i="1" lang="en" sz="2000"/>
              <a:t>customer</a:t>
            </a:r>
            <a:r>
              <a:rPr lang="en" sz="2000"/>
              <a:t> A’s traffic </a:t>
            </a:r>
            <a:r>
              <a:rPr b="1" lang="en" sz="2000"/>
              <a:t>for a fee</a:t>
            </a:r>
            <a:endParaRPr b="1" sz="2000"/>
          </a:p>
          <a:p>
            <a:pPr indent="-3556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○"/>
            </a:pPr>
            <a:r>
              <a:rPr b="1" lang="en" sz="2000"/>
              <a:t>Peers</a:t>
            </a:r>
            <a:endParaRPr b="1" sz="2000"/>
          </a:p>
          <a:p>
            <a:pPr indent="-355600" lvl="2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</a:pPr>
            <a:r>
              <a:rPr i="1" lang="en" sz="2000"/>
              <a:t>Peers</a:t>
            </a:r>
            <a:r>
              <a:rPr lang="en" sz="2000"/>
              <a:t> A, B carry each other’s traffic </a:t>
            </a:r>
            <a:r>
              <a:rPr b="1" lang="en" sz="2000"/>
              <a:t>for free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What roles can a global ISP (Tier 1) have?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Provider to Tier 2 or Tier 3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Peer to other global ISP (tier 1)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Not a customer!</a:t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6aa5aa9355_0_20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Business Relationship Restrictions</a:t>
            </a:r>
            <a:endParaRPr/>
          </a:p>
        </p:txBody>
      </p:sp>
      <p:sp>
        <p:nvSpPr>
          <p:cNvPr id="308" name="Google Shape;308;g36aa5aa9355_0_20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graph of </a:t>
            </a:r>
            <a:r>
              <a:rPr b="1" lang="en" sz="2000"/>
              <a:t>peering</a:t>
            </a:r>
            <a:r>
              <a:rPr lang="en" sz="2000"/>
              <a:t> relations can be </a:t>
            </a:r>
            <a:r>
              <a:rPr b="1" i="1" lang="en" sz="2000"/>
              <a:t>cyclic</a:t>
            </a:r>
            <a:endParaRPr b="1" i="1" sz="2000"/>
          </a:p>
          <a:p>
            <a:pPr indent="-3556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The peer of my peer can also be my peer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For example, global ISPs all peer with each other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graph of </a:t>
            </a:r>
            <a:r>
              <a:rPr b="1" lang="en" sz="2000"/>
              <a:t>customer-provider</a:t>
            </a:r>
            <a:r>
              <a:rPr lang="en" sz="2000"/>
              <a:t> relations must be </a:t>
            </a:r>
            <a:r>
              <a:rPr b="1" i="1" lang="en" sz="2000"/>
              <a:t>acyclic</a:t>
            </a:r>
            <a:endParaRPr b="1" i="1" sz="2000"/>
          </a:p>
        </p:txBody>
      </p:sp>
      <p:sp>
        <p:nvSpPr>
          <p:cNvPr id="309" name="Google Shape;309;g36aa5aa9355_0_205"/>
          <p:cNvSpPr/>
          <p:nvPr/>
        </p:nvSpPr>
        <p:spPr>
          <a:xfrm>
            <a:off x="4541375" y="2291250"/>
            <a:ext cx="969900" cy="553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g36aa5aa9355_0_205"/>
          <p:cNvSpPr/>
          <p:nvPr/>
        </p:nvSpPr>
        <p:spPr>
          <a:xfrm>
            <a:off x="3507400" y="3126300"/>
            <a:ext cx="969900" cy="553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Google Shape;311;g36aa5aa9355_0_205"/>
          <p:cNvSpPr/>
          <p:nvPr/>
        </p:nvSpPr>
        <p:spPr>
          <a:xfrm>
            <a:off x="4646475" y="4042350"/>
            <a:ext cx="969900" cy="553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2" name="Google Shape;312;g36aa5aa9355_0_205"/>
          <p:cNvCxnSpPr>
            <a:stCxn id="309" idx="4"/>
            <a:endCxn id="310" idx="0"/>
          </p:cNvCxnSpPr>
          <p:nvPr/>
        </p:nvCxnSpPr>
        <p:spPr>
          <a:xfrm flipH="1">
            <a:off x="3992225" y="2844450"/>
            <a:ext cx="1034100" cy="28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" name="Google Shape;313;g36aa5aa9355_0_205"/>
          <p:cNvCxnSpPr>
            <a:stCxn id="310" idx="4"/>
            <a:endCxn id="311" idx="0"/>
          </p:cNvCxnSpPr>
          <p:nvPr/>
        </p:nvCxnSpPr>
        <p:spPr>
          <a:xfrm>
            <a:off x="3992350" y="3679500"/>
            <a:ext cx="1139100" cy="363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" name="Google Shape;314;g36aa5aa9355_0_205"/>
          <p:cNvCxnSpPr>
            <a:stCxn id="311" idx="0"/>
            <a:endCxn id="309" idx="5"/>
          </p:cNvCxnSpPr>
          <p:nvPr/>
        </p:nvCxnSpPr>
        <p:spPr>
          <a:xfrm flipH="1" rot="10800000">
            <a:off x="5131425" y="2763450"/>
            <a:ext cx="237900" cy="1278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5" name="Google Shape;315;g36aa5aa9355_0_205"/>
          <p:cNvSpPr/>
          <p:nvPr/>
        </p:nvSpPr>
        <p:spPr>
          <a:xfrm>
            <a:off x="3694422" y="2400590"/>
            <a:ext cx="2232900" cy="2004600"/>
          </a:xfrm>
          <a:prstGeom prst="noSmoking">
            <a:avLst>
              <a:gd fmla="val 18750" name="adj"/>
            </a:avLst>
          </a:prstGeom>
          <a:gradFill>
            <a:gsLst>
              <a:gs pos="0">
                <a:srgbClr val="FF6800">
                  <a:alpha val="28627"/>
                </a:srgbClr>
              </a:gs>
              <a:gs pos="100000">
                <a:srgbClr val="FF976D">
                  <a:alpha val="45490"/>
                </a:srgbClr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3000">
              <a:srgbClr val="000000">
                <a:alpha val="3412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6aa5aa9355_0_200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BGP: The Big Picture</a:t>
            </a:r>
            <a:endParaRPr/>
          </a:p>
        </p:txBody>
      </p:sp>
      <p:sp>
        <p:nvSpPr>
          <p:cNvPr id="321" name="Google Shape;321;g36aa5aa9355_0_200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How does this fit with what we’ve learned so far?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6aa5aa9355_0_22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Three parts of Gateway Protocols</a:t>
            </a:r>
            <a:endParaRPr/>
          </a:p>
        </p:txBody>
      </p:sp>
      <p:sp>
        <p:nvSpPr>
          <p:cNvPr id="327" name="Google Shape;327;g36aa5aa9355_0_22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eBGP</a:t>
            </a:r>
            <a:endParaRPr b="1" sz="2000"/>
          </a:p>
          <a:p>
            <a:pPr indent="-3556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Between border routers in </a:t>
            </a:r>
            <a:r>
              <a:rPr b="1" lang="en" sz="2000"/>
              <a:t>different ASes</a:t>
            </a:r>
            <a:endParaRPr b="1" sz="2000"/>
          </a:p>
          <a:p>
            <a:pPr indent="-3556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Learn about </a:t>
            </a:r>
            <a:r>
              <a:rPr b="1" lang="en" sz="2000"/>
              <a:t>external routes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iBGP</a:t>
            </a:r>
            <a:endParaRPr b="1" sz="2000"/>
          </a:p>
          <a:p>
            <a:pPr indent="-3556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Between border routers and other routers </a:t>
            </a:r>
            <a:r>
              <a:rPr b="1" lang="en" sz="2000"/>
              <a:t>within a single AS</a:t>
            </a:r>
            <a:endParaRPr b="1" sz="2000"/>
          </a:p>
          <a:p>
            <a:pPr indent="-3556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Learn </a:t>
            </a:r>
            <a:r>
              <a:rPr b="1" lang="en" sz="2000"/>
              <a:t>which border router</a:t>
            </a:r>
            <a:r>
              <a:rPr lang="en" sz="2000"/>
              <a:t> to use to reach external destinations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IGP</a:t>
            </a:r>
            <a:endParaRPr b="1" sz="2000"/>
          </a:p>
          <a:p>
            <a:pPr indent="-3556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The </a:t>
            </a:r>
            <a:r>
              <a:rPr b="1" lang="en" sz="2000"/>
              <a:t>protocol</a:t>
            </a:r>
            <a:r>
              <a:rPr lang="en" sz="2000"/>
              <a:t> used for </a:t>
            </a:r>
            <a:r>
              <a:rPr b="1" lang="en" sz="2000"/>
              <a:t>intradomain</a:t>
            </a:r>
            <a:r>
              <a:rPr lang="en" sz="2000"/>
              <a:t> routing (e.g. OSPF).</a:t>
            </a:r>
            <a:endParaRPr sz="2000"/>
          </a:p>
          <a:p>
            <a:pPr indent="-355600" lvl="2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</a:pPr>
            <a:r>
              <a:rPr lang="en" sz="2000"/>
              <a:t>Shortest path to </a:t>
            </a:r>
            <a:r>
              <a:rPr b="1" lang="en" sz="2000"/>
              <a:t>subnet in the same AS</a:t>
            </a:r>
            <a:endParaRPr b="1" sz="2000"/>
          </a:p>
          <a:p>
            <a:pPr indent="-355600" lvl="2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</a:pPr>
            <a:r>
              <a:rPr lang="en" sz="2000"/>
              <a:t>Shortest path to </a:t>
            </a:r>
            <a:r>
              <a:rPr b="1" lang="en" sz="2000"/>
              <a:t>border router</a:t>
            </a:r>
            <a:r>
              <a:rPr lang="en" sz="2000"/>
              <a:t> for given external network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Just a different name for L3 routing as we’ve talked about earlier</a:t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6aa5aa9355_0_80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BGP Route Attributes</a:t>
            </a:r>
            <a:endParaRPr/>
          </a:p>
        </p:txBody>
      </p:sp>
      <p:sp>
        <p:nvSpPr>
          <p:cNvPr id="333" name="Google Shape;333;g36aa5aa9355_0_80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Attributes: Parameters used in route selection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○"/>
            </a:pPr>
            <a:r>
              <a:rPr b="1" lang="en" sz="2000"/>
              <a:t>Local</a:t>
            </a:r>
            <a:r>
              <a:rPr lang="en" sz="2000"/>
              <a:t> attributes</a:t>
            </a:r>
            <a:endParaRPr sz="2000"/>
          </a:p>
          <a:p>
            <a:pPr indent="-355600" lvl="2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</a:pPr>
            <a:r>
              <a:rPr lang="en" sz="2000"/>
              <a:t>ASes keep them private</a:t>
            </a:r>
            <a:endParaRPr sz="2000"/>
          </a:p>
          <a:p>
            <a:pPr indent="-355600" lvl="2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</a:pPr>
            <a:r>
              <a:rPr lang="en" sz="2000"/>
              <a:t>Not included in eBGP route announcements</a:t>
            </a:r>
            <a:endParaRPr sz="2000"/>
          </a:p>
          <a:p>
            <a:pPr indent="-355600" lvl="2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</a:pPr>
            <a:r>
              <a:rPr lang="en" sz="2000"/>
              <a:t>E.g.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LOCAL_PREF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○"/>
            </a:pPr>
            <a:r>
              <a:rPr b="1" lang="en" sz="2000"/>
              <a:t>Nonlocal</a:t>
            </a:r>
            <a:r>
              <a:rPr lang="en" sz="2000"/>
              <a:t> attributes:</a:t>
            </a:r>
            <a:endParaRPr sz="2000"/>
          </a:p>
          <a:p>
            <a:pPr indent="-355600" lvl="2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</a:pPr>
            <a:r>
              <a:rPr lang="en" sz="2000"/>
              <a:t>propagated with eBGP route announcements</a:t>
            </a:r>
            <a:endParaRPr sz="2000"/>
          </a:p>
          <a:p>
            <a:pPr indent="-355600" lvl="2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</a:pPr>
            <a:r>
              <a:rPr lang="en" sz="2000"/>
              <a:t>E.g.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AS_PATH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6aa5aa9355_0_80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Route Selection in Priority Order</a:t>
            </a:r>
            <a:endParaRPr/>
          </a:p>
        </p:txBody>
      </p:sp>
      <p:graphicFrame>
        <p:nvGraphicFramePr>
          <p:cNvPr id="339" name="Google Shape;339;g36aa5aa9355_0_807"/>
          <p:cNvGraphicFramePr/>
          <p:nvPr/>
        </p:nvGraphicFramePr>
        <p:xfrm>
          <a:off x="571500" y="12246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{06D1F83A-98AF-45E6-BA8B-4BE50BCD673F}</a:tableStyleId>
              </a:tblPr>
              <a:tblGrid>
                <a:gridCol w="1034675"/>
                <a:gridCol w="2626450"/>
                <a:gridCol w="3661125"/>
              </a:tblGrid>
              <a:tr h="33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/>
                        <a:t>Priority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/>
                        <a:t>Rule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/>
                        <a:t>Remarks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 PREF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/>
                        <a:t>Pick </a:t>
                      </a:r>
                      <a:r>
                        <a:rPr b="1" lang="en" sz="1800" u="none" cap="none" strike="noStrike"/>
                        <a:t>highest</a:t>
                      </a:r>
                      <a:r>
                        <a:rPr lang="en" sz="1800" u="none" cap="none" strike="noStrike"/>
                        <a:t> </a:t>
                      </a:r>
                      <a:r>
                        <a:rPr lang="en" sz="18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 PREF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ASPATH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/>
                        <a:t>Pick </a:t>
                      </a:r>
                      <a:r>
                        <a:rPr b="1" lang="en" sz="1800" u="none" cap="none" strike="noStrike"/>
                        <a:t>shortest</a:t>
                      </a:r>
                      <a:r>
                        <a:rPr lang="en" sz="1800" u="none" cap="none" strike="noStrike"/>
                        <a:t> </a:t>
                      </a:r>
                      <a:r>
                        <a:rPr lang="en" sz="18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ASPATH</a:t>
                      </a:r>
                      <a:r>
                        <a:rPr lang="en" sz="1800" u="none" cap="none" strike="noStrike"/>
                        <a:t> length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IGP cost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00"/>
                          </a:solidFill>
                        </a:rPr>
                        <a:t>Lowest IGP cost to next hop (egress router)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/>
                        <a:t>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MED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00"/>
                          </a:solidFill>
                        </a:rPr>
                        <a:t>Lowest</a:t>
                      </a:r>
                      <a:r>
                        <a:rPr lang="en" sz="18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" sz="18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MED</a:t>
                      </a:r>
                      <a:r>
                        <a:rPr lang="en" sz="1800" u="none" cap="none" strike="noStrike">
                          <a:solidFill>
                            <a:srgbClr val="000000"/>
                          </a:solidFill>
                        </a:rPr>
                        <a:t> preferred</a:t>
                      </a:r>
                      <a:r>
                        <a:rPr lang="en" sz="1800" u="none" cap="none" strike="noStrike"/>
                        <a:t>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/>
                        <a:t>5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Router ID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/>
                        <a:t>Smallest next-hop router’s IP address as tie-breaker</a:t>
                      </a:r>
                      <a:endParaRPr sz="1800" u="none" cap="none" strike="noStrike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-"/>
                      </a:pPr>
                      <a:r>
                        <a:rPr lang="en" sz="1800" u="none" cap="none" strike="noStrike"/>
                        <a:t>Classless addressing is used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6aa5aa9355_0_81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Priority Oscillation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6aa5aa9355_0_82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Policy Oscillation</a:t>
            </a:r>
            <a:endParaRPr/>
          </a:p>
        </p:txBody>
      </p:sp>
      <p:grpSp>
        <p:nvGrpSpPr>
          <p:cNvPr id="350" name="Google Shape;350;g36aa5aa9355_0_820"/>
          <p:cNvGrpSpPr/>
          <p:nvPr/>
        </p:nvGrpSpPr>
        <p:grpSpPr>
          <a:xfrm>
            <a:off x="2539282" y="1054217"/>
            <a:ext cx="3906849" cy="3269550"/>
            <a:chOff x="2539282" y="1054217"/>
            <a:chExt cx="3906849" cy="3269550"/>
          </a:xfrm>
        </p:grpSpPr>
        <p:grpSp>
          <p:nvGrpSpPr>
            <p:cNvPr id="351" name="Google Shape;351;g36aa5aa9355_0_820"/>
            <p:cNvGrpSpPr/>
            <p:nvPr/>
          </p:nvGrpSpPr>
          <p:grpSpPr>
            <a:xfrm>
              <a:off x="5554531" y="3512566"/>
              <a:ext cx="891600" cy="811200"/>
              <a:chOff x="6464705" y="3644584"/>
              <a:chExt cx="891600" cy="811200"/>
            </a:xfrm>
          </p:grpSpPr>
          <p:sp>
            <p:nvSpPr>
              <p:cNvPr id="352" name="Google Shape;352;g36aa5aa9355_0_820"/>
              <p:cNvSpPr/>
              <p:nvPr/>
            </p:nvSpPr>
            <p:spPr>
              <a:xfrm>
                <a:off x="6464705" y="3644584"/>
                <a:ext cx="891600" cy="811200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g36aa5aa9355_0_820"/>
              <p:cNvSpPr txBox="1"/>
              <p:nvPr/>
            </p:nvSpPr>
            <p:spPr>
              <a:xfrm>
                <a:off x="6692259" y="3856366"/>
                <a:ext cx="43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 b="1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54" name="Google Shape;354;g36aa5aa9355_0_820"/>
            <p:cNvCxnSpPr/>
            <p:nvPr/>
          </p:nvCxnSpPr>
          <p:spPr>
            <a:xfrm>
              <a:off x="3430822" y="3899884"/>
              <a:ext cx="2123700" cy="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cxnSp>
          <p:nvCxnSpPr>
            <p:cNvPr id="355" name="Google Shape;355;g36aa5aa9355_0_820"/>
            <p:cNvCxnSpPr>
              <a:stCxn id="356" idx="3"/>
              <a:endCxn id="357" idx="0"/>
            </p:cNvCxnSpPr>
            <p:nvPr/>
          </p:nvCxnSpPr>
          <p:spPr>
            <a:xfrm flipH="1">
              <a:off x="2985096" y="1746620"/>
              <a:ext cx="1222500" cy="17658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cxnSp>
          <p:nvCxnSpPr>
            <p:cNvPr id="358" name="Google Shape;358;g36aa5aa9355_0_820"/>
            <p:cNvCxnSpPr>
              <a:stCxn id="356" idx="5"/>
              <a:endCxn id="352" idx="0"/>
            </p:cNvCxnSpPr>
            <p:nvPr/>
          </p:nvCxnSpPr>
          <p:spPr>
            <a:xfrm>
              <a:off x="4838052" y="1746620"/>
              <a:ext cx="1162200" cy="17658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grpSp>
          <p:nvGrpSpPr>
            <p:cNvPr id="359" name="Google Shape;359;g36aa5aa9355_0_820"/>
            <p:cNvGrpSpPr/>
            <p:nvPr/>
          </p:nvGrpSpPr>
          <p:grpSpPr>
            <a:xfrm>
              <a:off x="4085175" y="2553571"/>
              <a:ext cx="891600" cy="811200"/>
              <a:chOff x="4130895" y="2553571"/>
              <a:chExt cx="891600" cy="811200"/>
            </a:xfrm>
          </p:grpSpPr>
          <p:sp>
            <p:nvSpPr>
              <p:cNvPr id="360" name="Google Shape;360;g36aa5aa9355_0_820"/>
              <p:cNvSpPr/>
              <p:nvPr/>
            </p:nvSpPr>
            <p:spPr>
              <a:xfrm>
                <a:off x="4130895" y="2553571"/>
                <a:ext cx="891600" cy="811200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g36aa5aa9355_0_820"/>
              <p:cNvSpPr txBox="1"/>
              <p:nvPr/>
            </p:nvSpPr>
            <p:spPr>
              <a:xfrm>
                <a:off x="4377806" y="2774550"/>
                <a:ext cx="43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 b="1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2" name="Google Shape;362;g36aa5aa9355_0_820"/>
            <p:cNvGrpSpPr/>
            <p:nvPr/>
          </p:nvGrpSpPr>
          <p:grpSpPr>
            <a:xfrm>
              <a:off x="4077024" y="1054217"/>
              <a:ext cx="891600" cy="811200"/>
              <a:chOff x="4077024" y="1054217"/>
              <a:chExt cx="891600" cy="811200"/>
            </a:xfrm>
          </p:grpSpPr>
          <p:sp>
            <p:nvSpPr>
              <p:cNvPr id="356" name="Google Shape;356;g36aa5aa9355_0_820"/>
              <p:cNvSpPr/>
              <p:nvPr/>
            </p:nvSpPr>
            <p:spPr>
              <a:xfrm>
                <a:off x="4077024" y="1054217"/>
                <a:ext cx="891600" cy="811200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g36aa5aa9355_0_820"/>
              <p:cNvSpPr txBox="1"/>
              <p:nvPr/>
            </p:nvSpPr>
            <p:spPr>
              <a:xfrm>
                <a:off x="4319494" y="1275197"/>
                <a:ext cx="43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1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4" name="Google Shape;364;g36aa5aa9355_0_820"/>
            <p:cNvGrpSpPr/>
            <p:nvPr/>
          </p:nvGrpSpPr>
          <p:grpSpPr>
            <a:xfrm>
              <a:off x="2539282" y="3512567"/>
              <a:ext cx="891600" cy="811200"/>
              <a:chOff x="1622041" y="3653715"/>
              <a:chExt cx="891600" cy="811200"/>
            </a:xfrm>
          </p:grpSpPr>
          <p:sp>
            <p:nvSpPr>
              <p:cNvPr id="357" name="Google Shape;357;g36aa5aa9355_0_820"/>
              <p:cNvSpPr/>
              <p:nvPr/>
            </p:nvSpPr>
            <p:spPr>
              <a:xfrm>
                <a:off x="1622041" y="3653715"/>
                <a:ext cx="891600" cy="811200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g36aa5aa9355_0_820"/>
              <p:cNvSpPr txBox="1"/>
              <p:nvPr/>
            </p:nvSpPr>
            <p:spPr>
              <a:xfrm>
                <a:off x="1849595" y="3856366"/>
                <a:ext cx="43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b="1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66" name="Google Shape;366;g36aa5aa9355_0_820"/>
            <p:cNvCxnSpPr>
              <a:stCxn id="356" idx="4"/>
              <a:endCxn id="360" idx="0"/>
            </p:cNvCxnSpPr>
            <p:nvPr/>
          </p:nvCxnSpPr>
          <p:spPr>
            <a:xfrm>
              <a:off x="4522824" y="1865417"/>
              <a:ext cx="8100" cy="6882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lg" w="lg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cxnSp>
          <p:nvCxnSpPr>
            <p:cNvPr id="367" name="Google Shape;367;g36aa5aa9355_0_820"/>
            <p:cNvCxnSpPr>
              <a:stCxn id="360" idx="5"/>
              <a:endCxn id="352" idx="1"/>
            </p:cNvCxnSpPr>
            <p:nvPr/>
          </p:nvCxnSpPr>
          <p:spPr>
            <a:xfrm>
              <a:off x="4846203" y="3245974"/>
              <a:ext cx="838800" cy="3855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lg" w="lg" type="triangl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cxnSp>
          <p:nvCxnSpPr>
            <p:cNvPr id="368" name="Google Shape;368;g36aa5aa9355_0_820"/>
            <p:cNvCxnSpPr>
              <a:stCxn id="357" idx="7"/>
              <a:endCxn id="360" idx="3"/>
            </p:cNvCxnSpPr>
            <p:nvPr/>
          </p:nvCxnSpPr>
          <p:spPr>
            <a:xfrm flipH="1" rot="10800000">
              <a:off x="3300310" y="3245864"/>
              <a:ext cx="915300" cy="3855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lg" w="lg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</p:grpSp>
      <p:sp>
        <p:nvSpPr>
          <p:cNvPr id="369" name="Google Shape;369;g36aa5aa9355_0_820"/>
          <p:cNvSpPr txBox="1"/>
          <p:nvPr/>
        </p:nvSpPr>
        <p:spPr>
          <a:xfrm>
            <a:off x="5685094" y="669220"/>
            <a:ext cx="3078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Each node </a:t>
            </a:r>
            <a:r>
              <a:rPr b="1"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prefers</a:t>
            </a: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 route through neighbor over direct route.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g36aa5aa9355_0_820"/>
          <p:cNvSpPr txBox="1"/>
          <p:nvPr/>
        </p:nvSpPr>
        <p:spPr>
          <a:xfrm>
            <a:off x="5405925" y="1827150"/>
            <a:ext cx="37194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1 prefers reaching 0 through 2 or 3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2 prefers reaching 0 through 1 or 3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3 prefers reaching 0 through 1 or 2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g36aa5aa9355_0_820"/>
          <p:cNvSpPr txBox="1"/>
          <p:nvPr/>
        </p:nvSpPr>
        <p:spPr>
          <a:xfrm>
            <a:off x="352603" y="1865837"/>
            <a:ext cx="3078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Suppose </a:t>
            </a:r>
            <a:r>
              <a:rPr b="1"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initially</a:t>
            </a: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 each node only knows the </a:t>
            </a:r>
            <a:r>
              <a:rPr b="1"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shortest</a:t>
            </a: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 path to 0 (</a:t>
            </a:r>
            <a:r>
              <a:rPr i="0" lang="en" sz="1800" u="none" cap="none" strike="noStrike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green</a:t>
            </a: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 arrow).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g36aa5aa9355_0_820"/>
          <p:cNvSpPr txBox="1"/>
          <p:nvPr/>
        </p:nvSpPr>
        <p:spPr>
          <a:xfrm>
            <a:off x="352599" y="3031200"/>
            <a:ext cx="19437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1 knows 1→0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2 knows 2→0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3 knows 3→0</a:t>
            </a:r>
            <a:endParaRPr i="0" sz="1800" u="none" cap="none" strike="noStrike">
              <a:solidFill>
                <a:srgbClr val="695D4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3" name="Google Shape;373;g36aa5aa9355_0_820"/>
          <p:cNvCxnSpPr/>
          <p:nvPr/>
        </p:nvCxnSpPr>
        <p:spPr>
          <a:xfrm flipH="1" rot="10800000">
            <a:off x="3253125" y="3176612"/>
            <a:ext cx="915600" cy="385200"/>
          </a:xfrm>
          <a:prstGeom prst="straightConnector1">
            <a:avLst/>
          </a:prstGeom>
          <a:noFill/>
          <a:ln cap="flat" cmpd="sng" w="25400">
            <a:solidFill>
              <a:srgbClr val="38761D"/>
            </a:solidFill>
            <a:prstDash val="solid"/>
            <a:round/>
            <a:headEnd len="sm" w="sm" type="none"/>
            <a:tailEnd len="lg" w="lg" type="triangl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cxnSp>
        <p:nvCxnSpPr>
          <p:cNvPr id="374" name="Google Shape;374;g36aa5aa9355_0_820"/>
          <p:cNvCxnSpPr/>
          <p:nvPr/>
        </p:nvCxnSpPr>
        <p:spPr>
          <a:xfrm>
            <a:off x="4645206" y="1856727"/>
            <a:ext cx="8100" cy="688200"/>
          </a:xfrm>
          <a:prstGeom prst="straightConnector1">
            <a:avLst/>
          </a:prstGeom>
          <a:noFill/>
          <a:ln cap="flat" cmpd="sng" w="25400">
            <a:solidFill>
              <a:srgbClr val="38761D"/>
            </a:solidFill>
            <a:prstDash val="solid"/>
            <a:round/>
            <a:headEnd len="sm" w="sm" type="none"/>
            <a:tailEnd len="lg" w="lg" type="triangl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cxnSp>
        <p:nvCxnSpPr>
          <p:cNvPr id="375" name="Google Shape;375;g36aa5aa9355_0_820"/>
          <p:cNvCxnSpPr/>
          <p:nvPr/>
        </p:nvCxnSpPr>
        <p:spPr>
          <a:xfrm>
            <a:off x="4896390" y="3172199"/>
            <a:ext cx="838800" cy="385200"/>
          </a:xfrm>
          <a:prstGeom prst="straightConnector1">
            <a:avLst/>
          </a:prstGeom>
          <a:noFill/>
          <a:ln cap="flat" cmpd="sng" w="25400">
            <a:solidFill>
              <a:srgbClr val="38761D"/>
            </a:solidFill>
            <a:prstDash val="solid"/>
            <a:round/>
            <a:headEnd len="lg" w="lg" type="triangl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6aa5aa9355_0_87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Policy Oscillation 1</a:t>
            </a:r>
            <a:endParaRPr/>
          </a:p>
        </p:txBody>
      </p:sp>
      <p:grpSp>
        <p:nvGrpSpPr>
          <p:cNvPr id="381" name="Google Shape;381;g36aa5aa9355_0_877"/>
          <p:cNvGrpSpPr/>
          <p:nvPr/>
        </p:nvGrpSpPr>
        <p:grpSpPr>
          <a:xfrm>
            <a:off x="2539282" y="1054217"/>
            <a:ext cx="3906849" cy="3269550"/>
            <a:chOff x="2539282" y="1054217"/>
            <a:chExt cx="3906849" cy="3269550"/>
          </a:xfrm>
        </p:grpSpPr>
        <p:grpSp>
          <p:nvGrpSpPr>
            <p:cNvPr id="382" name="Google Shape;382;g36aa5aa9355_0_877"/>
            <p:cNvGrpSpPr/>
            <p:nvPr/>
          </p:nvGrpSpPr>
          <p:grpSpPr>
            <a:xfrm>
              <a:off x="5554531" y="3512566"/>
              <a:ext cx="891600" cy="811200"/>
              <a:chOff x="6464705" y="3644584"/>
              <a:chExt cx="891600" cy="811200"/>
            </a:xfrm>
          </p:grpSpPr>
          <p:sp>
            <p:nvSpPr>
              <p:cNvPr id="383" name="Google Shape;383;g36aa5aa9355_0_877"/>
              <p:cNvSpPr/>
              <p:nvPr/>
            </p:nvSpPr>
            <p:spPr>
              <a:xfrm>
                <a:off x="6464705" y="3644584"/>
                <a:ext cx="891600" cy="811200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" name="Google Shape;384;g36aa5aa9355_0_877"/>
              <p:cNvSpPr txBox="1"/>
              <p:nvPr/>
            </p:nvSpPr>
            <p:spPr>
              <a:xfrm>
                <a:off x="6692259" y="3856366"/>
                <a:ext cx="43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 b="1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85" name="Google Shape;385;g36aa5aa9355_0_877"/>
            <p:cNvCxnSpPr/>
            <p:nvPr/>
          </p:nvCxnSpPr>
          <p:spPr>
            <a:xfrm>
              <a:off x="3430822" y="3899884"/>
              <a:ext cx="2123700" cy="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cxnSp>
          <p:nvCxnSpPr>
            <p:cNvPr id="386" name="Google Shape;386;g36aa5aa9355_0_877"/>
            <p:cNvCxnSpPr>
              <a:stCxn id="387" idx="3"/>
              <a:endCxn id="388" idx="0"/>
            </p:cNvCxnSpPr>
            <p:nvPr/>
          </p:nvCxnSpPr>
          <p:spPr>
            <a:xfrm flipH="1">
              <a:off x="2985096" y="1746620"/>
              <a:ext cx="1222500" cy="17658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cxnSp>
          <p:nvCxnSpPr>
            <p:cNvPr id="389" name="Google Shape;389;g36aa5aa9355_0_877"/>
            <p:cNvCxnSpPr>
              <a:stCxn id="387" idx="5"/>
              <a:endCxn id="383" idx="0"/>
            </p:cNvCxnSpPr>
            <p:nvPr/>
          </p:nvCxnSpPr>
          <p:spPr>
            <a:xfrm>
              <a:off x="4838052" y="1746620"/>
              <a:ext cx="1162200" cy="17658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grpSp>
          <p:nvGrpSpPr>
            <p:cNvPr id="390" name="Google Shape;390;g36aa5aa9355_0_877"/>
            <p:cNvGrpSpPr/>
            <p:nvPr/>
          </p:nvGrpSpPr>
          <p:grpSpPr>
            <a:xfrm>
              <a:off x="4085175" y="2553571"/>
              <a:ext cx="891600" cy="811200"/>
              <a:chOff x="4130895" y="2553571"/>
              <a:chExt cx="891600" cy="811200"/>
            </a:xfrm>
          </p:grpSpPr>
          <p:sp>
            <p:nvSpPr>
              <p:cNvPr id="391" name="Google Shape;391;g36aa5aa9355_0_877"/>
              <p:cNvSpPr/>
              <p:nvPr/>
            </p:nvSpPr>
            <p:spPr>
              <a:xfrm>
                <a:off x="4130895" y="2553571"/>
                <a:ext cx="891600" cy="811200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" name="Google Shape;392;g36aa5aa9355_0_877"/>
              <p:cNvSpPr txBox="1"/>
              <p:nvPr/>
            </p:nvSpPr>
            <p:spPr>
              <a:xfrm>
                <a:off x="4377806" y="2774550"/>
                <a:ext cx="43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 b="1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3" name="Google Shape;393;g36aa5aa9355_0_877"/>
            <p:cNvGrpSpPr/>
            <p:nvPr/>
          </p:nvGrpSpPr>
          <p:grpSpPr>
            <a:xfrm>
              <a:off x="4077024" y="1054217"/>
              <a:ext cx="891600" cy="811200"/>
              <a:chOff x="4077024" y="1054217"/>
              <a:chExt cx="891600" cy="811200"/>
            </a:xfrm>
          </p:grpSpPr>
          <p:sp>
            <p:nvSpPr>
              <p:cNvPr id="387" name="Google Shape;387;g36aa5aa9355_0_877"/>
              <p:cNvSpPr/>
              <p:nvPr/>
            </p:nvSpPr>
            <p:spPr>
              <a:xfrm>
                <a:off x="4077024" y="1054217"/>
                <a:ext cx="891600" cy="811200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" name="Google Shape;394;g36aa5aa9355_0_877"/>
              <p:cNvSpPr txBox="1"/>
              <p:nvPr/>
            </p:nvSpPr>
            <p:spPr>
              <a:xfrm>
                <a:off x="4319494" y="1275197"/>
                <a:ext cx="43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1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5" name="Google Shape;395;g36aa5aa9355_0_877"/>
            <p:cNvGrpSpPr/>
            <p:nvPr/>
          </p:nvGrpSpPr>
          <p:grpSpPr>
            <a:xfrm>
              <a:off x="2539282" y="3512567"/>
              <a:ext cx="891600" cy="811200"/>
              <a:chOff x="1622041" y="3653715"/>
              <a:chExt cx="891600" cy="811200"/>
            </a:xfrm>
          </p:grpSpPr>
          <p:sp>
            <p:nvSpPr>
              <p:cNvPr id="388" name="Google Shape;388;g36aa5aa9355_0_877"/>
              <p:cNvSpPr/>
              <p:nvPr/>
            </p:nvSpPr>
            <p:spPr>
              <a:xfrm>
                <a:off x="1622041" y="3653715"/>
                <a:ext cx="891600" cy="811200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396;g36aa5aa9355_0_877"/>
              <p:cNvSpPr txBox="1"/>
              <p:nvPr/>
            </p:nvSpPr>
            <p:spPr>
              <a:xfrm>
                <a:off x="1849595" y="3856366"/>
                <a:ext cx="43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b="1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97" name="Google Shape;397;g36aa5aa9355_0_877"/>
            <p:cNvCxnSpPr>
              <a:stCxn id="387" idx="4"/>
              <a:endCxn id="391" idx="0"/>
            </p:cNvCxnSpPr>
            <p:nvPr/>
          </p:nvCxnSpPr>
          <p:spPr>
            <a:xfrm>
              <a:off x="4522824" y="1865417"/>
              <a:ext cx="8100" cy="6882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lg" w="lg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cxnSp>
          <p:nvCxnSpPr>
            <p:cNvPr id="398" name="Google Shape;398;g36aa5aa9355_0_877"/>
            <p:cNvCxnSpPr>
              <a:stCxn id="391" idx="5"/>
              <a:endCxn id="383" idx="1"/>
            </p:cNvCxnSpPr>
            <p:nvPr/>
          </p:nvCxnSpPr>
          <p:spPr>
            <a:xfrm>
              <a:off x="4846203" y="3245974"/>
              <a:ext cx="838800" cy="3855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lg" w="lg" type="triangl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cxnSp>
          <p:nvCxnSpPr>
            <p:cNvPr id="399" name="Google Shape;399;g36aa5aa9355_0_877"/>
            <p:cNvCxnSpPr>
              <a:stCxn id="388" idx="7"/>
              <a:endCxn id="391" idx="3"/>
            </p:cNvCxnSpPr>
            <p:nvPr/>
          </p:nvCxnSpPr>
          <p:spPr>
            <a:xfrm flipH="1" rot="10800000">
              <a:off x="3300310" y="3245864"/>
              <a:ext cx="915300" cy="3855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lg" w="lg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</p:grpSp>
      <p:sp>
        <p:nvSpPr>
          <p:cNvPr id="400" name="Google Shape;400;g36aa5aa9355_0_877"/>
          <p:cNvSpPr txBox="1"/>
          <p:nvPr/>
        </p:nvSpPr>
        <p:spPr>
          <a:xfrm>
            <a:off x="5685094" y="669220"/>
            <a:ext cx="3078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Each node </a:t>
            </a:r>
            <a:r>
              <a:rPr b="1"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prefers</a:t>
            </a: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 route through neighbor over direct route.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Google Shape;401;g36aa5aa9355_0_877"/>
          <p:cNvSpPr txBox="1"/>
          <p:nvPr/>
        </p:nvSpPr>
        <p:spPr>
          <a:xfrm>
            <a:off x="352603" y="1865837"/>
            <a:ext cx="3078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Suppose </a:t>
            </a:r>
            <a:r>
              <a:rPr b="1"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initially</a:t>
            </a: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 each node only knows the </a:t>
            </a:r>
            <a:r>
              <a:rPr b="1"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shortest</a:t>
            </a: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 path to 0 (</a:t>
            </a:r>
            <a:r>
              <a:rPr i="0" lang="en" sz="1800" u="none" cap="none" strike="noStrike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green</a:t>
            </a: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 arrow).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g36aa5aa9355_0_877"/>
          <p:cNvSpPr txBox="1"/>
          <p:nvPr/>
        </p:nvSpPr>
        <p:spPr>
          <a:xfrm>
            <a:off x="352599" y="3031200"/>
            <a:ext cx="19437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1 knows 1→0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2 knows 2→0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3 knows 3→0</a:t>
            </a:r>
            <a:endParaRPr i="0" sz="1800" u="none" cap="none" strike="noStrike">
              <a:solidFill>
                <a:srgbClr val="695D4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3" name="Google Shape;403;g36aa5aa9355_0_877"/>
          <p:cNvCxnSpPr/>
          <p:nvPr/>
        </p:nvCxnSpPr>
        <p:spPr>
          <a:xfrm flipH="1" rot="10800000">
            <a:off x="3253125" y="3176612"/>
            <a:ext cx="915600" cy="385200"/>
          </a:xfrm>
          <a:prstGeom prst="straightConnector1">
            <a:avLst/>
          </a:prstGeom>
          <a:noFill/>
          <a:ln cap="flat" cmpd="sng" w="25400">
            <a:solidFill>
              <a:srgbClr val="38761D"/>
            </a:solidFill>
            <a:prstDash val="solid"/>
            <a:round/>
            <a:headEnd len="sm" w="sm" type="none"/>
            <a:tailEnd len="lg" w="lg" type="triangl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cxnSp>
        <p:nvCxnSpPr>
          <p:cNvPr id="404" name="Google Shape;404;g36aa5aa9355_0_877"/>
          <p:cNvCxnSpPr/>
          <p:nvPr/>
        </p:nvCxnSpPr>
        <p:spPr>
          <a:xfrm>
            <a:off x="4645206" y="1856727"/>
            <a:ext cx="8100" cy="688200"/>
          </a:xfrm>
          <a:prstGeom prst="straightConnector1">
            <a:avLst/>
          </a:prstGeom>
          <a:noFill/>
          <a:ln cap="flat" cmpd="sng" w="25400">
            <a:solidFill>
              <a:srgbClr val="38761D"/>
            </a:solidFill>
            <a:prstDash val="solid"/>
            <a:round/>
            <a:headEnd len="sm" w="sm" type="none"/>
            <a:tailEnd len="lg" w="lg" type="triangl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cxnSp>
        <p:nvCxnSpPr>
          <p:cNvPr id="405" name="Google Shape;405;g36aa5aa9355_0_877"/>
          <p:cNvCxnSpPr/>
          <p:nvPr/>
        </p:nvCxnSpPr>
        <p:spPr>
          <a:xfrm>
            <a:off x="4896390" y="3172199"/>
            <a:ext cx="838800" cy="385200"/>
          </a:xfrm>
          <a:prstGeom prst="straightConnector1">
            <a:avLst/>
          </a:prstGeom>
          <a:noFill/>
          <a:ln cap="flat" cmpd="sng" w="25400">
            <a:solidFill>
              <a:srgbClr val="38761D"/>
            </a:solidFill>
            <a:prstDash val="solid"/>
            <a:round/>
            <a:headEnd len="lg" w="lg" type="triangl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406" name="Google Shape;406;g36aa5aa9355_0_877"/>
          <p:cNvSpPr txBox="1"/>
          <p:nvPr/>
        </p:nvSpPr>
        <p:spPr>
          <a:xfrm>
            <a:off x="2766835" y="4434906"/>
            <a:ext cx="388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1 advertises 1→0 to 2</a:t>
            </a:r>
            <a:endParaRPr b="1" i="0" sz="20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36aa5aa9355_0_877"/>
          <p:cNvSpPr txBox="1"/>
          <p:nvPr/>
        </p:nvSpPr>
        <p:spPr>
          <a:xfrm>
            <a:off x="5405925" y="1827150"/>
            <a:ext cx="37194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1 prefers reaching 0 through 2 or 3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2 prefers reaching 0 through 1 or 3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3 prefers reaching 0 through 1 or 2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" name="Google Shape;408;g36aa5aa9355_0_877"/>
          <p:cNvSpPr/>
          <p:nvPr/>
        </p:nvSpPr>
        <p:spPr>
          <a:xfrm>
            <a:off x="3120390" y="1786629"/>
            <a:ext cx="1352100" cy="1710900"/>
          </a:xfrm>
          <a:custGeom>
            <a:rect b="b" l="l" r="r" t="t"/>
            <a:pathLst>
              <a:path extrusionOk="0" h="120000" w="120000">
                <a:moveTo>
                  <a:pt x="0" y="119999"/>
                </a:moveTo>
                <a:cubicBezTo>
                  <a:pt x="45393" y="65969"/>
                  <a:pt x="90786" y="11939"/>
                  <a:pt x="109981" y="1228"/>
                </a:cubicBezTo>
                <a:cubicBezTo>
                  <a:pt x="129175" y="-9482"/>
                  <a:pt x="114823" y="53292"/>
                  <a:pt x="115168" y="55733"/>
                </a:cubicBezTo>
              </a:path>
            </a:pathLst>
          </a:custGeom>
          <a:noFill/>
          <a:ln cap="flat" cmpd="sng" w="254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2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6aa5aa9355_0_90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Policy Oscillation 2</a:t>
            </a:r>
            <a:endParaRPr/>
          </a:p>
        </p:txBody>
      </p:sp>
      <p:grpSp>
        <p:nvGrpSpPr>
          <p:cNvPr id="414" name="Google Shape;414;g36aa5aa9355_0_907"/>
          <p:cNvGrpSpPr/>
          <p:nvPr/>
        </p:nvGrpSpPr>
        <p:grpSpPr>
          <a:xfrm>
            <a:off x="2539282" y="1054217"/>
            <a:ext cx="3906849" cy="3269550"/>
            <a:chOff x="2539282" y="1054217"/>
            <a:chExt cx="3906849" cy="3269550"/>
          </a:xfrm>
        </p:grpSpPr>
        <p:grpSp>
          <p:nvGrpSpPr>
            <p:cNvPr id="415" name="Google Shape;415;g36aa5aa9355_0_907"/>
            <p:cNvGrpSpPr/>
            <p:nvPr/>
          </p:nvGrpSpPr>
          <p:grpSpPr>
            <a:xfrm>
              <a:off x="5554531" y="3512566"/>
              <a:ext cx="891600" cy="811200"/>
              <a:chOff x="6464705" y="3644584"/>
              <a:chExt cx="891600" cy="811200"/>
            </a:xfrm>
          </p:grpSpPr>
          <p:sp>
            <p:nvSpPr>
              <p:cNvPr id="416" name="Google Shape;416;g36aa5aa9355_0_907"/>
              <p:cNvSpPr/>
              <p:nvPr/>
            </p:nvSpPr>
            <p:spPr>
              <a:xfrm>
                <a:off x="6464705" y="3644584"/>
                <a:ext cx="891600" cy="811200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g36aa5aa9355_0_907"/>
              <p:cNvSpPr txBox="1"/>
              <p:nvPr/>
            </p:nvSpPr>
            <p:spPr>
              <a:xfrm>
                <a:off x="6692259" y="3856366"/>
                <a:ext cx="43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 b="1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18" name="Google Shape;418;g36aa5aa9355_0_907"/>
            <p:cNvCxnSpPr/>
            <p:nvPr/>
          </p:nvCxnSpPr>
          <p:spPr>
            <a:xfrm>
              <a:off x="3430822" y="3899884"/>
              <a:ext cx="2123700" cy="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cxnSp>
          <p:nvCxnSpPr>
            <p:cNvPr id="419" name="Google Shape;419;g36aa5aa9355_0_907"/>
            <p:cNvCxnSpPr>
              <a:stCxn id="420" idx="3"/>
              <a:endCxn id="421" idx="0"/>
            </p:cNvCxnSpPr>
            <p:nvPr/>
          </p:nvCxnSpPr>
          <p:spPr>
            <a:xfrm flipH="1">
              <a:off x="2985096" y="1746620"/>
              <a:ext cx="1222500" cy="17658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cxnSp>
          <p:nvCxnSpPr>
            <p:cNvPr id="422" name="Google Shape;422;g36aa5aa9355_0_907"/>
            <p:cNvCxnSpPr>
              <a:stCxn id="420" idx="5"/>
              <a:endCxn id="416" idx="0"/>
            </p:cNvCxnSpPr>
            <p:nvPr/>
          </p:nvCxnSpPr>
          <p:spPr>
            <a:xfrm>
              <a:off x="4838052" y="1746620"/>
              <a:ext cx="1162200" cy="17658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grpSp>
          <p:nvGrpSpPr>
            <p:cNvPr id="423" name="Google Shape;423;g36aa5aa9355_0_907"/>
            <p:cNvGrpSpPr/>
            <p:nvPr/>
          </p:nvGrpSpPr>
          <p:grpSpPr>
            <a:xfrm>
              <a:off x="4085175" y="2553571"/>
              <a:ext cx="891600" cy="811200"/>
              <a:chOff x="4130895" y="2553571"/>
              <a:chExt cx="891600" cy="811200"/>
            </a:xfrm>
          </p:grpSpPr>
          <p:sp>
            <p:nvSpPr>
              <p:cNvPr id="424" name="Google Shape;424;g36aa5aa9355_0_907"/>
              <p:cNvSpPr/>
              <p:nvPr/>
            </p:nvSpPr>
            <p:spPr>
              <a:xfrm>
                <a:off x="4130895" y="2553571"/>
                <a:ext cx="891600" cy="811200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g36aa5aa9355_0_907"/>
              <p:cNvSpPr txBox="1"/>
              <p:nvPr/>
            </p:nvSpPr>
            <p:spPr>
              <a:xfrm>
                <a:off x="4377806" y="2774550"/>
                <a:ext cx="43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 b="1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6" name="Google Shape;426;g36aa5aa9355_0_907"/>
            <p:cNvGrpSpPr/>
            <p:nvPr/>
          </p:nvGrpSpPr>
          <p:grpSpPr>
            <a:xfrm>
              <a:off x="4077024" y="1054217"/>
              <a:ext cx="891600" cy="811200"/>
              <a:chOff x="4077024" y="1054217"/>
              <a:chExt cx="891600" cy="811200"/>
            </a:xfrm>
          </p:grpSpPr>
          <p:sp>
            <p:nvSpPr>
              <p:cNvPr id="420" name="Google Shape;420;g36aa5aa9355_0_907"/>
              <p:cNvSpPr/>
              <p:nvPr/>
            </p:nvSpPr>
            <p:spPr>
              <a:xfrm>
                <a:off x="4077024" y="1054217"/>
                <a:ext cx="891600" cy="811200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g36aa5aa9355_0_907"/>
              <p:cNvSpPr txBox="1"/>
              <p:nvPr/>
            </p:nvSpPr>
            <p:spPr>
              <a:xfrm>
                <a:off x="4319494" y="1275197"/>
                <a:ext cx="43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1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8" name="Google Shape;428;g36aa5aa9355_0_907"/>
            <p:cNvGrpSpPr/>
            <p:nvPr/>
          </p:nvGrpSpPr>
          <p:grpSpPr>
            <a:xfrm>
              <a:off x="2539282" y="3512567"/>
              <a:ext cx="891600" cy="811200"/>
              <a:chOff x="1622041" y="3653715"/>
              <a:chExt cx="891600" cy="811200"/>
            </a:xfrm>
          </p:grpSpPr>
          <p:sp>
            <p:nvSpPr>
              <p:cNvPr id="421" name="Google Shape;421;g36aa5aa9355_0_907"/>
              <p:cNvSpPr/>
              <p:nvPr/>
            </p:nvSpPr>
            <p:spPr>
              <a:xfrm>
                <a:off x="1622041" y="3653715"/>
                <a:ext cx="891600" cy="811200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g36aa5aa9355_0_907"/>
              <p:cNvSpPr txBox="1"/>
              <p:nvPr/>
            </p:nvSpPr>
            <p:spPr>
              <a:xfrm>
                <a:off x="1849595" y="3856366"/>
                <a:ext cx="43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b="1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30" name="Google Shape;430;g36aa5aa9355_0_907"/>
            <p:cNvCxnSpPr>
              <a:stCxn id="420" idx="4"/>
              <a:endCxn id="424" idx="0"/>
            </p:cNvCxnSpPr>
            <p:nvPr/>
          </p:nvCxnSpPr>
          <p:spPr>
            <a:xfrm>
              <a:off x="4522824" y="1865417"/>
              <a:ext cx="8100" cy="6882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lg" w="lg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cxnSp>
          <p:nvCxnSpPr>
            <p:cNvPr id="431" name="Google Shape;431;g36aa5aa9355_0_907"/>
            <p:cNvCxnSpPr>
              <a:stCxn id="424" idx="5"/>
              <a:endCxn id="416" idx="1"/>
            </p:cNvCxnSpPr>
            <p:nvPr/>
          </p:nvCxnSpPr>
          <p:spPr>
            <a:xfrm>
              <a:off x="4846203" y="3245974"/>
              <a:ext cx="838800" cy="3855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lg" w="lg" type="triangl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cxnSp>
          <p:nvCxnSpPr>
            <p:cNvPr id="432" name="Google Shape;432;g36aa5aa9355_0_907"/>
            <p:cNvCxnSpPr>
              <a:stCxn id="421" idx="7"/>
              <a:endCxn id="424" idx="3"/>
            </p:cNvCxnSpPr>
            <p:nvPr/>
          </p:nvCxnSpPr>
          <p:spPr>
            <a:xfrm flipH="1" rot="10800000">
              <a:off x="3300310" y="3245864"/>
              <a:ext cx="915300" cy="3855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lg" w="lg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</p:grpSp>
      <p:sp>
        <p:nvSpPr>
          <p:cNvPr id="433" name="Google Shape;433;g36aa5aa9355_0_907"/>
          <p:cNvSpPr txBox="1"/>
          <p:nvPr/>
        </p:nvSpPr>
        <p:spPr>
          <a:xfrm>
            <a:off x="5685094" y="669220"/>
            <a:ext cx="3078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Each node </a:t>
            </a:r>
            <a:r>
              <a:rPr b="1"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prefers</a:t>
            </a: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 route through neighbor over direct route.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" name="Google Shape;434;g36aa5aa9355_0_907"/>
          <p:cNvSpPr txBox="1"/>
          <p:nvPr/>
        </p:nvSpPr>
        <p:spPr>
          <a:xfrm>
            <a:off x="352603" y="1865837"/>
            <a:ext cx="3078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Suppose </a:t>
            </a:r>
            <a:r>
              <a:rPr b="1"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initially</a:t>
            </a: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 each node only knows the </a:t>
            </a:r>
            <a:r>
              <a:rPr b="1"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shortest</a:t>
            </a: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 path to 0 (</a:t>
            </a:r>
            <a:r>
              <a:rPr i="0" lang="en" sz="1800" u="none" cap="none" strike="noStrike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green</a:t>
            </a: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 arrow).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" name="Google Shape;435;g36aa5aa9355_0_907"/>
          <p:cNvSpPr txBox="1"/>
          <p:nvPr/>
        </p:nvSpPr>
        <p:spPr>
          <a:xfrm>
            <a:off x="352599" y="3031200"/>
            <a:ext cx="19437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1 knows 1→0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2 knows 2→0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3 knows 3→0</a:t>
            </a:r>
            <a:endParaRPr i="0" sz="1800" u="none" cap="none" strike="noStrike">
              <a:solidFill>
                <a:srgbClr val="695D4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6" name="Google Shape;436;g36aa5aa9355_0_907"/>
          <p:cNvCxnSpPr/>
          <p:nvPr/>
        </p:nvCxnSpPr>
        <p:spPr>
          <a:xfrm>
            <a:off x="4645206" y="1856727"/>
            <a:ext cx="8100" cy="688200"/>
          </a:xfrm>
          <a:prstGeom prst="straightConnector1">
            <a:avLst/>
          </a:prstGeom>
          <a:noFill/>
          <a:ln cap="flat" cmpd="sng" w="25400">
            <a:solidFill>
              <a:srgbClr val="38761D"/>
            </a:solidFill>
            <a:prstDash val="solid"/>
            <a:round/>
            <a:headEnd len="sm" w="sm" type="none"/>
            <a:tailEnd len="lg" w="lg" type="triangl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cxnSp>
        <p:nvCxnSpPr>
          <p:cNvPr id="437" name="Google Shape;437;g36aa5aa9355_0_907"/>
          <p:cNvCxnSpPr/>
          <p:nvPr/>
        </p:nvCxnSpPr>
        <p:spPr>
          <a:xfrm>
            <a:off x="4896390" y="3172199"/>
            <a:ext cx="838800" cy="385200"/>
          </a:xfrm>
          <a:prstGeom prst="straightConnector1">
            <a:avLst/>
          </a:prstGeom>
          <a:noFill/>
          <a:ln cap="flat" cmpd="sng" w="25400">
            <a:solidFill>
              <a:srgbClr val="38761D"/>
            </a:solidFill>
            <a:prstDash val="solid"/>
            <a:round/>
            <a:headEnd len="lg" w="lg" type="triangl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438" name="Google Shape;438;g36aa5aa9355_0_907"/>
          <p:cNvSpPr txBox="1"/>
          <p:nvPr/>
        </p:nvSpPr>
        <p:spPr>
          <a:xfrm>
            <a:off x="5405925" y="1827150"/>
            <a:ext cx="37194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1 prefers reaching 0 through 2 or 3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2 prefers reaching 0 through 1 or 3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3 prefers reaching 0 through 1 or 2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9" name="Google Shape;439;g36aa5aa9355_0_907"/>
          <p:cNvSpPr/>
          <p:nvPr/>
        </p:nvSpPr>
        <p:spPr>
          <a:xfrm>
            <a:off x="3120390" y="1786629"/>
            <a:ext cx="1352100" cy="1710900"/>
          </a:xfrm>
          <a:custGeom>
            <a:rect b="b" l="l" r="r" t="t"/>
            <a:pathLst>
              <a:path extrusionOk="0" h="120000" w="120000">
                <a:moveTo>
                  <a:pt x="0" y="119999"/>
                </a:moveTo>
                <a:cubicBezTo>
                  <a:pt x="45393" y="65969"/>
                  <a:pt x="90786" y="11939"/>
                  <a:pt x="109981" y="1228"/>
                </a:cubicBezTo>
                <a:cubicBezTo>
                  <a:pt x="129175" y="-9482"/>
                  <a:pt x="114823" y="53292"/>
                  <a:pt x="115168" y="55733"/>
                </a:cubicBezTo>
              </a:path>
            </a:pathLst>
          </a:custGeom>
          <a:noFill/>
          <a:ln cap="flat" cmpd="sng" w="254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2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g36aa5aa9355_0_907"/>
          <p:cNvSpPr/>
          <p:nvPr/>
        </p:nvSpPr>
        <p:spPr>
          <a:xfrm>
            <a:off x="4766310" y="1874520"/>
            <a:ext cx="1108800" cy="176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cubicBezTo>
                  <a:pt x="59585" y="48501"/>
                  <a:pt x="119170" y="97003"/>
                  <a:pt x="119995" y="113755"/>
                </a:cubicBezTo>
                <a:cubicBezTo>
                  <a:pt x="120819" y="130506"/>
                  <a:pt x="16494" y="109210"/>
                  <a:pt x="4948" y="100509"/>
                </a:cubicBezTo>
              </a:path>
            </a:pathLst>
          </a:custGeom>
          <a:noFill/>
          <a:ln cap="flat" cmpd="sng" w="254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2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g36aa5aa9355_0_907"/>
          <p:cNvSpPr txBox="1"/>
          <p:nvPr/>
        </p:nvSpPr>
        <p:spPr>
          <a:xfrm>
            <a:off x="2766835" y="4434906"/>
            <a:ext cx="388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3 advertises 3→0 to 1</a:t>
            </a:r>
            <a:endParaRPr b="1" i="0" sz="20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6aa5aa9355_0_93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Policy Oscillation 3</a:t>
            </a:r>
            <a:endParaRPr/>
          </a:p>
        </p:txBody>
      </p:sp>
      <p:grpSp>
        <p:nvGrpSpPr>
          <p:cNvPr id="447" name="Google Shape;447;g36aa5aa9355_0_937"/>
          <p:cNvGrpSpPr/>
          <p:nvPr/>
        </p:nvGrpSpPr>
        <p:grpSpPr>
          <a:xfrm>
            <a:off x="2539282" y="1054217"/>
            <a:ext cx="3906849" cy="3269550"/>
            <a:chOff x="2539282" y="1054217"/>
            <a:chExt cx="3906849" cy="3269550"/>
          </a:xfrm>
        </p:grpSpPr>
        <p:grpSp>
          <p:nvGrpSpPr>
            <p:cNvPr id="448" name="Google Shape;448;g36aa5aa9355_0_937"/>
            <p:cNvGrpSpPr/>
            <p:nvPr/>
          </p:nvGrpSpPr>
          <p:grpSpPr>
            <a:xfrm>
              <a:off x="5554531" y="3512566"/>
              <a:ext cx="891600" cy="811200"/>
              <a:chOff x="6464705" y="3644584"/>
              <a:chExt cx="891600" cy="811200"/>
            </a:xfrm>
          </p:grpSpPr>
          <p:sp>
            <p:nvSpPr>
              <p:cNvPr id="449" name="Google Shape;449;g36aa5aa9355_0_937"/>
              <p:cNvSpPr/>
              <p:nvPr/>
            </p:nvSpPr>
            <p:spPr>
              <a:xfrm>
                <a:off x="6464705" y="3644584"/>
                <a:ext cx="891600" cy="811200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g36aa5aa9355_0_937"/>
              <p:cNvSpPr txBox="1"/>
              <p:nvPr/>
            </p:nvSpPr>
            <p:spPr>
              <a:xfrm>
                <a:off x="6692259" y="3856366"/>
                <a:ext cx="43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 b="1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51" name="Google Shape;451;g36aa5aa9355_0_937"/>
            <p:cNvCxnSpPr/>
            <p:nvPr/>
          </p:nvCxnSpPr>
          <p:spPr>
            <a:xfrm>
              <a:off x="3430822" y="3899884"/>
              <a:ext cx="2123700" cy="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cxnSp>
          <p:nvCxnSpPr>
            <p:cNvPr id="452" name="Google Shape;452;g36aa5aa9355_0_937"/>
            <p:cNvCxnSpPr>
              <a:stCxn id="453" idx="3"/>
              <a:endCxn id="454" idx="0"/>
            </p:cNvCxnSpPr>
            <p:nvPr/>
          </p:nvCxnSpPr>
          <p:spPr>
            <a:xfrm flipH="1">
              <a:off x="2985096" y="1746620"/>
              <a:ext cx="1222500" cy="17658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cxnSp>
          <p:nvCxnSpPr>
            <p:cNvPr id="455" name="Google Shape;455;g36aa5aa9355_0_937"/>
            <p:cNvCxnSpPr>
              <a:stCxn id="453" idx="5"/>
              <a:endCxn id="449" idx="0"/>
            </p:cNvCxnSpPr>
            <p:nvPr/>
          </p:nvCxnSpPr>
          <p:spPr>
            <a:xfrm>
              <a:off x="4838052" y="1746620"/>
              <a:ext cx="1162200" cy="17658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grpSp>
          <p:nvGrpSpPr>
            <p:cNvPr id="456" name="Google Shape;456;g36aa5aa9355_0_937"/>
            <p:cNvGrpSpPr/>
            <p:nvPr/>
          </p:nvGrpSpPr>
          <p:grpSpPr>
            <a:xfrm>
              <a:off x="4085175" y="2553571"/>
              <a:ext cx="891600" cy="811200"/>
              <a:chOff x="4130895" y="2553571"/>
              <a:chExt cx="891600" cy="811200"/>
            </a:xfrm>
          </p:grpSpPr>
          <p:sp>
            <p:nvSpPr>
              <p:cNvPr id="457" name="Google Shape;457;g36aa5aa9355_0_937"/>
              <p:cNvSpPr/>
              <p:nvPr/>
            </p:nvSpPr>
            <p:spPr>
              <a:xfrm>
                <a:off x="4130895" y="2553571"/>
                <a:ext cx="891600" cy="811200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g36aa5aa9355_0_937"/>
              <p:cNvSpPr txBox="1"/>
              <p:nvPr/>
            </p:nvSpPr>
            <p:spPr>
              <a:xfrm>
                <a:off x="4377806" y="2774550"/>
                <a:ext cx="43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 b="1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9" name="Google Shape;459;g36aa5aa9355_0_937"/>
            <p:cNvGrpSpPr/>
            <p:nvPr/>
          </p:nvGrpSpPr>
          <p:grpSpPr>
            <a:xfrm>
              <a:off x="4077024" y="1054217"/>
              <a:ext cx="891600" cy="811200"/>
              <a:chOff x="4077024" y="1054217"/>
              <a:chExt cx="891600" cy="811200"/>
            </a:xfrm>
          </p:grpSpPr>
          <p:sp>
            <p:nvSpPr>
              <p:cNvPr id="453" name="Google Shape;453;g36aa5aa9355_0_937"/>
              <p:cNvSpPr/>
              <p:nvPr/>
            </p:nvSpPr>
            <p:spPr>
              <a:xfrm>
                <a:off x="4077024" y="1054217"/>
                <a:ext cx="891600" cy="811200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" name="Google Shape;460;g36aa5aa9355_0_937"/>
              <p:cNvSpPr txBox="1"/>
              <p:nvPr/>
            </p:nvSpPr>
            <p:spPr>
              <a:xfrm>
                <a:off x="4319494" y="1275197"/>
                <a:ext cx="43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1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1" name="Google Shape;461;g36aa5aa9355_0_937"/>
            <p:cNvGrpSpPr/>
            <p:nvPr/>
          </p:nvGrpSpPr>
          <p:grpSpPr>
            <a:xfrm>
              <a:off x="2539282" y="3512567"/>
              <a:ext cx="891600" cy="811200"/>
              <a:chOff x="1622041" y="3653715"/>
              <a:chExt cx="891600" cy="811200"/>
            </a:xfrm>
          </p:grpSpPr>
          <p:sp>
            <p:nvSpPr>
              <p:cNvPr id="454" name="Google Shape;454;g36aa5aa9355_0_937"/>
              <p:cNvSpPr/>
              <p:nvPr/>
            </p:nvSpPr>
            <p:spPr>
              <a:xfrm>
                <a:off x="1622041" y="3653715"/>
                <a:ext cx="891600" cy="811200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" name="Google Shape;462;g36aa5aa9355_0_937"/>
              <p:cNvSpPr txBox="1"/>
              <p:nvPr/>
            </p:nvSpPr>
            <p:spPr>
              <a:xfrm>
                <a:off x="1849595" y="3856366"/>
                <a:ext cx="43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b="1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63" name="Google Shape;463;g36aa5aa9355_0_937"/>
            <p:cNvCxnSpPr>
              <a:stCxn id="453" idx="4"/>
              <a:endCxn id="457" idx="0"/>
            </p:cNvCxnSpPr>
            <p:nvPr/>
          </p:nvCxnSpPr>
          <p:spPr>
            <a:xfrm>
              <a:off x="4522824" y="1865417"/>
              <a:ext cx="8100" cy="6882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lg" w="lg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cxnSp>
          <p:nvCxnSpPr>
            <p:cNvPr id="464" name="Google Shape;464;g36aa5aa9355_0_937"/>
            <p:cNvCxnSpPr>
              <a:stCxn id="457" idx="5"/>
              <a:endCxn id="449" idx="1"/>
            </p:cNvCxnSpPr>
            <p:nvPr/>
          </p:nvCxnSpPr>
          <p:spPr>
            <a:xfrm>
              <a:off x="4846203" y="3245974"/>
              <a:ext cx="838800" cy="3855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lg" w="lg" type="triangl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cxnSp>
          <p:nvCxnSpPr>
            <p:cNvPr id="465" name="Google Shape;465;g36aa5aa9355_0_937"/>
            <p:cNvCxnSpPr>
              <a:stCxn id="454" idx="7"/>
              <a:endCxn id="457" idx="3"/>
            </p:cNvCxnSpPr>
            <p:nvPr/>
          </p:nvCxnSpPr>
          <p:spPr>
            <a:xfrm flipH="1" rot="10800000">
              <a:off x="3300310" y="3245864"/>
              <a:ext cx="915300" cy="3855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lg" w="lg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</p:grpSp>
      <p:sp>
        <p:nvSpPr>
          <p:cNvPr id="466" name="Google Shape;466;g36aa5aa9355_0_937"/>
          <p:cNvSpPr txBox="1"/>
          <p:nvPr/>
        </p:nvSpPr>
        <p:spPr>
          <a:xfrm>
            <a:off x="5685094" y="669220"/>
            <a:ext cx="3078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Each node </a:t>
            </a:r>
            <a:r>
              <a:rPr b="1"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prefers</a:t>
            </a: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 route through neighbor over direct route.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7" name="Google Shape;467;g36aa5aa9355_0_937"/>
          <p:cNvSpPr txBox="1"/>
          <p:nvPr/>
        </p:nvSpPr>
        <p:spPr>
          <a:xfrm>
            <a:off x="352603" y="1865837"/>
            <a:ext cx="3078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Suppose </a:t>
            </a:r>
            <a:r>
              <a:rPr b="1"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initially</a:t>
            </a: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 each node only knows the </a:t>
            </a:r>
            <a:r>
              <a:rPr b="1"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shortest</a:t>
            </a: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 path to 0 (</a:t>
            </a:r>
            <a:r>
              <a:rPr i="0" lang="en" sz="1800" u="none" cap="none" strike="noStrike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green</a:t>
            </a: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 arrow).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8" name="Google Shape;468;g36aa5aa9355_0_937"/>
          <p:cNvSpPr txBox="1"/>
          <p:nvPr/>
        </p:nvSpPr>
        <p:spPr>
          <a:xfrm>
            <a:off x="352599" y="3031200"/>
            <a:ext cx="19437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1 knows 1→0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2 knows 2→0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3 knows 3→0</a:t>
            </a:r>
            <a:endParaRPr i="0" sz="1800" u="none" cap="none" strike="noStrike">
              <a:solidFill>
                <a:srgbClr val="695D4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9" name="Google Shape;469;g36aa5aa9355_0_937"/>
          <p:cNvCxnSpPr/>
          <p:nvPr/>
        </p:nvCxnSpPr>
        <p:spPr>
          <a:xfrm flipH="1" rot="10800000">
            <a:off x="3253125" y="3176612"/>
            <a:ext cx="915600" cy="385200"/>
          </a:xfrm>
          <a:prstGeom prst="straightConnector1">
            <a:avLst/>
          </a:prstGeom>
          <a:noFill/>
          <a:ln cap="flat" cmpd="sng" w="25400">
            <a:solidFill>
              <a:srgbClr val="38761D"/>
            </a:solidFill>
            <a:prstDash val="solid"/>
            <a:round/>
            <a:headEnd len="sm" w="sm" type="none"/>
            <a:tailEnd len="lg" w="lg" type="triangl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cxnSp>
        <p:nvCxnSpPr>
          <p:cNvPr id="470" name="Google Shape;470;g36aa5aa9355_0_937"/>
          <p:cNvCxnSpPr/>
          <p:nvPr/>
        </p:nvCxnSpPr>
        <p:spPr>
          <a:xfrm>
            <a:off x="4896390" y="3172199"/>
            <a:ext cx="838800" cy="385200"/>
          </a:xfrm>
          <a:prstGeom prst="straightConnector1">
            <a:avLst/>
          </a:prstGeom>
          <a:noFill/>
          <a:ln cap="flat" cmpd="sng" w="25400">
            <a:solidFill>
              <a:srgbClr val="38761D"/>
            </a:solidFill>
            <a:prstDash val="solid"/>
            <a:round/>
            <a:headEnd len="lg" w="lg" type="triangl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471" name="Google Shape;471;g36aa5aa9355_0_937"/>
          <p:cNvSpPr txBox="1"/>
          <p:nvPr/>
        </p:nvSpPr>
        <p:spPr>
          <a:xfrm>
            <a:off x="5405925" y="1827150"/>
            <a:ext cx="37194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1 prefers reaching 0 through 2 or 3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2 prefers reaching 0 through 1 or 3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3 prefers reaching 0 through 1 or 2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2" name="Google Shape;472;g36aa5aa9355_0_937"/>
          <p:cNvSpPr txBox="1"/>
          <p:nvPr/>
        </p:nvSpPr>
        <p:spPr>
          <a:xfrm>
            <a:off x="2066875" y="4323850"/>
            <a:ext cx="4851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1 withdraws its path of 1→0 from 2 (because 1 now takes 1-&gt;3-&gt;0)</a:t>
            </a:r>
            <a:endParaRPr b="1" i="0" sz="20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g36aa5aa9355_0_937"/>
          <p:cNvSpPr/>
          <p:nvPr/>
        </p:nvSpPr>
        <p:spPr>
          <a:xfrm>
            <a:off x="3120390" y="1786629"/>
            <a:ext cx="1352100" cy="1710900"/>
          </a:xfrm>
          <a:custGeom>
            <a:rect b="b" l="l" r="r" t="t"/>
            <a:pathLst>
              <a:path extrusionOk="0" h="120000" w="120000">
                <a:moveTo>
                  <a:pt x="0" y="119999"/>
                </a:moveTo>
                <a:cubicBezTo>
                  <a:pt x="45393" y="65969"/>
                  <a:pt x="90786" y="11939"/>
                  <a:pt x="109981" y="1228"/>
                </a:cubicBezTo>
                <a:cubicBezTo>
                  <a:pt x="129175" y="-9482"/>
                  <a:pt x="114823" y="53292"/>
                  <a:pt x="115168" y="55733"/>
                </a:cubicBezTo>
              </a:path>
            </a:pathLst>
          </a:custGeom>
          <a:noFill/>
          <a:ln cap="flat" cmpd="sng" w="254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2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g36aa5aa9355_0_937"/>
          <p:cNvSpPr/>
          <p:nvPr/>
        </p:nvSpPr>
        <p:spPr>
          <a:xfrm>
            <a:off x="4766310" y="1874520"/>
            <a:ext cx="1108800" cy="176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cubicBezTo>
                  <a:pt x="59585" y="48501"/>
                  <a:pt x="119170" y="97003"/>
                  <a:pt x="119995" y="113755"/>
                </a:cubicBezTo>
                <a:cubicBezTo>
                  <a:pt x="120819" y="130506"/>
                  <a:pt x="16494" y="109210"/>
                  <a:pt x="4948" y="100509"/>
                </a:cubicBezTo>
              </a:path>
            </a:pathLst>
          </a:custGeom>
          <a:noFill/>
          <a:ln cap="flat" cmpd="sng" w="254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2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6aa5aa9355_0_96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Policy Oscillation 4</a:t>
            </a:r>
            <a:endParaRPr/>
          </a:p>
        </p:txBody>
      </p:sp>
      <p:grpSp>
        <p:nvGrpSpPr>
          <p:cNvPr id="480" name="Google Shape;480;g36aa5aa9355_0_967"/>
          <p:cNvGrpSpPr/>
          <p:nvPr/>
        </p:nvGrpSpPr>
        <p:grpSpPr>
          <a:xfrm>
            <a:off x="2539282" y="1054217"/>
            <a:ext cx="3906849" cy="3269550"/>
            <a:chOff x="2539282" y="1054217"/>
            <a:chExt cx="3906849" cy="3269550"/>
          </a:xfrm>
        </p:grpSpPr>
        <p:grpSp>
          <p:nvGrpSpPr>
            <p:cNvPr id="481" name="Google Shape;481;g36aa5aa9355_0_967"/>
            <p:cNvGrpSpPr/>
            <p:nvPr/>
          </p:nvGrpSpPr>
          <p:grpSpPr>
            <a:xfrm>
              <a:off x="5554531" y="3512566"/>
              <a:ext cx="891600" cy="811200"/>
              <a:chOff x="6464705" y="3644584"/>
              <a:chExt cx="891600" cy="811200"/>
            </a:xfrm>
          </p:grpSpPr>
          <p:sp>
            <p:nvSpPr>
              <p:cNvPr id="482" name="Google Shape;482;g36aa5aa9355_0_967"/>
              <p:cNvSpPr/>
              <p:nvPr/>
            </p:nvSpPr>
            <p:spPr>
              <a:xfrm>
                <a:off x="6464705" y="3644584"/>
                <a:ext cx="891600" cy="811200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g36aa5aa9355_0_967"/>
              <p:cNvSpPr txBox="1"/>
              <p:nvPr/>
            </p:nvSpPr>
            <p:spPr>
              <a:xfrm>
                <a:off x="6692259" y="3856366"/>
                <a:ext cx="43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 b="1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84" name="Google Shape;484;g36aa5aa9355_0_967"/>
            <p:cNvCxnSpPr/>
            <p:nvPr/>
          </p:nvCxnSpPr>
          <p:spPr>
            <a:xfrm>
              <a:off x="3430822" y="3899884"/>
              <a:ext cx="2123700" cy="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cxnSp>
          <p:nvCxnSpPr>
            <p:cNvPr id="485" name="Google Shape;485;g36aa5aa9355_0_967"/>
            <p:cNvCxnSpPr>
              <a:stCxn id="486" idx="3"/>
              <a:endCxn id="487" idx="0"/>
            </p:cNvCxnSpPr>
            <p:nvPr/>
          </p:nvCxnSpPr>
          <p:spPr>
            <a:xfrm flipH="1">
              <a:off x="2985096" y="1746620"/>
              <a:ext cx="1222500" cy="17658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cxnSp>
          <p:nvCxnSpPr>
            <p:cNvPr id="488" name="Google Shape;488;g36aa5aa9355_0_967"/>
            <p:cNvCxnSpPr>
              <a:stCxn id="486" idx="5"/>
              <a:endCxn id="482" idx="0"/>
            </p:cNvCxnSpPr>
            <p:nvPr/>
          </p:nvCxnSpPr>
          <p:spPr>
            <a:xfrm>
              <a:off x="4838052" y="1746620"/>
              <a:ext cx="1162200" cy="17658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grpSp>
          <p:nvGrpSpPr>
            <p:cNvPr id="489" name="Google Shape;489;g36aa5aa9355_0_967"/>
            <p:cNvGrpSpPr/>
            <p:nvPr/>
          </p:nvGrpSpPr>
          <p:grpSpPr>
            <a:xfrm>
              <a:off x="4085175" y="2553571"/>
              <a:ext cx="891600" cy="811200"/>
              <a:chOff x="4130895" y="2553571"/>
              <a:chExt cx="891600" cy="811200"/>
            </a:xfrm>
          </p:grpSpPr>
          <p:sp>
            <p:nvSpPr>
              <p:cNvPr id="490" name="Google Shape;490;g36aa5aa9355_0_967"/>
              <p:cNvSpPr/>
              <p:nvPr/>
            </p:nvSpPr>
            <p:spPr>
              <a:xfrm>
                <a:off x="4130895" y="2553571"/>
                <a:ext cx="891600" cy="811200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g36aa5aa9355_0_967"/>
              <p:cNvSpPr txBox="1"/>
              <p:nvPr/>
            </p:nvSpPr>
            <p:spPr>
              <a:xfrm>
                <a:off x="4377806" y="2774550"/>
                <a:ext cx="43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 b="1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2" name="Google Shape;492;g36aa5aa9355_0_967"/>
            <p:cNvGrpSpPr/>
            <p:nvPr/>
          </p:nvGrpSpPr>
          <p:grpSpPr>
            <a:xfrm>
              <a:off x="4077024" y="1054217"/>
              <a:ext cx="891600" cy="811200"/>
              <a:chOff x="4077024" y="1054217"/>
              <a:chExt cx="891600" cy="811200"/>
            </a:xfrm>
          </p:grpSpPr>
          <p:sp>
            <p:nvSpPr>
              <p:cNvPr id="486" name="Google Shape;486;g36aa5aa9355_0_967"/>
              <p:cNvSpPr/>
              <p:nvPr/>
            </p:nvSpPr>
            <p:spPr>
              <a:xfrm>
                <a:off x="4077024" y="1054217"/>
                <a:ext cx="891600" cy="811200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g36aa5aa9355_0_967"/>
              <p:cNvSpPr txBox="1"/>
              <p:nvPr/>
            </p:nvSpPr>
            <p:spPr>
              <a:xfrm>
                <a:off x="4319494" y="1275197"/>
                <a:ext cx="43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1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4" name="Google Shape;494;g36aa5aa9355_0_967"/>
            <p:cNvGrpSpPr/>
            <p:nvPr/>
          </p:nvGrpSpPr>
          <p:grpSpPr>
            <a:xfrm>
              <a:off x="2539282" y="3512567"/>
              <a:ext cx="891600" cy="811200"/>
              <a:chOff x="1622041" y="3653715"/>
              <a:chExt cx="891600" cy="811200"/>
            </a:xfrm>
          </p:grpSpPr>
          <p:sp>
            <p:nvSpPr>
              <p:cNvPr id="487" name="Google Shape;487;g36aa5aa9355_0_967"/>
              <p:cNvSpPr/>
              <p:nvPr/>
            </p:nvSpPr>
            <p:spPr>
              <a:xfrm>
                <a:off x="1622041" y="3653715"/>
                <a:ext cx="891600" cy="811200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g36aa5aa9355_0_967"/>
              <p:cNvSpPr txBox="1"/>
              <p:nvPr/>
            </p:nvSpPr>
            <p:spPr>
              <a:xfrm>
                <a:off x="1849595" y="3856366"/>
                <a:ext cx="43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b="1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96" name="Google Shape;496;g36aa5aa9355_0_967"/>
            <p:cNvCxnSpPr>
              <a:stCxn id="486" idx="4"/>
              <a:endCxn id="490" idx="0"/>
            </p:cNvCxnSpPr>
            <p:nvPr/>
          </p:nvCxnSpPr>
          <p:spPr>
            <a:xfrm>
              <a:off x="4522824" y="1865417"/>
              <a:ext cx="8100" cy="6882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lg" w="lg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cxnSp>
          <p:nvCxnSpPr>
            <p:cNvPr id="497" name="Google Shape;497;g36aa5aa9355_0_967"/>
            <p:cNvCxnSpPr>
              <a:stCxn id="490" idx="5"/>
              <a:endCxn id="482" idx="1"/>
            </p:cNvCxnSpPr>
            <p:nvPr/>
          </p:nvCxnSpPr>
          <p:spPr>
            <a:xfrm>
              <a:off x="4846203" y="3245974"/>
              <a:ext cx="838800" cy="3855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lg" w="lg" type="triangl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cxnSp>
          <p:nvCxnSpPr>
            <p:cNvPr id="498" name="Google Shape;498;g36aa5aa9355_0_967"/>
            <p:cNvCxnSpPr>
              <a:stCxn id="487" idx="7"/>
              <a:endCxn id="490" idx="3"/>
            </p:cNvCxnSpPr>
            <p:nvPr/>
          </p:nvCxnSpPr>
          <p:spPr>
            <a:xfrm flipH="1" rot="10800000">
              <a:off x="3300310" y="3245864"/>
              <a:ext cx="915300" cy="3855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lg" w="lg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</p:grpSp>
      <p:sp>
        <p:nvSpPr>
          <p:cNvPr id="499" name="Google Shape;499;g36aa5aa9355_0_967"/>
          <p:cNvSpPr txBox="1"/>
          <p:nvPr/>
        </p:nvSpPr>
        <p:spPr>
          <a:xfrm>
            <a:off x="5685094" y="669220"/>
            <a:ext cx="3078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Each node </a:t>
            </a:r>
            <a:r>
              <a:rPr b="1"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prefers</a:t>
            </a: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 route through neighbor over direct route.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g36aa5aa9355_0_967"/>
          <p:cNvSpPr txBox="1"/>
          <p:nvPr/>
        </p:nvSpPr>
        <p:spPr>
          <a:xfrm>
            <a:off x="352603" y="1865837"/>
            <a:ext cx="3078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Suppose </a:t>
            </a:r>
            <a:r>
              <a:rPr b="1"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initially</a:t>
            </a: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 each node only knows the </a:t>
            </a:r>
            <a:r>
              <a:rPr b="1"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shortest</a:t>
            </a: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 path to 0 (</a:t>
            </a:r>
            <a:r>
              <a:rPr i="0" lang="en" sz="1800" u="none" cap="none" strike="noStrike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green</a:t>
            </a: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 arrow).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g36aa5aa9355_0_967"/>
          <p:cNvSpPr txBox="1"/>
          <p:nvPr/>
        </p:nvSpPr>
        <p:spPr>
          <a:xfrm>
            <a:off x="352599" y="3031200"/>
            <a:ext cx="19437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1 knows 1→0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2 knows 2→0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3 knows 3→0</a:t>
            </a:r>
            <a:endParaRPr i="0" sz="1800" u="none" cap="none" strike="noStrike">
              <a:solidFill>
                <a:srgbClr val="695D4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2" name="Google Shape;502;g36aa5aa9355_0_967"/>
          <p:cNvCxnSpPr/>
          <p:nvPr/>
        </p:nvCxnSpPr>
        <p:spPr>
          <a:xfrm flipH="1" rot="10800000">
            <a:off x="3253125" y="3176612"/>
            <a:ext cx="915600" cy="385200"/>
          </a:xfrm>
          <a:prstGeom prst="straightConnector1">
            <a:avLst/>
          </a:prstGeom>
          <a:noFill/>
          <a:ln cap="flat" cmpd="sng" w="25400">
            <a:solidFill>
              <a:srgbClr val="38761D"/>
            </a:solidFill>
            <a:prstDash val="solid"/>
            <a:round/>
            <a:headEnd len="sm" w="sm" type="none"/>
            <a:tailEnd len="lg" w="lg" type="triangl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cxnSp>
        <p:nvCxnSpPr>
          <p:cNvPr id="503" name="Google Shape;503;g36aa5aa9355_0_967"/>
          <p:cNvCxnSpPr/>
          <p:nvPr/>
        </p:nvCxnSpPr>
        <p:spPr>
          <a:xfrm>
            <a:off x="4896390" y="3172199"/>
            <a:ext cx="838800" cy="385200"/>
          </a:xfrm>
          <a:prstGeom prst="straightConnector1">
            <a:avLst/>
          </a:prstGeom>
          <a:noFill/>
          <a:ln cap="flat" cmpd="sng" w="25400">
            <a:solidFill>
              <a:srgbClr val="38761D"/>
            </a:solidFill>
            <a:prstDash val="solid"/>
            <a:round/>
            <a:headEnd len="lg" w="lg" type="triangl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504" name="Google Shape;504;g36aa5aa9355_0_967"/>
          <p:cNvSpPr txBox="1"/>
          <p:nvPr/>
        </p:nvSpPr>
        <p:spPr>
          <a:xfrm>
            <a:off x="5405925" y="1827150"/>
            <a:ext cx="37194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1 prefers reaching 0 through 2 or 3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2 prefers reaching 0 through 1 or 3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3 prefers reaching 0 through 1 or 2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5" name="Google Shape;505;g36aa5aa9355_0_967"/>
          <p:cNvSpPr txBox="1"/>
          <p:nvPr/>
        </p:nvSpPr>
        <p:spPr>
          <a:xfrm>
            <a:off x="2243559" y="4323781"/>
            <a:ext cx="4811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2 now advertises 2→0 to 3 </a:t>
            </a:r>
            <a:br>
              <a:rPr b="1" i="0" lang="en" sz="2000" u="none" cap="none" strike="noStrike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2000" u="none" cap="none" strike="noStrike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(3 would take it as it favors its neighbor)</a:t>
            </a:r>
            <a:endParaRPr b="1" i="0" sz="20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g36aa5aa9355_0_967"/>
          <p:cNvSpPr/>
          <p:nvPr/>
        </p:nvSpPr>
        <p:spPr>
          <a:xfrm>
            <a:off x="4766310" y="1874520"/>
            <a:ext cx="1108800" cy="176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cubicBezTo>
                  <a:pt x="59585" y="48501"/>
                  <a:pt x="119170" y="97003"/>
                  <a:pt x="119995" y="113755"/>
                </a:cubicBezTo>
                <a:cubicBezTo>
                  <a:pt x="120819" y="130506"/>
                  <a:pt x="16494" y="109210"/>
                  <a:pt x="4948" y="100509"/>
                </a:cubicBezTo>
              </a:path>
            </a:pathLst>
          </a:custGeom>
          <a:noFill/>
          <a:ln cap="flat" cmpd="sng" w="254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2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g36aa5aa9355_0_967"/>
          <p:cNvSpPr/>
          <p:nvPr/>
        </p:nvSpPr>
        <p:spPr>
          <a:xfrm>
            <a:off x="3433778" y="3314700"/>
            <a:ext cx="2117400" cy="549900"/>
          </a:xfrm>
          <a:custGeom>
            <a:rect b="b" l="l" r="r" t="t"/>
            <a:pathLst>
              <a:path extrusionOk="0" h="120000" w="120000">
                <a:moveTo>
                  <a:pt x="120000" y="107545"/>
                </a:moveTo>
                <a:cubicBezTo>
                  <a:pt x="66907" y="117851"/>
                  <a:pt x="13814" y="128158"/>
                  <a:pt x="1678" y="110234"/>
                </a:cubicBezTo>
                <a:cubicBezTo>
                  <a:pt x="-10456" y="92309"/>
                  <a:pt x="47186" y="0"/>
                  <a:pt x="47186" y="0"/>
                </a:cubicBezTo>
              </a:path>
            </a:pathLst>
          </a:custGeom>
          <a:noFill/>
          <a:ln cap="flat" cmpd="sng" w="254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2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6aa5aa9355_0_99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Policy Oscillation 5</a:t>
            </a:r>
            <a:endParaRPr/>
          </a:p>
        </p:txBody>
      </p:sp>
      <p:grpSp>
        <p:nvGrpSpPr>
          <p:cNvPr id="513" name="Google Shape;513;g36aa5aa9355_0_997"/>
          <p:cNvGrpSpPr/>
          <p:nvPr/>
        </p:nvGrpSpPr>
        <p:grpSpPr>
          <a:xfrm>
            <a:off x="2539282" y="1054217"/>
            <a:ext cx="3906849" cy="3269550"/>
            <a:chOff x="2539282" y="1054217"/>
            <a:chExt cx="3906849" cy="3269550"/>
          </a:xfrm>
        </p:grpSpPr>
        <p:grpSp>
          <p:nvGrpSpPr>
            <p:cNvPr id="514" name="Google Shape;514;g36aa5aa9355_0_997"/>
            <p:cNvGrpSpPr/>
            <p:nvPr/>
          </p:nvGrpSpPr>
          <p:grpSpPr>
            <a:xfrm>
              <a:off x="5554531" y="3512566"/>
              <a:ext cx="891600" cy="811200"/>
              <a:chOff x="6464705" y="3644584"/>
              <a:chExt cx="891600" cy="811200"/>
            </a:xfrm>
          </p:grpSpPr>
          <p:sp>
            <p:nvSpPr>
              <p:cNvPr id="515" name="Google Shape;515;g36aa5aa9355_0_997"/>
              <p:cNvSpPr/>
              <p:nvPr/>
            </p:nvSpPr>
            <p:spPr>
              <a:xfrm>
                <a:off x="6464705" y="3644584"/>
                <a:ext cx="891600" cy="811200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" name="Google Shape;516;g36aa5aa9355_0_997"/>
              <p:cNvSpPr txBox="1"/>
              <p:nvPr/>
            </p:nvSpPr>
            <p:spPr>
              <a:xfrm>
                <a:off x="6692259" y="3856366"/>
                <a:ext cx="43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 b="1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517" name="Google Shape;517;g36aa5aa9355_0_997"/>
            <p:cNvCxnSpPr/>
            <p:nvPr/>
          </p:nvCxnSpPr>
          <p:spPr>
            <a:xfrm>
              <a:off x="3430822" y="3899884"/>
              <a:ext cx="2123700" cy="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cxnSp>
          <p:nvCxnSpPr>
            <p:cNvPr id="518" name="Google Shape;518;g36aa5aa9355_0_997"/>
            <p:cNvCxnSpPr>
              <a:stCxn id="519" idx="3"/>
              <a:endCxn id="520" idx="0"/>
            </p:cNvCxnSpPr>
            <p:nvPr/>
          </p:nvCxnSpPr>
          <p:spPr>
            <a:xfrm flipH="1">
              <a:off x="2985096" y="1746620"/>
              <a:ext cx="1222500" cy="17658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cxnSp>
          <p:nvCxnSpPr>
            <p:cNvPr id="521" name="Google Shape;521;g36aa5aa9355_0_997"/>
            <p:cNvCxnSpPr>
              <a:stCxn id="519" idx="5"/>
              <a:endCxn id="515" idx="0"/>
            </p:cNvCxnSpPr>
            <p:nvPr/>
          </p:nvCxnSpPr>
          <p:spPr>
            <a:xfrm>
              <a:off x="4838052" y="1746620"/>
              <a:ext cx="1162200" cy="17658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grpSp>
          <p:nvGrpSpPr>
            <p:cNvPr id="522" name="Google Shape;522;g36aa5aa9355_0_997"/>
            <p:cNvGrpSpPr/>
            <p:nvPr/>
          </p:nvGrpSpPr>
          <p:grpSpPr>
            <a:xfrm>
              <a:off x="4085175" y="2553571"/>
              <a:ext cx="891600" cy="811200"/>
              <a:chOff x="4130895" y="2553571"/>
              <a:chExt cx="891600" cy="811200"/>
            </a:xfrm>
          </p:grpSpPr>
          <p:sp>
            <p:nvSpPr>
              <p:cNvPr id="523" name="Google Shape;523;g36aa5aa9355_0_997"/>
              <p:cNvSpPr/>
              <p:nvPr/>
            </p:nvSpPr>
            <p:spPr>
              <a:xfrm>
                <a:off x="4130895" y="2553571"/>
                <a:ext cx="891600" cy="811200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g36aa5aa9355_0_997"/>
              <p:cNvSpPr txBox="1"/>
              <p:nvPr/>
            </p:nvSpPr>
            <p:spPr>
              <a:xfrm>
                <a:off x="4377806" y="2774550"/>
                <a:ext cx="43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 b="1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5" name="Google Shape;525;g36aa5aa9355_0_997"/>
            <p:cNvGrpSpPr/>
            <p:nvPr/>
          </p:nvGrpSpPr>
          <p:grpSpPr>
            <a:xfrm>
              <a:off x="4077024" y="1054217"/>
              <a:ext cx="891600" cy="811200"/>
              <a:chOff x="4077024" y="1054217"/>
              <a:chExt cx="891600" cy="811200"/>
            </a:xfrm>
          </p:grpSpPr>
          <p:sp>
            <p:nvSpPr>
              <p:cNvPr id="519" name="Google Shape;519;g36aa5aa9355_0_997"/>
              <p:cNvSpPr/>
              <p:nvPr/>
            </p:nvSpPr>
            <p:spPr>
              <a:xfrm>
                <a:off x="4077024" y="1054217"/>
                <a:ext cx="891600" cy="811200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g36aa5aa9355_0_997"/>
              <p:cNvSpPr txBox="1"/>
              <p:nvPr/>
            </p:nvSpPr>
            <p:spPr>
              <a:xfrm>
                <a:off x="4319494" y="1275197"/>
                <a:ext cx="43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1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7" name="Google Shape;527;g36aa5aa9355_0_997"/>
            <p:cNvGrpSpPr/>
            <p:nvPr/>
          </p:nvGrpSpPr>
          <p:grpSpPr>
            <a:xfrm>
              <a:off x="2539282" y="3512567"/>
              <a:ext cx="891600" cy="811200"/>
              <a:chOff x="1622041" y="3653715"/>
              <a:chExt cx="891600" cy="811200"/>
            </a:xfrm>
          </p:grpSpPr>
          <p:sp>
            <p:nvSpPr>
              <p:cNvPr id="520" name="Google Shape;520;g36aa5aa9355_0_997"/>
              <p:cNvSpPr/>
              <p:nvPr/>
            </p:nvSpPr>
            <p:spPr>
              <a:xfrm>
                <a:off x="1622041" y="3653715"/>
                <a:ext cx="891600" cy="811200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g36aa5aa9355_0_997"/>
              <p:cNvSpPr txBox="1"/>
              <p:nvPr/>
            </p:nvSpPr>
            <p:spPr>
              <a:xfrm>
                <a:off x="1849595" y="3856366"/>
                <a:ext cx="43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b="1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529" name="Google Shape;529;g36aa5aa9355_0_997"/>
            <p:cNvCxnSpPr>
              <a:stCxn id="519" idx="4"/>
              <a:endCxn id="523" idx="0"/>
            </p:cNvCxnSpPr>
            <p:nvPr/>
          </p:nvCxnSpPr>
          <p:spPr>
            <a:xfrm>
              <a:off x="4522824" y="1865417"/>
              <a:ext cx="8100" cy="6882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lg" w="lg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cxnSp>
          <p:nvCxnSpPr>
            <p:cNvPr id="530" name="Google Shape;530;g36aa5aa9355_0_997"/>
            <p:cNvCxnSpPr>
              <a:stCxn id="523" idx="5"/>
              <a:endCxn id="515" idx="1"/>
            </p:cNvCxnSpPr>
            <p:nvPr/>
          </p:nvCxnSpPr>
          <p:spPr>
            <a:xfrm>
              <a:off x="4846203" y="3245974"/>
              <a:ext cx="838800" cy="3855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lg" w="lg" type="triangl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cxnSp>
          <p:nvCxnSpPr>
            <p:cNvPr id="531" name="Google Shape;531;g36aa5aa9355_0_997"/>
            <p:cNvCxnSpPr>
              <a:stCxn id="520" idx="7"/>
              <a:endCxn id="523" idx="3"/>
            </p:cNvCxnSpPr>
            <p:nvPr/>
          </p:nvCxnSpPr>
          <p:spPr>
            <a:xfrm flipH="1" rot="10800000">
              <a:off x="3300310" y="3245864"/>
              <a:ext cx="915300" cy="3855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lg" w="lg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</p:grpSp>
      <p:sp>
        <p:nvSpPr>
          <p:cNvPr id="532" name="Google Shape;532;g36aa5aa9355_0_997"/>
          <p:cNvSpPr txBox="1"/>
          <p:nvPr/>
        </p:nvSpPr>
        <p:spPr>
          <a:xfrm>
            <a:off x="5685094" y="669220"/>
            <a:ext cx="3078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Each node </a:t>
            </a:r>
            <a:r>
              <a:rPr b="1"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prefers</a:t>
            </a: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 route through neighbor over direct route.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" name="Google Shape;533;g36aa5aa9355_0_997"/>
          <p:cNvSpPr txBox="1"/>
          <p:nvPr/>
        </p:nvSpPr>
        <p:spPr>
          <a:xfrm>
            <a:off x="352603" y="1865837"/>
            <a:ext cx="3078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Suppose </a:t>
            </a:r>
            <a:r>
              <a:rPr b="1"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initially</a:t>
            </a: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 each node only knows the </a:t>
            </a:r>
            <a:r>
              <a:rPr b="1"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shortest</a:t>
            </a: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 path to 0 (</a:t>
            </a:r>
            <a:r>
              <a:rPr i="0" lang="en" sz="1800" u="none" cap="none" strike="noStrike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green</a:t>
            </a: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 arrow).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g36aa5aa9355_0_997"/>
          <p:cNvSpPr txBox="1"/>
          <p:nvPr/>
        </p:nvSpPr>
        <p:spPr>
          <a:xfrm>
            <a:off x="352599" y="3031200"/>
            <a:ext cx="19437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1 knows 1→0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2 knows 2→0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3 knows 3→0</a:t>
            </a:r>
            <a:endParaRPr i="0" sz="1800" u="none" cap="none" strike="noStrike">
              <a:solidFill>
                <a:srgbClr val="695D4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5" name="Google Shape;535;g36aa5aa9355_0_997"/>
          <p:cNvCxnSpPr/>
          <p:nvPr/>
        </p:nvCxnSpPr>
        <p:spPr>
          <a:xfrm flipH="1" rot="10800000">
            <a:off x="3253125" y="3176612"/>
            <a:ext cx="915600" cy="385200"/>
          </a:xfrm>
          <a:prstGeom prst="straightConnector1">
            <a:avLst/>
          </a:prstGeom>
          <a:noFill/>
          <a:ln cap="flat" cmpd="sng" w="25400">
            <a:solidFill>
              <a:srgbClr val="38761D"/>
            </a:solidFill>
            <a:prstDash val="solid"/>
            <a:round/>
            <a:headEnd len="sm" w="sm" type="none"/>
            <a:tailEnd len="lg" w="lg" type="triangl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cxnSp>
        <p:nvCxnSpPr>
          <p:cNvPr id="536" name="Google Shape;536;g36aa5aa9355_0_997"/>
          <p:cNvCxnSpPr/>
          <p:nvPr/>
        </p:nvCxnSpPr>
        <p:spPr>
          <a:xfrm>
            <a:off x="4645206" y="1856727"/>
            <a:ext cx="8100" cy="688200"/>
          </a:xfrm>
          <a:prstGeom prst="straightConnector1">
            <a:avLst/>
          </a:prstGeom>
          <a:noFill/>
          <a:ln cap="flat" cmpd="sng" w="25400">
            <a:solidFill>
              <a:srgbClr val="38761D"/>
            </a:solidFill>
            <a:prstDash val="solid"/>
            <a:round/>
            <a:headEnd len="sm" w="sm" type="none"/>
            <a:tailEnd len="lg" w="lg" type="triangl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537" name="Google Shape;537;g36aa5aa9355_0_997"/>
          <p:cNvSpPr txBox="1"/>
          <p:nvPr/>
        </p:nvSpPr>
        <p:spPr>
          <a:xfrm>
            <a:off x="5405925" y="1827150"/>
            <a:ext cx="37194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1 prefers reaching 0 through 2 or 3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2 prefers reaching 0 through 1 or 3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3 prefers reaching 0 through 1 or 2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8" name="Google Shape;538;g36aa5aa9355_0_997"/>
          <p:cNvSpPr txBox="1"/>
          <p:nvPr/>
        </p:nvSpPr>
        <p:spPr>
          <a:xfrm>
            <a:off x="2766834" y="4434906"/>
            <a:ext cx="481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3 now withdraws 3→0 from 1</a:t>
            </a:r>
            <a:endParaRPr b="0" i="0" sz="14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g36aa5aa9355_0_997"/>
          <p:cNvSpPr/>
          <p:nvPr/>
        </p:nvSpPr>
        <p:spPr>
          <a:xfrm>
            <a:off x="4766310" y="1874520"/>
            <a:ext cx="1108800" cy="176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cubicBezTo>
                  <a:pt x="59585" y="48501"/>
                  <a:pt x="119170" y="97003"/>
                  <a:pt x="119995" y="113755"/>
                </a:cubicBezTo>
                <a:cubicBezTo>
                  <a:pt x="120819" y="130506"/>
                  <a:pt x="16494" y="109210"/>
                  <a:pt x="4948" y="100509"/>
                </a:cubicBezTo>
              </a:path>
            </a:pathLst>
          </a:custGeom>
          <a:noFill/>
          <a:ln cap="flat" cmpd="sng" w="254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2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g36aa5aa9355_0_997"/>
          <p:cNvSpPr/>
          <p:nvPr/>
        </p:nvSpPr>
        <p:spPr>
          <a:xfrm>
            <a:off x="3433778" y="3314700"/>
            <a:ext cx="2117400" cy="549900"/>
          </a:xfrm>
          <a:custGeom>
            <a:rect b="b" l="l" r="r" t="t"/>
            <a:pathLst>
              <a:path extrusionOk="0" h="120000" w="120000">
                <a:moveTo>
                  <a:pt x="120000" y="107545"/>
                </a:moveTo>
                <a:cubicBezTo>
                  <a:pt x="66907" y="117851"/>
                  <a:pt x="13814" y="128158"/>
                  <a:pt x="1678" y="110234"/>
                </a:cubicBezTo>
                <a:cubicBezTo>
                  <a:pt x="-10456" y="92309"/>
                  <a:pt x="47186" y="0"/>
                  <a:pt x="47186" y="0"/>
                </a:cubicBezTo>
              </a:path>
            </a:pathLst>
          </a:custGeom>
          <a:noFill/>
          <a:ln cap="flat" cmpd="sng" w="254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2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6aa5aa9355_0_102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Policy Oscillation 6</a:t>
            </a:r>
            <a:endParaRPr/>
          </a:p>
        </p:txBody>
      </p:sp>
      <p:grpSp>
        <p:nvGrpSpPr>
          <p:cNvPr id="546" name="Google Shape;546;g36aa5aa9355_0_1027"/>
          <p:cNvGrpSpPr/>
          <p:nvPr/>
        </p:nvGrpSpPr>
        <p:grpSpPr>
          <a:xfrm>
            <a:off x="2539282" y="1054217"/>
            <a:ext cx="3906849" cy="3269550"/>
            <a:chOff x="2539282" y="1054217"/>
            <a:chExt cx="3906849" cy="3269550"/>
          </a:xfrm>
        </p:grpSpPr>
        <p:grpSp>
          <p:nvGrpSpPr>
            <p:cNvPr id="547" name="Google Shape;547;g36aa5aa9355_0_1027"/>
            <p:cNvGrpSpPr/>
            <p:nvPr/>
          </p:nvGrpSpPr>
          <p:grpSpPr>
            <a:xfrm>
              <a:off x="5554531" y="3512566"/>
              <a:ext cx="891600" cy="811200"/>
              <a:chOff x="6464705" y="3644584"/>
              <a:chExt cx="891600" cy="811200"/>
            </a:xfrm>
          </p:grpSpPr>
          <p:sp>
            <p:nvSpPr>
              <p:cNvPr id="548" name="Google Shape;548;g36aa5aa9355_0_1027"/>
              <p:cNvSpPr/>
              <p:nvPr/>
            </p:nvSpPr>
            <p:spPr>
              <a:xfrm>
                <a:off x="6464705" y="3644584"/>
                <a:ext cx="891600" cy="811200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" name="Google Shape;549;g36aa5aa9355_0_1027"/>
              <p:cNvSpPr txBox="1"/>
              <p:nvPr/>
            </p:nvSpPr>
            <p:spPr>
              <a:xfrm>
                <a:off x="6692259" y="3856366"/>
                <a:ext cx="43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 b="1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550" name="Google Shape;550;g36aa5aa9355_0_1027"/>
            <p:cNvCxnSpPr/>
            <p:nvPr/>
          </p:nvCxnSpPr>
          <p:spPr>
            <a:xfrm>
              <a:off x="3430822" y="3899884"/>
              <a:ext cx="2123700" cy="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cxnSp>
          <p:nvCxnSpPr>
            <p:cNvPr id="551" name="Google Shape;551;g36aa5aa9355_0_1027"/>
            <p:cNvCxnSpPr>
              <a:stCxn id="552" idx="3"/>
              <a:endCxn id="553" idx="0"/>
            </p:cNvCxnSpPr>
            <p:nvPr/>
          </p:nvCxnSpPr>
          <p:spPr>
            <a:xfrm flipH="1">
              <a:off x="2985096" y="1746620"/>
              <a:ext cx="1222500" cy="17658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cxnSp>
          <p:nvCxnSpPr>
            <p:cNvPr id="554" name="Google Shape;554;g36aa5aa9355_0_1027"/>
            <p:cNvCxnSpPr>
              <a:stCxn id="552" idx="5"/>
              <a:endCxn id="548" idx="0"/>
            </p:cNvCxnSpPr>
            <p:nvPr/>
          </p:nvCxnSpPr>
          <p:spPr>
            <a:xfrm>
              <a:off x="4838052" y="1746620"/>
              <a:ext cx="1162200" cy="17658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grpSp>
          <p:nvGrpSpPr>
            <p:cNvPr id="555" name="Google Shape;555;g36aa5aa9355_0_1027"/>
            <p:cNvGrpSpPr/>
            <p:nvPr/>
          </p:nvGrpSpPr>
          <p:grpSpPr>
            <a:xfrm>
              <a:off x="4085175" y="2553571"/>
              <a:ext cx="891600" cy="811200"/>
              <a:chOff x="4130895" y="2553571"/>
              <a:chExt cx="891600" cy="811200"/>
            </a:xfrm>
          </p:grpSpPr>
          <p:sp>
            <p:nvSpPr>
              <p:cNvPr id="556" name="Google Shape;556;g36aa5aa9355_0_1027"/>
              <p:cNvSpPr/>
              <p:nvPr/>
            </p:nvSpPr>
            <p:spPr>
              <a:xfrm>
                <a:off x="4130895" y="2553571"/>
                <a:ext cx="891600" cy="811200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g36aa5aa9355_0_1027"/>
              <p:cNvSpPr txBox="1"/>
              <p:nvPr/>
            </p:nvSpPr>
            <p:spPr>
              <a:xfrm>
                <a:off x="4377806" y="2774550"/>
                <a:ext cx="43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 b="1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8" name="Google Shape;558;g36aa5aa9355_0_1027"/>
            <p:cNvGrpSpPr/>
            <p:nvPr/>
          </p:nvGrpSpPr>
          <p:grpSpPr>
            <a:xfrm>
              <a:off x="4077024" y="1054217"/>
              <a:ext cx="891600" cy="811200"/>
              <a:chOff x="4077024" y="1054217"/>
              <a:chExt cx="891600" cy="811200"/>
            </a:xfrm>
          </p:grpSpPr>
          <p:sp>
            <p:nvSpPr>
              <p:cNvPr id="552" name="Google Shape;552;g36aa5aa9355_0_1027"/>
              <p:cNvSpPr/>
              <p:nvPr/>
            </p:nvSpPr>
            <p:spPr>
              <a:xfrm>
                <a:off x="4077024" y="1054217"/>
                <a:ext cx="891600" cy="811200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559;g36aa5aa9355_0_1027"/>
              <p:cNvSpPr txBox="1"/>
              <p:nvPr/>
            </p:nvSpPr>
            <p:spPr>
              <a:xfrm>
                <a:off x="4319494" y="1275197"/>
                <a:ext cx="43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1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0" name="Google Shape;560;g36aa5aa9355_0_1027"/>
            <p:cNvGrpSpPr/>
            <p:nvPr/>
          </p:nvGrpSpPr>
          <p:grpSpPr>
            <a:xfrm>
              <a:off x="2539282" y="3512567"/>
              <a:ext cx="891600" cy="811200"/>
              <a:chOff x="1622041" y="3653715"/>
              <a:chExt cx="891600" cy="811200"/>
            </a:xfrm>
          </p:grpSpPr>
          <p:sp>
            <p:nvSpPr>
              <p:cNvPr id="553" name="Google Shape;553;g36aa5aa9355_0_1027"/>
              <p:cNvSpPr/>
              <p:nvPr/>
            </p:nvSpPr>
            <p:spPr>
              <a:xfrm>
                <a:off x="1622041" y="3653715"/>
                <a:ext cx="891600" cy="811200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" name="Google Shape;561;g36aa5aa9355_0_1027"/>
              <p:cNvSpPr txBox="1"/>
              <p:nvPr/>
            </p:nvSpPr>
            <p:spPr>
              <a:xfrm>
                <a:off x="1849595" y="3856366"/>
                <a:ext cx="43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b="1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562" name="Google Shape;562;g36aa5aa9355_0_1027"/>
            <p:cNvCxnSpPr>
              <a:stCxn id="552" idx="4"/>
              <a:endCxn id="556" idx="0"/>
            </p:cNvCxnSpPr>
            <p:nvPr/>
          </p:nvCxnSpPr>
          <p:spPr>
            <a:xfrm>
              <a:off x="4522824" y="1865417"/>
              <a:ext cx="8100" cy="6882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lg" w="lg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cxnSp>
          <p:nvCxnSpPr>
            <p:cNvPr id="563" name="Google Shape;563;g36aa5aa9355_0_1027"/>
            <p:cNvCxnSpPr>
              <a:stCxn id="556" idx="5"/>
              <a:endCxn id="548" idx="1"/>
            </p:cNvCxnSpPr>
            <p:nvPr/>
          </p:nvCxnSpPr>
          <p:spPr>
            <a:xfrm>
              <a:off x="4846203" y="3245974"/>
              <a:ext cx="838800" cy="3855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lg" w="lg" type="triangl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cxnSp>
          <p:nvCxnSpPr>
            <p:cNvPr id="564" name="Google Shape;564;g36aa5aa9355_0_1027"/>
            <p:cNvCxnSpPr>
              <a:stCxn id="553" idx="7"/>
              <a:endCxn id="556" idx="3"/>
            </p:cNvCxnSpPr>
            <p:nvPr/>
          </p:nvCxnSpPr>
          <p:spPr>
            <a:xfrm flipH="1" rot="10800000">
              <a:off x="3300310" y="3245864"/>
              <a:ext cx="915300" cy="3855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lg" w="lg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</p:grpSp>
      <p:sp>
        <p:nvSpPr>
          <p:cNvPr id="565" name="Google Shape;565;g36aa5aa9355_0_1027"/>
          <p:cNvSpPr txBox="1"/>
          <p:nvPr/>
        </p:nvSpPr>
        <p:spPr>
          <a:xfrm>
            <a:off x="5685094" y="669220"/>
            <a:ext cx="3078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Each node </a:t>
            </a:r>
            <a:r>
              <a:rPr b="1"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prefers</a:t>
            </a: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 route through neighbor over direct route.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6" name="Google Shape;566;g36aa5aa9355_0_1027"/>
          <p:cNvSpPr txBox="1"/>
          <p:nvPr/>
        </p:nvSpPr>
        <p:spPr>
          <a:xfrm>
            <a:off x="352603" y="1865837"/>
            <a:ext cx="3078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Suppose </a:t>
            </a:r>
            <a:r>
              <a:rPr b="1"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initially</a:t>
            </a: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 each node only knows the </a:t>
            </a:r>
            <a:r>
              <a:rPr b="1"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shortest</a:t>
            </a: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 path to 0 (</a:t>
            </a:r>
            <a:r>
              <a:rPr i="0" lang="en" sz="1800" u="none" cap="none" strike="noStrike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green</a:t>
            </a: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 arrow).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7" name="Google Shape;567;g36aa5aa9355_0_1027"/>
          <p:cNvSpPr txBox="1"/>
          <p:nvPr/>
        </p:nvSpPr>
        <p:spPr>
          <a:xfrm>
            <a:off x="352599" y="3031200"/>
            <a:ext cx="19437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1 knows 1→0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2 knows 2→0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3 knows 3→0</a:t>
            </a:r>
            <a:endParaRPr i="0" sz="1800" u="none" cap="none" strike="noStrike">
              <a:solidFill>
                <a:srgbClr val="695D4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8" name="Google Shape;568;g36aa5aa9355_0_1027"/>
          <p:cNvCxnSpPr/>
          <p:nvPr/>
        </p:nvCxnSpPr>
        <p:spPr>
          <a:xfrm flipH="1" rot="10800000">
            <a:off x="3253125" y="3176612"/>
            <a:ext cx="915600" cy="385200"/>
          </a:xfrm>
          <a:prstGeom prst="straightConnector1">
            <a:avLst/>
          </a:prstGeom>
          <a:noFill/>
          <a:ln cap="flat" cmpd="sng" w="25400">
            <a:solidFill>
              <a:srgbClr val="38761D"/>
            </a:solidFill>
            <a:prstDash val="solid"/>
            <a:round/>
            <a:headEnd len="sm" w="sm" type="none"/>
            <a:tailEnd len="lg" w="lg" type="triangl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cxnSp>
        <p:nvCxnSpPr>
          <p:cNvPr id="569" name="Google Shape;569;g36aa5aa9355_0_1027"/>
          <p:cNvCxnSpPr/>
          <p:nvPr/>
        </p:nvCxnSpPr>
        <p:spPr>
          <a:xfrm>
            <a:off x="4645206" y="1856727"/>
            <a:ext cx="8100" cy="688200"/>
          </a:xfrm>
          <a:prstGeom prst="straightConnector1">
            <a:avLst/>
          </a:prstGeom>
          <a:noFill/>
          <a:ln cap="flat" cmpd="sng" w="25400">
            <a:solidFill>
              <a:srgbClr val="38761D"/>
            </a:solidFill>
            <a:prstDash val="solid"/>
            <a:round/>
            <a:headEnd len="sm" w="sm" type="none"/>
            <a:tailEnd len="lg" w="lg" type="triangl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570" name="Google Shape;570;g36aa5aa9355_0_1027"/>
          <p:cNvSpPr txBox="1"/>
          <p:nvPr/>
        </p:nvSpPr>
        <p:spPr>
          <a:xfrm>
            <a:off x="5405925" y="1827150"/>
            <a:ext cx="37194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1 prefers reaching 0 through 2 or 3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2 prefers reaching 0 through 1 or 3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3 prefers reaching 0 through 1 or 2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1" name="Google Shape;571;g36aa5aa9355_0_1027"/>
          <p:cNvSpPr txBox="1"/>
          <p:nvPr/>
        </p:nvSpPr>
        <p:spPr>
          <a:xfrm>
            <a:off x="2766834" y="4434906"/>
            <a:ext cx="481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b="1" i="1" lang="en" sz="2000" u="none" cap="none" strike="noStrike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again</a:t>
            </a:r>
            <a:r>
              <a:rPr b="1" i="0" lang="en" sz="2000" u="none" cap="none" strike="noStrike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 advertises its path 1→0</a:t>
            </a:r>
            <a:endParaRPr b="0" i="0" sz="14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g36aa5aa9355_0_1027"/>
          <p:cNvSpPr/>
          <p:nvPr/>
        </p:nvSpPr>
        <p:spPr>
          <a:xfrm>
            <a:off x="3433778" y="3314700"/>
            <a:ext cx="2117400" cy="549900"/>
          </a:xfrm>
          <a:custGeom>
            <a:rect b="b" l="l" r="r" t="t"/>
            <a:pathLst>
              <a:path extrusionOk="0" h="120000" w="120000">
                <a:moveTo>
                  <a:pt x="120000" y="107545"/>
                </a:moveTo>
                <a:cubicBezTo>
                  <a:pt x="66907" y="117851"/>
                  <a:pt x="13814" y="128158"/>
                  <a:pt x="1678" y="110234"/>
                </a:cubicBezTo>
                <a:cubicBezTo>
                  <a:pt x="-10456" y="92309"/>
                  <a:pt x="47186" y="0"/>
                  <a:pt x="47186" y="0"/>
                </a:cubicBezTo>
              </a:path>
            </a:pathLst>
          </a:custGeom>
          <a:noFill/>
          <a:ln cap="flat" cmpd="sng" w="254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2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g36aa5aa9355_0_1027"/>
          <p:cNvSpPr/>
          <p:nvPr/>
        </p:nvSpPr>
        <p:spPr>
          <a:xfrm>
            <a:off x="3120390" y="1786629"/>
            <a:ext cx="1352100" cy="1710900"/>
          </a:xfrm>
          <a:custGeom>
            <a:rect b="b" l="l" r="r" t="t"/>
            <a:pathLst>
              <a:path extrusionOk="0" h="120000" w="120000">
                <a:moveTo>
                  <a:pt x="0" y="119999"/>
                </a:moveTo>
                <a:cubicBezTo>
                  <a:pt x="45393" y="65969"/>
                  <a:pt x="90786" y="11939"/>
                  <a:pt x="109981" y="1228"/>
                </a:cubicBezTo>
                <a:cubicBezTo>
                  <a:pt x="129175" y="-9482"/>
                  <a:pt x="114823" y="53292"/>
                  <a:pt x="115168" y="55733"/>
                </a:cubicBezTo>
              </a:path>
            </a:pathLst>
          </a:custGeom>
          <a:noFill/>
          <a:ln cap="flat" cmpd="sng" w="254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2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6aa5aa9355_0_105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Policy Oscillation 7</a:t>
            </a:r>
            <a:endParaRPr/>
          </a:p>
        </p:txBody>
      </p:sp>
      <p:grpSp>
        <p:nvGrpSpPr>
          <p:cNvPr id="579" name="Google Shape;579;g36aa5aa9355_0_1057"/>
          <p:cNvGrpSpPr/>
          <p:nvPr/>
        </p:nvGrpSpPr>
        <p:grpSpPr>
          <a:xfrm>
            <a:off x="2539282" y="1054217"/>
            <a:ext cx="3906849" cy="3269550"/>
            <a:chOff x="2539282" y="1054217"/>
            <a:chExt cx="3906849" cy="3269550"/>
          </a:xfrm>
        </p:grpSpPr>
        <p:grpSp>
          <p:nvGrpSpPr>
            <p:cNvPr id="580" name="Google Shape;580;g36aa5aa9355_0_1057"/>
            <p:cNvGrpSpPr/>
            <p:nvPr/>
          </p:nvGrpSpPr>
          <p:grpSpPr>
            <a:xfrm>
              <a:off x="5554531" y="3512566"/>
              <a:ext cx="891600" cy="811200"/>
              <a:chOff x="6464705" y="3644584"/>
              <a:chExt cx="891600" cy="811200"/>
            </a:xfrm>
          </p:grpSpPr>
          <p:sp>
            <p:nvSpPr>
              <p:cNvPr id="581" name="Google Shape;581;g36aa5aa9355_0_1057"/>
              <p:cNvSpPr/>
              <p:nvPr/>
            </p:nvSpPr>
            <p:spPr>
              <a:xfrm>
                <a:off x="6464705" y="3644584"/>
                <a:ext cx="891600" cy="811200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g36aa5aa9355_0_1057"/>
              <p:cNvSpPr txBox="1"/>
              <p:nvPr/>
            </p:nvSpPr>
            <p:spPr>
              <a:xfrm>
                <a:off x="6692259" y="3856366"/>
                <a:ext cx="43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 b="1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583" name="Google Shape;583;g36aa5aa9355_0_1057"/>
            <p:cNvCxnSpPr/>
            <p:nvPr/>
          </p:nvCxnSpPr>
          <p:spPr>
            <a:xfrm>
              <a:off x="3430822" y="3899884"/>
              <a:ext cx="2123700" cy="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cxnSp>
          <p:nvCxnSpPr>
            <p:cNvPr id="584" name="Google Shape;584;g36aa5aa9355_0_1057"/>
            <p:cNvCxnSpPr>
              <a:stCxn id="585" idx="3"/>
              <a:endCxn id="586" idx="0"/>
            </p:cNvCxnSpPr>
            <p:nvPr/>
          </p:nvCxnSpPr>
          <p:spPr>
            <a:xfrm flipH="1">
              <a:off x="2985096" y="1746620"/>
              <a:ext cx="1222500" cy="17658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cxnSp>
          <p:nvCxnSpPr>
            <p:cNvPr id="587" name="Google Shape;587;g36aa5aa9355_0_1057"/>
            <p:cNvCxnSpPr>
              <a:stCxn id="585" idx="5"/>
              <a:endCxn id="581" idx="0"/>
            </p:cNvCxnSpPr>
            <p:nvPr/>
          </p:nvCxnSpPr>
          <p:spPr>
            <a:xfrm>
              <a:off x="4838052" y="1746620"/>
              <a:ext cx="1162200" cy="17658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grpSp>
          <p:nvGrpSpPr>
            <p:cNvPr id="588" name="Google Shape;588;g36aa5aa9355_0_1057"/>
            <p:cNvGrpSpPr/>
            <p:nvPr/>
          </p:nvGrpSpPr>
          <p:grpSpPr>
            <a:xfrm>
              <a:off x="4085175" y="2553571"/>
              <a:ext cx="891600" cy="811200"/>
              <a:chOff x="4130895" y="2553571"/>
              <a:chExt cx="891600" cy="811200"/>
            </a:xfrm>
          </p:grpSpPr>
          <p:sp>
            <p:nvSpPr>
              <p:cNvPr id="589" name="Google Shape;589;g36aa5aa9355_0_1057"/>
              <p:cNvSpPr/>
              <p:nvPr/>
            </p:nvSpPr>
            <p:spPr>
              <a:xfrm>
                <a:off x="4130895" y="2553571"/>
                <a:ext cx="891600" cy="811200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" name="Google Shape;590;g36aa5aa9355_0_1057"/>
              <p:cNvSpPr txBox="1"/>
              <p:nvPr/>
            </p:nvSpPr>
            <p:spPr>
              <a:xfrm>
                <a:off x="4377806" y="2774550"/>
                <a:ext cx="43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 b="1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1" name="Google Shape;591;g36aa5aa9355_0_1057"/>
            <p:cNvGrpSpPr/>
            <p:nvPr/>
          </p:nvGrpSpPr>
          <p:grpSpPr>
            <a:xfrm>
              <a:off x="4077024" y="1054217"/>
              <a:ext cx="891600" cy="811200"/>
              <a:chOff x="4077024" y="1054217"/>
              <a:chExt cx="891600" cy="811200"/>
            </a:xfrm>
          </p:grpSpPr>
          <p:sp>
            <p:nvSpPr>
              <p:cNvPr id="585" name="Google Shape;585;g36aa5aa9355_0_1057"/>
              <p:cNvSpPr/>
              <p:nvPr/>
            </p:nvSpPr>
            <p:spPr>
              <a:xfrm>
                <a:off x="4077024" y="1054217"/>
                <a:ext cx="891600" cy="811200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g36aa5aa9355_0_1057"/>
              <p:cNvSpPr txBox="1"/>
              <p:nvPr/>
            </p:nvSpPr>
            <p:spPr>
              <a:xfrm>
                <a:off x="4319494" y="1275197"/>
                <a:ext cx="43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1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3" name="Google Shape;593;g36aa5aa9355_0_1057"/>
            <p:cNvGrpSpPr/>
            <p:nvPr/>
          </p:nvGrpSpPr>
          <p:grpSpPr>
            <a:xfrm>
              <a:off x="2539282" y="3512567"/>
              <a:ext cx="891600" cy="811200"/>
              <a:chOff x="1622041" y="3653715"/>
              <a:chExt cx="891600" cy="811200"/>
            </a:xfrm>
          </p:grpSpPr>
          <p:sp>
            <p:nvSpPr>
              <p:cNvPr id="586" name="Google Shape;586;g36aa5aa9355_0_1057"/>
              <p:cNvSpPr/>
              <p:nvPr/>
            </p:nvSpPr>
            <p:spPr>
              <a:xfrm>
                <a:off x="1622041" y="3653715"/>
                <a:ext cx="891600" cy="811200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" name="Google Shape;594;g36aa5aa9355_0_1057"/>
              <p:cNvSpPr txBox="1"/>
              <p:nvPr/>
            </p:nvSpPr>
            <p:spPr>
              <a:xfrm>
                <a:off x="1849595" y="3856366"/>
                <a:ext cx="43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b="1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595" name="Google Shape;595;g36aa5aa9355_0_1057"/>
            <p:cNvCxnSpPr>
              <a:stCxn id="585" idx="4"/>
              <a:endCxn id="589" idx="0"/>
            </p:cNvCxnSpPr>
            <p:nvPr/>
          </p:nvCxnSpPr>
          <p:spPr>
            <a:xfrm>
              <a:off x="4522824" y="1865417"/>
              <a:ext cx="8100" cy="6882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lg" w="lg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cxnSp>
          <p:nvCxnSpPr>
            <p:cNvPr id="596" name="Google Shape;596;g36aa5aa9355_0_1057"/>
            <p:cNvCxnSpPr>
              <a:stCxn id="589" idx="5"/>
              <a:endCxn id="581" idx="1"/>
            </p:cNvCxnSpPr>
            <p:nvPr/>
          </p:nvCxnSpPr>
          <p:spPr>
            <a:xfrm>
              <a:off x="4846203" y="3245974"/>
              <a:ext cx="838800" cy="3855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lg" w="lg" type="triangl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cxnSp>
          <p:nvCxnSpPr>
            <p:cNvPr id="597" name="Google Shape;597;g36aa5aa9355_0_1057"/>
            <p:cNvCxnSpPr>
              <a:stCxn id="586" idx="7"/>
              <a:endCxn id="589" idx="3"/>
            </p:cNvCxnSpPr>
            <p:nvPr/>
          </p:nvCxnSpPr>
          <p:spPr>
            <a:xfrm flipH="1" rot="10800000">
              <a:off x="3300310" y="3245864"/>
              <a:ext cx="915300" cy="3855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lg" w="lg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</p:grpSp>
      <p:sp>
        <p:nvSpPr>
          <p:cNvPr id="598" name="Google Shape;598;g36aa5aa9355_0_1057"/>
          <p:cNvSpPr txBox="1"/>
          <p:nvPr/>
        </p:nvSpPr>
        <p:spPr>
          <a:xfrm>
            <a:off x="5685094" y="669220"/>
            <a:ext cx="3078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Each node </a:t>
            </a:r>
            <a:r>
              <a:rPr b="1"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prefers</a:t>
            </a: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 route through neighbor over direct route.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9" name="Google Shape;599;g36aa5aa9355_0_1057"/>
          <p:cNvSpPr txBox="1"/>
          <p:nvPr/>
        </p:nvSpPr>
        <p:spPr>
          <a:xfrm>
            <a:off x="352603" y="1865837"/>
            <a:ext cx="3078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Suppose </a:t>
            </a:r>
            <a:r>
              <a:rPr b="1"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initially</a:t>
            </a: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 each node only knows the </a:t>
            </a:r>
            <a:r>
              <a:rPr b="1"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shortest</a:t>
            </a: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 path to 0 (</a:t>
            </a:r>
            <a:r>
              <a:rPr i="0" lang="en" sz="1800" u="none" cap="none" strike="noStrike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green</a:t>
            </a: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 arrow).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" name="Google Shape;600;g36aa5aa9355_0_1057"/>
          <p:cNvSpPr txBox="1"/>
          <p:nvPr/>
        </p:nvSpPr>
        <p:spPr>
          <a:xfrm>
            <a:off x="352599" y="3031200"/>
            <a:ext cx="19437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1 knows 1→0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2 knows 2→0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3 knows 3→0</a:t>
            </a:r>
            <a:endParaRPr i="0" sz="1800" u="none" cap="none" strike="noStrike">
              <a:solidFill>
                <a:srgbClr val="695D4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1" name="Google Shape;601;g36aa5aa9355_0_1057"/>
          <p:cNvCxnSpPr/>
          <p:nvPr/>
        </p:nvCxnSpPr>
        <p:spPr>
          <a:xfrm>
            <a:off x="4645206" y="1856727"/>
            <a:ext cx="8100" cy="688200"/>
          </a:xfrm>
          <a:prstGeom prst="straightConnector1">
            <a:avLst/>
          </a:prstGeom>
          <a:noFill/>
          <a:ln cap="flat" cmpd="sng" w="25400">
            <a:solidFill>
              <a:srgbClr val="38761D"/>
            </a:solidFill>
            <a:prstDash val="solid"/>
            <a:round/>
            <a:headEnd len="sm" w="sm" type="none"/>
            <a:tailEnd len="lg" w="lg" type="triangl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cxnSp>
        <p:nvCxnSpPr>
          <p:cNvPr id="602" name="Google Shape;602;g36aa5aa9355_0_1057"/>
          <p:cNvCxnSpPr/>
          <p:nvPr/>
        </p:nvCxnSpPr>
        <p:spPr>
          <a:xfrm>
            <a:off x="4896390" y="3172199"/>
            <a:ext cx="838800" cy="385200"/>
          </a:xfrm>
          <a:prstGeom prst="straightConnector1">
            <a:avLst/>
          </a:prstGeom>
          <a:noFill/>
          <a:ln cap="flat" cmpd="sng" w="25400">
            <a:solidFill>
              <a:srgbClr val="38761D"/>
            </a:solidFill>
            <a:prstDash val="solid"/>
            <a:round/>
            <a:headEnd len="lg" w="lg" type="triangl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603" name="Google Shape;603;g36aa5aa9355_0_1057"/>
          <p:cNvSpPr txBox="1"/>
          <p:nvPr/>
        </p:nvSpPr>
        <p:spPr>
          <a:xfrm>
            <a:off x="5405925" y="1827150"/>
            <a:ext cx="37194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1 prefers reaching 0 through 2 or 3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2 prefers reaching 0 through 1 or 3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3 prefers reaching 0 through 1 or 2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4" name="Google Shape;604;g36aa5aa9355_0_1057"/>
          <p:cNvSpPr txBox="1"/>
          <p:nvPr/>
        </p:nvSpPr>
        <p:spPr>
          <a:xfrm rot="1451983">
            <a:off x="6454275" y="3554217"/>
            <a:ext cx="2096759" cy="831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Back to where we started! :(</a:t>
            </a:r>
            <a:endParaRPr b="1" i="0" sz="2400" u="none" cap="none" strike="noStrike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g36aa5aa9355_0_1057"/>
          <p:cNvSpPr/>
          <p:nvPr/>
        </p:nvSpPr>
        <p:spPr>
          <a:xfrm>
            <a:off x="3433778" y="3314700"/>
            <a:ext cx="2117400" cy="549900"/>
          </a:xfrm>
          <a:custGeom>
            <a:rect b="b" l="l" r="r" t="t"/>
            <a:pathLst>
              <a:path extrusionOk="0" h="120000" w="120000">
                <a:moveTo>
                  <a:pt x="120000" y="107545"/>
                </a:moveTo>
                <a:cubicBezTo>
                  <a:pt x="66907" y="117851"/>
                  <a:pt x="13814" y="128158"/>
                  <a:pt x="1678" y="110234"/>
                </a:cubicBezTo>
                <a:cubicBezTo>
                  <a:pt x="-10456" y="92309"/>
                  <a:pt x="47186" y="0"/>
                  <a:pt x="47186" y="0"/>
                </a:cubicBezTo>
              </a:path>
            </a:pathLst>
          </a:custGeom>
          <a:noFill/>
          <a:ln cap="flat" cmpd="sng" w="254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2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g36aa5aa9355_0_1057"/>
          <p:cNvSpPr/>
          <p:nvPr/>
        </p:nvSpPr>
        <p:spPr>
          <a:xfrm>
            <a:off x="3120390" y="1786629"/>
            <a:ext cx="1352100" cy="1710900"/>
          </a:xfrm>
          <a:custGeom>
            <a:rect b="b" l="l" r="r" t="t"/>
            <a:pathLst>
              <a:path extrusionOk="0" h="120000" w="120000">
                <a:moveTo>
                  <a:pt x="0" y="119999"/>
                </a:moveTo>
                <a:cubicBezTo>
                  <a:pt x="45393" y="65969"/>
                  <a:pt x="90786" y="11939"/>
                  <a:pt x="109981" y="1228"/>
                </a:cubicBezTo>
                <a:cubicBezTo>
                  <a:pt x="129175" y="-9482"/>
                  <a:pt x="114823" y="53292"/>
                  <a:pt x="115168" y="55733"/>
                </a:cubicBezTo>
              </a:path>
            </a:pathLst>
          </a:custGeom>
          <a:noFill/>
          <a:ln cap="flat" cmpd="sng" w="254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2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g36aa5aa9355_0_1057"/>
          <p:cNvSpPr txBox="1"/>
          <p:nvPr/>
        </p:nvSpPr>
        <p:spPr>
          <a:xfrm>
            <a:off x="2766834" y="4434906"/>
            <a:ext cx="481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2 withdraws its path 2→0 from 3</a:t>
            </a:r>
            <a:endParaRPr b="0" i="0" sz="14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6aa5533722_0_0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Gao-Rexford!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3" name="Google Shape;613;g36aa5533722_0_0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Why doesn’t this happen in reality?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6aa5aa9355_0_112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Gao-Rexford Policy</a:t>
            </a:r>
            <a:endParaRPr/>
          </a:p>
        </p:txBody>
      </p:sp>
      <p:graphicFrame>
        <p:nvGraphicFramePr>
          <p:cNvPr id="619" name="Google Shape;619;g36aa5aa9355_0_1121"/>
          <p:cNvGraphicFramePr/>
          <p:nvPr/>
        </p:nvGraphicFramePr>
        <p:xfrm>
          <a:off x="1371600" y="1310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{06D1F83A-98AF-45E6-BA8B-4BE50BCD673F}</a:tableStyleId>
              </a:tblPr>
              <a:tblGrid>
                <a:gridCol w="2950375"/>
                <a:gridCol w="2950375"/>
              </a:tblGrid>
              <a:tr h="53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" sz="2400" u="none" cap="none" strike="noStrike">
                          <a:solidFill>
                            <a:schemeClr val="lt1"/>
                          </a:solidFill>
                        </a:rPr>
                        <a:t>Destination prefix advertised by…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" sz="2400" u="none" cap="none" strike="noStrike">
                          <a:solidFill>
                            <a:schemeClr val="lt1"/>
                          </a:solidFill>
                        </a:rPr>
                        <a:t>Export route to…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772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" sz="2400" u="none" cap="none" strike="noStrike"/>
                        <a:t>Customer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" sz="2400" u="none" cap="none" strike="noStrike"/>
                        <a:t>Everyone</a:t>
                      </a:r>
                      <a:br>
                        <a:rPr lang="en" sz="2400" u="none" cap="none" strike="noStrike"/>
                      </a:br>
                      <a:r>
                        <a:rPr lang="en" sz="2400" u="none" cap="none" strike="noStrike"/>
                        <a:t> (providers, peers, other customers)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1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" sz="2400" u="none" cap="none" strike="noStrike"/>
                        <a:t>Peer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" sz="2400" u="none" cap="none" strike="noStrike"/>
                        <a:t>Customers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1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" sz="2400" u="none" cap="none" strike="noStrike"/>
                        <a:t>Provider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" sz="2400" u="none" cap="none" strike="noStrike"/>
                        <a:t>Customers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6ec571d3a3_1_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Routing Follows the Money</a:t>
            </a:r>
            <a:endParaRPr/>
          </a:p>
        </p:txBody>
      </p:sp>
      <p:sp>
        <p:nvSpPr>
          <p:cNvPr id="625" name="Google Shape;625;g36ec571d3a3_1_0"/>
          <p:cNvSpPr/>
          <p:nvPr/>
        </p:nvSpPr>
        <p:spPr>
          <a:xfrm>
            <a:off x="1050238" y="834575"/>
            <a:ext cx="969900" cy="553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" name="Google Shape;626;g36ec571d3a3_1_0"/>
          <p:cNvSpPr/>
          <p:nvPr/>
        </p:nvSpPr>
        <p:spPr>
          <a:xfrm>
            <a:off x="379588" y="1941300"/>
            <a:ext cx="969900" cy="553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7" name="Google Shape;627;g36ec571d3a3_1_0"/>
          <p:cNvSpPr/>
          <p:nvPr/>
        </p:nvSpPr>
        <p:spPr>
          <a:xfrm>
            <a:off x="2147388" y="1941300"/>
            <a:ext cx="969900" cy="553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8" name="Google Shape;628;g36ec571d3a3_1_0"/>
          <p:cNvSpPr/>
          <p:nvPr/>
        </p:nvSpPr>
        <p:spPr>
          <a:xfrm>
            <a:off x="3915188" y="1941350"/>
            <a:ext cx="969900" cy="553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9" name="Google Shape;629;g36ec571d3a3_1_0"/>
          <p:cNvSpPr/>
          <p:nvPr/>
        </p:nvSpPr>
        <p:spPr>
          <a:xfrm>
            <a:off x="379588" y="2948875"/>
            <a:ext cx="969900" cy="553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0" name="Google Shape;630;g36ec571d3a3_1_0"/>
          <p:cNvSpPr/>
          <p:nvPr/>
        </p:nvSpPr>
        <p:spPr>
          <a:xfrm>
            <a:off x="2147388" y="2948875"/>
            <a:ext cx="969900" cy="553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1" name="Google Shape;631;g36ec571d3a3_1_0"/>
          <p:cNvSpPr/>
          <p:nvPr/>
        </p:nvSpPr>
        <p:spPr>
          <a:xfrm>
            <a:off x="3915188" y="2948925"/>
            <a:ext cx="969900" cy="553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G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2" name="Google Shape;632;g36ec571d3a3_1_0"/>
          <p:cNvCxnSpPr>
            <a:stCxn id="625" idx="4"/>
            <a:endCxn id="626" idx="0"/>
          </p:cNvCxnSpPr>
          <p:nvPr/>
        </p:nvCxnSpPr>
        <p:spPr>
          <a:xfrm flipH="1">
            <a:off x="864688" y="1387775"/>
            <a:ext cx="670500" cy="553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3" name="Google Shape;633;g36ec571d3a3_1_0"/>
          <p:cNvCxnSpPr>
            <a:stCxn id="625" idx="4"/>
            <a:endCxn id="627" idx="0"/>
          </p:cNvCxnSpPr>
          <p:nvPr/>
        </p:nvCxnSpPr>
        <p:spPr>
          <a:xfrm>
            <a:off x="1535188" y="1387775"/>
            <a:ext cx="1097100" cy="553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4" name="Google Shape;634;g36ec571d3a3_1_0"/>
          <p:cNvCxnSpPr>
            <a:stCxn id="626" idx="4"/>
            <a:endCxn id="629" idx="0"/>
          </p:cNvCxnSpPr>
          <p:nvPr/>
        </p:nvCxnSpPr>
        <p:spPr>
          <a:xfrm>
            <a:off x="864538" y="2494500"/>
            <a:ext cx="0" cy="454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5" name="Google Shape;635;g36ec571d3a3_1_0"/>
          <p:cNvCxnSpPr>
            <a:stCxn id="627" idx="4"/>
            <a:endCxn id="630" idx="0"/>
          </p:cNvCxnSpPr>
          <p:nvPr/>
        </p:nvCxnSpPr>
        <p:spPr>
          <a:xfrm>
            <a:off x="2632338" y="2494500"/>
            <a:ext cx="0" cy="454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6" name="Google Shape;636;g36ec571d3a3_1_0"/>
          <p:cNvCxnSpPr>
            <a:stCxn id="628" idx="4"/>
            <a:endCxn id="631" idx="0"/>
          </p:cNvCxnSpPr>
          <p:nvPr/>
        </p:nvCxnSpPr>
        <p:spPr>
          <a:xfrm>
            <a:off x="4400138" y="2494550"/>
            <a:ext cx="0" cy="454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7" name="Google Shape;637;g36ec571d3a3_1_0"/>
          <p:cNvCxnSpPr>
            <a:stCxn id="627" idx="6"/>
            <a:endCxn id="628" idx="2"/>
          </p:cNvCxnSpPr>
          <p:nvPr/>
        </p:nvCxnSpPr>
        <p:spPr>
          <a:xfrm>
            <a:off x="3117288" y="2217900"/>
            <a:ext cx="798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638" name="Google Shape;638;g36ec571d3a3_1_0"/>
          <p:cNvCxnSpPr>
            <a:stCxn id="626" idx="6"/>
            <a:endCxn id="627" idx="2"/>
          </p:cNvCxnSpPr>
          <p:nvPr/>
        </p:nvCxnSpPr>
        <p:spPr>
          <a:xfrm>
            <a:off x="1349488" y="2217900"/>
            <a:ext cx="798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639" name="Google Shape;639;g36ec571d3a3_1_0"/>
          <p:cNvSpPr/>
          <p:nvPr/>
        </p:nvSpPr>
        <p:spPr>
          <a:xfrm>
            <a:off x="753317" y="2125315"/>
            <a:ext cx="2010750" cy="847450"/>
          </a:xfrm>
          <a:custGeom>
            <a:rect b="b" l="l" r="r" t="t"/>
            <a:pathLst>
              <a:path extrusionOk="0" h="33898" w="80430">
                <a:moveTo>
                  <a:pt x="5944" y="33898"/>
                </a:moveTo>
                <a:cubicBezTo>
                  <a:pt x="5782" y="29023"/>
                  <a:pt x="-6569" y="9765"/>
                  <a:pt x="4969" y="4646"/>
                </a:cubicBezTo>
                <a:cubicBezTo>
                  <a:pt x="16507" y="-473"/>
                  <a:pt x="63473" y="-1691"/>
                  <a:pt x="75174" y="3184"/>
                </a:cubicBezTo>
                <a:cubicBezTo>
                  <a:pt x="86875" y="8059"/>
                  <a:pt x="75174" y="28779"/>
                  <a:pt x="75174" y="33898"/>
                </a:cubicBezTo>
              </a:path>
            </a:pathLst>
          </a:custGeom>
          <a:noFill/>
          <a:ln cap="flat" cmpd="sng" w="28575">
            <a:solidFill>
              <a:srgbClr val="4A86E8"/>
            </a:solidFill>
            <a:prstDash val="solid"/>
            <a:round/>
            <a:headEnd len="med" w="med" type="triangle"/>
            <a:tailEnd len="med" w="med" type="triangle"/>
          </a:ln>
        </p:spPr>
      </p:sp>
      <p:sp>
        <p:nvSpPr>
          <p:cNvPr id="640" name="Google Shape;640;g36ec571d3a3_1_0"/>
          <p:cNvSpPr/>
          <p:nvPr/>
        </p:nvSpPr>
        <p:spPr>
          <a:xfrm>
            <a:off x="2465842" y="2101415"/>
            <a:ext cx="2010750" cy="847450"/>
          </a:xfrm>
          <a:custGeom>
            <a:rect b="b" l="l" r="r" t="t"/>
            <a:pathLst>
              <a:path extrusionOk="0" h="33898" w="80430">
                <a:moveTo>
                  <a:pt x="5944" y="33898"/>
                </a:moveTo>
                <a:cubicBezTo>
                  <a:pt x="5782" y="29023"/>
                  <a:pt x="-6569" y="9765"/>
                  <a:pt x="4969" y="4646"/>
                </a:cubicBezTo>
                <a:cubicBezTo>
                  <a:pt x="16507" y="-473"/>
                  <a:pt x="63473" y="-1691"/>
                  <a:pt x="75174" y="3184"/>
                </a:cubicBezTo>
                <a:cubicBezTo>
                  <a:pt x="86875" y="8059"/>
                  <a:pt x="75174" y="28779"/>
                  <a:pt x="75174" y="33898"/>
                </a:cubicBezTo>
              </a:path>
            </a:pathLst>
          </a:custGeom>
          <a:noFill/>
          <a:ln cap="flat" cmpd="sng" w="28575">
            <a:solidFill>
              <a:srgbClr val="4A86E8"/>
            </a:solidFill>
            <a:prstDash val="solid"/>
            <a:round/>
            <a:headEnd len="med" w="med" type="triangle"/>
            <a:tailEnd len="med" w="med" type="triangle"/>
          </a:ln>
        </p:spPr>
      </p:sp>
      <p:sp>
        <p:nvSpPr>
          <p:cNvPr id="641" name="Google Shape;641;g36ec571d3a3_1_0"/>
          <p:cNvSpPr/>
          <p:nvPr/>
        </p:nvSpPr>
        <p:spPr>
          <a:xfrm>
            <a:off x="389477" y="2148919"/>
            <a:ext cx="4571600" cy="823850"/>
          </a:xfrm>
          <a:custGeom>
            <a:rect b="b" l="l" r="r" t="t"/>
            <a:pathLst>
              <a:path extrusionOk="0" h="32954" w="182864">
                <a:moveTo>
                  <a:pt x="13185" y="32954"/>
                </a:moveTo>
                <a:cubicBezTo>
                  <a:pt x="12941" y="28241"/>
                  <a:pt x="-15091" y="9715"/>
                  <a:pt x="11723" y="4677"/>
                </a:cubicBezTo>
                <a:cubicBezTo>
                  <a:pt x="38538" y="-361"/>
                  <a:pt x="149208" y="-1580"/>
                  <a:pt x="174072" y="2727"/>
                </a:cubicBezTo>
                <a:cubicBezTo>
                  <a:pt x="198936" y="7034"/>
                  <a:pt x="163103" y="25885"/>
                  <a:pt x="160909" y="30517"/>
                </a:cubicBezTo>
              </a:path>
            </a:pathLst>
          </a:custGeom>
          <a:noFill/>
          <a:ln cap="flat" cmpd="sng" w="28575">
            <a:solidFill>
              <a:srgbClr val="674EA7"/>
            </a:solidFill>
            <a:prstDash val="lgDash"/>
            <a:round/>
            <a:headEnd len="med" w="med" type="triangle"/>
            <a:tailEnd len="med" w="med" type="triangle"/>
          </a:ln>
        </p:spPr>
      </p:sp>
      <p:cxnSp>
        <p:nvCxnSpPr>
          <p:cNvPr id="642" name="Google Shape;642;g36ec571d3a3_1_0"/>
          <p:cNvCxnSpPr/>
          <p:nvPr/>
        </p:nvCxnSpPr>
        <p:spPr>
          <a:xfrm>
            <a:off x="316875" y="4057550"/>
            <a:ext cx="902100" cy="123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43" name="Google Shape;643;g36ec571d3a3_1_0"/>
          <p:cNvSpPr txBox="1"/>
          <p:nvPr>
            <p:ph idx="1" type="body"/>
          </p:nvPr>
        </p:nvSpPr>
        <p:spPr>
          <a:xfrm>
            <a:off x="1535200" y="3825975"/>
            <a:ext cx="7079400" cy="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000"/>
              <a:t>Traffic</a:t>
            </a:r>
            <a:r>
              <a:rPr lang="en" sz="2000"/>
              <a:t> allowed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000"/>
              <a:t>Traffic </a:t>
            </a:r>
            <a:r>
              <a:rPr i="1" lang="en" sz="2000"/>
              <a:t>not</a:t>
            </a:r>
            <a:r>
              <a:rPr lang="en" sz="2000"/>
              <a:t> allowed</a:t>
            </a:r>
            <a:endParaRPr sz="2000"/>
          </a:p>
        </p:txBody>
      </p:sp>
      <p:cxnSp>
        <p:nvCxnSpPr>
          <p:cNvPr id="644" name="Google Shape;644;g36ec571d3a3_1_0"/>
          <p:cNvCxnSpPr/>
          <p:nvPr/>
        </p:nvCxnSpPr>
        <p:spPr>
          <a:xfrm>
            <a:off x="316875" y="4445600"/>
            <a:ext cx="902100" cy="12300"/>
          </a:xfrm>
          <a:prstGeom prst="straightConnector1">
            <a:avLst/>
          </a:prstGeom>
          <a:noFill/>
          <a:ln cap="flat" cmpd="sng" w="28575">
            <a:solidFill>
              <a:srgbClr val="674EA7"/>
            </a:solidFill>
            <a:prstDash val="lgDash"/>
            <a:round/>
            <a:headEnd len="med" w="med" type="triangle"/>
            <a:tailEnd len="med" w="med" type="triangle"/>
          </a:ln>
        </p:spPr>
      </p:cxnSp>
      <p:sp>
        <p:nvSpPr>
          <p:cNvPr id="645" name="Google Shape;645;g36ec571d3a3_1_0"/>
          <p:cNvSpPr txBox="1"/>
          <p:nvPr>
            <p:ph idx="1" type="body"/>
          </p:nvPr>
        </p:nvSpPr>
        <p:spPr>
          <a:xfrm>
            <a:off x="3174550" y="614025"/>
            <a:ext cx="5211000" cy="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000"/>
              <a:t>Peers do not provide transit to other peers!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6aa5aa9355_0_116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Gao-Rexford Policy Continued</a:t>
            </a:r>
            <a:endParaRPr/>
          </a:p>
        </p:txBody>
      </p:sp>
      <p:sp>
        <p:nvSpPr>
          <p:cNvPr id="651" name="Google Shape;651;g36aa5aa9355_0_1162"/>
          <p:cNvSpPr txBox="1"/>
          <p:nvPr/>
        </p:nvSpPr>
        <p:spPr>
          <a:xfrm>
            <a:off x="457200" y="914372"/>
            <a:ext cx="8229600" cy="40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8275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695D4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01930" lvl="0" marL="34290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None/>
            </a:pPr>
            <a:r>
              <a:t/>
            </a:r>
            <a:endParaRPr sz="2220">
              <a:solidFill>
                <a:srgbClr val="695D4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68275" lvl="1" marL="74295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695D4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68275" lvl="1" marL="74295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695D4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68275" lvl="1" marL="74295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695D4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68275" lvl="1" marL="74295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695D4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1" marL="45720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695D4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rgbClr val="009668"/>
              </a:buClr>
              <a:buSzPts val="1850"/>
              <a:buChar char="–"/>
            </a:pPr>
            <a:r>
              <a:rPr b="1" lang="en" sz="185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Green</a:t>
            </a:r>
            <a:r>
              <a:rPr lang="en" sz="1850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 arrow is where you learn the route</a:t>
            </a:r>
            <a:endParaRPr sz="2000">
              <a:solidFill>
                <a:srgbClr val="695D4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rgbClr val="674EA7"/>
              </a:buClr>
              <a:buSzPts val="1850"/>
              <a:buChar char="–"/>
            </a:pPr>
            <a:r>
              <a:rPr b="1" lang="en" sz="1850">
                <a:solidFill>
                  <a:srgbClr val="674EA7"/>
                </a:solidFill>
                <a:latin typeface="Roboto"/>
                <a:ea typeface="Roboto"/>
                <a:cs typeface="Roboto"/>
                <a:sym typeface="Roboto"/>
              </a:rPr>
              <a:t>Purple</a:t>
            </a:r>
            <a:r>
              <a:rPr lang="en" sz="1850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 arrows are where you export the route</a:t>
            </a:r>
            <a:endParaRPr sz="2000">
              <a:solidFill>
                <a:srgbClr val="695D4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850"/>
              <a:buFont typeface="Roboto"/>
              <a:buChar char="–"/>
            </a:pPr>
            <a:r>
              <a:rPr lang="en" sz="1850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With Gao-Rexford</a:t>
            </a:r>
            <a:endParaRPr sz="2000">
              <a:solidFill>
                <a:srgbClr val="695D4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850"/>
              <a:buFont typeface="Roboto"/>
              <a:buChar char="•"/>
            </a:pPr>
            <a:r>
              <a:rPr lang="en" sz="1850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The AS policy graph is a DAG</a:t>
            </a:r>
            <a:endParaRPr sz="2000">
              <a:solidFill>
                <a:srgbClr val="695D4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850"/>
              <a:buFont typeface="Roboto"/>
              <a:buChar char="•"/>
            </a:pPr>
            <a:r>
              <a:rPr lang="en" sz="1850">
                <a:solidFill>
                  <a:srgbClr val="695D46"/>
                </a:solidFill>
                <a:latin typeface="Roboto"/>
                <a:ea typeface="Roboto"/>
                <a:cs typeface="Roboto"/>
                <a:sym typeface="Roboto"/>
              </a:rPr>
              <a:t>Routes are “valley free”/”single-peaked”</a:t>
            </a:r>
            <a:endParaRPr sz="2000">
              <a:solidFill>
                <a:srgbClr val="695D4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2" name="Google Shape;652;g36aa5aa9355_0_1162"/>
          <p:cNvSpPr/>
          <p:nvPr/>
        </p:nvSpPr>
        <p:spPr>
          <a:xfrm>
            <a:off x="2397861" y="1787174"/>
            <a:ext cx="491700" cy="437100"/>
          </a:xfrm>
          <a:prstGeom prst="ellipse">
            <a:avLst/>
          </a:prstGeom>
          <a:noFill/>
          <a:ln cap="flat" cmpd="sng" w="41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3" name="Google Shape;653;g36aa5aa9355_0_1162"/>
          <p:cNvCxnSpPr/>
          <p:nvPr/>
        </p:nvCxnSpPr>
        <p:spPr>
          <a:xfrm flipH="1">
            <a:off x="2135677" y="2169613"/>
            <a:ext cx="393300" cy="546300"/>
          </a:xfrm>
          <a:prstGeom prst="straightConnector1">
            <a:avLst/>
          </a:prstGeom>
          <a:noFill/>
          <a:ln cap="flat" cmpd="sng" w="25400">
            <a:solidFill>
              <a:srgbClr val="38761D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654" name="Google Shape;654;g36aa5aa9355_0_1162"/>
          <p:cNvSpPr/>
          <p:nvPr/>
        </p:nvSpPr>
        <p:spPr>
          <a:xfrm>
            <a:off x="4248308" y="838183"/>
            <a:ext cx="10830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peers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5" name="Google Shape;655;g36aa5aa9355_0_1162"/>
          <p:cNvCxnSpPr/>
          <p:nvPr/>
        </p:nvCxnSpPr>
        <p:spPr>
          <a:xfrm>
            <a:off x="2660093" y="1186199"/>
            <a:ext cx="0" cy="600900"/>
          </a:xfrm>
          <a:prstGeom prst="straightConnector1">
            <a:avLst/>
          </a:prstGeom>
          <a:noFill/>
          <a:ln cap="flat" cmpd="sng" w="25400">
            <a:solidFill>
              <a:srgbClr val="674EA7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656" name="Google Shape;656;g36aa5aa9355_0_1162"/>
          <p:cNvCxnSpPr/>
          <p:nvPr/>
        </p:nvCxnSpPr>
        <p:spPr>
          <a:xfrm>
            <a:off x="2856766" y="2169613"/>
            <a:ext cx="393300" cy="546300"/>
          </a:xfrm>
          <a:prstGeom prst="straightConnector1">
            <a:avLst/>
          </a:prstGeom>
          <a:noFill/>
          <a:ln cap="flat" cmpd="sng" w="25400">
            <a:solidFill>
              <a:srgbClr val="674EA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57" name="Google Shape;657;g36aa5aa9355_0_1162"/>
          <p:cNvSpPr/>
          <p:nvPr/>
        </p:nvSpPr>
        <p:spPr>
          <a:xfrm>
            <a:off x="6167707" y="780314"/>
            <a:ext cx="1612800" cy="2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providers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g36aa5aa9355_0_1162"/>
          <p:cNvSpPr/>
          <p:nvPr/>
        </p:nvSpPr>
        <p:spPr>
          <a:xfrm>
            <a:off x="1908300" y="838177"/>
            <a:ext cx="1503600" cy="2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customers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9" name="Google Shape;659;g36aa5aa9355_0_1162"/>
          <p:cNvCxnSpPr/>
          <p:nvPr/>
        </p:nvCxnSpPr>
        <p:spPr>
          <a:xfrm rot="10800000">
            <a:off x="2922263" y="2005711"/>
            <a:ext cx="721200" cy="0"/>
          </a:xfrm>
          <a:prstGeom prst="straightConnector1">
            <a:avLst/>
          </a:prstGeom>
          <a:noFill/>
          <a:ln cap="flat" cmpd="sng" w="25400">
            <a:solidFill>
              <a:srgbClr val="674EA7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660" name="Google Shape;660;g36aa5aa9355_0_1162"/>
          <p:cNvSpPr/>
          <p:nvPr/>
        </p:nvSpPr>
        <p:spPr>
          <a:xfrm>
            <a:off x="4561276" y="1787174"/>
            <a:ext cx="491700" cy="437100"/>
          </a:xfrm>
          <a:prstGeom prst="ellipse">
            <a:avLst/>
          </a:prstGeom>
          <a:noFill/>
          <a:ln cap="flat" cmpd="sng" w="41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1" name="Google Shape;661;g36aa5aa9355_0_1162"/>
          <p:cNvCxnSpPr/>
          <p:nvPr/>
        </p:nvCxnSpPr>
        <p:spPr>
          <a:xfrm>
            <a:off x="5020182" y="2005711"/>
            <a:ext cx="655500" cy="0"/>
          </a:xfrm>
          <a:prstGeom prst="straightConnector1">
            <a:avLst/>
          </a:prstGeom>
          <a:noFill/>
          <a:ln cap="flat" cmpd="sng" w="25400">
            <a:solidFill>
              <a:srgbClr val="38761D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662" name="Google Shape;662;g36aa5aa9355_0_1162"/>
          <p:cNvCxnSpPr/>
          <p:nvPr/>
        </p:nvCxnSpPr>
        <p:spPr>
          <a:xfrm>
            <a:off x="4954623" y="2169613"/>
            <a:ext cx="393300" cy="546300"/>
          </a:xfrm>
          <a:prstGeom prst="straightConnector1">
            <a:avLst/>
          </a:prstGeom>
          <a:noFill/>
          <a:ln cap="flat" cmpd="sng" w="25400">
            <a:solidFill>
              <a:srgbClr val="674EA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63" name="Google Shape;663;g36aa5aa9355_0_1162"/>
          <p:cNvCxnSpPr/>
          <p:nvPr/>
        </p:nvCxnSpPr>
        <p:spPr>
          <a:xfrm flipH="1" rot="10800000">
            <a:off x="4233485" y="2169654"/>
            <a:ext cx="393300" cy="546300"/>
          </a:xfrm>
          <a:prstGeom prst="straightConnector1">
            <a:avLst/>
          </a:prstGeom>
          <a:noFill/>
          <a:ln cap="flat" cmpd="sng" w="25400">
            <a:solidFill>
              <a:srgbClr val="674EA7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664" name="Google Shape;664;g36aa5aa9355_0_1162"/>
          <p:cNvSpPr/>
          <p:nvPr/>
        </p:nvSpPr>
        <p:spPr>
          <a:xfrm>
            <a:off x="6659133" y="1787174"/>
            <a:ext cx="491700" cy="437100"/>
          </a:xfrm>
          <a:prstGeom prst="ellipse">
            <a:avLst/>
          </a:prstGeom>
          <a:noFill/>
          <a:ln cap="flat" cmpd="sng" w="41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5" name="Google Shape;665;g36aa5aa9355_0_1162"/>
          <p:cNvCxnSpPr/>
          <p:nvPr/>
        </p:nvCxnSpPr>
        <p:spPr>
          <a:xfrm rot="10800000">
            <a:off x="6921365" y="1131675"/>
            <a:ext cx="0" cy="655500"/>
          </a:xfrm>
          <a:prstGeom prst="straightConnector1">
            <a:avLst/>
          </a:prstGeom>
          <a:noFill/>
          <a:ln cap="flat" cmpd="sng" w="25400">
            <a:solidFill>
              <a:srgbClr val="38761D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666" name="Google Shape;666;g36aa5aa9355_0_1162"/>
          <p:cNvCxnSpPr/>
          <p:nvPr/>
        </p:nvCxnSpPr>
        <p:spPr>
          <a:xfrm>
            <a:off x="7052480" y="2169613"/>
            <a:ext cx="393300" cy="546300"/>
          </a:xfrm>
          <a:prstGeom prst="straightConnector1">
            <a:avLst/>
          </a:prstGeom>
          <a:noFill/>
          <a:ln cap="flat" cmpd="sng" w="25400">
            <a:solidFill>
              <a:srgbClr val="674EA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67" name="Google Shape;667;g36aa5aa9355_0_1162"/>
          <p:cNvCxnSpPr/>
          <p:nvPr/>
        </p:nvCxnSpPr>
        <p:spPr>
          <a:xfrm flipH="1" rot="10800000">
            <a:off x="6331342" y="2169654"/>
            <a:ext cx="393300" cy="546300"/>
          </a:xfrm>
          <a:prstGeom prst="straightConnector1">
            <a:avLst/>
          </a:prstGeom>
          <a:noFill/>
          <a:ln cap="flat" cmpd="sng" w="25400">
            <a:solidFill>
              <a:srgbClr val="674EA7"/>
            </a:solidFill>
            <a:prstDash val="solid"/>
            <a:round/>
            <a:headEnd len="med" w="med" type="triangle"/>
            <a:tailEnd len="sm" w="sm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6aa5aa9355_0_118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Gao-Rexford avoids Policy Oscillation</a:t>
            </a:r>
            <a:endParaRPr/>
          </a:p>
        </p:txBody>
      </p:sp>
      <p:sp>
        <p:nvSpPr>
          <p:cNvPr id="673" name="Google Shape;673;g36aa5aa9355_0_118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Example shown before did not use Gao-Rexford (why?)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1, 2, and 3 are </a:t>
            </a:r>
            <a:r>
              <a:rPr b="1" lang="en" sz="2000"/>
              <a:t>peers</a:t>
            </a:r>
            <a:endParaRPr b="1" sz="2000"/>
          </a:p>
          <a:p>
            <a:pPr indent="-3556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0 is the </a:t>
            </a:r>
            <a:r>
              <a:rPr b="1" lang="en" sz="2000"/>
              <a:t>provider</a:t>
            </a:r>
            <a:r>
              <a:rPr lang="en" sz="2000"/>
              <a:t> to 1, 2, and 3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Peers </a:t>
            </a:r>
            <a:r>
              <a:rPr b="1" lang="en" sz="2000"/>
              <a:t>don’t</a:t>
            </a:r>
            <a:r>
              <a:rPr lang="en" sz="2000"/>
              <a:t> advertise route learned from providers to each other</a:t>
            </a:r>
            <a:endParaRPr sz="2000"/>
          </a:p>
          <a:p>
            <a:pPr indent="-355600" lvl="2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</a:pPr>
            <a:r>
              <a:rPr lang="en" sz="2000"/>
              <a:t>i.e. 1 would never advertise 1-&gt;0 (learned from 1’s provider 0) to 2 (1’s peer)</a:t>
            </a:r>
            <a:endParaRPr sz="2000"/>
          </a:p>
        </p:txBody>
      </p:sp>
      <p:grpSp>
        <p:nvGrpSpPr>
          <p:cNvPr id="674" name="Google Shape;674;g36aa5aa9355_0_1185"/>
          <p:cNvGrpSpPr/>
          <p:nvPr/>
        </p:nvGrpSpPr>
        <p:grpSpPr>
          <a:xfrm>
            <a:off x="1715813" y="2641252"/>
            <a:ext cx="2434748" cy="2213485"/>
            <a:chOff x="2539282" y="1054217"/>
            <a:chExt cx="3906849" cy="3269550"/>
          </a:xfrm>
        </p:grpSpPr>
        <p:grpSp>
          <p:nvGrpSpPr>
            <p:cNvPr id="675" name="Google Shape;675;g36aa5aa9355_0_1185"/>
            <p:cNvGrpSpPr/>
            <p:nvPr/>
          </p:nvGrpSpPr>
          <p:grpSpPr>
            <a:xfrm>
              <a:off x="5554531" y="3512566"/>
              <a:ext cx="891600" cy="811200"/>
              <a:chOff x="6464705" y="3644584"/>
              <a:chExt cx="891600" cy="811200"/>
            </a:xfrm>
          </p:grpSpPr>
          <p:sp>
            <p:nvSpPr>
              <p:cNvPr id="676" name="Google Shape;676;g36aa5aa9355_0_1185"/>
              <p:cNvSpPr/>
              <p:nvPr/>
            </p:nvSpPr>
            <p:spPr>
              <a:xfrm>
                <a:off x="6464705" y="3644584"/>
                <a:ext cx="891600" cy="811200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g36aa5aa9355_0_1185"/>
              <p:cNvSpPr txBox="1"/>
              <p:nvPr/>
            </p:nvSpPr>
            <p:spPr>
              <a:xfrm>
                <a:off x="6692259" y="3856366"/>
                <a:ext cx="43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 b="1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678" name="Google Shape;678;g36aa5aa9355_0_1185"/>
            <p:cNvCxnSpPr/>
            <p:nvPr/>
          </p:nvCxnSpPr>
          <p:spPr>
            <a:xfrm>
              <a:off x="3430822" y="3899884"/>
              <a:ext cx="2123700" cy="0"/>
            </a:xfrm>
            <a:prstGeom prst="straightConnector1">
              <a:avLst/>
            </a:prstGeom>
            <a:noFill/>
            <a:ln cap="flat" cmpd="sng" w="25400">
              <a:solidFill>
                <a:srgbClr val="009668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cxnSp>
          <p:nvCxnSpPr>
            <p:cNvPr id="679" name="Google Shape;679;g36aa5aa9355_0_1185"/>
            <p:cNvCxnSpPr/>
            <p:nvPr/>
          </p:nvCxnSpPr>
          <p:spPr>
            <a:xfrm flipH="1">
              <a:off x="2985087" y="1746697"/>
              <a:ext cx="1222500" cy="1765800"/>
            </a:xfrm>
            <a:prstGeom prst="straightConnector1">
              <a:avLst/>
            </a:prstGeom>
            <a:noFill/>
            <a:ln cap="flat" cmpd="sng" w="25400">
              <a:solidFill>
                <a:srgbClr val="009668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cxnSp>
          <p:nvCxnSpPr>
            <p:cNvPr id="680" name="Google Shape;680;g36aa5aa9355_0_1185"/>
            <p:cNvCxnSpPr/>
            <p:nvPr/>
          </p:nvCxnSpPr>
          <p:spPr>
            <a:xfrm>
              <a:off x="4838001" y="1746697"/>
              <a:ext cx="1162200" cy="1765800"/>
            </a:xfrm>
            <a:prstGeom prst="straightConnector1">
              <a:avLst/>
            </a:prstGeom>
            <a:noFill/>
            <a:ln cap="flat" cmpd="sng" w="25400">
              <a:solidFill>
                <a:srgbClr val="009668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grpSp>
          <p:nvGrpSpPr>
            <p:cNvPr id="681" name="Google Shape;681;g36aa5aa9355_0_1185"/>
            <p:cNvGrpSpPr/>
            <p:nvPr/>
          </p:nvGrpSpPr>
          <p:grpSpPr>
            <a:xfrm>
              <a:off x="4085175" y="2553571"/>
              <a:ext cx="891600" cy="811200"/>
              <a:chOff x="4130895" y="2553571"/>
              <a:chExt cx="891600" cy="811200"/>
            </a:xfrm>
          </p:grpSpPr>
          <p:sp>
            <p:nvSpPr>
              <p:cNvPr id="682" name="Google Shape;682;g36aa5aa9355_0_1185"/>
              <p:cNvSpPr/>
              <p:nvPr/>
            </p:nvSpPr>
            <p:spPr>
              <a:xfrm>
                <a:off x="4130895" y="2553571"/>
                <a:ext cx="891600" cy="811200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" name="Google Shape;683;g36aa5aa9355_0_1185"/>
              <p:cNvSpPr txBox="1"/>
              <p:nvPr/>
            </p:nvSpPr>
            <p:spPr>
              <a:xfrm>
                <a:off x="4377806" y="2774550"/>
                <a:ext cx="43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 b="1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4" name="Google Shape;684;g36aa5aa9355_0_1185"/>
            <p:cNvGrpSpPr/>
            <p:nvPr/>
          </p:nvGrpSpPr>
          <p:grpSpPr>
            <a:xfrm>
              <a:off x="4077024" y="1054217"/>
              <a:ext cx="891600" cy="811200"/>
              <a:chOff x="4077024" y="1054217"/>
              <a:chExt cx="891600" cy="811200"/>
            </a:xfrm>
          </p:grpSpPr>
          <p:sp>
            <p:nvSpPr>
              <p:cNvPr id="685" name="Google Shape;685;g36aa5aa9355_0_1185"/>
              <p:cNvSpPr/>
              <p:nvPr/>
            </p:nvSpPr>
            <p:spPr>
              <a:xfrm>
                <a:off x="4077024" y="1054217"/>
                <a:ext cx="891600" cy="811200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g36aa5aa9355_0_1185"/>
              <p:cNvSpPr txBox="1"/>
              <p:nvPr/>
            </p:nvSpPr>
            <p:spPr>
              <a:xfrm>
                <a:off x="4319494" y="1275197"/>
                <a:ext cx="43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1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7" name="Google Shape;687;g36aa5aa9355_0_1185"/>
            <p:cNvGrpSpPr/>
            <p:nvPr/>
          </p:nvGrpSpPr>
          <p:grpSpPr>
            <a:xfrm>
              <a:off x="2539282" y="3512567"/>
              <a:ext cx="891600" cy="811200"/>
              <a:chOff x="1622041" y="3653715"/>
              <a:chExt cx="891600" cy="811200"/>
            </a:xfrm>
          </p:grpSpPr>
          <p:sp>
            <p:nvSpPr>
              <p:cNvPr id="688" name="Google Shape;688;g36aa5aa9355_0_1185"/>
              <p:cNvSpPr/>
              <p:nvPr/>
            </p:nvSpPr>
            <p:spPr>
              <a:xfrm>
                <a:off x="1622041" y="3653715"/>
                <a:ext cx="891600" cy="811200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g36aa5aa9355_0_1185"/>
              <p:cNvSpPr txBox="1"/>
              <p:nvPr/>
            </p:nvSpPr>
            <p:spPr>
              <a:xfrm>
                <a:off x="1849595" y="3856366"/>
                <a:ext cx="43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b="1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690" name="Google Shape;690;g36aa5aa9355_0_1185"/>
            <p:cNvCxnSpPr/>
            <p:nvPr/>
          </p:nvCxnSpPr>
          <p:spPr>
            <a:xfrm>
              <a:off x="4522794" y="1865508"/>
              <a:ext cx="8100" cy="688200"/>
            </a:xfrm>
            <a:prstGeom prst="straightConnector1">
              <a:avLst/>
            </a:prstGeom>
            <a:noFill/>
            <a:ln cap="flat" cmpd="sng" w="25400">
              <a:solidFill>
                <a:srgbClr val="009668"/>
              </a:solidFill>
              <a:prstDash val="solid"/>
              <a:round/>
              <a:headEnd len="lg" w="lg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cxnSp>
          <p:nvCxnSpPr>
            <p:cNvPr id="691" name="Google Shape;691;g36aa5aa9355_0_1185"/>
            <p:cNvCxnSpPr/>
            <p:nvPr/>
          </p:nvCxnSpPr>
          <p:spPr>
            <a:xfrm>
              <a:off x="4846152" y="3246051"/>
              <a:ext cx="838800" cy="385200"/>
            </a:xfrm>
            <a:prstGeom prst="straightConnector1">
              <a:avLst/>
            </a:prstGeom>
            <a:noFill/>
            <a:ln cap="flat" cmpd="sng" w="25400">
              <a:solidFill>
                <a:srgbClr val="009668"/>
              </a:solidFill>
              <a:prstDash val="solid"/>
              <a:round/>
              <a:headEnd len="sm" w="sm" type="none"/>
              <a:tailEnd len="lg" w="lg" type="triangl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cxnSp>
          <p:nvCxnSpPr>
            <p:cNvPr id="692" name="Google Shape;692;g36aa5aa9355_0_1185"/>
            <p:cNvCxnSpPr/>
            <p:nvPr/>
          </p:nvCxnSpPr>
          <p:spPr>
            <a:xfrm flipH="1" rot="10800000">
              <a:off x="3300259" y="3246178"/>
              <a:ext cx="915600" cy="385200"/>
            </a:xfrm>
            <a:prstGeom prst="straightConnector1">
              <a:avLst/>
            </a:prstGeom>
            <a:noFill/>
            <a:ln cap="flat" cmpd="sng" w="25400">
              <a:solidFill>
                <a:srgbClr val="009668"/>
              </a:solidFill>
              <a:prstDash val="solid"/>
              <a:round/>
              <a:headEnd len="lg" w="lg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</p:grpSp>
      <p:graphicFrame>
        <p:nvGraphicFramePr>
          <p:cNvPr id="693" name="Google Shape;693;g36aa5aa9355_0_1185"/>
          <p:cNvGraphicFramePr/>
          <p:nvPr/>
        </p:nvGraphicFramePr>
        <p:xfrm>
          <a:off x="4446070" y="32108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{06D1F83A-98AF-45E6-BA8B-4BE50BCD673F}</a:tableStyleId>
              </a:tblPr>
              <a:tblGrid>
                <a:gridCol w="1480950"/>
                <a:gridCol w="1480950"/>
              </a:tblGrid>
              <a:tr h="547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</a:rPr>
                        <a:t>Destination prefix advertised by…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</a:rPr>
                        <a:t>Export route to…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342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Peer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Customers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6aa5aa9355_0_1116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True/False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"/>
              <a:buChar char="•"/>
            </a:pPr>
            <a:r>
              <a:rPr b="1" lang="en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Interdomain vs Intradomain</a:t>
            </a:r>
            <a:endParaRPr b="1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"/>
              <a:buChar char="•"/>
            </a:pPr>
            <a:r>
              <a:rPr b="1" lang="en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BGP</a:t>
            </a:r>
            <a:endParaRPr b="1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9" name="Google Shape;699;g36aa5aa9355_0_1116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Worksheet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6e5b7558ae_0_1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Question 1: True/False</a:t>
            </a:r>
            <a:endParaRPr/>
          </a:p>
        </p:txBody>
      </p:sp>
      <p:pic>
        <p:nvPicPr>
          <p:cNvPr id="705" name="Google Shape;705;g36e5b7558ae_0_10" title="Screenshot 2025-07-09 at 8.41.33 AM.png"/>
          <p:cNvPicPr preferRelativeResize="0"/>
          <p:nvPr/>
        </p:nvPicPr>
        <p:blipFill rotWithShape="1">
          <a:blip r:embed="rId3">
            <a:alphaModFix/>
          </a:blip>
          <a:srcRect b="0" l="0" r="0" t="2987"/>
          <a:stretch/>
        </p:blipFill>
        <p:spPr>
          <a:xfrm>
            <a:off x="0" y="642225"/>
            <a:ext cx="9144001" cy="362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6" name="Google Shape;706;g36e5b7558ae_0_10" title="Screenshot 2025-07-09 at 8.41.53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000" y="982975"/>
            <a:ext cx="8242350" cy="56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g36e5b7558ae_0_10" title="Screenshot 2025-07-09 at 8.41.53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000" y="2052850"/>
            <a:ext cx="8242350" cy="56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g36e5b7558ae_0_10" title="Screenshot 2025-07-09 at 8.41.53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000" y="2954500"/>
            <a:ext cx="8242350" cy="56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g36e5b7558ae_0_10" title="Screenshot 2025-07-09 at 8.41.53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225" y="3856150"/>
            <a:ext cx="8242350" cy="56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6e5b7558ae_0_0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"/>
              <a:buChar char="•"/>
            </a:pPr>
            <a:r>
              <a:rPr b="1" lang="en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True/False</a:t>
            </a:r>
            <a:endParaRPr b="1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Interdomain vs Intradomain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"/>
              <a:buChar char="•"/>
            </a:pPr>
            <a:r>
              <a:rPr b="1" lang="en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BGP</a:t>
            </a:r>
            <a:endParaRPr b="1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5" name="Google Shape;715;g36e5b7558ae_0_0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Worksheet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0" name="Google Shape;720;g36e5b7558ae_0_41" title="Screenshot 2025-07-09 at 8.43.2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7450" y="1409350"/>
            <a:ext cx="3886650" cy="2436407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g36e5b7558ae_0_4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Question 2: Interdomain vs Intradomain</a:t>
            </a:r>
            <a:endParaRPr/>
          </a:p>
        </p:txBody>
      </p:sp>
      <p:pic>
        <p:nvPicPr>
          <p:cNvPr id="722" name="Google Shape;722;g36e5b7558ae_0_41" title="Screenshot 2025-07-09 at 8.41.53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4600" y="1679675"/>
            <a:ext cx="3679500" cy="18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3" name="Google Shape;723;g36e5b7558ae_0_41" title="Screenshot 2025-07-09 at 8.41.53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4600" y="2167725"/>
            <a:ext cx="3553949" cy="18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4" name="Google Shape;724;g36e5b7558ae_0_41" title="Screenshot 2025-07-09 at 8.41.53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3625" y="2503675"/>
            <a:ext cx="3830500" cy="13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g36e5b7558ae_0_41" title="Screenshot 2025-07-09 at 8.41.53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6050" y="3119675"/>
            <a:ext cx="3728076" cy="13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6" name="Google Shape;726;g36e5b7558ae_0_41" title="Screenshot 2025-07-09 at 8.42.30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225" y="1014200"/>
            <a:ext cx="4779601" cy="281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7" name="Google Shape;727;g36e5b7558ae_0_41" title="Screenshot 2025-07-09 at 8.43.01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0075" y="3735700"/>
            <a:ext cx="4762475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8" name="Google Shape;728;g36e5b7558ae_0_41" title="Screenshot 2025-07-09 at 8.41.53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6050" y="3689575"/>
            <a:ext cx="3728076" cy="13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6e5b7558ae_0_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"/>
              <a:buChar char="•"/>
            </a:pPr>
            <a:r>
              <a:rPr b="1" lang="en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True/False</a:t>
            </a:r>
            <a:endParaRPr b="1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"/>
              <a:buChar char="•"/>
            </a:pPr>
            <a:r>
              <a:rPr b="1" lang="en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Interdomain vs Intradomain</a:t>
            </a:r>
            <a:endParaRPr b="1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BGP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4" name="Google Shape;734;g36e5b7558ae_0_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Worksheet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g36e5b7558ae_0_54" title="Screenshot 2025-07-09 at 8.46.23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9275" y="1703101"/>
            <a:ext cx="4431251" cy="1648999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g36e5b7558ae_0_5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Question 3: BGP</a:t>
            </a:r>
            <a:endParaRPr/>
          </a:p>
        </p:txBody>
      </p:sp>
      <p:pic>
        <p:nvPicPr>
          <p:cNvPr id="741" name="Google Shape;741;g36e5b7558ae_0_54" title="Screenshot 2025-07-09 at 8.41.53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4050" y="2055275"/>
            <a:ext cx="3679500" cy="18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" name="Google Shape;742;g36e5b7558ae_0_54" title="Screenshot 2025-07-09 at 8.41.53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6825" y="2575925"/>
            <a:ext cx="3990699" cy="326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3" name="Google Shape;743;g36e5b7558ae_0_54" title="Screenshot 2025-07-09 at 8.41.53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4050" y="3128225"/>
            <a:ext cx="3830500" cy="13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g36e5b7558ae_0_54" title="Screenshot 2025-07-09 at 8.45.40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0337" y="1030425"/>
            <a:ext cx="3990676" cy="223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5" name="Google Shape;745;g36e5b7558ae_0_54" title="Screenshot 2025-07-09 at 8.45.49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0330" y="3467775"/>
            <a:ext cx="4208951" cy="90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0" name="Google Shape;750;g36e5b7558ae_0_69" title="Screenshot 2025-07-09 at 8.47.3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7025" y="2016035"/>
            <a:ext cx="4602774" cy="1290175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g36e5b7558ae_0_6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Question 3: BGP</a:t>
            </a:r>
            <a:endParaRPr/>
          </a:p>
        </p:txBody>
      </p:sp>
      <p:pic>
        <p:nvPicPr>
          <p:cNvPr id="752" name="Google Shape;752;g36e5b7558ae_0_69" title="Screenshot 2025-07-09 at 8.41.53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5175" y="2016025"/>
            <a:ext cx="3679500" cy="18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g36e5b7558ae_0_69" title="Screenshot 2025-07-09 at 8.41.53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3050" y="2498000"/>
            <a:ext cx="3990699" cy="13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4" name="Google Shape;754;g36e5b7558ae_0_69" title="Screenshot 2025-07-09 at 8.41.53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3050" y="3121950"/>
            <a:ext cx="4114476" cy="18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5" name="Google Shape;755;g36e5b7558ae_0_69" title="Screenshot 2025-07-09 at 8.47.05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2550" y="1239288"/>
            <a:ext cx="4114474" cy="2664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56" name="Google Shape;756;g36e5b7558ae_0_69" title="Screenshot 2025-07-09 at 8.47.26 AM.png"/>
          <p:cNvPicPr preferRelativeResize="0"/>
          <p:nvPr/>
        </p:nvPicPr>
        <p:blipFill rotWithShape="1">
          <a:blip r:embed="rId6">
            <a:alphaModFix/>
          </a:blip>
          <a:srcRect b="24919" l="0" r="0" t="0"/>
          <a:stretch/>
        </p:blipFill>
        <p:spPr>
          <a:xfrm>
            <a:off x="4247025" y="1837276"/>
            <a:ext cx="4744576" cy="18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6a8da6ef7b_1_192"/>
          <p:cNvSpPr txBox="1"/>
          <p:nvPr>
            <p:ph type="title"/>
          </p:nvPr>
        </p:nvSpPr>
        <p:spPr>
          <a:xfrm>
            <a:off x="645900" y="155175"/>
            <a:ext cx="78522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762" name="Google Shape;762;g36a8da6ef7b_1_192"/>
          <p:cNvSpPr txBox="1"/>
          <p:nvPr/>
        </p:nvSpPr>
        <p:spPr>
          <a:xfrm>
            <a:off x="1971825" y="1134400"/>
            <a:ext cx="52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Feedback Form: </a:t>
            </a:r>
            <a:r>
              <a:rPr b="0" i="1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https://tinyurl.com/cs168-su25-disc-feedback</a:t>
            </a:r>
            <a:endParaRPr b="0" i="1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63" name="Google Shape;763;g36a8da6ef7b_1_192" title="Screenshot 2025-06-23 at 10.48.58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8025" y="1652825"/>
            <a:ext cx="2647950" cy="264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