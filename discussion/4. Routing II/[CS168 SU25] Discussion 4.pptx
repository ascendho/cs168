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5143500" cx="9144000"/>
  <p:notesSz cx="6858000" cy="9144000"/>
  <p:embeddedFontLst>
    <p:embeddedFont>
      <p:font typeface="Roboto Medium"/>
      <p:regular r:id="rId32"/>
      <p:bold r:id="rId33"/>
      <p:italic r:id="rId34"/>
      <p:boldItalic r:id="rId35"/>
    </p:embeddedFont>
    <p:embeddedFont>
      <p:font typeface="Roboto"/>
      <p:regular r:id="rId36"/>
      <p:bold r:id="rId37"/>
      <p:italic r:id="rId38"/>
      <p:boldItalic r:id="rId39"/>
    </p:embeddedFont>
    <p:embeddedFont>
      <p:font typeface="PT Sans Narrow"/>
      <p:regular r:id="rId40"/>
      <p:bold r:id="rId41"/>
    </p:embeddedFont>
    <p:embeddedFont>
      <p:font typeface="Average"/>
      <p:regular r:id="rId42"/>
    </p:embeddedFont>
    <p:embeddedFont>
      <p:font typeface="Roboto Light"/>
      <p:regular r:id="rId43"/>
      <p:bold r:id="rId44"/>
      <p:italic r:id="rId45"/>
      <p:boldItalic r:id="rId46"/>
    </p:embeddedFont>
    <p:embeddedFont>
      <p:font typeface="Francois One"/>
      <p:regular r:id="rId47"/>
    </p:embeddedFont>
    <p:embeddedFont>
      <p:font typeface="Helvetica Neue"/>
      <p:regular r:id="rId48"/>
      <p:bold r:id="rId49"/>
      <p:italic r:id="rId50"/>
      <p:boldItalic r:id="rId51"/>
    </p:embeddedFont>
    <p:embeddedFont>
      <p:font typeface="Roboto Mono"/>
      <p:regular r:id="rId52"/>
      <p:bold r:id="rId53"/>
      <p:italic r:id="rId54"/>
      <p:boldItalic r:id="rId55"/>
    </p:embeddedFont>
    <p:embeddedFont>
      <p:font typeface="Open Sans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0" roundtripDataSignature="AMtx7mjmhzw/nuf8Vy5OQlUkHX4px837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TSansNarrow-regular.fntdata"/><Relationship Id="rId42" Type="http://schemas.openxmlformats.org/officeDocument/2006/relationships/font" Target="fonts/Average-regular.fntdata"/><Relationship Id="rId41" Type="http://schemas.openxmlformats.org/officeDocument/2006/relationships/font" Target="fonts/PTSansNarrow-bold.fntdata"/><Relationship Id="rId44" Type="http://schemas.openxmlformats.org/officeDocument/2006/relationships/font" Target="fonts/RobotoLight-bold.fntdata"/><Relationship Id="rId43" Type="http://schemas.openxmlformats.org/officeDocument/2006/relationships/font" Target="fonts/RobotoLight-regular.fntdata"/><Relationship Id="rId46" Type="http://schemas.openxmlformats.org/officeDocument/2006/relationships/font" Target="fonts/RobotoLight-boldItalic.fntdata"/><Relationship Id="rId45" Type="http://schemas.openxmlformats.org/officeDocument/2006/relationships/font" Target="fonts/RobotoLigh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HelveticaNeue-regular.fntdata"/><Relationship Id="rId47" Type="http://schemas.openxmlformats.org/officeDocument/2006/relationships/font" Target="fonts/FrancoisOne-regular.fntdata"/><Relationship Id="rId49" Type="http://schemas.openxmlformats.org/officeDocument/2006/relationships/font" Target="fonts/HelveticaNeue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font" Target="fonts/RobotoMedium-bold.fntdata"/><Relationship Id="rId32" Type="http://schemas.openxmlformats.org/officeDocument/2006/relationships/font" Target="fonts/RobotoMedium-regular.fntdata"/><Relationship Id="rId35" Type="http://schemas.openxmlformats.org/officeDocument/2006/relationships/font" Target="fonts/RobotoMedium-boldItalic.fntdata"/><Relationship Id="rId34" Type="http://schemas.openxmlformats.org/officeDocument/2006/relationships/font" Target="fonts/RobotoMedium-italic.fntdata"/><Relationship Id="rId37" Type="http://schemas.openxmlformats.org/officeDocument/2006/relationships/font" Target="fonts/Roboto-bold.fntdata"/><Relationship Id="rId36" Type="http://schemas.openxmlformats.org/officeDocument/2006/relationships/font" Target="fonts/Roboto-regular.fntdata"/><Relationship Id="rId39" Type="http://schemas.openxmlformats.org/officeDocument/2006/relationships/font" Target="fonts/Roboto-boldItalic.fntdata"/><Relationship Id="rId38" Type="http://schemas.openxmlformats.org/officeDocument/2006/relationships/font" Target="fonts/Roboto-italic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customschemas.google.com/relationships/presentationmetadata" Target="metadata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HelveticaNeue-boldItalic.fntdata"/><Relationship Id="rId50" Type="http://schemas.openxmlformats.org/officeDocument/2006/relationships/font" Target="fonts/HelveticaNeue-italic.fntdata"/><Relationship Id="rId53" Type="http://schemas.openxmlformats.org/officeDocument/2006/relationships/font" Target="fonts/RobotoMono-bold.fntdata"/><Relationship Id="rId52" Type="http://schemas.openxmlformats.org/officeDocument/2006/relationships/font" Target="fonts/RobotoMono-regular.fntdata"/><Relationship Id="rId11" Type="http://schemas.openxmlformats.org/officeDocument/2006/relationships/slide" Target="slides/slide7.xml"/><Relationship Id="rId55" Type="http://schemas.openxmlformats.org/officeDocument/2006/relationships/font" Target="fonts/RobotoMono-boldItalic.fntdata"/><Relationship Id="rId10" Type="http://schemas.openxmlformats.org/officeDocument/2006/relationships/slide" Target="slides/slide6.xml"/><Relationship Id="rId54" Type="http://schemas.openxmlformats.org/officeDocument/2006/relationships/font" Target="fonts/RobotoMono-italic.fntdata"/><Relationship Id="rId13" Type="http://schemas.openxmlformats.org/officeDocument/2006/relationships/slide" Target="slides/slide9.xml"/><Relationship Id="rId57" Type="http://schemas.openxmlformats.org/officeDocument/2006/relationships/font" Target="fonts/OpenSans-bold.fntdata"/><Relationship Id="rId12" Type="http://schemas.openxmlformats.org/officeDocument/2006/relationships/slide" Target="slides/slide8.xml"/><Relationship Id="rId56" Type="http://schemas.openxmlformats.org/officeDocument/2006/relationships/font" Target="fonts/OpenSans-regular.fntdata"/><Relationship Id="rId15" Type="http://schemas.openxmlformats.org/officeDocument/2006/relationships/slide" Target="slides/slide11.xml"/><Relationship Id="rId59" Type="http://schemas.openxmlformats.org/officeDocument/2006/relationships/font" Target="fonts/OpenSans-boldItalic.fntdata"/><Relationship Id="rId14" Type="http://schemas.openxmlformats.org/officeDocument/2006/relationships/slide" Target="slides/slide10.xml"/><Relationship Id="rId58" Type="http://schemas.openxmlformats.org/officeDocument/2006/relationships/font" Target="fonts/OpenSans-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tools.ietf.org/html/rfc1519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tools.ietf.org/html/rfc1519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a8c14dc2e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6a8c14dc2e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Slides template credit: Josh Hug, Lisa Yan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a8da6ef7b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6a8da6ef7b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DV good for small environment; need LS for enterprise scale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6a8c14dc2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6a8c14dc2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6a8c14dc2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6a8c14dc2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flooding = quickly send updates to all other nodes in the network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6a8c14dc2e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6a8c14dc2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Every router in the topology: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○ Gets the state of all links and the location of all destinations.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■ Need some way to distribute this graph!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○ Uses that information to build a full graph.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■ Glue together all link/destination information received.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○ Finds paths from itself to every destination on the graph.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■ Run some algorithm over the graph.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○ Uses the next-hop (adjacent router) in those paths to populate the forwarding table.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6a8c14dc2e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6a8c14dc2e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compare/contrast: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DV: global computation (distributed across all nodes) using local data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LS: local computation using global data/view (state of every link in network; own view of world, not just neighbors)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What is “global data”?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○ The state of every link in the network.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○ Is it up or down?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○ What is its cost?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6a8c14dc2e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36a8c14dc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6a8c14dc2e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g36a8c14dc2e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-how to recognize? (MAC address for L2, IP address for L3)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6a8c14dc2e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6a8c14dc2e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-how to recognize? (MAC address for L2, IP address for L3)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6a8c14dc2e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6a8c14dc2e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6a8c14dc2e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6a8c14dc2e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-deprecated since the publication of 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"/>
              </a:rPr>
              <a:t>RFC 1519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in 1993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-Class A far too big for most organizations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-Class C far too small for many organizations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-Class B is best option for many (still too big for many organizations and not that many of them)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6a8c14dc2e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g36a8c14dc2e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-deprecated since the publication of 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"/>
              </a:rPr>
              <a:t>RFC 1519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in 1993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-Class A far too big for most organizations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-Class C far too small for many organizations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-Class B is best option for many (still too big for many organizations and not that many of them)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6a8c14dc2e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g36a8c14dc2e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-make the number of fixed bits arbitrary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-allows more granular assignment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-how much wasted address space could there be? (50%)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6a8c14dc2e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g36a8c14dc2e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-This is more or less aggregation: multiple network addresses (5.6.7.*) being routed to the same output port, so aggregate them into a common entry (5.6.7.0/24)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-a shared prefix (makes table less cluttered)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627d5ac24e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g3627d5ac2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6be4247ad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g36be4247ad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6be4247ada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g36be4247a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6be4247ad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g36be4247ad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6be4247ada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g36be4247ada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6be4247ada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g36be4247ada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6be4247ada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g36be4247ada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6be4247ada_0_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g36be4247ad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6be4247ada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g36be4247ada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6be4247ada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g36be4247ada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6be4247ada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g36be4247ada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6a8da6ef7b_1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g36a8da6ef7b_1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1" name="Google Shape;11;p55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2" name="Google Shape;12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8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58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6" name="Google Shape;16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" name="Google Shape;17;p58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" name="Google Shape;21;p57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22" name="Google Shape;22;p5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3" name="Google Shape;23;p57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5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8" name="Google Shape;28;p59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3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28f2d3a351_0_56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9pPr>
          </a:lstStyle>
          <a:p/>
        </p:txBody>
      </p:sp>
      <p:sp>
        <p:nvSpPr>
          <p:cNvPr id="31" name="Google Shape;31;g328f2d3a351_0_5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6C00"/>
              </a:buClr>
              <a:buSzPts val="4400"/>
              <a:buFont typeface="PT Sans Narrow"/>
              <a:buNone/>
              <a:defRPr b="1" i="0" sz="4400" u="none" cap="none" strike="noStrike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4" name="Google Shape;34;p56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95D46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5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5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8" name="Google Shape;38;p56"/>
          <p:cNvCxnSpPr/>
          <p:nvPr/>
        </p:nvCxnSpPr>
        <p:spPr>
          <a:xfrm>
            <a:off x="0" y="5118865"/>
            <a:ext cx="9144000" cy="0"/>
          </a:xfrm>
          <a:prstGeom prst="straightConnector1">
            <a:avLst/>
          </a:prstGeom>
          <a:noFill/>
          <a:ln cap="flat" cmpd="sng" w="1270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862"/>
              </a:srgbClr>
            </a:outerShdw>
          </a:effectLst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0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3600"/>
              <a:buFont typeface="Francois One"/>
              <a:buNone/>
              <a:defRPr b="0" i="0" sz="3600" u="none" cap="none" strike="noStrike">
                <a:solidFill>
                  <a:srgbClr val="0C343D"/>
                </a:solidFill>
                <a:latin typeface="Francois One"/>
                <a:ea typeface="Francois One"/>
                <a:cs typeface="Francois One"/>
                <a:sym typeface="Francois One"/>
              </a:defRPr>
            </a:lvl9pPr>
          </a:lstStyle>
          <a:p/>
        </p:txBody>
      </p:sp>
      <p:sp>
        <p:nvSpPr>
          <p:cNvPr id="41" name="Google Shape;41;p6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4" name="Google Shape;44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" name="Google Shape;45;p61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62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62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i="0" sz="2500" u="none" cap="none" strike="noStrike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Google Shape;51;p62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2" name="Google Shape;52;p6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3" name="Google Shape;53;p62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3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63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7" name="Google Shape;57;p63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i="0" sz="2500" u="none" cap="none" strike="noStrike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63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9" name="Google Shape;59;p63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0" name="Google Shape;60;p63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1" name="Google Shape;61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4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64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6" name="Google Shape;66;p64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7" name="Google Shape;67;p64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8" name="Google Shape;68;p64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9" name="Google Shape;69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64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i="0" sz="2500" u="none" cap="none" strike="noStrike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5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65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5" name="Google Shape;75;p65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i="0" sz="2500" u="none" cap="none" strike="noStrike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65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7" name="Google Shape;77;p65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8" name="Google Shape;78;p65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9" name="Google Shape;79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6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6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66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i="0" sz="2500" u="none" cap="none" strike="noStrike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66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86" name="Google Shape;86;p66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87" name="Google Shape;87;p66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8" name="Google Shape;88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67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93" name="Google Shape;93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4" name="Google Shape;94;p67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67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8" name="Google Shape;98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2" name="Google Shape;102;p6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3" name="Google Shape;103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69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70"/>
          <p:cNvSpPr txBox="1"/>
          <p:nvPr>
            <p:ph type="title"/>
          </p:nvPr>
        </p:nvSpPr>
        <p:spPr>
          <a:xfrm>
            <a:off x="95425" y="4288400"/>
            <a:ext cx="86589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None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108" name="Google Shape;108;p70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3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" name="Google Shape;116;p73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17" name="Google Shape;117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73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19" name="Google Shape;119;p73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73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4" name="Google Shape;124;p7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5" name="Google Shape;125;p7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5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75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75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75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3" name="Google Shape;133;p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6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76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76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76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0" name="Google Shape;140;p76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41" name="Google Shape;141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4" name="Google Shape;144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78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78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78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b="0" i="0" sz="1600" u="none" cap="none" strike="noStrike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b="0" i="0" sz="2800" u="none" cap="none" strike="noStrike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b="0" i="0" sz="2800" u="none" cap="none" strike="noStrike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b="0" i="0" sz="2800" u="none" cap="none" strike="noStrike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b="0" i="0" sz="2800" u="none" cap="none" strike="noStrike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b="0" i="0" sz="2800" u="none" cap="none" strike="noStrike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b="0" i="0" sz="2800" u="none" cap="none" strike="noStrike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b="0" i="0" sz="2800" u="none" cap="none" strike="noStrike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b="0" i="0" sz="2800" u="none" cap="none" strike="noStrike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54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forms/d/e/1FAIpQLSetVJYeD27oYzMJDtb8BNsUSTYbNLUjvIRfT1RBQJW3zT6wlg/viewform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Relationship Id="rId5" Type="http://schemas.openxmlformats.org/officeDocument/2006/relationships/image" Target="../media/image20.png"/><Relationship Id="rId6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5.png"/><Relationship Id="rId6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Relationship Id="rId5" Type="http://schemas.openxmlformats.org/officeDocument/2006/relationships/image" Target="../media/image19.png"/><Relationship Id="rId6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Relationship Id="rId5" Type="http://schemas.openxmlformats.org/officeDocument/2006/relationships/image" Target="../media/image19.png"/><Relationship Id="rId6" Type="http://schemas.openxmlformats.org/officeDocument/2006/relationships/image" Target="../media/image1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a8c14dc2e_0_4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6" name="Google Shape;156;g36a8c14dc2e_0_401"/>
          <p:cNvSpPr txBox="1"/>
          <p:nvPr/>
        </p:nvSpPr>
        <p:spPr>
          <a:xfrm>
            <a:off x="311700" y="3854350"/>
            <a:ext cx="8520600" cy="8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CS 168, Summer 2025 @ UC Berkeley</a:t>
            </a:r>
            <a:endParaRPr b="0" i="0" sz="1600" u="none" cap="none" strike="noStrik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Slides credit: Sylvia Ratnasamy, Rob Shakir, Peyrin Kao, Iuniana Oprescu</a:t>
            </a:r>
            <a:endParaRPr b="0" i="0" sz="16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57" name="Google Shape;157;g36a8c14dc2e_0_401"/>
          <p:cNvSpPr txBox="1"/>
          <p:nvPr/>
        </p:nvSpPr>
        <p:spPr>
          <a:xfrm>
            <a:off x="311700" y="1658975"/>
            <a:ext cx="8709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solidFill>
                  <a:schemeClr val="accent3"/>
                </a:solidFill>
                <a:latin typeface="Roboto Medium"/>
                <a:ea typeface="Roboto Medium"/>
                <a:cs typeface="Roboto Medium"/>
                <a:sym typeface="Roboto Medium"/>
              </a:rPr>
              <a:t>Routing II</a:t>
            </a:r>
            <a:r>
              <a:rPr b="0" i="0" lang="en" sz="3600" u="none" cap="none" strike="noStrike">
                <a:solidFill>
                  <a:schemeClr val="accent3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en" sz="4800">
                <a:solidFill>
                  <a:schemeClr val="accent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📩</a:t>
            </a:r>
            <a:endParaRPr b="0" i="0" sz="4800" u="none" cap="none" strike="noStrike">
              <a:solidFill>
                <a:srgbClr val="0B5394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8" name="Google Shape;158;g36a8c14dc2e_0_401"/>
          <p:cNvSpPr txBox="1"/>
          <p:nvPr>
            <p:ph idx="1" type="subTitle"/>
          </p:nvPr>
        </p:nvSpPr>
        <p:spPr>
          <a:xfrm>
            <a:off x="311700" y="2571750"/>
            <a:ext cx="85206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"/>
              <a:t>Discussion 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6a8da6ef7b_1_4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Logistics</a:t>
            </a:r>
            <a:endParaRPr/>
          </a:p>
        </p:txBody>
      </p:sp>
      <p:sp>
        <p:nvSpPr>
          <p:cNvPr id="164" name="Google Shape;164;g36a8da6ef7b_1_41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Project 1B: Basic Traceroute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venir"/>
              <a:buChar char="○"/>
            </a:pPr>
            <a:r>
              <a:rPr lang="en" sz="2000"/>
              <a:t>Deadline: </a:t>
            </a:r>
            <a:r>
              <a:rPr b="1" lang="en" sz="2000"/>
              <a:t>Thursday, July 3rd </a:t>
            </a:r>
            <a:r>
              <a:rPr b="1" i="1" lang="en" sz="2000"/>
              <a:t>(</a:t>
            </a:r>
            <a:r>
              <a:rPr i="1" lang="en" sz="2000"/>
              <a:t>you can still file an </a:t>
            </a:r>
            <a:r>
              <a:rPr i="1" lang="en" sz="2000" u="sng">
                <a:solidFill>
                  <a:schemeClr val="hlink"/>
                </a:solidFill>
                <a:hlinkClick r:id="rId3"/>
              </a:rPr>
              <a:t>extension</a:t>
            </a:r>
            <a:r>
              <a:rPr i="1" lang="en" sz="2000"/>
              <a:t>!)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Project 2: Routing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Deadline: </a:t>
            </a:r>
            <a:r>
              <a:rPr b="1" lang="en" sz="2000"/>
              <a:t>Thursday, July 10th</a:t>
            </a:r>
            <a:endParaRPr b="1" sz="2000"/>
          </a:p>
          <a:p>
            <a:pPr indent="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Midterm on July 22nd, 7-9pm (put it in your calendar)!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Link-State Routing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"/>
              <a:buChar char="•"/>
            </a:pPr>
            <a:r>
              <a:rPr lang="en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IP </a:t>
            </a:r>
            <a:r>
              <a:rPr lang="en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Addressing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170" name="Google Shape;170;p3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Routing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6a8c14dc2e_0_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Link State Routing</a:t>
            </a:r>
            <a:endParaRPr/>
          </a:p>
        </p:txBody>
      </p:sp>
      <p:sp>
        <p:nvSpPr>
          <p:cNvPr id="176" name="Google Shape;176;g36a8c14dc2e_0_5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Each router knows its own local “link state”: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State of each link to its neighbor (up/down)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Associated costs</a:t>
            </a:r>
            <a:endParaRPr/>
          </a:p>
        </p:txBody>
      </p:sp>
      <p:cxnSp>
        <p:nvCxnSpPr>
          <p:cNvPr id="177" name="Google Shape;177;g36a8c14dc2e_0_5"/>
          <p:cNvCxnSpPr/>
          <p:nvPr/>
        </p:nvCxnSpPr>
        <p:spPr>
          <a:xfrm flipH="1" rot="10800000">
            <a:off x="3437107" y="2976893"/>
            <a:ext cx="1113600" cy="12627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0"/>
              </a:srgbClr>
            </a:outerShdw>
          </a:effectLst>
        </p:spPr>
      </p:cxnSp>
      <p:cxnSp>
        <p:nvCxnSpPr>
          <p:cNvPr id="178" name="Google Shape;178;g36a8c14dc2e_0_5"/>
          <p:cNvCxnSpPr/>
          <p:nvPr/>
        </p:nvCxnSpPr>
        <p:spPr>
          <a:xfrm rot="10800000">
            <a:off x="4550591" y="2976893"/>
            <a:ext cx="1113600" cy="12627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0"/>
              </a:srgbClr>
            </a:outerShdw>
          </a:effectLst>
        </p:spPr>
      </p:cxnSp>
      <p:cxnSp>
        <p:nvCxnSpPr>
          <p:cNvPr id="179" name="Google Shape;179;g36a8c14dc2e_0_5"/>
          <p:cNvCxnSpPr/>
          <p:nvPr/>
        </p:nvCxnSpPr>
        <p:spPr>
          <a:xfrm>
            <a:off x="3437107" y="4239593"/>
            <a:ext cx="22272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0"/>
              </a:srgbClr>
            </a:outerShdw>
          </a:effectLst>
        </p:spPr>
      </p:cxnSp>
      <p:cxnSp>
        <p:nvCxnSpPr>
          <p:cNvPr id="180" name="Google Shape;180;g36a8c14dc2e_0_5"/>
          <p:cNvCxnSpPr/>
          <p:nvPr/>
        </p:nvCxnSpPr>
        <p:spPr>
          <a:xfrm flipH="1" rot="10800000">
            <a:off x="2488881" y="4239449"/>
            <a:ext cx="948300" cy="3357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0"/>
              </a:srgbClr>
            </a:outerShdw>
          </a:effectLst>
        </p:spPr>
      </p:cxnSp>
      <p:cxnSp>
        <p:nvCxnSpPr>
          <p:cNvPr id="181" name="Google Shape;181;g36a8c14dc2e_0_5"/>
          <p:cNvCxnSpPr/>
          <p:nvPr/>
        </p:nvCxnSpPr>
        <p:spPr>
          <a:xfrm>
            <a:off x="4569616" y="2252154"/>
            <a:ext cx="0" cy="6756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0"/>
              </a:srgbClr>
            </a:outerShdw>
          </a:effectLst>
        </p:spPr>
      </p:cxnSp>
      <p:cxnSp>
        <p:nvCxnSpPr>
          <p:cNvPr id="182" name="Google Shape;182;g36a8c14dc2e_0_5"/>
          <p:cNvCxnSpPr/>
          <p:nvPr/>
        </p:nvCxnSpPr>
        <p:spPr>
          <a:xfrm rot="10800000">
            <a:off x="5647726" y="4239275"/>
            <a:ext cx="967500" cy="3849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0"/>
              </a:srgbClr>
            </a:outerShdw>
          </a:effectLst>
        </p:spPr>
      </p:cxnSp>
      <p:sp>
        <p:nvSpPr>
          <p:cNvPr id="183" name="Google Shape;183;g36a8c14dc2e_0_5"/>
          <p:cNvSpPr txBox="1"/>
          <p:nvPr/>
        </p:nvSpPr>
        <p:spPr>
          <a:xfrm>
            <a:off x="5129001" y="3093111"/>
            <a:ext cx="393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6a8c14dc2e_0_5"/>
          <p:cNvSpPr txBox="1"/>
          <p:nvPr/>
        </p:nvSpPr>
        <p:spPr>
          <a:xfrm>
            <a:off x="4354121" y="4206668"/>
            <a:ext cx="393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6a8c14dc2e_0_5"/>
          <p:cNvSpPr txBox="1"/>
          <p:nvPr/>
        </p:nvSpPr>
        <p:spPr>
          <a:xfrm>
            <a:off x="3607494" y="3081577"/>
            <a:ext cx="393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6a8c14dc2e_0_5"/>
          <p:cNvSpPr/>
          <p:nvPr/>
        </p:nvSpPr>
        <p:spPr>
          <a:xfrm>
            <a:off x="4375500" y="1894975"/>
            <a:ext cx="3930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g36a8c14dc2e_0_5"/>
          <p:cNvSpPr/>
          <p:nvPr/>
        </p:nvSpPr>
        <p:spPr>
          <a:xfrm>
            <a:off x="2095875" y="4397775"/>
            <a:ext cx="3930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8" name="Google Shape;188;g36a8c14dc2e_0_5"/>
          <p:cNvSpPr/>
          <p:nvPr/>
        </p:nvSpPr>
        <p:spPr>
          <a:xfrm>
            <a:off x="6612375" y="4482250"/>
            <a:ext cx="3930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g36a8c14dc2e_0_5"/>
          <p:cNvSpPr/>
          <p:nvPr/>
        </p:nvSpPr>
        <p:spPr>
          <a:xfrm>
            <a:off x="4396900" y="2788350"/>
            <a:ext cx="335700" cy="335700"/>
          </a:xfrm>
          <a:prstGeom prst="rect">
            <a:avLst/>
          </a:prstGeom>
          <a:solidFill>
            <a:srgbClr val="C9DAF8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g36a8c14dc2e_0_5"/>
          <p:cNvSpPr/>
          <p:nvPr/>
        </p:nvSpPr>
        <p:spPr>
          <a:xfrm>
            <a:off x="3325150" y="4071750"/>
            <a:ext cx="335700" cy="3357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g36a8c14dc2e_0_5"/>
          <p:cNvSpPr/>
          <p:nvPr/>
        </p:nvSpPr>
        <p:spPr>
          <a:xfrm>
            <a:off x="5440400" y="4071750"/>
            <a:ext cx="335700" cy="3357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a8c14dc2e_0_7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Link State Routing</a:t>
            </a:r>
            <a:endParaRPr/>
          </a:p>
        </p:txBody>
      </p:sp>
      <p:sp>
        <p:nvSpPr>
          <p:cNvPr id="197" name="Google Shape;197;g36a8c14dc2e_0_7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Router floods its link state to all other routers.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Each router learns global network topology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Then, computes shortest path themselves!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With Dijkstra’s, etc</a:t>
            </a:r>
            <a:endParaRPr/>
          </a:p>
        </p:txBody>
      </p:sp>
      <p:cxnSp>
        <p:nvCxnSpPr>
          <p:cNvPr id="198" name="Google Shape;198;g36a8c14dc2e_0_70"/>
          <p:cNvCxnSpPr/>
          <p:nvPr/>
        </p:nvCxnSpPr>
        <p:spPr>
          <a:xfrm flipH="1" rot="10800000">
            <a:off x="3437107" y="2976893"/>
            <a:ext cx="1113600" cy="12627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0"/>
              </a:srgbClr>
            </a:outerShdw>
          </a:effectLst>
        </p:spPr>
      </p:cxnSp>
      <p:cxnSp>
        <p:nvCxnSpPr>
          <p:cNvPr id="199" name="Google Shape;199;g36a8c14dc2e_0_70"/>
          <p:cNvCxnSpPr/>
          <p:nvPr/>
        </p:nvCxnSpPr>
        <p:spPr>
          <a:xfrm rot="10800000">
            <a:off x="4550591" y="2976893"/>
            <a:ext cx="1113600" cy="12627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0"/>
              </a:srgbClr>
            </a:outerShdw>
          </a:effectLst>
        </p:spPr>
      </p:cxnSp>
      <p:cxnSp>
        <p:nvCxnSpPr>
          <p:cNvPr id="200" name="Google Shape;200;g36a8c14dc2e_0_70"/>
          <p:cNvCxnSpPr/>
          <p:nvPr/>
        </p:nvCxnSpPr>
        <p:spPr>
          <a:xfrm>
            <a:off x="3437107" y="4239593"/>
            <a:ext cx="22272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0"/>
              </a:srgbClr>
            </a:outerShdw>
          </a:effectLst>
        </p:spPr>
      </p:cxnSp>
      <p:cxnSp>
        <p:nvCxnSpPr>
          <p:cNvPr id="201" name="Google Shape;201;g36a8c14dc2e_0_70"/>
          <p:cNvCxnSpPr/>
          <p:nvPr/>
        </p:nvCxnSpPr>
        <p:spPr>
          <a:xfrm flipH="1" rot="10800000">
            <a:off x="2488881" y="4239449"/>
            <a:ext cx="948300" cy="3357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0"/>
              </a:srgbClr>
            </a:outerShdw>
          </a:effectLst>
        </p:spPr>
      </p:cxnSp>
      <p:cxnSp>
        <p:nvCxnSpPr>
          <p:cNvPr id="202" name="Google Shape;202;g36a8c14dc2e_0_70"/>
          <p:cNvCxnSpPr/>
          <p:nvPr/>
        </p:nvCxnSpPr>
        <p:spPr>
          <a:xfrm>
            <a:off x="4569616" y="2252154"/>
            <a:ext cx="0" cy="6756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0"/>
              </a:srgbClr>
            </a:outerShdw>
          </a:effectLst>
        </p:spPr>
      </p:cxnSp>
      <p:cxnSp>
        <p:nvCxnSpPr>
          <p:cNvPr id="203" name="Google Shape;203;g36a8c14dc2e_0_70"/>
          <p:cNvCxnSpPr/>
          <p:nvPr/>
        </p:nvCxnSpPr>
        <p:spPr>
          <a:xfrm rot="10800000">
            <a:off x="5647726" y="4239275"/>
            <a:ext cx="967500" cy="3849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0"/>
              </a:srgbClr>
            </a:outerShdw>
          </a:effectLst>
        </p:spPr>
      </p:cxnSp>
      <p:sp>
        <p:nvSpPr>
          <p:cNvPr id="204" name="Google Shape;204;g36a8c14dc2e_0_70"/>
          <p:cNvSpPr txBox="1"/>
          <p:nvPr/>
        </p:nvSpPr>
        <p:spPr>
          <a:xfrm>
            <a:off x="5129001" y="3093111"/>
            <a:ext cx="393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6a8c14dc2e_0_70"/>
          <p:cNvSpPr txBox="1"/>
          <p:nvPr/>
        </p:nvSpPr>
        <p:spPr>
          <a:xfrm>
            <a:off x="4354121" y="4206668"/>
            <a:ext cx="393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6a8c14dc2e_0_70"/>
          <p:cNvSpPr txBox="1"/>
          <p:nvPr/>
        </p:nvSpPr>
        <p:spPr>
          <a:xfrm>
            <a:off x="3607494" y="3081577"/>
            <a:ext cx="393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6a8c14dc2e_0_70"/>
          <p:cNvSpPr/>
          <p:nvPr/>
        </p:nvSpPr>
        <p:spPr>
          <a:xfrm>
            <a:off x="4375500" y="1894975"/>
            <a:ext cx="3930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g36a8c14dc2e_0_70"/>
          <p:cNvSpPr/>
          <p:nvPr/>
        </p:nvSpPr>
        <p:spPr>
          <a:xfrm>
            <a:off x="2095875" y="4397775"/>
            <a:ext cx="3930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g36a8c14dc2e_0_70"/>
          <p:cNvSpPr/>
          <p:nvPr/>
        </p:nvSpPr>
        <p:spPr>
          <a:xfrm>
            <a:off x="6612375" y="4482250"/>
            <a:ext cx="3930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g36a8c14dc2e_0_70"/>
          <p:cNvSpPr/>
          <p:nvPr/>
        </p:nvSpPr>
        <p:spPr>
          <a:xfrm>
            <a:off x="4396900" y="2788350"/>
            <a:ext cx="335700" cy="335700"/>
          </a:xfrm>
          <a:prstGeom prst="rect">
            <a:avLst/>
          </a:prstGeom>
          <a:solidFill>
            <a:srgbClr val="C9DAF8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g36a8c14dc2e_0_70"/>
          <p:cNvSpPr/>
          <p:nvPr/>
        </p:nvSpPr>
        <p:spPr>
          <a:xfrm>
            <a:off x="3325150" y="4071750"/>
            <a:ext cx="335700" cy="3357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2" name="Google Shape;212;g36a8c14dc2e_0_70"/>
          <p:cNvSpPr/>
          <p:nvPr/>
        </p:nvSpPr>
        <p:spPr>
          <a:xfrm>
            <a:off x="5440400" y="4071750"/>
            <a:ext cx="335700" cy="3357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g36a8c14dc2e_0_90" title="Screenshot 2025-07-12 at 11.23.1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0763" y="2667675"/>
            <a:ext cx="1896636" cy="101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36a8c14dc2e_0_90" title="Screenshot 2025-07-12 at 11.23.1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9800" y="1521175"/>
            <a:ext cx="1896636" cy="101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g36a8c14dc2e_0_90" title="Screenshot 2025-07-12 at 11.23.1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1463" y="3001712"/>
            <a:ext cx="1896636" cy="10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36a8c14dc2e_0_9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Link State Routing</a:t>
            </a:r>
            <a:endParaRPr/>
          </a:p>
        </p:txBody>
      </p:sp>
      <p:sp>
        <p:nvSpPr>
          <p:cNvPr id="221" name="Google Shape;221;g36a8c14dc2e_0_90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Router floods its link state to all other routers.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Each router learns global network topology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Then, computes shortest path themselves!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With Dijkstra’s, etc</a:t>
            </a:r>
            <a:endParaRPr/>
          </a:p>
        </p:txBody>
      </p:sp>
      <p:cxnSp>
        <p:nvCxnSpPr>
          <p:cNvPr id="222" name="Google Shape;222;g36a8c14dc2e_0_90"/>
          <p:cNvCxnSpPr/>
          <p:nvPr/>
        </p:nvCxnSpPr>
        <p:spPr>
          <a:xfrm flipH="1" rot="10800000">
            <a:off x="3437107" y="2976893"/>
            <a:ext cx="1113600" cy="12627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0"/>
              </a:srgbClr>
            </a:outerShdw>
          </a:effectLst>
        </p:spPr>
      </p:cxnSp>
      <p:cxnSp>
        <p:nvCxnSpPr>
          <p:cNvPr id="223" name="Google Shape;223;g36a8c14dc2e_0_90"/>
          <p:cNvCxnSpPr/>
          <p:nvPr/>
        </p:nvCxnSpPr>
        <p:spPr>
          <a:xfrm rot="10800000">
            <a:off x="4550591" y="2976893"/>
            <a:ext cx="1113600" cy="12627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0"/>
              </a:srgbClr>
            </a:outerShdw>
          </a:effectLst>
        </p:spPr>
      </p:cxnSp>
      <p:cxnSp>
        <p:nvCxnSpPr>
          <p:cNvPr id="224" name="Google Shape;224;g36a8c14dc2e_0_90"/>
          <p:cNvCxnSpPr/>
          <p:nvPr/>
        </p:nvCxnSpPr>
        <p:spPr>
          <a:xfrm>
            <a:off x="3437107" y="4239593"/>
            <a:ext cx="22272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0"/>
              </a:srgbClr>
            </a:outerShdw>
          </a:effectLst>
        </p:spPr>
      </p:cxnSp>
      <p:cxnSp>
        <p:nvCxnSpPr>
          <p:cNvPr id="225" name="Google Shape;225;g36a8c14dc2e_0_90"/>
          <p:cNvCxnSpPr/>
          <p:nvPr/>
        </p:nvCxnSpPr>
        <p:spPr>
          <a:xfrm flipH="1" rot="10800000">
            <a:off x="2488881" y="4239449"/>
            <a:ext cx="948300" cy="3357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0"/>
              </a:srgbClr>
            </a:outerShdw>
          </a:effectLst>
        </p:spPr>
      </p:cxnSp>
      <p:cxnSp>
        <p:nvCxnSpPr>
          <p:cNvPr id="226" name="Google Shape;226;g36a8c14dc2e_0_90"/>
          <p:cNvCxnSpPr/>
          <p:nvPr/>
        </p:nvCxnSpPr>
        <p:spPr>
          <a:xfrm>
            <a:off x="4569616" y="2252154"/>
            <a:ext cx="0" cy="6756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0"/>
              </a:srgbClr>
            </a:outerShdw>
          </a:effectLst>
        </p:spPr>
      </p:cxnSp>
      <p:cxnSp>
        <p:nvCxnSpPr>
          <p:cNvPr id="227" name="Google Shape;227;g36a8c14dc2e_0_90"/>
          <p:cNvCxnSpPr/>
          <p:nvPr/>
        </p:nvCxnSpPr>
        <p:spPr>
          <a:xfrm rot="10800000">
            <a:off x="5647726" y="4239275"/>
            <a:ext cx="967500" cy="3849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250"/>
              </a:srgbClr>
            </a:outerShdw>
          </a:effectLst>
        </p:spPr>
      </p:cxnSp>
      <p:sp>
        <p:nvSpPr>
          <p:cNvPr id="228" name="Google Shape;228;g36a8c14dc2e_0_90"/>
          <p:cNvSpPr txBox="1"/>
          <p:nvPr/>
        </p:nvSpPr>
        <p:spPr>
          <a:xfrm>
            <a:off x="5129001" y="3093111"/>
            <a:ext cx="393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6a8c14dc2e_0_90"/>
          <p:cNvSpPr txBox="1"/>
          <p:nvPr/>
        </p:nvSpPr>
        <p:spPr>
          <a:xfrm>
            <a:off x="4354121" y="4206668"/>
            <a:ext cx="393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6a8c14dc2e_0_90"/>
          <p:cNvSpPr txBox="1"/>
          <p:nvPr/>
        </p:nvSpPr>
        <p:spPr>
          <a:xfrm>
            <a:off x="3607494" y="3081577"/>
            <a:ext cx="3930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6a8c14dc2e_0_90"/>
          <p:cNvSpPr/>
          <p:nvPr/>
        </p:nvSpPr>
        <p:spPr>
          <a:xfrm>
            <a:off x="4375500" y="1894975"/>
            <a:ext cx="3930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g36a8c14dc2e_0_90"/>
          <p:cNvSpPr/>
          <p:nvPr/>
        </p:nvSpPr>
        <p:spPr>
          <a:xfrm>
            <a:off x="2095875" y="4397775"/>
            <a:ext cx="3930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g36a8c14dc2e_0_90"/>
          <p:cNvSpPr/>
          <p:nvPr/>
        </p:nvSpPr>
        <p:spPr>
          <a:xfrm>
            <a:off x="6612375" y="4482250"/>
            <a:ext cx="3930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g36a8c14dc2e_0_90"/>
          <p:cNvSpPr/>
          <p:nvPr/>
        </p:nvSpPr>
        <p:spPr>
          <a:xfrm>
            <a:off x="4396900" y="2788350"/>
            <a:ext cx="335700" cy="335700"/>
          </a:xfrm>
          <a:prstGeom prst="rect">
            <a:avLst/>
          </a:prstGeom>
          <a:solidFill>
            <a:srgbClr val="C9DAF8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g36a8c14dc2e_0_90"/>
          <p:cNvSpPr/>
          <p:nvPr/>
        </p:nvSpPr>
        <p:spPr>
          <a:xfrm>
            <a:off x="3325150" y="4071750"/>
            <a:ext cx="335700" cy="335700"/>
          </a:xfrm>
          <a:prstGeom prst="rect">
            <a:avLst/>
          </a:prstGeom>
          <a:solidFill>
            <a:srgbClr val="F4CCCC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g36a8c14dc2e_0_90"/>
          <p:cNvSpPr/>
          <p:nvPr/>
        </p:nvSpPr>
        <p:spPr>
          <a:xfrm>
            <a:off x="5440400" y="4071750"/>
            <a:ext cx="335700" cy="3357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g36a8c14dc2e_0_90"/>
          <p:cNvSpPr/>
          <p:nvPr/>
        </p:nvSpPr>
        <p:spPr>
          <a:xfrm>
            <a:off x="1026690" y="2446473"/>
            <a:ext cx="2243400" cy="1530000"/>
          </a:xfrm>
          <a:prstGeom prst="cloudCallout">
            <a:avLst>
              <a:gd fmla="val 43763" name="adj1"/>
              <a:gd fmla="val 53769" name="adj2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6a8c14dc2e_0_90"/>
          <p:cNvSpPr/>
          <p:nvPr/>
        </p:nvSpPr>
        <p:spPr>
          <a:xfrm>
            <a:off x="4876414" y="1332982"/>
            <a:ext cx="2243400" cy="1530000"/>
          </a:xfrm>
          <a:prstGeom prst="cloudCallout">
            <a:avLst>
              <a:gd fmla="val -53467" name="adj1"/>
              <a:gd fmla="val 48009" name="adj2"/>
            </a:avLst>
          </a:prstGeom>
          <a:noFill/>
          <a:ln cap="flat" cmpd="sng" w="9525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6a8c14dc2e_0_90"/>
          <p:cNvSpPr/>
          <p:nvPr/>
        </p:nvSpPr>
        <p:spPr>
          <a:xfrm>
            <a:off x="6665781" y="2827995"/>
            <a:ext cx="2088000" cy="1424100"/>
          </a:xfrm>
          <a:prstGeom prst="cloudCallout">
            <a:avLst>
              <a:gd fmla="val -84072" name="adj1"/>
              <a:gd fmla="val 40005" name="adj2"/>
            </a:avLst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12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g36a8c14dc2e_0_90"/>
          <p:cNvCxnSpPr/>
          <p:nvPr/>
        </p:nvCxnSpPr>
        <p:spPr>
          <a:xfrm flipH="1" rot="10800000">
            <a:off x="1793450" y="3102025"/>
            <a:ext cx="244500" cy="2832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1" name="Google Shape;241;g36a8c14dc2e_0_90"/>
          <p:cNvCxnSpPr/>
          <p:nvPr/>
        </p:nvCxnSpPr>
        <p:spPr>
          <a:xfrm flipH="1" rot="10800000">
            <a:off x="1814200" y="3436575"/>
            <a:ext cx="532800" cy="21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2" name="Google Shape;242;g36a8c14dc2e_0_90"/>
          <p:cNvSpPr/>
          <p:nvPr/>
        </p:nvSpPr>
        <p:spPr>
          <a:xfrm>
            <a:off x="5624875" y="1960375"/>
            <a:ext cx="605425" cy="357365"/>
          </a:xfrm>
          <a:custGeom>
            <a:rect b="b" l="l" r="r" t="t"/>
            <a:pathLst>
              <a:path extrusionOk="0" h="13846" w="24217">
                <a:moveTo>
                  <a:pt x="12059" y="0"/>
                </a:moveTo>
                <a:cubicBezTo>
                  <a:pt x="10090" y="2162"/>
                  <a:pt x="-1779" y="10866"/>
                  <a:pt x="247" y="12970"/>
                </a:cubicBezTo>
                <a:cubicBezTo>
                  <a:pt x="2274" y="15074"/>
                  <a:pt x="20223" y="12680"/>
                  <a:pt x="24218" y="12622"/>
                </a:cubicBezTo>
              </a:path>
            </a:pathLst>
          </a:cu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sp>
      <p:cxnSp>
        <p:nvCxnSpPr>
          <p:cNvPr id="243" name="Google Shape;243;g36a8c14dc2e_0_90"/>
          <p:cNvCxnSpPr/>
          <p:nvPr/>
        </p:nvCxnSpPr>
        <p:spPr>
          <a:xfrm flipH="1">
            <a:off x="5680325" y="1960375"/>
            <a:ext cx="245100" cy="2775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4" name="Google Shape;244;g36a8c14dc2e_0_90"/>
          <p:cNvSpPr/>
          <p:nvPr/>
        </p:nvSpPr>
        <p:spPr>
          <a:xfrm>
            <a:off x="7336000" y="3429563"/>
            <a:ext cx="605425" cy="357365"/>
          </a:xfrm>
          <a:custGeom>
            <a:rect b="b" l="l" r="r" t="t"/>
            <a:pathLst>
              <a:path extrusionOk="0" h="13846" w="24217">
                <a:moveTo>
                  <a:pt x="12059" y="0"/>
                </a:moveTo>
                <a:cubicBezTo>
                  <a:pt x="10090" y="2162"/>
                  <a:pt x="-1779" y="10866"/>
                  <a:pt x="247" y="12970"/>
                </a:cubicBezTo>
                <a:cubicBezTo>
                  <a:pt x="2274" y="15074"/>
                  <a:pt x="20223" y="12680"/>
                  <a:pt x="24218" y="12622"/>
                </a:cubicBezTo>
              </a:path>
            </a:pathLst>
          </a:custGeom>
          <a:noFill/>
          <a:ln cap="flat" cmpd="sng" w="28575">
            <a:solidFill>
              <a:srgbClr val="4A86E8"/>
            </a:solidFill>
            <a:prstDash val="solid"/>
            <a:round/>
            <a:headEnd len="med" w="med" type="triangle"/>
            <a:tailEnd len="med" w="med" type="none"/>
          </a:ln>
        </p:spPr>
      </p:sp>
      <p:cxnSp>
        <p:nvCxnSpPr>
          <p:cNvPr id="245" name="Google Shape;245;g36a8c14dc2e_0_90"/>
          <p:cNvCxnSpPr/>
          <p:nvPr/>
        </p:nvCxnSpPr>
        <p:spPr>
          <a:xfrm flipH="1">
            <a:off x="7412225" y="3762975"/>
            <a:ext cx="529200" cy="7800"/>
          </a:xfrm>
          <a:prstGeom prst="straightConnector1">
            <a:avLst/>
          </a:pr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6a8c14dc2e_0_164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Distance Vector vs Link State</a:t>
            </a:r>
            <a:endParaRPr/>
          </a:p>
        </p:txBody>
      </p:sp>
      <p:sp>
        <p:nvSpPr>
          <p:cNvPr id="251" name="Google Shape;251;g36a8c14dc2e_0_164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Distance-Vector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Global computation (distributed across all nodes)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Only local data (local node plus </a:t>
            </a:r>
            <a:r>
              <a:rPr lang="en"/>
              <a:t>whatever</a:t>
            </a:r>
            <a:r>
              <a:rPr lang="en"/>
              <a:t> our neighbors told us).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Link-State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Local computation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Using global data (from all parts of the network)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6a8c14dc2e_0_0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Font typeface="Roboto"/>
              <a:buChar char="•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Link-State Routing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 </a:t>
            </a: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Addressing</a:t>
            </a:r>
            <a:endParaRPr>
              <a:solidFill>
                <a:srgbClr val="B7B7B7"/>
              </a:solidFill>
            </a:endParaRPr>
          </a:p>
        </p:txBody>
      </p:sp>
      <p:sp>
        <p:nvSpPr>
          <p:cNvPr id="257" name="Google Shape;257;g36a8c14dc2e_0_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Routing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6a8c14dc2e_0_22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Requirements of Addressing</a:t>
            </a:r>
            <a:endParaRPr/>
          </a:p>
        </p:txBody>
      </p:sp>
      <p:sp>
        <p:nvSpPr>
          <p:cNvPr id="263" name="Google Shape;263;g36a8c14dc2e_0_22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Scalable Routing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Minimize state exchange needed to create paths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Efficient Forwarding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Small forwarding tables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Fast lookups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Host must be able to recognize packet is for them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An end-to-end check on routing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L3: IP addresses (dynamically assigned)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6a8c14dc2e_0_24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IP Address</a:t>
            </a:r>
            <a:endParaRPr/>
          </a:p>
        </p:txBody>
      </p:sp>
      <p:sp>
        <p:nvSpPr>
          <p:cNvPr id="269" name="Google Shape;269;g36a8c14dc2e_0_24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32 bits (for IPv4), split into 4 bytes, written in decimal (each decimal between 0 and 255)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Network prefix: /&lt;bits&gt;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Size of network address, counting from the leftmost bit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Example: 1.2.2.0/23</a:t>
            </a:r>
            <a:endParaRPr/>
          </a:p>
        </p:txBody>
      </p:sp>
      <p:grpSp>
        <p:nvGrpSpPr>
          <p:cNvPr id="270" name="Google Shape;270;g36a8c14dc2e_0_247"/>
          <p:cNvGrpSpPr/>
          <p:nvPr/>
        </p:nvGrpSpPr>
        <p:grpSpPr>
          <a:xfrm>
            <a:off x="935551" y="2307563"/>
            <a:ext cx="7272900" cy="2602500"/>
            <a:chOff x="970669" y="2812115"/>
            <a:chExt cx="7272900" cy="2602500"/>
          </a:xfrm>
        </p:grpSpPr>
        <p:sp>
          <p:nvSpPr>
            <p:cNvPr id="271" name="Google Shape;271;g36a8c14dc2e_0_247"/>
            <p:cNvSpPr txBox="1"/>
            <p:nvPr/>
          </p:nvSpPr>
          <p:spPr>
            <a:xfrm>
              <a:off x="970669" y="2812115"/>
              <a:ext cx="7272900" cy="260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95D46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rgbClr val="695D46"/>
                </a:buClr>
                <a:buSzPts val="4000"/>
                <a:buFont typeface="Arial"/>
                <a:buNone/>
              </a:pPr>
              <a:r>
                <a:rPr b="1" i="0" lang="en" sz="40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rPr>
                <a:t>     1.2.2.0/23</a:t>
              </a:r>
              <a:endParaRPr b="1" i="0" sz="4000" u="none" cap="none" strike="noStrike">
                <a:solidFill>
                  <a:srgbClr val="3D6DC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695D46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695D46"/>
                </a:buClr>
                <a:buSzPts val="2400"/>
                <a:buFont typeface="Arial"/>
                <a:buNone/>
              </a:pPr>
              <a:r>
                <a:rPr b="0" i="0" lang="en" sz="2400" u="none" cap="none" strike="noStrike">
                  <a:solidFill>
                    <a:srgbClr val="695D46"/>
                  </a:solidFill>
                  <a:latin typeface="Calibri"/>
                  <a:ea typeface="Calibri"/>
                  <a:cs typeface="Calibri"/>
                  <a:sym typeface="Calibri"/>
                </a:rPr>
                <a:t>0000 0001  0000 0010  0000 0010  0000 0000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2" name="Google Shape;272;g36a8c14dc2e_0_247"/>
            <p:cNvGrpSpPr/>
            <p:nvPr/>
          </p:nvGrpSpPr>
          <p:grpSpPr>
            <a:xfrm>
              <a:off x="1828838" y="3883068"/>
              <a:ext cx="2105700" cy="646800"/>
              <a:chOff x="1561553" y="4642723"/>
              <a:chExt cx="2105700" cy="646800"/>
            </a:xfrm>
          </p:grpSpPr>
          <p:cxnSp>
            <p:nvCxnSpPr>
              <p:cNvPr id="273" name="Google Shape;273;g36a8c14dc2e_0_247"/>
              <p:cNvCxnSpPr>
                <a:endCxn id="274" idx="1"/>
              </p:cNvCxnSpPr>
              <p:nvPr/>
            </p:nvCxnSpPr>
            <p:spPr>
              <a:xfrm flipH="1">
                <a:off x="2157653" y="4642723"/>
                <a:ext cx="1509600" cy="2247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C5394"/>
                </a:solidFill>
                <a:prstDash val="solid"/>
                <a:round/>
                <a:headEnd len="sm" w="sm" type="none"/>
                <a:tailEnd len="med" w="med" type="triangle"/>
              </a:ln>
              <a:effectLst>
                <a:outerShdw blurRad="40000" rotWithShape="0" dir="5400000" dist="20000">
                  <a:srgbClr val="000000">
                    <a:alpha val="36470"/>
                  </a:srgbClr>
                </a:outerShdw>
              </a:effectLst>
            </p:spPr>
          </p:cxnSp>
          <p:sp>
            <p:nvSpPr>
              <p:cNvPr id="274" name="Google Shape;274;g36a8c14dc2e_0_247"/>
              <p:cNvSpPr/>
              <p:nvPr/>
            </p:nvSpPr>
            <p:spPr>
              <a:xfrm rot="5400000">
                <a:off x="1946603" y="4482373"/>
                <a:ext cx="422100" cy="1192200"/>
              </a:xfrm>
              <a:prstGeom prst="leftBrace">
                <a:avLst>
                  <a:gd fmla="val 8333" name="adj1"/>
                  <a:gd fmla="val 50000" name="adj2"/>
                </a:avLst>
              </a:prstGeom>
              <a:noFill/>
              <a:ln cap="flat" cmpd="sng" w="25400">
                <a:solidFill>
                  <a:srgbClr val="0C539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647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5" name="Google Shape;275;g36a8c14dc2e_0_247"/>
            <p:cNvGrpSpPr/>
            <p:nvPr/>
          </p:nvGrpSpPr>
          <p:grpSpPr>
            <a:xfrm>
              <a:off x="3267192" y="3899269"/>
              <a:ext cx="1220400" cy="630600"/>
              <a:chOff x="2999907" y="4658924"/>
              <a:chExt cx="1220400" cy="630600"/>
            </a:xfrm>
          </p:grpSpPr>
          <p:cxnSp>
            <p:nvCxnSpPr>
              <p:cNvPr id="276" name="Google Shape;276;g36a8c14dc2e_0_247"/>
              <p:cNvCxnSpPr>
                <a:endCxn id="277" idx="1"/>
              </p:cNvCxnSpPr>
              <p:nvPr/>
            </p:nvCxnSpPr>
            <p:spPr>
              <a:xfrm flipH="1">
                <a:off x="3610107" y="4658924"/>
                <a:ext cx="431700" cy="2085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C5394"/>
                </a:solidFill>
                <a:prstDash val="solid"/>
                <a:round/>
                <a:headEnd len="sm" w="sm" type="none"/>
                <a:tailEnd len="med" w="med" type="triangle"/>
              </a:ln>
              <a:effectLst>
                <a:outerShdw blurRad="40000" rotWithShape="0" dir="5400000" dist="20000">
                  <a:srgbClr val="000000">
                    <a:alpha val="36470"/>
                  </a:srgbClr>
                </a:outerShdw>
              </a:effectLst>
            </p:spPr>
          </p:cxnSp>
          <p:sp>
            <p:nvSpPr>
              <p:cNvPr id="277" name="Google Shape;277;g36a8c14dc2e_0_247"/>
              <p:cNvSpPr/>
              <p:nvPr/>
            </p:nvSpPr>
            <p:spPr>
              <a:xfrm rot="5400000">
                <a:off x="3399057" y="4468274"/>
                <a:ext cx="422100" cy="1220400"/>
              </a:xfrm>
              <a:prstGeom prst="leftBrace">
                <a:avLst>
                  <a:gd fmla="val 8333" name="adj1"/>
                  <a:gd fmla="val 50000" name="adj2"/>
                </a:avLst>
              </a:prstGeom>
              <a:noFill/>
              <a:ln cap="flat" cmpd="sng" w="25400">
                <a:solidFill>
                  <a:srgbClr val="0C539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647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8" name="Google Shape;278;g36a8c14dc2e_0_247"/>
            <p:cNvGrpSpPr/>
            <p:nvPr/>
          </p:nvGrpSpPr>
          <p:grpSpPr>
            <a:xfrm>
              <a:off x="4702099" y="3899489"/>
              <a:ext cx="1220400" cy="658200"/>
              <a:chOff x="4434814" y="4659144"/>
              <a:chExt cx="1220400" cy="658200"/>
            </a:xfrm>
          </p:grpSpPr>
          <p:cxnSp>
            <p:nvCxnSpPr>
              <p:cNvPr id="279" name="Google Shape;279;g36a8c14dc2e_0_247"/>
              <p:cNvCxnSpPr>
                <a:endCxn id="280" idx="1"/>
              </p:cNvCxnSpPr>
              <p:nvPr/>
            </p:nvCxnSpPr>
            <p:spPr>
              <a:xfrm>
                <a:off x="4522114" y="4659144"/>
                <a:ext cx="522900" cy="2361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C5394"/>
                </a:solidFill>
                <a:prstDash val="solid"/>
                <a:round/>
                <a:headEnd len="sm" w="sm" type="none"/>
                <a:tailEnd len="med" w="med" type="triangle"/>
              </a:ln>
              <a:effectLst>
                <a:outerShdw blurRad="40000" rotWithShape="0" dir="5400000" dist="20000">
                  <a:srgbClr val="000000">
                    <a:alpha val="36470"/>
                  </a:srgbClr>
                </a:outerShdw>
              </a:effectLst>
            </p:spPr>
          </p:cxnSp>
          <p:sp>
            <p:nvSpPr>
              <p:cNvPr id="280" name="Google Shape;280;g36a8c14dc2e_0_247"/>
              <p:cNvSpPr/>
              <p:nvPr/>
            </p:nvSpPr>
            <p:spPr>
              <a:xfrm rot="5400000">
                <a:off x="4833964" y="4496094"/>
                <a:ext cx="422100" cy="1220400"/>
              </a:xfrm>
              <a:prstGeom prst="leftBrace">
                <a:avLst>
                  <a:gd fmla="val 8333" name="adj1"/>
                  <a:gd fmla="val 50000" name="adj2"/>
                </a:avLst>
              </a:prstGeom>
              <a:noFill/>
              <a:ln cap="flat" cmpd="sng" w="25400">
                <a:solidFill>
                  <a:srgbClr val="0C539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647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1" name="Google Shape;281;g36a8c14dc2e_0_247"/>
            <p:cNvGrpSpPr/>
            <p:nvPr/>
          </p:nvGrpSpPr>
          <p:grpSpPr>
            <a:xfrm>
              <a:off x="5212853" y="3891168"/>
              <a:ext cx="2176200" cy="638700"/>
              <a:chOff x="4945568" y="4650823"/>
              <a:chExt cx="2176200" cy="638700"/>
            </a:xfrm>
          </p:grpSpPr>
          <p:cxnSp>
            <p:nvCxnSpPr>
              <p:cNvPr id="282" name="Google Shape;282;g36a8c14dc2e_0_247"/>
              <p:cNvCxnSpPr>
                <a:endCxn id="283" idx="1"/>
              </p:cNvCxnSpPr>
              <p:nvPr/>
            </p:nvCxnSpPr>
            <p:spPr>
              <a:xfrm>
                <a:off x="4945568" y="4650823"/>
                <a:ext cx="1566000" cy="21660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C5394"/>
                </a:solidFill>
                <a:prstDash val="solid"/>
                <a:round/>
                <a:headEnd len="sm" w="sm" type="none"/>
                <a:tailEnd len="med" w="med" type="triangle"/>
              </a:ln>
              <a:effectLst>
                <a:outerShdw blurRad="40000" rotWithShape="0" dir="5400000" dist="20000">
                  <a:srgbClr val="000000">
                    <a:alpha val="36470"/>
                  </a:srgbClr>
                </a:outerShdw>
              </a:effectLst>
            </p:spPr>
          </p:cxnSp>
          <p:sp>
            <p:nvSpPr>
              <p:cNvPr id="283" name="Google Shape;283;g36a8c14dc2e_0_247"/>
              <p:cNvSpPr/>
              <p:nvPr/>
            </p:nvSpPr>
            <p:spPr>
              <a:xfrm rot="5400000">
                <a:off x="6300518" y="4468273"/>
                <a:ext cx="422100" cy="1220400"/>
              </a:xfrm>
              <a:prstGeom prst="leftBrace">
                <a:avLst>
                  <a:gd fmla="val 8333" name="adj1"/>
                  <a:gd fmla="val 50000" name="adj2"/>
                </a:avLst>
              </a:prstGeom>
              <a:noFill/>
              <a:ln cap="flat" cmpd="sng" w="25400">
                <a:solidFill>
                  <a:srgbClr val="0C539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0000">
                  <a:srgbClr val="000000">
                    <a:alpha val="3647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4" name="Google Shape;284;g36a8c14dc2e_0_247"/>
          <p:cNvGrpSpPr/>
          <p:nvPr/>
        </p:nvGrpSpPr>
        <p:grpSpPr>
          <a:xfrm>
            <a:off x="1793684" y="4305239"/>
            <a:ext cx="3946800" cy="604830"/>
            <a:chOff x="1793634" y="5245889"/>
            <a:chExt cx="3946800" cy="604830"/>
          </a:xfrm>
        </p:grpSpPr>
        <p:sp>
          <p:nvSpPr>
            <p:cNvPr id="285" name="Google Shape;285;g36a8c14dc2e_0_247"/>
            <p:cNvSpPr/>
            <p:nvPr/>
          </p:nvSpPr>
          <p:spPr>
            <a:xfrm rot="-5400000">
              <a:off x="3603834" y="3435689"/>
              <a:ext cx="326400" cy="3946800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25400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g36a8c14dc2e_0_247"/>
            <p:cNvSpPr txBox="1"/>
            <p:nvPr/>
          </p:nvSpPr>
          <p:spPr>
            <a:xfrm>
              <a:off x="2307187" y="5542919"/>
              <a:ext cx="2505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first 23 bits for network address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7" name="Google Shape;287;g36a8c14dc2e_0_247"/>
          <p:cNvGrpSpPr/>
          <p:nvPr/>
        </p:nvGrpSpPr>
        <p:grpSpPr>
          <a:xfrm>
            <a:off x="5740454" y="4305010"/>
            <a:ext cx="2311500" cy="627783"/>
            <a:chOff x="5740404" y="5245660"/>
            <a:chExt cx="2311500" cy="627783"/>
          </a:xfrm>
        </p:grpSpPr>
        <p:sp>
          <p:nvSpPr>
            <p:cNvPr id="288" name="Google Shape;288;g36a8c14dc2e_0_247"/>
            <p:cNvSpPr/>
            <p:nvPr/>
          </p:nvSpPr>
          <p:spPr>
            <a:xfrm rot="-5400000">
              <a:off x="6434902" y="4678210"/>
              <a:ext cx="351600" cy="1486500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25400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647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g36a8c14dc2e_0_247"/>
            <p:cNvSpPr txBox="1"/>
            <p:nvPr/>
          </p:nvSpPr>
          <p:spPr>
            <a:xfrm>
              <a:off x="5740404" y="5565643"/>
              <a:ext cx="23115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last 9 bits for host address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6a8c14dc2e_0_27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Network prefixes (netmasks)</a:t>
            </a:r>
            <a:endParaRPr/>
          </a:p>
        </p:txBody>
      </p:sp>
      <p:sp>
        <p:nvSpPr>
          <p:cNvPr id="295" name="Google Shape;295;g36a8c14dc2e_0_27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Prefix dedicated to network address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can we tell if a host is in a network?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Check if the prefix matches!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Mask: 123.96.0.0/12</a:t>
            </a:r>
            <a:endParaRPr b="1" sz="24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" sz="2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01111011 . 0110</a:t>
            </a:r>
            <a:r>
              <a:rPr lang="en" sz="2400">
                <a:solidFill>
                  <a:srgbClr val="695D46"/>
                </a:solidFill>
                <a:latin typeface="Roboto Mono"/>
                <a:ea typeface="Roboto Mono"/>
                <a:cs typeface="Roboto Mono"/>
                <a:sym typeface="Roboto Mono"/>
              </a:rPr>
              <a:t>0000 . 00000000 . 00000000</a:t>
            </a:r>
            <a:endParaRPr sz="2400">
              <a:solidFill>
                <a:srgbClr val="695D4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695D46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24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Addr: 123.100.42.6</a:t>
            </a:r>
            <a:endParaRPr sz="24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01111011 . 0110</a:t>
            </a:r>
            <a:r>
              <a:rPr lang="en" sz="2400">
                <a:solidFill>
                  <a:srgbClr val="695D46"/>
                </a:solidFill>
                <a:latin typeface="Roboto Mono"/>
                <a:ea typeface="Roboto Mono"/>
                <a:cs typeface="Roboto Mono"/>
                <a:sym typeface="Roboto Mono"/>
              </a:rPr>
              <a:t>0100 . 00101010 . 00000110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6a8c14dc2e_0_29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Network classes: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A (/8): first 8 bits devoted to network</a:t>
            </a:r>
            <a:endParaRPr sz="1400"/>
          </a:p>
          <a:p>
            <a:pPr indent="-317500" lvl="2" marL="1371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■"/>
            </a:pPr>
            <a:r>
              <a:rPr lang="en" sz="1400"/>
              <a:t>First bit is fixed to 0.</a:t>
            </a:r>
            <a:endParaRPr sz="1400"/>
          </a:p>
          <a:p>
            <a:pPr indent="-317500" lvl="2" marL="1371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■"/>
            </a:pPr>
            <a:r>
              <a:rPr lang="en" sz="1400"/>
              <a:t>first byte from 0 to 127</a:t>
            </a:r>
            <a:endParaRPr sz="1400"/>
          </a:p>
          <a:p>
            <a:pPr indent="-317500" lvl="2" marL="1371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■"/>
            </a:pPr>
            <a:r>
              <a:rPr lang="en" sz="1400"/>
              <a:t>Can have ~16M hosts, only 2^7 = 128 nets. 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B (/16): first 16 bits devoted to network (first byte from 128 to 191)</a:t>
            </a:r>
            <a:endParaRPr sz="1400"/>
          </a:p>
          <a:p>
            <a:pPr indent="-317500" lvl="2" marL="1371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■"/>
            </a:pPr>
            <a:r>
              <a:rPr lang="en" sz="1400"/>
              <a:t>First two bits are fixed to 10</a:t>
            </a:r>
            <a:endParaRPr sz="1400"/>
          </a:p>
          <a:p>
            <a:pPr indent="-317500" lvl="2" marL="1371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■"/>
            </a:pPr>
            <a:r>
              <a:rPr lang="en" sz="1400"/>
              <a:t>Can have ~65K hosts, ~16K nets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 (/24): first 24 bits devoted to network (first byte from 192 to 223)</a:t>
            </a:r>
            <a:endParaRPr sz="1400"/>
          </a:p>
          <a:p>
            <a:pPr indent="-317500" lvl="2" marL="1371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■"/>
            </a:pPr>
            <a:r>
              <a:rPr lang="en" sz="1400"/>
              <a:t>First three bits are fixed to 110</a:t>
            </a:r>
            <a:endParaRPr sz="1400"/>
          </a:p>
          <a:p>
            <a:pPr indent="-317500" lvl="2" marL="1371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Char char="■"/>
            </a:pPr>
            <a:r>
              <a:rPr lang="en" sz="1400"/>
              <a:t>Can have only 254 hosts (255 is reserved for last byte) ~2M nets</a:t>
            </a:r>
            <a:endParaRPr sz="1400"/>
          </a:p>
        </p:txBody>
      </p:sp>
      <p:pic>
        <p:nvPicPr>
          <p:cNvPr id="301" name="Google Shape;301;g36a8c14dc2e_0_297"/>
          <p:cNvPicPr preferRelativeResize="0"/>
          <p:nvPr/>
        </p:nvPicPr>
        <p:blipFill rotWithShape="1">
          <a:blip r:embed="rId3">
            <a:alphaModFix/>
          </a:blip>
          <a:srcRect b="-23670" l="0" r="0" t="0"/>
          <a:stretch/>
        </p:blipFill>
        <p:spPr>
          <a:xfrm>
            <a:off x="1465725" y="2034698"/>
            <a:ext cx="3153125" cy="4523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36a8c14dc2e_0_29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Classful Addressing</a:t>
            </a:r>
            <a:endParaRPr/>
          </a:p>
        </p:txBody>
      </p:sp>
      <p:grpSp>
        <p:nvGrpSpPr>
          <p:cNvPr id="303" name="Google Shape;303;g36a8c14dc2e_0_297"/>
          <p:cNvGrpSpPr/>
          <p:nvPr/>
        </p:nvGrpSpPr>
        <p:grpSpPr>
          <a:xfrm>
            <a:off x="107051" y="1827329"/>
            <a:ext cx="2176697" cy="582712"/>
            <a:chOff x="317001" y="2652586"/>
            <a:chExt cx="2176697" cy="582712"/>
          </a:xfrm>
        </p:grpSpPr>
        <p:sp>
          <p:nvSpPr>
            <p:cNvPr id="304" name="Google Shape;304;g36a8c14dc2e_0_297"/>
            <p:cNvSpPr/>
            <p:nvPr/>
          </p:nvSpPr>
          <p:spPr>
            <a:xfrm>
              <a:off x="1675298" y="2869598"/>
              <a:ext cx="818400" cy="365700"/>
            </a:xfrm>
            <a:prstGeom prst="frame">
              <a:avLst>
                <a:gd fmla="val 12500" name="adj1"/>
              </a:avLst>
            </a:prstGeom>
            <a:solidFill>
              <a:srgbClr val="0C5394"/>
            </a:solidFill>
            <a:ln cap="flat" cmpd="sng" w="9525">
              <a:solidFill>
                <a:srgbClr val="0C5394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12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5" name="Google Shape;305;g36a8c14dc2e_0_297"/>
            <p:cNvGrpSpPr/>
            <p:nvPr/>
          </p:nvGrpSpPr>
          <p:grpSpPr>
            <a:xfrm>
              <a:off x="317001" y="2652586"/>
              <a:ext cx="1413300" cy="505500"/>
              <a:chOff x="317001" y="2652586"/>
              <a:chExt cx="1413300" cy="505500"/>
            </a:xfrm>
          </p:grpSpPr>
          <p:sp>
            <p:nvSpPr>
              <p:cNvPr id="306" name="Google Shape;306;g36a8c14dc2e_0_297"/>
              <p:cNvSpPr/>
              <p:nvPr/>
            </p:nvSpPr>
            <p:spPr>
              <a:xfrm>
                <a:off x="359667" y="2652586"/>
                <a:ext cx="914400" cy="505500"/>
              </a:xfrm>
              <a:prstGeom prst="wedgeRectCallout">
                <a:avLst>
                  <a:gd fmla="val 87880" name="adj1"/>
                  <a:gd fmla="val 26861" name="adj2"/>
                </a:avLst>
              </a:prstGeom>
              <a:solidFill>
                <a:srgbClr val="0B5394">
                  <a:alpha val="21520"/>
                </a:srgbClr>
              </a:solidFill>
              <a:ln cap="flat" cmpd="sng" w="9525">
                <a:solidFill>
                  <a:srgbClr val="0C539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g36a8c14dc2e_0_297"/>
              <p:cNvSpPr txBox="1"/>
              <p:nvPr/>
            </p:nvSpPr>
            <p:spPr>
              <a:xfrm>
                <a:off x="317001" y="2766770"/>
                <a:ext cx="14133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Network bits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08" name="Google Shape;308;g36a8c14dc2e_0_297"/>
          <p:cNvGrpSpPr/>
          <p:nvPr/>
        </p:nvGrpSpPr>
        <p:grpSpPr>
          <a:xfrm>
            <a:off x="2280910" y="1761788"/>
            <a:ext cx="5299877" cy="664835"/>
            <a:chOff x="2491410" y="2595363"/>
            <a:chExt cx="5299877" cy="664835"/>
          </a:xfrm>
        </p:grpSpPr>
        <p:sp>
          <p:nvSpPr>
            <p:cNvPr id="309" name="Google Shape;309;g36a8c14dc2e_0_297"/>
            <p:cNvSpPr/>
            <p:nvPr/>
          </p:nvSpPr>
          <p:spPr>
            <a:xfrm>
              <a:off x="2491410" y="2869598"/>
              <a:ext cx="2328900" cy="390600"/>
            </a:xfrm>
            <a:prstGeom prst="frame">
              <a:avLst>
                <a:gd fmla="val 12500" name="adj1"/>
              </a:avLst>
            </a:prstGeom>
            <a:solidFill>
              <a:srgbClr val="38761D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12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g36a8c14dc2e_0_297"/>
            <p:cNvSpPr/>
            <p:nvPr/>
          </p:nvSpPr>
          <p:spPr>
            <a:xfrm>
              <a:off x="6246685" y="2595363"/>
              <a:ext cx="1456500" cy="597300"/>
            </a:xfrm>
            <a:prstGeom prst="wedgeRectCallout">
              <a:avLst>
                <a:gd fmla="val -147635" name="adj1"/>
                <a:gd fmla="val 35511" name="adj2"/>
              </a:avLst>
            </a:prstGeom>
            <a:gradFill>
              <a:gsLst>
                <a:gs pos="0">
                  <a:srgbClr val="DCECD5"/>
                </a:gs>
                <a:gs pos="100000">
                  <a:srgbClr val="92BC81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12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g36a8c14dc2e_0_297"/>
            <p:cNvSpPr txBox="1"/>
            <p:nvPr/>
          </p:nvSpPr>
          <p:spPr>
            <a:xfrm>
              <a:off x="6377987" y="2731098"/>
              <a:ext cx="14133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Host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12" name="Google Shape;312;g36a8c14dc2e_0_2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7340" y="3298473"/>
            <a:ext cx="3129884" cy="365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g36a8c14dc2e_0_2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68059" y="4625628"/>
            <a:ext cx="3310979" cy="3656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4" name="Google Shape;314;g36a8c14dc2e_0_297"/>
          <p:cNvGrpSpPr/>
          <p:nvPr/>
        </p:nvGrpSpPr>
        <p:grpSpPr>
          <a:xfrm>
            <a:off x="107051" y="3168783"/>
            <a:ext cx="2938701" cy="530082"/>
            <a:chOff x="317001" y="3848218"/>
            <a:chExt cx="2938701" cy="530082"/>
          </a:xfrm>
        </p:grpSpPr>
        <p:sp>
          <p:nvSpPr>
            <p:cNvPr id="315" name="Google Shape;315;g36a8c14dc2e_0_297"/>
            <p:cNvSpPr/>
            <p:nvPr/>
          </p:nvSpPr>
          <p:spPr>
            <a:xfrm>
              <a:off x="1689702" y="4000300"/>
              <a:ext cx="1566000" cy="378000"/>
            </a:xfrm>
            <a:prstGeom prst="frame">
              <a:avLst>
                <a:gd fmla="val 12500" name="adj1"/>
              </a:avLst>
            </a:prstGeom>
            <a:solidFill>
              <a:srgbClr val="0C5394"/>
            </a:solidFill>
            <a:ln cap="flat" cmpd="sng" w="9525">
              <a:solidFill>
                <a:srgbClr val="0C5394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12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6" name="Google Shape;316;g36a8c14dc2e_0_297"/>
            <p:cNvGrpSpPr/>
            <p:nvPr/>
          </p:nvGrpSpPr>
          <p:grpSpPr>
            <a:xfrm>
              <a:off x="317001" y="3848218"/>
              <a:ext cx="1413300" cy="505500"/>
              <a:chOff x="317001" y="3848218"/>
              <a:chExt cx="1413300" cy="505500"/>
            </a:xfrm>
          </p:grpSpPr>
          <p:sp>
            <p:nvSpPr>
              <p:cNvPr id="317" name="Google Shape;317;g36a8c14dc2e_0_297"/>
              <p:cNvSpPr/>
              <p:nvPr/>
            </p:nvSpPr>
            <p:spPr>
              <a:xfrm>
                <a:off x="359667" y="3848218"/>
                <a:ext cx="914400" cy="505500"/>
              </a:xfrm>
              <a:prstGeom prst="wedgeRectCallout">
                <a:avLst>
                  <a:gd fmla="val 87880" name="adj1"/>
                  <a:gd fmla="val 26861" name="adj2"/>
                </a:avLst>
              </a:prstGeom>
              <a:solidFill>
                <a:srgbClr val="0B5394">
                  <a:alpha val="21520"/>
                </a:srgbClr>
              </a:solidFill>
              <a:ln cap="flat" cmpd="sng" w="9525">
                <a:solidFill>
                  <a:srgbClr val="0C539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g36a8c14dc2e_0_297"/>
              <p:cNvSpPr txBox="1"/>
              <p:nvPr/>
            </p:nvSpPr>
            <p:spPr>
              <a:xfrm>
                <a:off x="317001" y="3962402"/>
                <a:ext cx="14133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Network bits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19" name="Google Shape;319;g36a8c14dc2e_0_297"/>
          <p:cNvGrpSpPr/>
          <p:nvPr/>
        </p:nvGrpSpPr>
        <p:grpSpPr>
          <a:xfrm>
            <a:off x="3050143" y="3003728"/>
            <a:ext cx="4539295" cy="702349"/>
            <a:chOff x="3260093" y="3700178"/>
            <a:chExt cx="4539295" cy="702349"/>
          </a:xfrm>
        </p:grpSpPr>
        <p:sp>
          <p:nvSpPr>
            <p:cNvPr id="320" name="Google Shape;320;g36a8c14dc2e_0_297"/>
            <p:cNvSpPr/>
            <p:nvPr/>
          </p:nvSpPr>
          <p:spPr>
            <a:xfrm>
              <a:off x="3260093" y="4008627"/>
              <a:ext cx="1574700" cy="393900"/>
            </a:xfrm>
            <a:prstGeom prst="frame">
              <a:avLst>
                <a:gd fmla="val 12500" name="adj1"/>
              </a:avLst>
            </a:prstGeom>
            <a:solidFill>
              <a:srgbClr val="38761D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12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g36a8c14dc2e_0_297"/>
            <p:cNvSpPr/>
            <p:nvPr/>
          </p:nvSpPr>
          <p:spPr>
            <a:xfrm>
              <a:off x="6254786" y="3700178"/>
              <a:ext cx="1456500" cy="597300"/>
            </a:xfrm>
            <a:prstGeom prst="wedgeRectCallout">
              <a:avLst>
                <a:gd fmla="val -147635" name="adj1"/>
                <a:gd fmla="val 35511" name="adj2"/>
              </a:avLst>
            </a:prstGeom>
            <a:gradFill>
              <a:gsLst>
                <a:gs pos="0">
                  <a:srgbClr val="DCECD5"/>
                </a:gs>
                <a:gs pos="100000">
                  <a:srgbClr val="92BC8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12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g36a8c14dc2e_0_297"/>
            <p:cNvSpPr txBox="1"/>
            <p:nvPr/>
          </p:nvSpPr>
          <p:spPr>
            <a:xfrm>
              <a:off x="6386088" y="3835913"/>
              <a:ext cx="14133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Host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3" name="Google Shape;323;g36a8c14dc2e_0_297"/>
          <p:cNvGrpSpPr/>
          <p:nvPr/>
        </p:nvGrpSpPr>
        <p:grpSpPr>
          <a:xfrm>
            <a:off x="167477" y="4441027"/>
            <a:ext cx="3852556" cy="560612"/>
            <a:chOff x="317552" y="5049027"/>
            <a:chExt cx="3852556" cy="560612"/>
          </a:xfrm>
        </p:grpSpPr>
        <p:sp>
          <p:nvSpPr>
            <p:cNvPr id="324" name="Google Shape;324;g36a8c14dc2e_0_297"/>
            <p:cNvSpPr/>
            <p:nvPr/>
          </p:nvSpPr>
          <p:spPr>
            <a:xfrm>
              <a:off x="1704108" y="5227439"/>
              <a:ext cx="2466000" cy="382200"/>
            </a:xfrm>
            <a:prstGeom prst="frame">
              <a:avLst>
                <a:gd fmla="val 12500" name="adj1"/>
              </a:avLst>
            </a:prstGeom>
            <a:solidFill>
              <a:schemeClr val="accent3"/>
            </a:solidFill>
            <a:ln cap="flat" cmpd="sng" w="9525">
              <a:solidFill>
                <a:srgbClr val="0C5394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12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5" name="Google Shape;325;g36a8c14dc2e_0_297"/>
            <p:cNvGrpSpPr/>
            <p:nvPr/>
          </p:nvGrpSpPr>
          <p:grpSpPr>
            <a:xfrm>
              <a:off x="317552" y="5049027"/>
              <a:ext cx="1413300" cy="505500"/>
              <a:chOff x="317552" y="5049027"/>
              <a:chExt cx="1413300" cy="505500"/>
            </a:xfrm>
          </p:grpSpPr>
          <p:sp>
            <p:nvSpPr>
              <p:cNvPr id="326" name="Google Shape;326;g36a8c14dc2e_0_297"/>
              <p:cNvSpPr/>
              <p:nvPr/>
            </p:nvSpPr>
            <p:spPr>
              <a:xfrm>
                <a:off x="360218" y="5049027"/>
                <a:ext cx="914400" cy="505500"/>
              </a:xfrm>
              <a:prstGeom prst="wedgeRectCallout">
                <a:avLst>
                  <a:gd fmla="val 87880" name="adj1"/>
                  <a:gd fmla="val 26861" name="adj2"/>
                </a:avLst>
              </a:prstGeom>
              <a:solidFill>
                <a:srgbClr val="0B5394">
                  <a:alpha val="21520"/>
                </a:srgbClr>
              </a:solidFill>
              <a:ln cap="flat" cmpd="sng" w="9525">
                <a:solidFill>
                  <a:srgbClr val="0C5394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000000">
                    <a:alpha val="3412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g36a8c14dc2e_0_297"/>
              <p:cNvSpPr txBox="1"/>
              <p:nvPr/>
            </p:nvSpPr>
            <p:spPr>
              <a:xfrm>
                <a:off x="317552" y="5163211"/>
                <a:ext cx="1413300" cy="27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" sz="12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Network bits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28" name="Google Shape;328;g36a8c14dc2e_0_297"/>
          <p:cNvGrpSpPr/>
          <p:nvPr/>
        </p:nvGrpSpPr>
        <p:grpSpPr>
          <a:xfrm>
            <a:off x="4031588" y="4509833"/>
            <a:ext cx="4148881" cy="597300"/>
            <a:chOff x="4181663" y="5117833"/>
            <a:chExt cx="4148881" cy="597300"/>
          </a:xfrm>
        </p:grpSpPr>
        <p:sp>
          <p:nvSpPr>
            <p:cNvPr id="329" name="Google Shape;329;g36a8c14dc2e_0_297"/>
            <p:cNvSpPr/>
            <p:nvPr/>
          </p:nvSpPr>
          <p:spPr>
            <a:xfrm>
              <a:off x="4181663" y="5225937"/>
              <a:ext cx="842100" cy="383700"/>
            </a:xfrm>
            <a:prstGeom prst="frame">
              <a:avLst>
                <a:gd fmla="val 12500" name="adj1"/>
              </a:avLst>
            </a:prstGeom>
            <a:solidFill>
              <a:srgbClr val="38761D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12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g36a8c14dc2e_0_297"/>
            <p:cNvSpPr/>
            <p:nvPr/>
          </p:nvSpPr>
          <p:spPr>
            <a:xfrm>
              <a:off x="6874042" y="5117833"/>
              <a:ext cx="1456500" cy="597300"/>
            </a:xfrm>
            <a:prstGeom prst="wedgeRectCallout">
              <a:avLst>
                <a:gd fmla="val -175327" name="adj1"/>
                <a:gd fmla="val 2816" name="adj2"/>
              </a:avLst>
            </a:prstGeom>
            <a:gradFill>
              <a:gsLst>
                <a:gs pos="0">
                  <a:srgbClr val="DCECD5"/>
                </a:gs>
                <a:gs pos="100000">
                  <a:srgbClr val="92BC81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40000" rotWithShape="0" dir="5400000" dist="23000">
                <a:srgbClr val="000000">
                  <a:alpha val="3412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g36a8c14dc2e_0_297"/>
            <p:cNvSpPr txBox="1"/>
            <p:nvPr/>
          </p:nvSpPr>
          <p:spPr>
            <a:xfrm>
              <a:off x="6917244" y="5289406"/>
              <a:ext cx="14133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Host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6a8c14dc2e_0_31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Classful Addressing</a:t>
            </a:r>
            <a:endParaRPr/>
          </a:p>
        </p:txBody>
      </p:sp>
      <p:sp>
        <p:nvSpPr>
          <p:cNvPr id="337" name="Google Shape;337;g36a8c14dc2e_0_31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Network classes: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A (/8): first 8 bits devoted to network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B (/16): first 16 bits devoted to network (first byte from 128 to 191)</a:t>
            </a:r>
            <a:endParaRPr sz="1500"/>
          </a:p>
          <a:p>
            <a:pPr indent="-323850" lvl="1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C (/24): first 24 bits devoted to network (first byte from 192 to 223)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Why is this a bad idea?</a:t>
            </a:r>
            <a:endParaRPr sz="1500"/>
          </a:p>
          <a:p>
            <a:pPr indent="-323850" lvl="1" marL="914400" rtl="0" algn="l"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Very limited choices lead to waste of addresses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6a8c14dc2e_0_302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Classless Inter-Domain Routing (CIDR)</a:t>
            </a:r>
            <a:endParaRPr/>
          </a:p>
        </p:txBody>
      </p:sp>
      <p:sp>
        <p:nvSpPr>
          <p:cNvPr id="343" name="Google Shape;343;g36a8c14dc2e_0_302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two 32-bit numbers to represent a network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Network address = IP Address bitwise AND Subnet Mask</a:t>
            </a:r>
            <a:endParaRPr/>
          </a:p>
          <a:p>
            <a:pPr indent="-342900" lvl="2" marL="1371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IP Address is 192.138.12.2</a:t>
            </a:r>
            <a:endParaRPr/>
          </a:p>
          <a:p>
            <a:pPr indent="-342900" lvl="2" marL="13716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Subnet Mask is 255.248.0.0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Flexible division of bits: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More choices for the size of the network and hosts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Offers better size routing table and efficient IP address space</a:t>
            </a:r>
            <a:endParaRPr/>
          </a:p>
        </p:txBody>
      </p:sp>
      <p:grpSp>
        <p:nvGrpSpPr>
          <p:cNvPr id="344" name="Google Shape;344;g36a8c14dc2e_0_302"/>
          <p:cNvGrpSpPr/>
          <p:nvPr/>
        </p:nvGrpSpPr>
        <p:grpSpPr>
          <a:xfrm>
            <a:off x="699944" y="2482850"/>
            <a:ext cx="1401900" cy="774119"/>
            <a:chOff x="807719" y="3195393"/>
            <a:chExt cx="1401900" cy="774119"/>
          </a:xfrm>
        </p:grpSpPr>
        <p:sp>
          <p:nvSpPr>
            <p:cNvPr id="345" name="Google Shape;345;g36a8c14dc2e_0_302"/>
            <p:cNvSpPr txBox="1"/>
            <p:nvPr/>
          </p:nvSpPr>
          <p:spPr>
            <a:xfrm>
              <a:off x="841626" y="3195393"/>
              <a:ext cx="133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6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IP Address</a:t>
              </a:r>
              <a:endParaRPr i="0" sz="16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346" name="Google Shape;346;g36a8c14dc2e_0_302"/>
            <p:cNvSpPr txBox="1"/>
            <p:nvPr/>
          </p:nvSpPr>
          <p:spPr>
            <a:xfrm>
              <a:off x="807719" y="3600211"/>
              <a:ext cx="1401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0" lang="en" sz="15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Subnet Mask</a:t>
              </a:r>
              <a:endParaRPr i="0" sz="15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347" name="Google Shape;347;g36a8c14dc2e_0_302"/>
          <p:cNvSpPr txBox="1"/>
          <p:nvPr/>
        </p:nvSpPr>
        <p:spPr>
          <a:xfrm>
            <a:off x="1208055" y="2009291"/>
            <a:ext cx="8184000" cy="18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5D46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695D4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D6DC3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3D6DC3"/>
                </a:solidFill>
                <a:latin typeface="Calibri"/>
                <a:ea typeface="Calibri"/>
                <a:cs typeface="Calibri"/>
                <a:sym typeface="Calibri"/>
              </a:rPr>
              <a:t>		1100 0000 . 1000 1</a:t>
            </a:r>
            <a:r>
              <a:rPr b="0" i="0" lang="en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010 . 0000 1100 . 0000 0010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3D6DC3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3D6DC3"/>
                </a:solidFill>
                <a:latin typeface="Calibri"/>
                <a:ea typeface="Calibri"/>
                <a:cs typeface="Calibri"/>
                <a:sym typeface="Calibri"/>
              </a:rPr>
              <a:t>		1111 1111 . 1111 1</a:t>
            </a:r>
            <a:r>
              <a:rPr b="0" i="0" lang="en" sz="2400" u="none" cap="none" strike="noStrike">
                <a:solidFill>
                  <a:srgbClr val="695D46"/>
                </a:solidFill>
                <a:latin typeface="Calibri"/>
                <a:ea typeface="Calibri"/>
                <a:cs typeface="Calibri"/>
                <a:sym typeface="Calibri"/>
              </a:rPr>
              <a:t>000 . 0000 0000 . 0000 0000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6a8c14dc2e_0_302"/>
          <p:cNvSpPr/>
          <p:nvPr/>
        </p:nvSpPr>
        <p:spPr>
          <a:xfrm rot="5400000">
            <a:off x="3327734" y="1305939"/>
            <a:ext cx="137100" cy="22377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54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647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6a8c14dc2e_0_302"/>
          <p:cNvSpPr txBox="1"/>
          <p:nvPr/>
        </p:nvSpPr>
        <p:spPr>
          <a:xfrm>
            <a:off x="1928786" y="1959998"/>
            <a:ext cx="3232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network address 192.136.0.0/13</a:t>
            </a:r>
            <a:endParaRPr b="0" i="0" sz="1400" u="none" cap="none" strike="noStrik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6a8c14dc2e_0_307"/>
          <p:cNvSpPr/>
          <p:nvPr/>
        </p:nvSpPr>
        <p:spPr>
          <a:xfrm>
            <a:off x="3326726" y="3538525"/>
            <a:ext cx="2573400" cy="807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6a8c14dc2e_0_307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Prefixes</a:t>
            </a:r>
            <a:endParaRPr/>
          </a:p>
        </p:txBody>
      </p:sp>
      <p:sp>
        <p:nvSpPr>
          <p:cNvPr id="356" name="Google Shape;356;g36a8c14dc2e_0_307"/>
          <p:cNvSpPr txBox="1"/>
          <p:nvPr>
            <p:ph idx="1" type="body"/>
          </p:nvPr>
        </p:nvSpPr>
        <p:spPr>
          <a:xfrm>
            <a:off x="107050" y="402200"/>
            <a:ext cx="8909700" cy="4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Easy to Add New Hosts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New host (5.6.7.213)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Forwarding table doesn’t need to be updated!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7" name="Google Shape;357;g36a8c14dc2e_0_307"/>
          <p:cNvCxnSpPr/>
          <p:nvPr/>
        </p:nvCxnSpPr>
        <p:spPr>
          <a:xfrm>
            <a:off x="810513" y="2610825"/>
            <a:ext cx="2590800" cy="0"/>
          </a:xfrm>
          <a:prstGeom prst="straightConnector1">
            <a:avLst/>
          </a:prstGeom>
          <a:noFill/>
          <a:ln cap="flat" cmpd="tri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g36a8c14dc2e_0_307"/>
          <p:cNvCxnSpPr/>
          <p:nvPr/>
        </p:nvCxnSpPr>
        <p:spPr>
          <a:xfrm>
            <a:off x="1115313" y="2306025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" name="Google Shape;359;g36a8c14dc2e_0_307"/>
          <p:cNvCxnSpPr/>
          <p:nvPr/>
        </p:nvCxnSpPr>
        <p:spPr>
          <a:xfrm>
            <a:off x="2029713" y="2306025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g36a8c14dc2e_0_307"/>
          <p:cNvCxnSpPr/>
          <p:nvPr/>
        </p:nvCxnSpPr>
        <p:spPr>
          <a:xfrm>
            <a:off x="3096513" y="2306025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g36a8c14dc2e_0_307"/>
          <p:cNvSpPr/>
          <p:nvPr/>
        </p:nvSpPr>
        <p:spPr>
          <a:xfrm>
            <a:off x="807338" y="2020275"/>
            <a:ext cx="625500" cy="349200"/>
          </a:xfrm>
          <a:prstGeom prst="rect">
            <a:avLst/>
          </a:prstGeom>
          <a:solidFill>
            <a:srgbClr val="C9DAF8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g36a8c14dc2e_0_307"/>
          <p:cNvSpPr/>
          <p:nvPr/>
        </p:nvSpPr>
        <p:spPr>
          <a:xfrm>
            <a:off x="1702688" y="2001225"/>
            <a:ext cx="625500" cy="349200"/>
          </a:xfrm>
          <a:prstGeom prst="rect">
            <a:avLst/>
          </a:prstGeom>
          <a:solidFill>
            <a:srgbClr val="C9DAF8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36a8c14dc2e_0_307"/>
          <p:cNvSpPr/>
          <p:nvPr/>
        </p:nvSpPr>
        <p:spPr>
          <a:xfrm>
            <a:off x="2769488" y="2001225"/>
            <a:ext cx="625500" cy="349200"/>
          </a:xfrm>
          <a:prstGeom prst="rect">
            <a:avLst/>
          </a:prstGeom>
          <a:solidFill>
            <a:srgbClr val="C9DAF8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6a8c14dc2e_0_307"/>
          <p:cNvSpPr txBox="1"/>
          <p:nvPr/>
        </p:nvSpPr>
        <p:spPr>
          <a:xfrm>
            <a:off x="939101" y="2625113"/>
            <a:ext cx="7716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36a8c14dc2e_0_307"/>
          <p:cNvSpPr txBox="1"/>
          <p:nvPr/>
        </p:nvSpPr>
        <p:spPr>
          <a:xfrm>
            <a:off x="2336101" y="1925025"/>
            <a:ext cx="3540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6" name="Google Shape;366;g36a8c14dc2e_0_307"/>
          <p:cNvCxnSpPr/>
          <p:nvPr/>
        </p:nvCxnSpPr>
        <p:spPr>
          <a:xfrm>
            <a:off x="5458713" y="2610825"/>
            <a:ext cx="2590800" cy="0"/>
          </a:xfrm>
          <a:prstGeom prst="straightConnector1">
            <a:avLst/>
          </a:prstGeom>
          <a:noFill/>
          <a:ln cap="flat" cmpd="tri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" name="Google Shape;367;g36a8c14dc2e_0_307"/>
          <p:cNvCxnSpPr/>
          <p:nvPr/>
        </p:nvCxnSpPr>
        <p:spPr>
          <a:xfrm>
            <a:off x="5763513" y="2306025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" name="Google Shape;368;g36a8c14dc2e_0_307"/>
          <p:cNvCxnSpPr/>
          <p:nvPr/>
        </p:nvCxnSpPr>
        <p:spPr>
          <a:xfrm>
            <a:off x="6677913" y="2306025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" name="Google Shape;369;g36a8c14dc2e_0_307"/>
          <p:cNvCxnSpPr/>
          <p:nvPr/>
        </p:nvCxnSpPr>
        <p:spPr>
          <a:xfrm>
            <a:off x="7744713" y="229015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" name="Google Shape;370;g36a8c14dc2e_0_307"/>
          <p:cNvSpPr/>
          <p:nvPr/>
        </p:nvSpPr>
        <p:spPr>
          <a:xfrm>
            <a:off x="5455538" y="2020275"/>
            <a:ext cx="625500" cy="349200"/>
          </a:xfrm>
          <a:prstGeom prst="rect">
            <a:avLst/>
          </a:prstGeom>
          <a:solidFill>
            <a:srgbClr val="C9DAF8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36a8c14dc2e_0_307"/>
          <p:cNvSpPr/>
          <p:nvPr/>
        </p:nvSpPr>
        <p:spPr>
          <a:xfrm>
            <a:off x="6350888" y="2001225"/>
            <a:ext cx="625500" cy="349200"/>
          </a:xfrm>
          <a:prstGeom prst="rect">
            <a:avLst/>
          </a:prstGeom>
          <a:solidFill>
            <a:srgbClr val="C9DAF8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6a8c14dc2e_0_307"/>
          <p:cNvSpPr/>
          <p:nvPr/>
        </p:nvSpPr>
        <p:spPr>
          <a:xfrm>
            <a:off x="7417688" y="1985350"/>
            <a:ext cx="625500" cy="349200"/>
          </a:xfrm>
          <a:prstGeom prst="rect">
            <a:avLst/>
          </a:prstGeom>
          <a:solidFill>
            <a:srgbClr val="C9DAF8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36a8c14dc2e_0_307"/>
          <p:cNvSpPr txBox="1"/>
          <p:nvPr/>
        </p:nvSpPr>
        <p:spPr>
          <a:xfrm>
            <a:off x="6728713" y="2610825"/>
            <a:ext cx="7716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LAN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36a8c14dc2e_0_307"/>
          <p:cNvSpPr txBox="1"/>
          <p:nvPr/>
        </p:nvSpPr>
        <p:spPr>
          <a:xfrm>
            <a:off x="6984301" y="1925025"/>
            <a:ext cx="3540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5" name="Google Shape;375;g36a8c14dc2e_0_307"/>
          <p:cNvCxnSpPr/>
          <p:nvPr/>
        </p:nvCxnSpPr>
        <p:spPr>
          <a:xfrm>
            <a:off x="2639313" y="2610825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" name="Google Shape;376;g36a8c14dc2e_0_307"/>
          <p:cNvCxnSpPr/>
          <p:nvPr/>
        </p:nvCxnSpPr>
        <p:spPr>
          <a:xfrm>
            <a:off x="6296913" y="2610825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" name="Google Shape;377;g36a8c14dc2e_0_307"/>
          <p:cNvCxnSpPr/>
          <p:nvPr/>
        </p:nvCxnSpPr>
        <p:spPr>
          <a:xfrm>
            <a:off x="2944113" y="3068025"/>
            <a:ext cx="12192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8" name="Google Shape;378;g36a8c14dc2e_0_307"/>
          <p:cNvCxnSpPr/>
          <p:nvPr/>
        </p:nvCxnSpPr>
        <p:spPr>
          <a:xfrm>
            <a:off x="4772913" y="3068025"/>
            <a:ext cx="12192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9" name="Google Shape;379;g36a8c14dc2e_0_307"/>
          <p:cNvSpPr txBox="1"/>
          <p:nvPr/>
        </p:nvSpPr>
        <p:spPr>
          <a:xfrm>
            <a:off x="3221926" y="3068025"/>
            <a:ext cx="6699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36a8c14dc2e_0_307"/>
          <p:cNvSpPr txBox="1"/>
          <p:nvPr/>
        </p:nvSpPr>
        <p:spPr>
          <a:xfrm>
            <a:off x="5049138" y="3068025"/>
            <a:ext cx="6699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6a8c14dc2e_0_307"/>
          <p:cNvSpPr txBox="1"/>
          <p:nvPr/>
        </p:nvSpPr>
        <p:spPr>
          <a:xfrm>
            <a:off x="313626" y="1599588"/>
            <a:ext cx="1144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4A86E8"/>
                </a:solidFill>
                <a:latin typeface="Consolas"/>
                <a:ea typeface="Consolas"/>
                <a:cs typeface="Consolas"/>
                <a:sym typeface="Consolas"/>
              </a:rPr>
              <a:t>1.2.3.4</a:t>
            </a:r>
            <a:endParaRPr i="0" sz="1400" u="none" cap="none" strike="noStrike">
              <a:solidFill>
                <a:srgbClr val="4A86E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2" name="Google Shape;382;g36a8c14dc2e_0_307"/>
          <p:cNvSpPr txBox="1"/>
          <p:nvPr/>
        </p:nvSpPr>
        <p:spPr>
          <a:xfrm>
            <a:off x="1504251" y="1599588"/>
            <a:ext cx="1144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4A86E8"/>
                </a:solidFill>
                <a:latin typeface="Consolas"/>
                <a:ea typeface="Consolas"/>
                <a:cs typeface="Consolas"/>
                <a:sym typeface="Consolas"/>
              </a:rPr>
              <a:t>1.2.3.7</a:t>
            </a:r>
            <a:endParaRPr i="0" sz="1400" u="none" cap="none" strike="noStrike">
              <a:solidFill>
                <a:srgbClr val="4A86E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3" name="Google Shape;383;g36a8c14dc2e_0_307"/>
          <p:cNvSpPr txBox="1"/>
          <p:nvPr/>
        </p:nvSpPr>
        <p:spPr>
          <a:xfrm>
            <a:off x="2645663" y="1599588"/>
            <a:ext cx="14193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4A86E8"/>
                </a:solidFill>
                <a:latin typeface="Consolas"/>
                <a:ea typeface="Consolas"/>
                <a:cs typeface="Consolas"/>
                <a:sym typeface="Consolas"/>
              </a:rPr>
              <a:t>1.2.3.156</a:t>
            </a:r>
            <a:endParaRPr i="0" sz="1400" u="none" cap="none" strike="noStrike">
              <a:solidFill>
                <a:srgbClr val="4A86E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4" name="Google Shape;384;g36a8c14dc2e_0_307"/>
          <p:cNvSpPr txBox="1"/>
          <p:nvPr/>
        </p:nvSpPr>
        <p:spPr>
          <a:xfrm>
            <a:off x="4922138" y="1599588"/>
            <a:ext cx="1144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E06666"/>
                </a:solidFill>
                <a:latin typeface="Consolas"/>
                <a:ea typeface="Consolas"/>
                <a:cs typeface="Consolas"/>
                <a:sym typeface="Consolas"/>
              </a:rPr>
              <a:t>5.6.7.8</a:t>
            </a:r>
            <a:endParaRPr i="0" sz="1400" u="none" cap="none" strike="noStrike">
              <a:solidFill>
                <a:srgbClr val="E0666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5" name="Google Shape;385;g36a8c14dc2e_0_307"/>
          <p:cNvSpPr txBox="1"/>
          <p:nvPr/>
        </p:nvSpPr>
        <p:spPr>
          <a:xfrm>
            <a:off x="6073076" y="1599588"/>
            <a:ext cx="11445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E06666"/>
                </a:solidFill>
                <a:latin typeface="Consolas"/>
                <a:ea typeface="Consolas"/>
                <a:cs typeface="Consolas"/>
                <a:sym typeface="Consolas"/>
              </a:rPr>
              <a:t>5.6.7.9</a:t>
            </a:r>
            <a:endParaRPr i="0" sz="1400" u="none" cap="none" strike="noStrike">
              <a:solidFill>
                <a:srgbClr val="E0666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6" name="Google Shape;386;g36a8c14dc2e_0_307"/>
          <p:cNvSpPr txBox="1"/>
          <p:nvPr/>
        </p:nvSpPr>
        <p:spPr>
          <a:xfrm>
            <a:off x="7254176" y="1599588"/>
            <a:ext cx="14193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E06666"/>
                </a:solidFill>
                <a:latin typeface="Consolas"/>
                <a:ea typeface="Consolas"/>
                <a:cs typeface="Consolas"/>
                <a:sym typeface="Consolas"/>
              </a:rPr>
              <a:t>5.6.7.212</a:t>
            </a:r>
            <a:endParaRPr i="0" sz="1400" u="none" cap="none" strike="noStrike">
              <a:solidFill>
                <a:srgbClr val="E0666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7" name="Google Shape;387;g36a8c14dc2e_0_307"/>
          <p:cNvSpPr txBox="1"/>
          <p:nvPr/>
        </p:nvSpPr>
        <p:spPr>
          <a:xfrm>
            <a:off x="3298151" y="3594088"/>
            <a:ext cx="15558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4A86E8"/>
                </a:solidFill>
                <a:latin typeface="Consolas"/>
                <a:ea typeface="Consolas"/>
                <a:cs typeface="Consolas"/>
                <a:sym typeface="Consolas"/>
              </a:rPr>
              <a:t>1.2.3.0/24</a:t>
            </a:r>
            <a:endParaRPr i="0" sz="1400" u="none" cap="none" strike="noStrike">
              <a:solidFill>
                <a:srgbClr val="4A86E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8" name="Google Shape;388;g36a8c14dc2e_0_307"/>
          <p:cNvSpPr txBox="1"/>
          <p:nvPr/>
        </p:nvSpPr>
        <p:spPr>
          <a:xfrm>
            <a:off x="3310851" y="3978263"/>
            <a:ext cx="15558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E06666"/>
                </a:solidFill>
                <a:latin typeface="Consolas"/>
                <a:ea typeface="Consolas"/>
                <a:cs typeface="Consolas"/>
                <a:sym typeface="Consolas"/>
              </a:rPr>
              <a:t>5.6.7.0/24</a:t>
            </a:r>
            <a:endParaRPr i="0" sz="1400" u="none" cap="none" strike="noStrike">
              <a:solidFill>
                <a:srgbClr val="E0666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9" name="Google Shape;389;g36a8c14dc2e_0_307"/>
          <p:cNvSpPr/>
          <p:nvPr/>
        </p:nvSpPr>
        <p:spPr>
          <a:xfrm>
            <a:off x="5017413" y="4000488"/>
            <a:ext cx="728700" cy="230100"/>
          </a:xfrm>
          <a:prstGeom prst="rightArrow">
            <a:avLst>
              <a:gd fmla="val 50000" name="adj1"/>
              <a:gd fmla="val 79138" name="adj2"/>
            </a:avLst>
          </a:prstGeom>
          <a:solidFill>
            <a:srgbClr val="E066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g36a8c14dc2e_0_307"/>
          <p:cNvSpPr/>
          <p:nvPr/>
        </p:nvSpPr>
        <p:spPr>
          <a:xfrm flipH="1">
            <a:off x="5015788" y="3654413"/>
            <a:ext cx="728700" cy="230100"/>
          </a:xfrm>
          <a:prstGeom prst="rightArrow">
            <a:avLst>
              <a:gd fmla="val 50000" name="adj1"/>
              <a:gd fmla="val 79138" name="adj2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1" name="Google Shape;391;g36a8c14dc2e_0_307"/>
          <p:cNvCxnSpPr/>
          <p:nvPr/>
        </p:nvCxnSpPr>
        <p:spPr>
          <a:xfrm>
            <a:off x="4863426" y="3538525"/>
            <a:ext cx="0" cy="807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2" name="Google Shape;392;g36a8c14dc2e_0_307"/>
          <p:cNvCxnSpPr/>
          <p:nvPr/>
        </p:nvCxnSpPr>
        <p:spPr>
          <a:xfrm flipH="1" rot="10800000">
            <a:off x="3326726" y="3960888"/>
            <a:ext cx="2573400" cy="1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3" name="Google Shape;393;g36a8c14dc2e_0_307"/>
          <p:cNvSpPr txBox="1"/>
          <p:nvPr/>
        </p:nvSpPr>
        <p:spPr>
          <a:xfrm>
            <a:off x="3479126" y="4421175"/>
            <a:ext cx="2160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forwarding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4" name="Google Shape;394;g36a8c14dc2e_0_307"/>
          <p:cNvCxnSpPr/>
          <p:nvPr/>
        </p:nvCxnSpPr>
        <p:spPr>
          <a:xfrm>
            <a:off x="7957438" y="2637813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5" name="Google Shape;395;g36a8c14dc2e_0_307"/>
          <p:cNvSpPr/>
          <p:nvPr/>
        </p:nvSpPr>
        <p:spPr>
          <a:xfrm>
            <a:off x="7611363" y="2944200"/>
            <a:ext cx="625500" cy="3492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6a8c14dc2e_0_307"/>
          <p:cNvSpPr txBox="1"/>
          <p:nvPr/>
        </p:nvSpPr>
        <p:spPr>
          <a:xfrm>
            <a:off x="7147813" y="3345838"/>
            <a:ext cx="14193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E06666"/>
                </a:solidFill>
                <a:latin typeface="Consolas"/>
                <a:ea typeface="Consolas"/>
                <a:cs typeface="Consolas"/>
                <a:sym typeface="Consolas"/>
              </a:rPr>
              <a:t>5.6.7.213</a:t>
            </a:r>
            <a:endParaRPr i="0" sz="1400" u="none" cap="none" strike="noStrike">
              <a:solidFill>
                <a:srgbClr val="E0666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7" name="Google Shape;397;g36a8c14dc2e_0_307"/>
          <p:cNvSpPr/>
          <p:nvPr/>
        </p:nvSpPr>
        <p:spPr>
          <a:xfrm>
            <a:off x="7151051" y="2852175"/>
            <a:ext cx="1612800" cy="1036500"/>
          </a:xfrm>
          <a:prstGeom prst="ellipse">
            <a:avLst/>
          </a:prstGeom>
          <a:noFill/>
          <a:ln cap="flat" cmpd="sng" w="25400">
            <a:solidFill>
              <a:srgbClr val="E06666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8" name="Google Shape;398;g36a8c14dc2e_0_307"/>
          <p:cNvSpPr/>
          <p:nvPr/>
        </p:nvSpPr>
        <p:spPr>
          <a:xfrm>
            <a:off x="4013293" y="2877525"/>
            <a:ext cx="914400" cy="3810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36a8c14dc2e_0_307"/>
          <p:cNvSpPr/>
          <p:nvPr/>
        </p:nvSpPr>
        <p:spPr>
          <a:xfrm>
            <a:off x="5812343" y="2852175"/>
            <a:ext cx="914400" cy="3810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36a8c14dc2e_0_307"/>
          <p:cNvSpPr/>
          <p:nvPr/>
        </p:nvSpPr>
        <p:spPr>
          <a:xfrm>
            <a:off x="2055893" y="2871225"/>
            <a:ext cx="914400" cy="3810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627d5ac24e_0_0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Link-State Routing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"/>
              <a:buChar char="•"/>
            </a:pPr>
            <a:r>
              <a:rPr b="1" lang="en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More L3 Link State</a:t>
            </a:r>
            <a:endParaRPr b="1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"/>
              <a:buChar char="•"/>
            </a:pPr>
            <a:r>
              <a:rPr b="1" lang="en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IP Addressing</a:t>
            </a:r>
            <a:endParaRPr b="1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" name="Google Shape;406;g3627d5ac24e_0_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Worksheet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6be4247ada_0_10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Question 1: Link-State Routing</a:t>
            </a:r>
            <a:endParaRPr/>
          </a:p>
        </p:txBody>
      </p:sp>
      <p:pic>
        <p:nvPicPr>
          <p:cNvPr id="412" name="Google Shape;412;g36be4247ada_0_10" title="Screenshot 2025-07-06 at 6.59.4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00" y="1361525"/>
            <a:ext cx="4400998" cy="2551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g36be4247ada_0_10" title="Screenshot 2025-07-06 at 7.00.03 PM.png"/>
          <p:cNvPicPr preferRelativeResize="0"/>
          <p:nvPr/>
        </p:nvPicPr>
        <p:blipFill rotWithShape="1">
          <a:blip r:embed="rId4">
            <a:alphaModFix/>
          </a:blip>
          <a:srcRect b="0" l="1312" r="0" t="0"/>
          <a:stretch/>
        </p:blipFill>
        <p:spPr>
          <a:xfrm>
            <a:off x="4306425" y="560675"/>
            <a:ext cx="4657374" cy="213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g36be4247ada_0_10" title="Screenshot 2025-07-06 at 7.00.20 PM.png"/>
          <p:cNvPicPr preferRelativeResize="0"/>
          <p:nvPr/>
        </p:nvPicPr>
        <p:blipFill rotWithShape="1">
          <a:blip r:embed="rId5">
            <a:alphaModFix/>
          </a:blip>
          <a:srcRect b="0" l="2647" r="0" t="0"/>
          <a:stretch/>
        </p:blipFill>
        <p:spPr>
          <a:xfrm>
            <a:off x="4366925" y="2697375"/>
            <a:ext cx="4508127" cy="2136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g36be4247ada_0_10" title="Screenshot 2025-07-06 at 7.01.13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89050" y="807950"/>
            <a:ext cx="2628275" cy="13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g36be4247ada_0_10" title="Screenshot 2025-07-06 at 7.01.13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89050" y="1525100"/>
            <a:ext cx="2628275" cy="13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g36be4247ada_0_10" title="Screenshot 2025-07-06 at 7.01.13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89050" y="1947225"/>
            <a:ext cx="2628275" cy="13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g36be4247ada_0_10" title="Screenshot 2025-07-06 at 7.01.13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47575" y="2462075"/>
            <a:ext cx="2628275" cy="13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g36be4247ada_0_10" title="Screenshot 2025-07-06 at 7.01.13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89050" y="3187675"/>
            <a:ext cx="2628275" cy="13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g36be4247ada_0_10" title="Screenshot 2025-07-06 at 7.01.13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47575" y="3601375"/>
            <a:ext cx="2628275" cy="13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g36be4247ada_0_10" title="Screenshot 2025-07-06 at 7.01.13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47575" y="4122413"/>
            <a:ext cx="2628275" cy="13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g36be4247ada_0_10" title="Screenshot 2025-07-06 at 7.01.13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47575" y="4643450"/>
            <a:ext cx="2628275" cy="13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6be4247ada_0_0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"/>
              <a:buChar char="•"/>
            </a:pPr>
            <a:r>
              <a:rPr b="1" lang="en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Link-State Routing</a:t>
            </a:r>
            <a:endParaRPr b="1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More L3 Link State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"/>
              <a:buChar char="•"/>
            </a:pPr>
            <a:r>
              <a:rPr b="1" lang="en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IP Addressing</a:t>
            </a:r>
            <a:endParaRPr b="1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g36be4247ada_0_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Worksheet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6be4247ada_0_71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Question 2: More L3 Link State</a:t>
            </a:r>
            <a:endParaRPr/>
          </a:p>
        </p:txBody>
      </p:sp>
      <p:pic>
        <p:nvPicPr>
          <p:cNvPr id="434" name="Google Shape;434;g36be4247ada_0_71" title="Screenshot 2025-07-06 at 7.03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4724" y="575675"/>
            <a:ext cx="6254549" cy="252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g36be4247ada_0_71" title="Screenshot 2025-07-06 at 7.04.0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248250"/>
            <a:ext cx="8839199" cy="839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g36be4247ada_0_71" title="Screenshot 2025-07-06 at 7.04.1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1875" y="3774975"/>
            <a:ext cx="6625850" cy="127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g36be4247ada_0_89" title="Screenshot 2025-07-06 at 7.04.3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450" y="3095850"/>
            <a:ext cx="8621099" cy="100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g36be4247ada_0_89" title="Screenshot 2025-07-06 at 7.04.5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963" y="3955476"/>
            <a:ext cx="7961970" cy="100212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g36be4247ada_0_89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Question 2: More L3 Link State</a:t>
            </a:r>
            <a:endParaRPr/>
          </a:p>
        </p:txBody>
      </p:sp>
      <p:pic>
        <p:nvPicPr>
          <p:cNvPr id="444" name="Google Shape;444;g36be4247ada_0_89" title="Screenshot 2025-07-06 at 7.03.18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4724" y="575675"/>
            <a:ext cx="6254549" cy="252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g36be4247ada_0_89" title="Screenshot 2025-07-06 at 7.04.13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6975" y="3955475"/>
            <a:ext cx="7961949" cy="118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6be4247ada_0_9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Question 2: More L3 Link State</a:t>
            </a:r>
            <a:endParaRPr/>
          </a:p>
        </p:txBody>
      </p:sp>
      <p:pic>
        <p:nvPicPr>
          <p:cNvPr id="451" name="Google Shape;451;g36be4247ada_0_96" title="Screenshot 2025-07-06 at 7.03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4724" y="575675"/>
            <a:ext cx="6254549" cy="252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g36be4247ada_0_96" title="Screenshot 2025-07-06 at 7.05.5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2050" y="3095862"/>
            <a:ext cx="6254549" cy="1955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g36be4247ada_0_96" title="Screenshot 2025-07-06 at 7.04.1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1875" y="4212000"/>
            <a:ext cx="6625850" cy="28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g36be4247ada_0_96" title="Screenshot 2025-07-06 at 7.04.1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7025" y="4770050"/>
            <a:ext cx="6625850" cy="28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6be4247ada_0_103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Question 2: More L3 Link State</a:t>
            </a:r>
            <a:endParaRPr/>
          </a:p>
        </p:txBody>
      </p:sp>
      <p:pic>
        <p:nvPicPr>
          <p:cNvPr id="460" name="Google Shape;460;g36be4247ada_0_103" title="Screenshot 2025-07-06 at 7.03.1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4724" y="575675"/>
            <a:ext cx="6254549" cy="2520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g36be4247ada_0_103" title="Screenshot 2025-07-06 at 7.06.26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402522"/>
            <a:ext cx="9144001" cy="1099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g36be4247ada_0_103" title="Screenshot 2025-07-06 at 7.04.1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4100" y="3867675"/>
            <a:ext cx="7677374" cy="109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6be4247ada_0_5"/>
          <p:cNvSpPr txBox="1"/>
          <p:nvPr>
            <p:ph idx="1" type="body"/>
          </p:nvPr>
        </p:nvSpPr>
        <p:spPr>
          <a:xfrm>
            <a:off x="4812375" y="402200"/>
            <a:ext cx="4038000" cy="42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"/>
              <a:buChar char="•"/>
            </a:pPr>
            <a:r>
              <a:rPr b="1" lang="en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Link-State Routing</a:t>
            </a:r>
            <a:endParaRPr b="1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"/>
              <a:buChar char="•"/>
            </a:pPr>
            <a:r>
              <a:rPr b="1" lang="en">
                <a:solidFill>
                  <a:srgbClr val="CCCCCC"/>
                </a:solidFill>
                <a:latin typeface="Roboto"/>
                <a:ea typeface="Roboto"/>
                <a:cs typeface="Roboto"/>
                <a:sym typeface="Roboto"/>
              </a:rPr>
              <a:t>More L3 Link State</a:t>
            </a:r>
            <a:endParaRPr b="1">
              <a:solidFill>
                <a:srgbClr val="CCCCC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IP Addressing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8" name="Google Shape;468;g36be4247ada_0_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Worksheet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6be4247ada_0_11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Question 3: IP Addressing</a:t>
            </a:r>
            <a:endParaRPr/>
          </a:p>
        </p:txBody>
      </p:sp>
      <p:pic>
        <p:nvPicPr>
          <p:cNvPr id="474" name="Google Shape;474;g36be4247ada_0_115" title="Screenshot 2025-07-06 at 7.07.0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525" y="1435438"/>
            <a:ext cx="4650601" cy="2272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g36be4247ada_0_115" title="Screenshot 2025-07-06 at 7.07.1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1300" y="1572205"/>
            <a:ext cx="4488326" cy="50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g36be4247ada_0_115" title="Screenshot 2025-07-06 at 7.07.27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89275" y="1888189"/>
            <a:ext cx="4488326" cy="1683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g36be4247ada_0_115" title="Screenshot 2025-07-06 at 7.07.46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89275" y="1888200"/>
            <a:ext cx="4488324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2" name="Google Shape;482;g36be4247ada_0_126" title="Screenshot 2025-07-06 at 7.07.5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5675" y="1504442"/>
            <a:ext cx="4488325" cy="1085782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g36be4247ada_0_126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Question 3: IP Addressing</a:t>
            </a:r>
            <a:endParaRPr/>
          </a:p>
        </p:txBody>
      </p:sp>
      <p:pic>
        <p:nvPicPr>
          <p:cNvPr id="484" name="Google Shape;484;g36be4247ada_0_126" title="Screenshot 2025-07-06 at 7.07.0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525" y="1435438"/>
            <a:ext cx="4650601" cy="2272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g36be4247ada_0_126" title="Screenshot 2025-07-06 at 7.07.27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89275" y="1888189"/>
            <a:ext cx="4488326" cy="1683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g36be4247ada_0_126" title="Screenshot 2025-07-06 at 7.07.46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89275" y="1888200"/>
            <a:ext cx="4488324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Google Shape;491;g36be4247ada_0_135" title="Screenshot 2025-07-06 at 7.08.2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5975" y="1435450"/>
            <a:ext cx="4354925" cy="1449374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g36be4247ada_0_135"/>
          <p:cNvSpPr txBox="1"/>
          <p:nvPr>
            <p:ph type="title"/>
          </p:nvPr>
        </p:nvSpPr>
        <p:spPr>
          <a:xfrm>
            <a:off x="0" y="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Question 3: IP Addressing</a:t>
            </a:r>
            <a:endParaRPr/>
          </a:p>
        </p:txBody>
      </p:sp>
      <p:pic>
        <p:nvPicPr>
          <p:cNvPr id="493" name="Google Shape;493;g36be4247ada_0_135" title="Screenshot 2025-07-06 at 7.07.02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525" y="1435438"/>
            <a:ext cx="4650601" cy="2272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g36be4247ada_0_135" title="Screenshot 2025-07-06 at 7.07.27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89275" y="1888189"/>
            <a:ext cx="4488326" cy="1683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g36be4247ada_0_135" title="Screenshot 2025-07-06 at 7.07.46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89275" y="1963125"/>
            <a:ext cx="4488324" cy="211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6a8da6ef7b_1_192"/>
          <p:cNvSpPr txBox="1"/>
          <p:nvPr>
            <p:ph type="title"/>
          </p:nvPr>
        </p:nvSpPr>
        <p:spPr>
          <a:xfrm>
            <a:off x="645900" y="155175"/>
            <a:ext cx="7852200" cy="8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501" name="Google Shape;501;g36a8da6ef7b_1_192"/>
          <p:cNvSpPr txBox="1"/>
          <p:nvPr/>
        </p:nvSpPr>
        <p:spPr>
          <a:xfrm>
            <a:off x="1971825" y="1134400"/>
            <a:ext cx="52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Feedback Form: </a:t>
            </a:r>
            <a:r>
              <a:rPr b="0" i="1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https://tinyurl.com/cs168-su25-disc-feedback</a:t>
            </a:r>
            <a:endParaRPr b="0" i="1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02" name="Google Shape;502;g36a8da6ef7b_1_192" title="Screenshot 2025-06-23 at 10.48.58 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8025" y="1652825"/>
            <a:ext cx="2647950" cy="26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