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y="5143500" cx="9144000"/>
  <p:notesSz cx="6858000" cy="9144000"/>
  <p:embeddedFontLst>
    <p:embeddedFont>
      <p:font typeface="Roboto Medium"/>
      <p:regular r:id="rId78"/>
      <p:bold r:id="rId79"/>
      <p:italic r:id="rId80"/>
      <p:boldItalic r:id="rId81"/>
    </p:embeddedFont>
    <p:embeddedFont>
      <p:font typeface="Roboto"/>
      <p:regular r:id="rId82"/>
      <p:bold r:id="rId83"/>
      <p:italic r:id="rId84"/>
      <p:boldItalic r:id="rId85"/>
    </p:embeddedFont>
    <p:embeddedFont>
      <p:font typeface="PT Sans Narrow"/>
      <p:regular r:id="rId86"/>
      <p:bold r:id="rId87"/>
    </p:embeddedFont>
    <p:embeddedFont>
      <p:font typeface="Average"/>
      <p:regular r:id="rId88"/>
    </p:embeddedFont>
    <p:embeddedFont>
      <p:font typeface="Roboto Light"/>
      <p:regular r:id="rId89"/>
      <p:bold r:id="rId90"/>
      <p:italic r:id="rId91"/>
      <p:boldItalic r:id="rId92"/>
    </p:embeddedFont>
    <p:embeddedFont>
      <p:font typeface="Francois One"/>
      <p:regular r:id="rId93"/>
    </p:embeddedFont>
    <p:embeddedFont>
      <p:font typeface="Open Sans"/>
      <p:regular r:id="rId94"/>
      <p:bold r:id="rId95"/>
      <p:italic r:id="rId96"/>
      <p:boldItalic r:id="rId9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98" roundtripDataSignature="AMtx7mh2uU5DbTb0zyh2w+YokxtpmbHb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B5DC11-5EE2-4423-BDDD-F7B3A7C20352}">
  <a:tblStyle styleId="{F0B5DC11-5EE2-4423-BDDD-F7B3A7C2035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OpenSans-bold.fntdata"/><Relationship Id="rId94" Type="http://schemas.openxmlformats.org/officeDocument/2006/relationships/font" Target="fonts/OpenSans-regular.fntdata"/><Relationship Id="rId97" Type="http://schemas.openxmlformats.org/officeDocument/2006/relationships/font" Target="fonts/OpenSans-boldItalic.fntdata"/><Relationship Id="rId96" Type="http://schemas.openxmlformats.org/officeDocument/2006/relationships/font" Target="fonts/OpenSans-italic.fntdata"/><Relationship Id="rId11" Type="http://schemas.openxmlformats.org/officeDocument/2006/relationships/slide" Target="slides/slide5.xml"/><Relationship Id="rId10" Type="http://schemas.openxmlformats.org/officeDocument/2006/relationships/slide" Target="slides/slide4.xml"/><Relationship Id="rId98"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RobotoLight-italic.fntdata"/><Relationship Id="rId90" Type="http://schemas.openxmlformats.org/officeDocument/2006/relationships/font" Target="fonts/RobotoLight-bold.fntdata"/><Relationship Id="rId93" Type="http://schemas.openxmlformats.org/officeDocument/2006/relationships/font" Target="fonts/FrancoisOne-regular.fntdata"/><Relationship Id="rId92" Type="http://schemas.openxmlformats.org/officeDocument/2006/relationships/font" Target="fonts/RobotoLight-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Roboto-italic.fntdata"/><Relationship Id="rId83" Type="http://schemas.openxmlformats.org/officeDocument/2006/relationships/font" Target="fonts/Roboto-bold.fntdata"/><Relationship Id="rId86" Type="http://schemas.openxmlformats.org/officeDocument/2006/relationships/font" Target="fonts/PTSansNarrow-regular.fntdata"/><Relationship Id="rId85" Type="http://schemas.openxmlformats.org/officeDocument/2006/relationships/font" Target="fonts/Roboto-boldItalic.fntdata"/><Relationship Id="rId88" Type="http://schemas.openxmlformats.org/officeDocument/2006/relationships/font" Target="fonts/Average-regular.fntdata"/><Relationship Id="rId87" Type="http://schemas.openxmlformats.org/officeDocument/2006/relationships/font" Target="fonts/PTSansNarrow-bold.fntdata"/><Relationship Id="rId89" Type="http://schemas.openxmlformats.org/officeDocument/2006/relationships/font" Target="fonts/RobotoLight-regular.fntdata"/><Relationship Id="rId80" Type="http://schemas.openxmlformats.org/officeDocument/2006/relationships/font" Target="fonts/RobotoMedium-italic.fntdata"/><Relationship Id="rId82" Type="http://schemas.openxmlformats.org/officeDocument/2006/relationships/font" Target="fonts/Roboto-regular.fntdata"/><Relationship Id="rId81" Type="http://schemas.openxmlformats.org/officeDocument/2006/relationships/font" Target="fonts/Roboto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font" Target="fonts/RobotoMedium-bold.fntdata"/><Relationship Id="rId78" Type="http://schemas.openxmlformats.org/officeDocument/2006/relationships/font" Target="fonts/RobotoMedium-regular.fntdata"/><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6a8ed94f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6a8ed94f9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Slides template credit: Josh Hug, Lisa Yan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a8da6ef7b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36a8da6ef7b_1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DV lecture last Wednesday, Lecture 5</a:t>
            </a:r>
            <a:endParaRPr/>
          </a:p>
          <a:p>
            <a:pPr indent="0" lvl="0" marL="0" rtl="0" algn="l">
              <a:lnSpc>
                <a:spcPct val="100000"/>
              </a:lnSpc>
              <a:spcBef>
                <a:spcPts val="0"/>
              </a:spcBef>
              <a:spcAft>
                <a:spcPts val="0"/>
              </a:spcAft>
              <a:buSzPts val="1100"/>
              <a:buNone/>
            </a:pPr>
            <a:r>
              <a:rPr lang="en"/>
              <a:t>DV good for small environment; need LS for enterprise scale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rgbClr val="4A464E"/>
                </a:solidFill>
                <a:highlight>
                  <a:srgbClr val="FFFFFF"/>
                </a:highlight>
                <a:latin typeface="Roboto"/>
                <a:ea typeface="Roboto"/>
                <a:cs typeface="Roboto"/>
                <a:sym typeface="Roboto"/>
              </a:rPr>
              <a:t>To start out, every router’s forwarding table is empty. Our goal is to fill in the forwarding tables of every router, such that packets can be routed from anywhere to the destination, A.</a:t>
            </a:r>
            <a:endParaRPr sz="1200">
              <a:solidFill>
                <a:srgbClr val="E6E1E8"/>
              </a:solidFill>
              <a:highlight>
                <a:srgbClr val="27262B"/>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multiple hosts on the network, e.g. A and B are both on the network — need to propagate information about both</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DV ~ distributed version of BF</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Reminder: trying to find shortest path to 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cost is how much it takes from current router to reach the destination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rgbClr val="4A464E"/>
                </a:solidFill>
                <a:highlight>
                  <a:srgbClr val="FFFFFF"/>
                </a:highlight>
                <a:latin typeface="Roboto"/>
                <a:ea typeface="Roboto"/>
                <a:cs typeface="Roboto"/>
                <a:sym typeface="Roboto"/>
              </a:rPr>
              <a:t>If we hear an announcement from the next-hop router (the router with the best-known path that we were forwarding packets to), we should treat that announcement as an update, and edit our forwarding table.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Fail = may not be able to notify about failure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rgbClr val="4A464E"/>
                </a:solidFill>
                <a:highlight>
                  <a:srgbClr val="FFFFFF"/>
                </a:highlight>
                <a:latin typeface="Roboto"/>
                <a:ea typeface="Roboto"/>
                <a:cs typeface="Roboto"/>
                <a:sym typeface="Roboto"/>
              </a:rPr>
              <a:t>30 seconds is a common interval used in practice.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that we have basic functionality, we want to make the protocol more robust + efficient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Only choose one of these two choices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5" name="Google Shape;545;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1" name="Google Shape;55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8" name="Google Shape;568;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2" name="Google Shape;59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9" name="Google Shape;60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9" name="Google Shape;649;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9" name="Google Shape;669;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9" name="Google Shape;689;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9" name="Google Shape;709;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9" name="Google Shape;729;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9" name="Google Shape;749;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9" name="Google Shape;769;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9" name="Google Shape;789;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5" name="Google Shape;795;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5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1" name="Google Shape;801;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7" name="Google Shape;807;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3" name="Google Shape;813;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6aa600387d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9" name="Google Shape;819;g36aa600387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6c259e05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5" name="Google Shape;825;g36c259e05aa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6c259e05a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1" name="Google Shape;831;g36c259e05aa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6c259e05a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3" name="Google Shape;843;g36c259e05aa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6c259e05a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7" name="Google Shape;857;g36c259e05aa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6c259e05a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1" name="Google Shape;871;g36c259e05aa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6c259e05a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1" name="Google Shape;881;g36c259e05aa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6c259e05a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0" name="Google Shape;890;g36c259e05aa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6c259e05a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0" name="Google Shape;900;g36c259e05aa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6c259e05aa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7" name="Google Shape;907;g36c259e05a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6c259e05aa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3" name="Google Shape;913;g36c259e05aa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6c259e05a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2" name="Google Shape;922;g36c259e05aa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6c259e05aa_0_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0" name="Google Shape;930;g36c259e05aa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6c259e05aa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6" name="Google Shape;936;g36c259e05aa_0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6c259e05a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0" name="Google Shape;950;g36c259e05aa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6c259e05a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9" name="Google Shape;979;g36c259e05aa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6c259e05a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9" name="Google Shape;999;g36c259e05aa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6c259e05a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7" name="Google Shape;1017;g36c259e05aa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6a8da6ef7b_1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8" name="Google Shape;1028;g36a8da6ef7b_1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5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400"/>
              <a:buNone/>
              <a:defRPr sz="4400"/>
            </a:lvl1pPr>
            <a:lvl2pPr lvl="1" algn="l">
              <a:lnSpc>
                <a:spcPct val="100000"/>
              </a:lnSpc>
              <a:spcBef>
                <a:spcPts val="0"/>
              </a:spcBef>
              <a:spcAft>
                <a:spcPts val="0"/>
              </a:spcAft>
              <a:buSzPts val="4400"/>
              <a:buNone/>
              <a:defRPr sz="4400"/>
            </a:lvl2pPr>
            <a:lvl3pPr lvl="2" algn="l">
              <a:lnSpc>
                <a:spcPct val="100000"/>
              </a:lnSpc>
              <a:spcBef>
                <a:spcPts val="0"/>
              </a:spcBef>
              <a:spcAft>
                <a:spcPts val="0"/>
              </a:spcAft>
              <a:buSzPts val="4400"/>
              <a:buNone/>
              <a:defRPr sz="4400"/>
            </a:lvl3pPr>
            <a:lvl4pPr lvl="3" algn="l">
              <a:lnSpc>
                <a:spcPct val="100000"/>
              </a:lnSpc>
              <a:spcBef>
                <a:spcPts val="0"/>
              </a:spcBef>
              <a:spcAft>
                <a:spcPts val="0"/>
              </a:spcAft>
              <a:buSzPts val="4400"/>
              <a:buNone/>
              <a:defRPr sz="4400"/>
            </a:lvl4pPr>
            <a:lvl5pPr lvl="4" algn="l">
              <a:lnSpc>
                <a:spcPct val="100000"/>
              </a:lnSpc>
              <a:spcBef>
                <a:spcPts val="0"/>
              </a:spcBef>
              <a:spcAft>
                <a:spcPts val="0"/>
              </a:spcAft>
              <a:buSzPts val="4400"/>
              <a:buNone/>
              <a:defRPr sz="4400"/>
            </a:lvl5pPr>
            <a:lvl6pPr lvl="5" algn="l">
              <a:lnSpc>
                <a:spcPct val="100000"/>
              </a:lnSpc>
              <a:spcBef>
                <a:spcPts val="0"/>
              </a:spcBef>
              <a:spcAft>
                <a:spcPts val="0"/>
              </a:spcAft>
              <a:buSzPts val="4400"/>
              <a:buNone/>
              <a:defRPr sz="4400"/>
            </a:lvl6pPr>
            <a:lvl7pPr lvl="6" algn="l">
              <a:lnSpc>
                <a:spcPct val="100000"/>
              </a:lnSpc>
              <a:spcBef>
                <a:spcPts val="0"/>
              </a:spcBef>
              <a:spcAft>
                <a:spcPts val="0"/>
              </a:spcAft>
              <a:buSzPts val="4400"/>
              <a:buNone/>
              <a:defRPr sz="4400"/>
            </a:lvl7pPr>
            <a:lvl8pPr lvl="7" algn="l">
              <a:lnSpc>
                <a:spcPct val="100000"/>
              </a:lnSpc>
              <a:spcBef>
                <a:spcPts val="0"/>
              </a:spcBef>
              <a:spcAft>
                <a:spcPts val="0"/>
              </a:spcAft>
              <a:buSzPts val="4400"/>
              <a:buNone/>
              <a:defRPr sz="4400"/>
            </a:lvl8pPr>
            <a:lvl9pPr lvl="8" algn="l">
              <a:lnSpc>
                <a:spcPct val="100000"/>
              </a:lnSpc>
              <a:spcBef>
                <a:spcPts val="0"/>
              </a:spcBef>
              <a:spcAft>
                <a:spcPts val="0"/>
              </a:spcAft>
              <a:buSzPts val="4400"/>
              <a:buNone/>
              <a:defRPr sz="4400"/>
            </a:lvl9pPr>
          </a:lstStyle>
          <a:p/>
        </p:txBody>
      </p:sp>
      <p:sp>
        <p:nvSpPr>
          <p:cNvPr id="11" name="Google Shape;11;p55"/>
          <p:cNvSpPr txBox="1"/>
          <p:nvPr>
            <p:ph idx="1" type="subTitle"/>
          </p:nvPr>
        </p:nvSpPr>
        <p:spPr>
          <a:xfrm>
            <a:off x="311700" y="2834125"/>
            <a:ext cx="8520600" cy="1536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2" name="Google Shape;1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5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15" name="Google Shape;15;p5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55600" lvl="2" marL="1371600" marR="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55600" lvl="3" marL="1828800" marR="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4pPr>
            <a:lvl5pPr indent="-355600" lvl="4" marL="2286000" marR="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 name="Google Shape;16;p5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 name="Google Shape;17;p5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 name="Google Shape;18;p5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cxnSp>
        <p:nvCxnSpPr>
          <p:cNvPr id="19" name="Google Shape;19;p56"/>
          <p:cNvCxnSpPr/>
          <p:nvPr/>
        </p:nvCxnSpPr>
        <p:spPr>
          <a:xfrm>
            <a:off x="0" y="5118865"/>
            <a:ext cx="9144000" cy="0"/>
          </a:xfrm>
          <a:prstGeom prst="straightConnector1">
            <a:avLst/>
          </a:prstGeom>
          <a:noFill/>
          <a:ln cap="flat" cmpd="sng" w="127000">
            <a:solidFill>
              <a:schemeClr val="accent2"/>
            </a:solidFill>
            <a:prstDash val="solid"/>
            <a:round/>
            <a:headEnd len="sm" w="sm" type="none"/>
            <a:tailEnd len="sm" w="sm" type="none"/>
          </a:ln>
          <a:effectLst>
            <a:outerShdw blurRad="40000" rotWithShape="0" dir="5400000" dist="20000">
              <a:srgbClr val="000000">
                <a:alpha val="37254"/>
              </a:srgbClr>
            </a:outerShdw>
          </a:effectLst>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0" name="Shape 20"/>
        <p:cNvGrpSpPr/>
        <p:nvPr/>
      </p:nvGrpSpPr>
      <p:grpSpPr>
        <a:xfrm>
          <a:off x="0" y="0"/>
          <a:ext cx="0" cy="0"/>
          <a:chOff x="0" y="0"/>
          <a:chExt cx="0" cy="0"/>
        </a:xfrm>
      </p:grpSpPr>
      <p:sp>
        <p:nvSpPr>
          <p:cNvPr id="21" name="Google Shape;21;p57"/>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57"/>
          <p:cNvSpPr txBox="1"/>
          <p:nvPr>
            <p:ph idx="1" type="body"/>
          </p:nvPr>
        </p:nvSpPr>
        <p:spPr>
          <a:xfrm>
            <a:off x="4812375" y="402198"/>
            <a:ext cx="3999900" cy="4260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sp>
        <p:nvSpPr>
          <p:cNvPr id="24" name="Google Shape;24;p57"/>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cxnSp>
        <p:nvCxnSpPr>
          <p:cNvPr id="25" name="Google Shape;25;p57"/>
          <p:cNvCxnSpPr/>
          <p:nvPr/>
        </p:nvCxnSpPr>
        <p:spPr>
          <a:xfrm>
            <a:off x="266975" y="4049175"/>
            <a:ext cx="4038000" cy="0"/>
          </a:xfrm>
          <a:prstGeom prst="straightConnector1">
            <a:avLst/>
          </a:prstGeom>
          <a:noFill/>
          <a:ln cap="flat" cmpd="sng" w="19050">
            <a:solidFill>
              <a:srgbClr val="BF9000"/>
            </a:solidFill>
            <a:prstDash val="solid"/>
            <a:round/>
            <a:headEnd len="sm" w="sm" type="none"/>
            <a:tailEnd len="sm" w="sm" type="none"/>
          </a:ln>
        </p:spPr>
      </p:cxnSp>
      <p:sp>
        <p:nvSpPr>
          <p:cNvPr id="26" name="Google Shape;26;p57"/>
          <p:cNvSpPr txBox="1"/>
          <p:nvPr>
            <p:ph idx="2" type="subTitle"/>
          </p:nvPr>
        </p:nvSpPr>
        <p:spPr>
          <a:xfrm>
            <a:off x="177925" y="4068000"/>
            <a:ext cx="4158000" cy="39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600"/>
              </a:spcBef>
              <a:spcAft>
                <a:spcPts val="0"/>
              </a:spcAft>
              <a:buSzPts val="1800"/>
              <a:buNone/>
              <a:defRPr/>
            </a:lvl1pPr>
            <a:lvl2pPr lvl="1" algn="l">
              <a:lnSpc>
                <a:spcPct val="100000"/>
              </a:lnSpc>
              <a:spcBef>
                <a:spcPts val="600"/>
              </a:spcBef>
              <a:spcAft>
                <a:spcPts val="0"/>
              </a:spcAft>
              <a:buSzPts val="2100"/>
              <a:buNone/>
              <a:defRPr sz="2100"/>
            </a:lvl2pPr>
            <a:lvl3pPr lvl="2" algn="l">
              <a:lnSpc>
                <a:spcPct val="100000"/>
              </a:lnSpc>
              <a:spcBef>
                <a:spcPts val="600"/>
              </a:spcBef>
              <a:spcAft>
                <a:spcPts val="0"/>
              </a:spcAft>
              <a:buSzPts val="2100"/>
              <a:buNone/>
              <a:defRPr sz="2100"/>
            </a:lvl3pPr>
            <a:lvl4pPr lvl="3" algn="l">
              <a:lnSpc>
                <a:spcPct val="100000"/>
              </a:lnSpc>
              <a:spcBef>
                <a:spcPts val="600"/>
              </a:spcBef>
              <a:spcAft>
                <a:spcPts val="0"/>
              </a:spcAft>
              <a:buSzPts val="2100"/>
              <a:buNone/>
              <a:defRPr sz="2100"/>
            </a:lvl4pPr>
            <a:lvl5pPr lvl="4" algn="l">
              <a:lnSpc>
                <a:spcPct val="100000"/>
              </a:lnSpc>
              <a:spcBef>
                <a:spcPts val="600"/>
              </a:spcBef>
              <a:spcAft>
                <a:spcPts val="0"/>
              </a:spcAft>
              <a:buSzPts val="2100"/>
              <a:buNone/>
              <a:defRPr sz="2100"/>
            </a:lvl5pPr>
            <a:lvl6pPr lvl="5" algn="l">
              <a:lnSpc>
                <a:spcPct val="100000"/>
              </a:lnSpc>
              <a:spcBef>
                <a:spcPts val="600"/>
              </a:spcBef>
              <a:spcAft>
                <a:spcPts val="0"/>
              </a:spcAft>
              <a:buSzPts val="2100"/>
              <a:buNone/>
              <a:defRPr sz="2100"/>
            </a:lvl6pPr>
            <a:lvl7pPr lvl="6" algn="l">
              <a:lnSpc>
                <a:spcPct val="100000"/>
              </a:lnSpc>
              <a:spcBef>
                <a:spcPts val="600"/>
              </a:spcBef>
              <a:spcAft>
                <a:spcPts val="0"/>
              </a:spcAft>
              <a:buSzPts val="2100"/>
              <a:buNone/>
              <a:defRPr sz="2100"/>
            </a:lvl7pPr>
            <a:lvl8pPr lvl="7" algn="l">
              <a:lnSpc>
                <a:spcPct val="100000"/>
              </a:lnSpc>
              <a:spcBef>
                <a:spcPts val="600"/>
              </a:spcBef>
              <a:spcAft>
                <a:spcPts val="0"/>
              </a:spcAft>
              <a:buSzPts val="2100"/>
              <a:buNone/>
              <a:defRPr sz="2100"/>
            </a:lvl8pPr>
            <a:lvl9pPr lvl="8" algn="l">
              <a:lnSpc>
                <a:spcPct val="100000"/>
              </a:lnSpc>
              <a:spcBef>
                <a:spcPts val="600"/>
              </a:spcBef>
              <a:spcAft>
                <a:spcPts val="0"/>
              </a:spcAft>
              <a:buSzPts val="2100"/>
              <a:buNone/>
              <a:defRPr sz="21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58"/>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b="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58"/>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Char char="●"/>
              <a:defRPr/>
            </a:lvl1pPr>
            <a:lvl2pPr indent="-342900" lvl="1" marL="914400" algn="l">
              <a:lnSpc>
                <a:spcPct val="115000"/>
              </a:lnSpc>
              <a:spcBef>
                <a:spcPts val="600"/>
              </a:spcBef>
              <a:spcAft>
                <a:spcPts val="0"/>
              </a:spcAft>
              <a:buSzPts val="1800"/>
              <a:buChar char="○"/>
              <a:defRPr/>
            </a:lvl2pPr>
            <a:lvl3pPr indent="-342900" lvl="2" marL="1371600" algn="l">
              <a:lnSpc>
                <a:spcPct val="115000"/>
              </a:lnSpc>
              <a:spcBef>
                <a:spcPts val="600"/>
              </a:spcBef>
              <a:spcAft>
                <a:spcPts val="0"/>
              </a:spcAft>
              <a:buSzPts val="1800"/>
              <a:buChar char="■"/>
              <a:defRPr/>
            </a:lvl3pPr>
            <a:lvl4pPr indent="-342900" lvl="3" marL="1828800" algn="l">
              <a:lnSpc>
                <a:spcPct val="115000"/>
              </a:lnSpc>
              <a:spcBef>
                <a:spcPts val="600"/>
              </a:spcBef>
              <a:spcAft>
                <a:spcPts val="0"/>
              </a:spcAft>
              <a:buSzPts val="1800"/>
              <a:buChar char="●"/>
              <a:defRPr/>
            </a:lvl4pPr>
            <a:lvl5pPr indent="-342900" lvl="4" marL="2286000" algn="l">
              <a:lnSpc>
                <a:spcPct val="115000"/>
              </a:lnSpc>
              <a:spcBef>
                <a:spcPts val="600"/>
              </a:spcBef>
              <a:spcAft>
                <a:spcPts val="0"/>
              </a:spcAft>
              <a:buSzPts val="1800"/>
              <a:buChar char="○"/>
              <a:defRPr/>
            </a:lvl5pPr>
            <a:lvl6pPr indent="-342900" lvl="5" marL="2743200" algn="l">
              <a:lnSpc>
                <a:spcPct val="115000"/>
              </a:lnSpc>
              <a:spcBef>
                <a:spcPts val="600"/>
              </a:spcBef>
              <a:spcAft>
                <a:spcPts val="0"/>
              </a:spcAft>
              <a:buSzPts val="1800"/>
              <a:buChar char="■"/>
              <a:defRPr/>
            </a:lvl6pPr>
            <a:lvl7pPr indent="-342900" lvl="6" marL="3200400" algn="l">
              <a:lnSpc>
                <a:spcPct val="115000"/>
              </a:lnSpc>
              <a:spcBef>
                <a:spcPts val="600"/>
              </a:spcBef>
              <a:spcAft>
                <a:spcPts val="0"/>
              </a:spcAft>
              <a:buSzPts val="1800"/>
              <a:buChar char="●"/>
              <a:defRPr/>
            </a:lvl7pPr>
            <a:lvl8pPr indent="-342900" lvl="7" marL="3657600" algn="l">
              <a:lnSpc>
                <a:spcPct val="115000"/>
              </a:lnSpc>
              <a:spcBef>
                <a:spcPts val="600"/>
              </a:spcBef>
              <a:spcAft>
                <a:spcPts val="0"/>
              </a:spcAft>
              <a:buSzPts val="1800"/>
              <a:buChar char="○"/>
              <a:defRPr/>
            </a:lvl8pPr>
            <a:lvl9pPr indent="-342900" lvl="8" marL="4114800" algn="l">
              <a:lnSpc>
                <a:spcPct val="115000"/>
              </a:lnSpc>
              <a:spcBef>
                <a:spcPts val="600"/>
              </a:spcBef>
              <a:spcAft>
                <a:spcPts val="0"/>
              </a:spcAft>
              <a:buSzPts val="1800"/>
              <a:buChar char="■"/>
              <a:defRPr/>
            </a:lvl9pPr>
          </a:lstStyle>
          <a:p/>
        </p:txBody>
      </p:sp>
      <p:sp>
        <p:nvSpPr>
          <p:cNvPr id="30" name="Google Shape;30;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cxnSp>
        <p:nvCxnSpPr>
          <p:cNvPr id="31" name="Google Shape;31;p58"/>
          <p:cNvCxnSpPr/>
          <p:nvPr/>
        </p:nvCxnSpPr>
        <p:spPr>
          <a:xfrm>
            <a:off x="95431" y="402210"/>
            <a:ext cx="8909700" cy="0"/>
          </a:xfrm>
          <a:prstGeom prst="straightConnector1">
            <a:avLst/>
          </a:prstGeom>
          <a:noFill/>
          <a:ln cap="flat" cmpd="sng" w="19050">
            <a:solidFill>
              <a:srgbClr val="BF9000"/>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59"/>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cxnSp>
        <p:nvCxnSpPr>
          <p:cNvPr id="35" name="Google Shape;35;p59"/>
          <p:cNvCxnSpPr/>
          <p:nvPr/>
        </p:nvCxnSpPr>
        <p:spPr>
          <a:xfrm>
            <a:off x="95431" y="402210"/>
            <a:ext cx="8909700" cy="0"/>
          </a:xfrm>
          <a:prstGeom prst="straightConnector1">
            <a:avLst/>
          </a:prstGeom>
          <a:noFill/>
          <a:ln cap="flat" cmpd="sng" w="19050">
            <a:solidFill>
              <a:srgbClr val="BF9000"/>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3">
    <p:spTree>
      <p:nvGrpSpPr>
        <p:cNvPr id="36" name="Shape 36"/>
        <p:cNvGrpSpPr/>
        <p:nvPr/>
      </p:nvGrpSpPr>
      <p:grpSpPr>
        <a:xfrm>
          <a:off x="0" y="0"/>
          <a:ext cx="0" cy="0"/>
          <a:chOff x="0" y="0"/>
          <a:chExt cx="0" cy="0"/>
        </a:xfrm>
      </p:grpSpPr>
      <p:sp>
        <p:nvSpPr>
          <p:cNvPr id="37" name="Google Shape;37;g328f2d3a351_0_56"/>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1pPr>
            <a:lvl2pPr lvl="1"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2pPr>
            <a:lvl3pPr lvl="2"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3pPr>
            <a:lvl4pPr lvl="3"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4pPr>
            <a:lvl5pPr lvl="4"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5pPr>
            <a:lvl6pPr lvl="5"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6pPr>
            <a:lvl7pPr lvl="6"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7pPr>
            <a:lvl8pPr lvl="7"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8pPr>
            <a:lvl9pPr lvl="8"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9pPr>
          </a:lstStyle>
          <a:p/>
        </p:txBody>
      </p:sp>
      <p:sp>
        <p:nvSpPr>
          <p:cNvPr id="38" name="Google Shape;38;g328f2d3a351_0_5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2">
    <p:spTree>
      <p:nvGrpSpPr>
        <p:cNvPr id="39" name="Shape 39"/>
        <p:cNvGrpSpPr/>
        <p:nvPr/>
      </p:nvGrpSpPr>
      <p:grpSpPr>
        <a:xfrm>
          <a:off x="0" y="0"/>
          <a:ext cx="0" cy="0"/>
          <a:chOff x="0" y="0"/>
          <a:chExt cx="0" cy="0"/>
        </a:xfrm>
      </p:grpSpPr>
      <p:sp>
        <p:nvSpPr>
          <p:cNvPr id="40" name="Google Shape;40;p60"/>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1pPr>
            <a:lvl2pPr lvl="1"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2pPr>
            <a:lvl3pPr lvl="2"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3pPr>
            <a:lvl4pPr lvl="3"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4pPr>
            <a:lvl5pPr lvl="4"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5pPr>
            <a:lvl6pPr lvl="5"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6pPr>
            <a:lvl7pPr lvl="6"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7pPr>
            <a:lvl8pPr lvl="7"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8pPr>
            <a:lvl9pPr lvl="8"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9pPr>
          </a:lstStyle>
          <a:p/>
        </p:txBody>
      </p:sp>
      <p:sp>
        <p:nvSpPr>
          <p:cNvPr id="41" name="Google Shape;41;p60"/>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6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4" name="Google Shape;44;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61"/>
          <p:cNvSpPr txBox="1"/>
          <p:nvPr>
            <p:ph idx="1" type="subTitle"/>
          </p:nvPr>
        </p:nvSpPr>
        <p:spPr>
          <a:xfrm>
            <a:off x="311700" y="2834125"/>
            <a:ext cx="8520600" cy="1536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46" name="Shape 46"/>
        <p:cNvGrpSpPr/>
        <p:nvPr/>
      </p:nvGrpSpPr>
      <p:grpSpPr>
        <a:xfrm>
          <a:off x="0" y="0"/>
          <a:ext cx="0" cy="0"/>
          <a:chOff x="0" y="0"/>
          <a:chExt cx="0" cy="0"/>
        </a:xfrm>
      </p:grpSpPr>
      <p:sp>
        <p:nvSpPr>
          <p:cNvPr id="47" name="Google Shape;47;p62"/>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62"/>
          <p:cNvSpPr txBox="1"/>
          <p:nvPr>
            <p:ph idx="1" type="subTitle"/>
          </p:nvPr>
        </p:nvSpPr>
        <p:spPr>
          <a:xfrm>
            <a:off x="4835400" y="4198275"/>
            <a:ext cx="4045200" cy="465000"/>
          </a:xfrm>
          <a:prstGeom prst="rect">
            <a:avLst/>
          </a:prstGeom>
          <a:noFill/>
          <a:ln>
            <a:noFill/>
          </a:ln>
        </p:spPr>
        <p:txBody>
          <a:bodyPr anchorCtr="0" anchor="t" bIns="91425" lIns="91425" spcFirstLastPara="1" rIns="91425" wrap="square" tIns="91425">
            <a:noAutofit/>
          </a:bodyPr>
          <a:lstStyle>
            <a:lvl1pPr lvl="0" algn="r">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p:txBody>
      </p:sp>
      <p:sp>
        <p:nvSpPr>
          <p:cNvPr id="49" name="Google Shape;4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62"/>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500"/>
              <a:buFont typeface="Arial"/>
              <a:buNone/>
            </a:pPr>
            <a:r>
              <a:rPr b="1" i="0" lang="en" sz="2500" u="none" cap="none" strike="noStrike">
                <a:solidFill>
                  <a:schemeClr val="accent3"/>
                </a:solidFill>
                <a:latin typeface="Roboto"/>
                <a:ea typeface="Roboto"/>
                <a:cs typeface="Roboto"/>
                <a:sym typeface="Roboto"/>
              </a:rPr>
              <a:t>Demo Slides</a:t>
            </a:r>
            <a:endParaRPr b="1" i="0" sz="2500" u="none" cap="none" strike="noStrike">
              <a:solidFill>
                <a:schemeClr val="accent3"/>
              </a:solidFill>
              <a:latin typeface="Roboto"/>
              <a:ea typeface="Roboto"/>
              <a:cs typeface="Roboto"/>
              <a:sym typeface="Roboto"/>
            </a:endParaRPr>
          </a:p>
        </p:txBody>
      </p:sp>
      <p:sp>
        <p:nvSpPr>
          <p:cNvPr id="51" name="Google Shape;51;p62"/>
          <p:cNvSpPr txBox="1"/>
          <p:nvPr>
            <p:ph idx="2" type="body"/>
          </p:nvPr>
        </p:nvSpPr>
        <p:spPr>
          <a:xfrm>
            <a:off x="95425" y="402200"/>
            <a:ext cx="4302300" cy="4261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2" name="Google Shape;52;p62"/>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53" name="Google Shape;53;p62"/>
          <p:cNvCxnSpPr/>
          <p:nvPr/>
        </p:nvCxnSpPr>
        <p:spPr>
          <a:xfrm>
            <a:off x="95431" y="402210"/>
            <a:ext cx="4352100" cy="0"/>
          </a:xfrm>
          <a:prstGeom prst="straightConnector1">
            <a:avLst/>
          </a:prstGeom>
          <a:noFill/>
          <a:ln cap="flat" cmpd="sng" w="19050">
            <a:solidFill>
              <a:srgbClr val="BF9000"/>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54" name="Shape 54"/>
        <p:cNvGrpSpPr/>
        <p:nvPr/>
      </p:nvGrpSpPr>
      <p:grpSpPr>
        <a:xfrm>
          <a:off x="0" y="0"/>
          <a:ext cx="0" cy="0"/>
          <a:chOff x="0" y="0"/>
          <a:chExt cx="0" cy="0"/>
        </a:xfrm>
      </p:grpSpPr>
      <p:sp>
        <p:nvSpPr>
          <p:cNvPr id="55" name="Google Shape;55;p63"/>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63"/>
          <p:cNvSpPr txBox="1"/>
          <p:nvPr>
            <p:ph idx="1" type="subTitle"/>
          </p:nvPr>
        </p:nvSpPr>
        <p:spPr>
          <a:xfrm>
            <a:off x="225450" y="3943400"/>
            <a:ext cx="4045200" cy="46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p:txBody>
      </p:sp>
      <p:sp>
        <p:nvSpPr>
          <p:cNvPr id="57" name="Google Shape;57;p63"/>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accent3"/>
                </a:solidFill>
                <a:latin typeface="Roboto"/>
                <a:ea typeface="Roboto"/>
                <a:cs typeface="Roboto"/>
                <a:sym typeface="Roboto"/>
              </a:rPr>
              <a:t>Demo Slides</a:t>
            </a:r>
            <a:endParaRPr b="1" i="0" sz="2500" u="none" cap="none" strike="noStrike">
              <a:solidFill>
                <a:schemeClr val="accent3"/>
              </a:solidFill>
              <a:latin typeface="Roboto"/>
              <a:ea typeface="Roboto"/>
              <a:cs typeface="Roboto"/>
              <a:sym typeface="Roboto"/>
            </a:endParaRPr>
          </a:p>
        </p:txBody>
      </p:sp>
      <p:sp>
        <p:nvSpPr>
          <p:cNvPr id="58" name="Google Shape;58;p63"/>
          <p:cNvSpPr txBox="1"/>
          <p:nvPr>
            <p:ph idx="2" type="body"/>
          </p:nvPr>
        </p:nvSpPr>
        <p:spPr>
          <a:xfrm>
            <a:off x="4667425" y="402200"/>
            <a:ext cx="4302300" cy="4261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9" name="Google Shape;59;p63"/>
          <p:cNvSpPr txBox="1"/>
          <p:nvPr>
            <p:ph type="title"/>
          </p:nvPr>
        </p:nvSpPr>
        <p:spPr>
          <a:xfrm>
            <a:off x="4572000" y="0"/>
            <a:ext cx="45720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60" name="Google Shape;60;p63"/>
          <p:cNvCxnSpPr/>
          <p:nvPr/>
        </p:nvCxnSpPr>
        <p:spPr>
          <a:xfrm>
            <a:off x="4667431" y="402210"/>
            <a:ext cx="4352100" cy="0"/>
          </a:xfrm>
          <a:prstGeom prst="straightConnector1">
            <a:avLst/>
          </a:prstGeom>
          <a:noFill/>
          <a:ln cap="flat" cmpd="sng" w="19050">
            <a:solidFill>
              <a:srgbClr val="BF9000"/>
            </a:solidFill>
            <a:prstDash val="solid"/>
            <a:round/>
            <a:headEnd len="sm" w="sm" type="none"/>
            <a:tailEnd len="sm" w="sm" type="none"/>
          </a:ln>
        </p:spPr>
      </p:cxnSp>
      <p:pic>
        <p:nvPicPr>
          <p:cNvPr id="61" name="Google Shape;61;p63"/>
          <p:cNvPicPr preferRelativeResize="0"/>
          <p:nvPr/>
        </p:nvPicPr>
        <p:blipFill rotWithShape="1">
          <a:blip r:embed="rId2">
            <a:alphaModFix/>
          </a:blip>
          <a:srcRect b="0" l="0" r="0" t="0"/>
          <a:stretch/>
        </p:blipFill>
        <p:spPr>
          <a:xfrm>
            <a:off x="0" y="4983478"/>
            <a:ext cx="457200" cy="160022"/>
          </a:xfrm>
          <a:prstGeom prst="rect">
            <a:avLst/>
          </a:prstGeom>
          <a:noFill/>
          <a:ln>
            <a:noFill/>
          </a:ln>
        </p:spPr>
      </p:pic>
      <p:sp>
        <p:nvSpPr>
          <p:cNvPr id="62" name="Google Shape;62;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63" name="Shape 63"/>
        <p:cNvGrpSpPr/>
        <p:nvPr/>
      </p:nvGrpSpPr>
      <p:grpSpPr>
        <a:xfrm>
          <a:off x="0" y="0"/>
          <a:ext cx="0" cy="0"/>
          <a:chOff x="0" y="0"/>
          <a:chExt cx="0" cy="0"/>
        </a:xfrm>
      </p:grpSpPr>
      <p:sp>
        <p:nvSpPr>
          <p:cNvPr id="64" name="Google Shape;64;p64"/>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64"/>
          <p:cNvSpPr txBox="1"/>
          <p:nvPr>
            <p:ph idx="1" type="subTitle"/>
          </p:nvPr>
        </p:nvSpPr>
        <p:spPr>
          <a:xfrm>
            <a:off x="225450" y="3943400"/>
            <a:ext cx="2450400" cy="71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p:txBody>
      </p:sp>
      <p:sp>
        <p:nvSpPr>
          <p:cNvPr id="66" name="Google Shape;66;p64"/>
          <p:cNvSpPr txBox="1"/>
          <p:nvPr>
            <p:ph idx="2" type="body"/>
          </p:nvPr>
        </p:nvSpPr>
        <p:spPr>
          <a:xfrm>
            <a:off x="2937350" y="402200"/>
            <a:ext cx="6032400" cy="4261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7" name="Google Shape;67;p64"/>
          <p:cNvSpPr txBox="1"/>
          <p:nvPr>
            <p:ph type="title"/>
          </p:nvPr>
        </p:nvSpPr>
        <p:spPr>
          <a:xfrm>
            <a:off x="2776500" y="0"/>
            <a:ext cx="63675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68" name="Google Shape;68;p64"/>
          <p:cNvCxnSpPr/>
          <p:nvPr/>
        </p:nvCxnSpPr>
        <p:spPr>
          <a:xfrm>
            <a:off x="2937350" y="402200"/>
            <a:ext cx="6082200" cy="0"/>
          </a:xfrm>
          <a:prstGeom prst="straightConnector1">
            <a:avLst/>
          </a:prstGeom>
          <a:noFill/>
          <a:ln cap="flat" cmpd="sng" w="19050">
            <a:solidFill>
              <a:srgbClr val="BF9000"/>
            </a:solidFill>
            <a:prstDash val="solid"/>
            <a:round/>
            <a:headEnd len="sm" w="sm" type="none"/>
            <a:tailEnd len="sm" w="sm" type="none"/>
          </a:ln>
        </p:spPr>
      </p:cxnSp>
      <p:pic>
        <p:nvPicPr>
          <p:cNvPr id="69" name="Google Shape;69;p64"/>
          <p:cNvPicPr preferRelativeResize="0"/>
          <p:nvPr/>
        </p:nvPicPr>
        <p:blipFill rotWithShape="1">
          <a:blip r:embed="rId2">
            <a:alphaModFix/>
          </a:blip>
          <a:srcRect b="0" l="0" r="0" t="0"/>
          <a:stretch/>
        </p:blipFill>
        <p:spPr>
          <a:xfrm>
            <a:off x="0" y="4983478"/>
            <a:ext cx="457200" cy="160022"/>
          </a:xfrm>
          <a:prstGeom prst="rect">
            <a:avLst/>
          </a:prstGeom>
          <a:noFill/>
          <a:ln>
            <a:noFill/>
          </a:ln>
        </p:spPr>
      </p:pic>
      <p:sp>
        <p:nvSpPr>
          <p:cNvPr id="70" name="Google Shape;70;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64"/>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accent3"/>
                </a:solidFill>
                <a:latin typeface="Roboto"/>
                <a:ea typeface="Roboto"/>
                <a:cs typeface="Roboto"/>
                <a:sym typeface="Roboto"/>
              </a:rPr>
              <a:t>Demo</a:t>
            </a:r>
            <a:endParaRPr b="1" i="0" sz="2500" u="none" cap="none" strike="noStrike">
              <a:solidFill>
                <a:schemeClr val="accent3"/>
              </a:solidFill>
              <a:latin typeface="Roboto"/>
              <a:ea typeface="Roboto"/>
              <a:cs typeface="Roboto"/>
              <a:sym typeface="Robot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72" name="Shape 72"/>
        <p:cNvGrpSpPr/>
        <p:nvPr/>
      </p:nvGrpSpPr>
      <p:grpSpPr>
        <a:xfrm>
          <a:off x="0" y="0"/>
          <a:ext cx="0" cy="0"/>
          <a:chOff x="0" y="0"/>
          <a:chExt cx="0" cy="0"/>
        </a:xfrm>
      </p:grpSpPr>
      <p:sp>
        <p:nvSpPr>
          <p:cNvPr id="73" name="Google Shape;73;p65"/>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5"/>
          <p:cNvSpPr txBox="1"/>
          <p:nvPr>
            <p:ph idx="1" type="subTitle"/>
          </p:nvPr>
        </p:nvSpPr>
        <p:spPr>
          <a:xfrm>
            <a:off x="225450" y="3943400"/>
            <a:ext cx="2450400" cy="71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p:txBody>
      </p:sp>
      <p:sp>
        <p:nvSpPr>
          <p:cNvPr id="75" name="Google Shape;75;p65"/>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accent3"/>
                </a:solidFill>
                <a:latin typeface="Roboto"/>
                <a:ea typeface="Roboto"/>
                <a:cs typeface="Roboto"/>
                <a:sym typeface="Roboto"/>
              </a:rPr>
              <a:t>Compare</a:t>
            </a:r>
            <a:endParaRPr b="1" i="0" sz="2500" u="none" cap="none" strike="noStrike">
              <a:solidFill>
                <a:schemeClr val="accent3"/>
              </a:solidFill>
              <a:latin typeface="Roboto"/>
              <a:ea typeface="Roboto"/>
              <a:cs typeface="Roboto"/>
              <a:sym typeface="Roboto"/>
            </a:endParaRPr>
          </a:p>
        </p:txBody>
      </p:sp>
      <p:sp>
        <p:nvSpPr>
          <p:cNvPr id="76" name="Google Shape;76;p65"/>
          <p:cNvSpPr txBox="1"/>
          <p:nvPr>
            <p:ph idx="2" type="body"/>
          </p:nvPr>
        </p:nvSpPr>
        <p:spPr>
          <a:xfrm>
            <a:off x="2937350" y="402200"/>
            <a:ext cx="6032400" cy="4261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7" name="Google Shape;77;p65"/>
          <p:cNvSpPr txBox="1"/>
          <p:nvPr>
            <p:ph type="title"/>
          </p:nvPr>
        </p:nvSpPr>
        <p:spPr>
          <a:xfrm>
            <a:off x="2776500" y="0"/>
            <a:ext cx="63675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78" name="Google Shape;78;p65"/>
          <p:cNvCxnSpPr/>
          <p:nvPr/>
        </p:nvCxnSpPr>
        <p:spPr>
          <a:xfrm>
            <a:off x="2937350" y="402200"/>
            <a:ext cx="6082200" cy="0"/>
          </a:xfrm>
          <a:prstGeom prst="straightConnector1">
            <a:avLst/>
          </a:prstGeom>
          <a:noFill/>
          <a:ln cap="flat" cmpd="sng" w="19050">
            <a:solidFill>
              <a:srgbClr val="BF9000"/>
            </a:solidFill>
            <a:prstDash val="solid"/>
            <a:round/>
            <a:headEnd len="sm" w="sm" type="none"/>
            <a:tailEnd len="sm" w="sm" type="none"/>
          </a:ln>
        </p:spPr>
      </p:cxnSp>
      <p:pic>
        <p:nvPicPr>
          <p:cNvPr id="79" name="Google Shape;79;p65"/>
          <p:cNvPicPr preferRelativeResize="0"/>
          <p:nvPr/>
        </p:nvPicPr>
        <p:blipFill rotWithShape="1">
          <a:blip r:embed="rId2">
            <a:alphaModFix/>
          </a:blip>
          <a:srcRect b="0" l="0" r="0" t="0"/>
          <a:stretch/>
        </p:blipFill>
        <p:spPr>
          <a:xfrm>
            <a:off x="0" y="4983478"/>
            <a:ext cx="457200" cy="160022"/>
          </a:xfrm>
          <a:prstGeom prst="rect">
            <a:avLst/>
          </a:prstGeom>
          <a:noFill/>
          <a:ln>
            <a:noFill/>
          </a:ln>
        </p:spPr>
      </p:pic>
      <p:sp>
        <p:nvSpPr>
          <p:cNvPr id="80" name="Google Shape;80;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81" name="Shape 81"/>
        <p:cNvGrpSpPr/>
        <p:nvPr/>
      </p:nvGrpSpPr>
      <p:grpSpPr>
        <a:xfrm>
          <a:off x="0" y="0"/>
          <a:ext cx="0" cy="0"/>
          <a:chOff x="0" y="0"/>
          <a:chExt cx="0" cy="0"/>
        </a:xfrm>
      </p:grpSpPr>
      <p:sp>
        <p:nvSpPr>
          <p:cNvPr id="82" name="Google Shape;82;p66"/>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66"/>
          <p:cNvSpPr txBox="1"/>
          <p:nvPr>
            <p:ph idx="1" type="subTitle"/>
          </p:nvPr>
        </p:nvSpPr>
        <p:spPr>
          <a:xfrm>
            <a:off x="225450" y="3943400"/>
            <a:ext cx="2450400" cy="71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p:txBody>
      </p:sp>
      <p:sp>
        <p:nvSpPr>
          <p:cNvPr id="84" name="Google Shape;84;p66"/>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accent3"/>
                </a:solidFill>
                <a:latin typeface="Roboto"/>
                <a:ea typeface="Roboto"/>
                <a:cs typeface="Roboto"/>
                <a:sym typeface="Roboto"/>
              </a:rPr>
              <a:t>Solution</a:t>
            </a:r>
            <a:endParaRPr b="1" i="0" sz="2500" u="none" cap="none" strike="noStrike">
              <a:solidFill>
                <a:schemeClr val="accent3"/>
              </a:solidFill>
              <a:latin typeface="Roboto"/>
              <a:ea typeface="Roboto"/>
              <a:cs typeface="Roboto"/>
              <a:sym typeface="Roboto"/>
            </a:endParaRPr>
          </a:p>
        </p:txBody>
      </p:sp>
      <p:sp>
        <p:nvSpPr>
          <p:cNvPr id="85" name="Google Shape;85;p66"/>
          <p:cNvSpPr txBox="1"/>
          <p:nvPr>
            <p:ph idx="2" type="body"/>
          </p:nvPr>
        </p:nvSpPr>
        <p:spPr>
          <a:xfrm>
            <a:off x="2937350" y="402200"/>
            <a:ext cx="6032400" cy="4261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86" name="Google Shape;86;p66"/>
          <p:cNvSpPr txBox="1"/>
          <p:nvPr>
            <p:ph type="title"/>
          </p:nvPr>
        </p:nvSpPr>
        <p:spPr>
          <a:xfrm>
            <a:off x="2776500" y="0"/>
            <a:ext cx="63675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87" name="Google Shape;87;p66"/>
          <p:cNvCxnSpPr/>
          <p:nvPr/>
        </p:nvCxnSpPr>
        <p:spPr>
          <a:xfrm>
            <a:off x="2937350" y="402200"/>
            <a:ext cx="6082200" cy="0"/>
          </a:xfrm>
          <a:prstGeom prst="straightConnector1">
            <a:avLst/>
          </a:prstGeom>
          <a:noFill/>
          <a:ln cap="flat" cmpd="sng" w="19050">
            <a:solidFill>
              <a:srgbClr val="BF9000"/>
            </a:solidFill>
            <a:prstDash val="solid"/>
            <a:round/>
            <a:headEnd len="sm" w="sm" type="none"/>
            <a:tailEnd len="sm" w="sm" type="none"/>
          </a:ln>
        </p:spPr>
      </p:cxnSp>
      <p:pic>
        <p:nvPicPr>
          <p:cNvPr id="88" name="Google Shape;88;p66"/>
          <p:cNvPicPr preferRelativeResize="0"/>
          <p:nvPr/>
        </p:nvPicPr>
        <p:blipFill rotWithShape="1">
          <a:blip r:embed="rId2">
            <a:alphaModFix/>
          </a:blip>
          <a:srcRect b="0" l="0" r="0" t="0"/>
          <a:stretch/>
        </p:blipFill>
        <p:spPr>
          <a:xfrm>
            <a:off x="0" y="4983478"/>
            <a:ext cx="457200" cy="160022"/>
          </a:xfrm>
          <a:prstGeom prst="rect">
            <a:avLst/>
          </a:prstGeom>
          <a:noFill/>
          <a:ln>
            <a:noFill/>
          </a:ln>
        </p:spPr>
      </p:pic>
      <p:sp>
        <p:nvSpPr>
          <p:cNvPr id="89" name="Google Shape;89;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0" name="Shape 90"/>
        <p:cNvGrpSpPr/>
        <p:nvPr/>
      </p:nvGrpSpPr>
      <p:grpSpPr>
        <a:xfrm>
          <a:off x="0" y="0"/>
          <a:ext cx="0" cy="0"/>
          <a:chOff x="0" y="0"/>
          <a:chExt cx="0" cy="0"/>
        </a:xfrm>
      </p:grpSpPr>
      <p:sp>
        <p:nvSpPr>
          <p:cNvPr id="91" name="Google Shape;91;p67"/>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2" name="Google Shape;92;p67"/>
          <p:cNvSpPr txBox="1"/>
          <p:nvPr>
            <p:ph idx="1" type="body"/>
          </p:nvPr>
        </p:nvSpPr>
        <p:spPr>
          <a:xfrm>
            <a:off x="4812381" y="402206"/>
            <a:ext cx="39999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93" name="Google Shape;93;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cxnSp>
        <p:nvCxnSpPr>
          <p:cNvPr id="94" name="Google Shape;94;p67"/>
          <p:cNvCxnSpPr/>
          <p:nvPr/>
        </p:nvCxnSpPr>
        <p:spPr>
          <a:xfrm>
            <a:off x="95431" y="402210"/>
            <a:ext cx="8909700" cy="0"/>
          </a:xfrm>
          <a:prstGeom prst="straightConnector1">
            <a:avLst/>
          </a:prstGeom>
          <a:noFill/>
          <a:ln cap="flat" cmpd="sng" w="19050">
            <a:solidFill>
              <a:srgbClr val="BF9000"/>
            </a:solidFill>
            <a:prstDash val="solid"/>
            <a:round/>
            <a:headEnd len="sm" w="sm" type="none"/>
            <a:tailEnd len="sm" w="sm" type="none"/>
          </a:ln>
        </p:spPr>
      </p:cxnSp>
      <p:sp>
        <p:nvSpPr>
          <p:cNvPr id="95" name="Google Shape;95;p67"/>
          <p:cNvSpPr txBox="1"/>
          <p:nvPr>
            <p:ph idx="2" type="body"/>
          </p:nvPr>
        </p:nvSpPr>
        <p:spPr>
          <a:xfrm>
            <a:off x="95431" y="402206"/>
            <a:ext cx="39999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6" name="Shape 96"/>
        <p:cNvGrpSpPr/>
        <p:nvPr/>
      </p:nvGrpSpPr>
      <p:grpSpPr>
        <a:xfrm>
          <a:off x="0" y="0"/>
          <a:ext cx="0" cy="0"/>
          <a:chOff x="0" y="0"/>
          <a:chExt cx="0" cy="0"/>
        </a:xfrm>
      </p:grpSpPr>
      <p:sp>
        <p:nvSpPr>
          <p:cNvPr id="97" name="Google Shape;97;p6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8" name="Google Shape;98;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99" name="Shape 99"/>
        <p:cNvGrpSpPr/>
        <p:nvPr/>
      </p:nvGrpSpPr>
      <p:grpSpPr>
        <a:xfrm>
          <a:off x="0" y="0"/>
          <a:ext cx="0" cy="0"/>
          <a:chOff x="0" y="0"/>
          <a:chExt cx="0" cy="0"/>
        </a:xfrm>
      </p:grpSpPr>
      <p:sp>
        <p:nvSpPr>
          <p:cNvPr id="100" name="Google Shape;100;p6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6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02" name="Google Shape;102;p6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p:txBody>
      </p:sp>
      <p:sp>
        <p:nvSpPr>
          <p:cNvPr id="103" name="Google Shape;103;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69"/>
          <p:cNvSpPr txBox="1"/>
          <p:nvPr>
            <p:ph idx="2" type="body"/>
          </p:nvPr>
        </p:nvSpPr>
        <p:spPr>
          <a:xfrm>
            <a:off x="4812381" y="402206"/>
            <a:ext cx="39999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5" name="Shape 105"/>
        <p:cNvGrpSpPr/>
        <p:nvPr/>
      </p:nvGrpSpPr>
      <p:grpSpPr>
        <a:xfrm>
          <a:off x="0" y="0"/>
          <a:ext cx="0" cy="0"/>
          <a:chOff x="0" y="0"/>
          <a:chExt cx="0" cy="0"/>
        </a:xfrm>
      </p:grpSpPr>
      <p:sp>
        <p:nvSpPr>
          <p:cNvPr id="106" name="Google Shape;106;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70"/>
          <p:cNvSpPr txBox="1"/>
          <p:nvPr>
            <p:ph type="title"/>
          </p:nvPr>
        </p:nvSpPr>
        <p:spPr>
          <a:xfrm>
            <a:off x="95425" y="4288400"/>
            <a:ext cx="8658900" cy="768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algn="l">
              <a:lnSpc>
                <a:spcPct val="100000"/>
              </a:lnSpc>
              <a:spcBef>
                <a:spcPts val="0"/>
              </a:spcBef>
              <a:spcAft>
                <a:spcPts val="0"/>
              </a:spcAft>
              <a:buSzPts val="2400"/>
              <a:buFont typeface="Roboto"/>
              <a:buNone/>
              <a:defRPr sz="2400">
                <a:latin typeface="Roboto"/>
                <a:ea typeface="Roboto"/>
                <a:cs typeface="Roboto"/>
                <a:sym typeface="Roboto"/>
              </a:defRPr>
            </a:lvl2pPr>
            <a:lvl3pPr lvl="2" algn="l">
              <a:lnSpc>
                <a:spcPct val="100000"/>
              </a:lnSpc>
              <a:spcBef>
                <a:spcPts val="0"/>
              </a:spcBef>
              <a:spcAft>
                <a:spcPts val="0"/>
              </a:spcAft>
              <a:buSzPts val="2400"/>
              <a:buFont typeface="Roboto"/>
              <a:buNone/>
              <a:defRPr sz="2400">
                <a:latin typeface="Roboto"/>
                <a:ea typeface="Roboto"/>
                <a:cs typeface="Roboto"/>
                <a:sym typeface="Roboto"/>
              </a:defRPr>
            </a:lvl3pPr>
            <a:lvl4pPr lvl="3" algn="l">
              <a:lnSpc>
                <a:spcPct val="100000"/>
              </a:lnSpc>
              <a:spcBef>
                <a:spcPts val="0"/>
              </a:spcBef>
              <a:spcAft>
                <a:spcPts val="0"/>
              </a:spcAft>
              <a:buSzPts val="2400"/>
              <a:buFont typeface="Roboto"/>
              <a:buNone/>
              <a:defRPr sz="2400">
                <a:latin typeface="Roboto"/>
                <a:ea typeface="Roboto"/>
                <a:cs typeface="Roboto"/>
                <a:sym typeface="Roboto"/>
              </a:defRPr>
            </a:lvl4pPr>
            <a:lvl5pPr lvl="4" algn="l">
              <a:lnSpc>
                <a:spcPct val="100000"/>
              </a:lnSpc>
              <a:spcBef>
                <a:spcPts val="0"/>
              </a:spcBef>
              <a:spcAft>
                <a:spcPts val="0"/>
              </a:spcAft>
              <a:buSzPts val="2400"/>
              <a:buFont typeface="Roboto"/>
              <a:buNone/>
              <a:defRPr sz="2400">
                <a:latin typeface="Roboto"/>
                <a:ea typeface="Roboto"/>
                <a:cs typeface="Roboto"/>
                <a:sym typeface="Roboto"/>
              </a:defRPr>
            </a:lvl5pPr>
            <a:lvl6pPr lvl="5" algn="l">
              <a:lnSpc>
                <a:spcPct val="100000"/>
              </a:lnSpc>
              <a:spcBef>
                <a:spcPts val="0"/>
              </a:spcBef>
              <a:spcAft>
                <a:spcPts val="0"/>
              </a:spcAft>
              <a:buSzPts val="2400"/>
              <a:buFont typeface="Roboto"/>
              <a:buNone/>
              <a:defRPr sz="2400">
                <a:latin typeface="Roboto"/>
                <a:ea typeface="Roboto"/>
                <a:cs typeface="Roboto"/>
                <a:sym typeface="Roboto"/>
              </a:defRPr>
            </a:lvl6pPr>
            <a:lvl7pPr lvl="6" algn="l">
              <a:lnSpc>
                <a:spcPct val="100000"/>
              </a:lnSpc>
              <a:spcBef>
                <a:spcPts val="0"/>
              </a:spcBef>
              <a:spcAft>
                <a:spcPts val="0"/>
              </a:spcAft>
              <a:buSzPts val="2400"/>
              <a:buFont typeface="Roboto"/>
              <a:buNone/>
              <a:defRPr sz="2400">
                <a:latin typeface="Roboto"/>
                <a:ea typeface="Roboto"/>
                <a:cs typeface="Roboto"/>
                <a:sym typeface="Roboto"/>
              </a:defRPr>
            </a:lvl7pPr>
            <a:lvl8pPr lvl="7" algn="l">
              <a:lnSpc>
                <a:spcPct val="100000"/>
              </a:lnSpc>
              <a:spcBef>
                <a:spcPts val="0"/>
              </a:spcBef>
              <a:spcAft>
                <a:spcPts val="0"/>
              </a:spcAft>
              <a:buSzPts val="2400"/>
              <a:buFont typeface="Roboto"/>
              <a:buNone/>
              <a:defRPr sz="2400">
                <a:latin typeface="Roboto"/>
                <a:ea typeface="Roboto"/>
                <a:cs typeface="Roboto"/>
                <a:sym typeface="Roboto"/>
              </a:defRPr>
            </a:lvl8pPr>
            <a:lvl9pPr lvl="8" algn="l">
              <a:lnSpc>
                <a:spcPct val="100000"/>
              </a:lnSpc>
              <a:spcBef>
                <a:spcPts val="0"/>
              </a:spcBef>
              <a:spcAft>
                <a:spcPts val="0"/>
              </a:spcAft>
              <a:buSzPts val="2400"/>
              <a:buFont typeface="Roboto"/>
              <a:buNone/>
              <a:defRPr sz="2400">
                <a:latin typeface="Roboto"/>
                <a:ea typeface="Roboto"/>
                <a:cs typeface="Roboto"/>
                <a:sym typeface="Roboto"/>
              </a:defRPr>
            </a:lvl9pPr>
          </a:lstStyle>
          <a:p/>
        </p:txBody>
      </p:sp>
      <p:cxnSp>
        <p:nvCxnSpPr>
          <p:cNvPr id="108" name="Google Shape;108;p70"/>
          <p:cNvCxnSpPr/>
          <p:nvPr/>
        </p:nvCxnSpPr>
        <p:spPr>
          <a:xfrm>
            <a:off x="168250" y="4288400"/>
            <a:ext cx="8757000" cy="0"/>
          </a:xfrm>
          <a:prstGeom prst="straightConnector1">
            <a:avLst/>
          </a:prstGeom>
          <a:noFill/>
          <a:ln cap="flat" cmpd="sng" w="19050">
            <a:solidFill>
              <a:srgbClr val="BF9000"/>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9" name="Shape 109"/>
        <p:cNvGrpSpPr/>
        <p:nvPr/>
      </p:nvGrpSpPr>
      <p:grpSpPr>
        <a:xfrm>
          <a:off x="0" y="0"/>
          <a:ext cx="0" cy="0"/>
          <a:chOff x="0" y="0"/>
          <a:chExt cx="0" cy="0"/>
        </a:xfrm>
      </p:grpSpPr>
      <p:sp>
        <p:nvSpPr>
          <p:cNvPr id="110" name="Google Shape;110;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11" name="Shape 111"/>
        <p:cNvGrpSpPr/>
        <p:nvPr/>
      </p:nvGrpSpPr>
      <p:grpSpPr>
        <a:xfrm>
          <a:off x="0" y="0"/>
          <a:ext cx="0" cy="0"/>
          <a:chOff x="0" y="0"/>
          <a:chExt cx="0" cy="0"/>
        </a:xfrm>
      </p:grpSpPr>
      <p:sp>
        <p:nvSpPr>
          <p:cNvPr id="112" name="Google Shape;112;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13" name="Shape 113"/>
        <p:cNvGrpSpPr/>
        <p:nvPr/>
      </p:nvGrpSpPr>
      <p:grpSpPr>
        <a:xfrm>
          <a:off x="0" y="0"/>
          <a:ext cx="0" cy="0"/>
          <a:chOff x="0" y="0"/>
          <a:chExt cx="0" cy="0"/>
        </a:xfrm>
      </p:grpSpPr>
      <p:sp>
        <p:nvSpPr>
          <p:cNvPr id="114" name="Google Shape;114;p73"/>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16" name="Google Shape;116;p73"/>
          <p:cNvSpPr txBox="1"/>
          <p:nvPr>
            <p:ph idx="1" type="body"/>
          </p:nvPr>
        </p:nvSpPr>
        <p:spPr>
          <a:xfrm>
            <a:off x="4812375" y="402198"/>
            <a:ext cx="3999900" cy="4260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17" name="Google Shape;117;p73"/>
          <p:cNvPicPr preferRelativeResize="0"/>
          <p:nvPr/>
        </p:nvPicPr>
        <p:blipFill rotWithShape="1">
          <a:blip r:embed="rId2">
            <a:alphaModFix/>
          </a:blip>
          <a:srcRect b="0" l="0" r="0" t="0"/>
          <a:stretch/>
        </p:blipFill>
        <p:spPr>
          <a:xfrm>
            <a:off x="0" y="4983478"/>
            <a:ext cx="457200" cy="160022"/>
          </a:xfrm>
          <a:prstGeom prst="rect">
            <a:avLst/>
          </a:prstGeom>
          <a:noFill/>
          <a:ln>
            <a:noFill/>
          </a:ln>
        </p:spPr>
      </p:pic>
      <p:sp>
        <p:nvSpPr>
          <p:cNvPr id="118" name="Google Shape;118;p73"/>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cxnSp>
        <p:nvCxnSpPr>
          <p:cNvPr id="119" name="Google Shape;119;p73"/>
          <p:cNvCxnSpPr/>
          <p:nvPr/>
        </p:nvCxnSpPr>
        <p:spPr>
          <a:xfrm>
            <a:off x="266975" y="4049175"/>
            <a:ext cx="4038000" cy="0"/>
          </a:xfrm>
          <a:prstGeom prst="straightConnector1">
            <a:avLst/>
          </a:prstGeom>
          <a:noFill/>
          <a:ln cap="flat" cmpd="sng" w="19050">
            <a:solidFill>
              <a:srgbClr val="BF9000"/>
            </a:solidFill>
            <a:prstDash val="solid"/>
            <a:round/>
            <a:headEnd len="sm" w="sm" type="none"/>
            <a:tailEnd len="sm" w="sm" type="none"/>
          </a:ln>
        </p:spPr>
      </p:cxnSp>
      <p:sp>
        <p:nvSpPr>
          <p:cNvPr id="120" name="Google Shape;120;p73"/>
          <p:cNvSpPr txBox="1"/>
          <p:nvPr>
            <p:ph idx="2" type="subTitle"/>
          </p:nvPr>
        </p:nvSpPr>
        <p:spPr>
          <a:xfrm>
            <a:off x="177925" y="4068000"/>
            <a:ext cx="4158000" cy="39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600"/>
              </a:spcBef>
              <a:spcAft>
                <a:spcPts val="0"/>
              </a:spcAft>
              <a:buClr>
                <a:schemeClr val="lt1"/>
              </a:buClr>
              <a:buSzPts val="1800"/>
              <a:buNone/>
              <a:defRPr>
                <a:solidFill>
                  <a:schemeClr val="lt1"/>
                </a:solidFill>
              </a:defRPr>
            </a:lvl1pPr>
            <a:lvl2pPr lvl="1" algn="l">
              <a:lnSpc>
                <a:spcPct val="100000"/>
              </a:lnSpc>
              <a:spcBef>
                <a:spcPts val="600"/>
              </a:spcBef>
              <a:spcAft>
                <a:spcPts val="0"/>
              </a:spcAft>
              <a:buClr>
                <a:schemeClr val="lt1"/>
              </a:buClr>
              <a:buSzPts val="2100"/>
              <a:buNone/>
              <a:defRPr sz="2100">
                <a:solidFill>
                  <a:schemeClr val="lt1"/>
                </a:solidFill>
              </a:defRPr>
            </a:lvl2pPr>
            <a:lvl3pPr lvl="2" algn="l">
              <a:lnSpc>
                <a:spcPct val="100000"/>
              </a:lnSpc>
              <a:spcBef>
                <a:spcPts val="600"/>
              </a:spcBef>
              <a:spcAft>
                <a:spcPts val="0"/>
              </a:spcAft>
              <a:buClr>
                <a:schemeClr val="lt1"/>
              </a:buClr>
              <a:buSzPts val="2100"/>
              <a:buNone/>
              <a:defRPr sz="2100">
                <a:solidFill>
                  <a:schemeClr val="lt1"/>
                </a:solidFill>
              </a:defRPr>
            </a:lvl3pPr>
            <a:lvl4pPr lvl="3" algn="l">
              <a:lnSpc>
                <a:spcPct val="100000"/>
              </a:lnSpc>
              <a:spcBef>
                <a:spcPts val="600"/>
              </a:spcBef>
              <a:spcAft>
                <a:spcPts val="0"/>
              </a:spcAft>
              <a:buClr>
                <a:schemeClr val="lt1"/>
              </a:buClr>
              <a:buSzPts val="2100"/>
              <a:buNone/>
              <a:defRPr sz="2100">
                <a:solidFill>
                  <a:schemeClr val="lt1"/>
                </a:solidFill>
              </a:defRPr>
            </a:lvl4pPr>
            <a:lvl5pPr lvl="4" algn="l">
              <a:lnSpc>
                <a:spcPct val="100000"/>
              </a:lnSpc>
              <a:spcBef>
                <a:spcPts val="600"/>
              </a:spcBef>
              <a:spcAft>
                <a:spcPts val="0"/>
              </a:spcAft>
              <a:buClr>
                <a:schemeClr val="lt1"/>
              </a:buClr>
              <a:buSzPts val="2100"/>
              <a:buNone/>
              <a:defRPr sz="2100">
                <a:solidFill>
                  <a:schemeClr val="lt1"/>
                </a:solidFill>
              </a:defRPr>
            </a:lvl5pPr>
            <a:lvl6pPr lvl="5" algn="l">
              <a:lnSpc>
                <a:spcPct val="100000"/>
              </a:lnSpc>
              <a:spcBef>
                <a:spcPts val="600"/>
              </a:spcBef>
              <a:spcAft>
                <a:spcPts val="0"/>
              </a:spcAft>
              <a:buClr>
                <a:schemeClr val="lt1"/>
              </a:buClr>
              <a:buSzPts val="2100"/>
              <a:buNone/>
              <a:defRPr sz="2100">
                <a:solidFill>
                  <a:schemeClr val="lt1"/>
                </a:solidFill>
              </a:defRPr>
            </a:lvl6pPr>
            <a:lvl7pPr lvl="6" algn="l">
              <a:lnSpc>
                <a:spcPct val="100000"/>
              </a:lnSpc>
              <a:spcBef>
                <a:spcPts val="600"/>
              </a:spcBef>
              <a:spcAft>
                <a:spcPts val="0"/>
              </a:spcAft>
              <a:buClr>
                <a:schemeClr val="lt1"/>
              </a:buClr>
              <a:buSzPts val="2100"/>
              <a:buNone/>
              <a:defRPr sz="2100">
                <a:solidFill>
                  <a:schemeClr val="lt1"/>
                </a:solidFill>
              </a:defRPr>
            </a:lvl7pPr>
            <a:lvl8pPr lvl="7" algn="l">
              <a:lnSpc>
                <a:spcPct val="100000"/>
              </a:lnSpc>
              <a:spcBef>
                <a:spcPts val="600"/>
              </a:spcBef>
              <a:spcAft>
                <a:spcPts val="0"/>
              </a:spcAft>
              <a:buClr>
                <a:schemeClr val="lt1"/>
              </a:buClr>
              <a:buSzPts val="2100"/>
              <a:buNone/>
              <a:defRPr sz="2100">
                <a:solidFill>
                  <a:schemeClr val="lt1"/>
                </a:solidFill>
              </a:defRPr>
            </a:lvl8pPr>
            <a:lvl9pPr lvl="8" algn="l">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21" name="Shape 121"/>
        <p:cNvGrpSpPr/>
        <p:nvPr/>
      </p:nvGrpSpPr>
      <p:grpSpPr>
        <a:xfrm>
          <a:off x="0" y="0"/>
          <a:ext cx="0" cy="0"/>
          <a:chOff x="0" y="0"/>
          <a:chExt cx="0" cy="0"/>
        </a:xfrm>
      </p:grpSpPr>
      <p:sp>
        <p:nvSpPr>
          <p:cNvPr id="122" name="Google Shape;122;p7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7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4" name="Google Shape;124;p7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p:txBody>
      </p:sp>
      <p:sp>
        <p:nvSpPr>
          <p:cNvPr id="125" name="Google Shape;125;p7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600"/>
              </a:spcBef>
              <a:spcAft>
                <a:spcPts val="0"/>
              </a:spcAft>
              <a:buSzPts val="1800"/>
              <a:buChar char="•"/>
              <a:defRPr/>
            </a:lvl1pPr>
            <a:lvl2pPr indent="-342900" lvl="1" marL="914400" algn="l">
              <a:lnSpc>
                <a:spcPct val="115000"/>
              </a:lnSpc>
              <a:spcBef>
                <a:spcPts val="600"/>
              </a:spcBef>
              <a:spcAft>
                <a:spcPts val="0"/>
              </a:spcAft>
              <a:buSzPts val="1800"/>
              <a:buChar char="•"/>
              <a:defRPr/>
            </a:lvl2pPr>
            <a:lvl3pPr indent="-342900" lvl="2" marL="1371600" algn="l">
              <a:lnSpc>
                <a:spcPct val="115000"/>
              </a:lnSpc>
              <a:spcBef>
                <a:spcPts val="600"/>
              </a:spcBef>
              <a:spcAft>
                <a:spcPts val="0"/>
              </a:spcAft>
              <a:buSzPts val="1800"/>
              <a:buChar char="•"/>
              <a:defRPr/>
            </a:lvl3pPr>
            <a:lvl4pPr indent="-342900" lvl="3" marL="1828800" algn="l">
              <a:lnSpc>
                <a:spcPct val="115000"/>
              </a:lnSpc>
              <a:spcBef>
                <a:spcPts val="600"/>
              </a:spcBef>
              <a:spcAft>
                <a:spcPts val="0"/>
              </a:spcAft>
              <a:buSzPts val="1800"/>
              <a:buChar char="•"/>
              <a:defRPr/>
            </a:lvl4pPr>
            <a:lvl5pPr indent="-342900" lvl="4" marL="2286000" algn="l">
              <a:lnSpc>
                <a:spcPct val="115000"/>
              </a:lnSpc>
              <a:spcBef>
                <a:spcPts val="600"/>
              </a:spcBef>
              <a:spcAft>
                <a:spcPts val="0"/>
              </a:spcAft>
              <a:buSzPts val="1800"/>
              <a:buChar char="•"/>
              <a:defRPr/>
            </a:lvl5pPr>
            <a:lvl6pPr indent="-342900" lvl="5" marL="2743200" algn="l">
              <a:lnSpc>
                <a:spcPct val="115000"/>
              </a:lnSpc>
              <a:spcBef>
                <a:spcPts val="600"/>
              </a:spcBef>
              <a:spcAft>
                <a:spcPts val="0"/>
              </a:spcAft>
              <a:buSzPts val="1800"/>
              <a:buChar char="•"/>
              <a:defRPr/>
            </a:lvl6pPr>
            <a:lvl7pPr indent="-342900" lvl="6" marL="3200400" algn="l">
              <a:lnSpc>
                <a:spcPct val="115000"/>
              </a:lnSpc>
              <a:spcBef>
                <a:spcPts val="600"/>
              </a:spcBef>
              <a:spcAft>
                <a:spcPts val="0"/>
              </a:spcAft>
              <a:buSzPts val="1800"/>
              <a:buChar char="•"/>
              <a:defRPr/>
            </a:lvl7pPr>
            <a:lvl8pPr indent="-342900" lvl="7" marL="3657600" algn="l">
              <a:lnSpc>
                <a:spcPct val="115000"/>
              </a:lnSpc>
              <a:spcBef>
                <a:spcPts val="600"/>
              </a:spcBef>
              <a:spcAft>
                <a:spcPts val="0"/>
              </a:spcAft>
              <a:buSzPts val="1800"/>
              <a:buChar char="•"/>
              <a:defRPr/>
            </a:lvl8pPr>
            <a:lvl9pPr indent="-342900" lvl="8" marL="4114800" algn="l">
              <a:lnSpc>
                <a:spcPct val="115000"/>
              </a:lnSpc>
              <a:spcBef>
                <a:spcPts val="600"/>
              </a:spcBef>
              <a:spcAft>
                <a:spcPts val="0"/>
              </a:spcAft>
              <a:buSzPts val="1800"/>
              <a:buChar char="•"/>
              <a:defRPr/>
            </a:lvl9pPr>
          </a:lstStyle>
          <a:p/>
        </p:txBody>
      </p:sp>
      <p:sp>
        <p:nvSpPr>
          <p:cNvPr id="126" name="Google Shape;126;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27" name="Shape 127"/>
        <p:cNvGrpSpPr/>
        <p:nvPr/>
      </p:nvGrpSpPr>
      <p:grpSpPr>
        <a:xfrm>
          <a:off x="0" y="0"/>
          <a:ext cx="0" cy="0"/>
          <a:chOff x="0" y="0"/>
          <a:chExt cx="0" cy="0"/>
        </a:xfrm>
      </p:grpSpPr>
      <p:sp>
        <p:nvSpPr>
          <p:cNvPr id="128" name="Google Shape;128;p75"/>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75"/>
          <p:cNvSpPr txBox="1"/>
          <p:nvPr>
            <p:ph idx="1" type="body"/>
          </p:nvPr>
        </p:nvSpPr>
        <p:spPr>
          <a:xfrm>
            <a:off x="4882900" y="1152150"/>
            <a:ext cx="3950100" cy="34200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Char char="•"/>
              <a:defRPr/>
            </a:lvl1pPr>
            <a:lvl2pPr indent="-342900" lvl="1" marL="914400" algn="l">
              <a:lnSpc>
                <a:spcPct val="115000"/>
              </a:lnSpc>
              <a:spcBef>
                <a:spcPts val="600"/>
              </a:spcBef>
              <a:spcAft>
                <a:spcPts val="0"/>
              </a:spcAft>
              <a:buSzPts val="1800"/>
              <a:buChar char="•"/>
              <a:defRPr/>
            </a:lvl2pPr>
            <a:lvl3pPr indent="-342900" lvl="2" marL="1371600" algn="l">
              <a:lnSpc>
                <a:spcPct val="115000"/>
              </a:lnSpc>
              <a:spcBef>
                <a:spcPts val="600"/>
              </a:spcBef>
              <a:spcAft>
                <a:spcPts val="0"/>
              </a:spcAft>
              <a:buSzPts val="1800"/>
              <a:buChar char="•"/>
              <a:defRPr/>
            </a:lvl3pPr>
            <a:lvl4pPr indent="-342900" lvl="3" marL="1828800" algn="l">
              <a:lnSpc>
                <a:spcPct val="115000"/>
              </a:lnSpc>
              <a:spcBef>
                <a:spcPts val="600"/>
              </a:spcBef>
              <a:spcAft>
                <a:spcPts val="0"/>
              </a:spcAft>
              <a:buSzPts val="1800"/>
              <a:buChar char="•"/>
              <a:defRPr/>
            </a:lvl4pPr>
            <a:lvl5pPr indent="-342900" lvl="4" marL="2286000" algn="l">
              <a:lnSpc>
                <a:spcPct val="115000"/>
              </a:lnSpc>
              <a:spcBef>
                <a:spcPts val="600"/>
              </a:spcBef>
              <a:spcAft>
                <a:spcPts val="0"/>
              </a:spcAft>
              <a:buSzPts val="1800"/>
              <a:buChar char="•"/>
              <a:defRPr/>
            </a:lvl5pPr>
            <a:lvl6pPr indent="-342900" lvl="5" marL="2743200" algn="l">
              <a:lnSpc>
                <a:spcPct val="115000"/>
              </a:lnSpc>
              <a:spcBef>
                <a:spcPts val="600"/>
              </a:spcBef>
              <a:spcAft>
                <a:spcPts val="0"/>
              </a:spcAft>
              <a:buSzPts val="1800"/>
              <a:buChar char="•"/>
              <a:defRPr/>
            </a:lvl6pPr>
            <a:lvl7pPr indent="-342900" lvl="6" marL="3200400" algn="l">
              <a:lnSpc>
                <a:spcPct val="115000"/>
              </a:lnSpc>
              <a:spcBef>
                <a:spcPts val="600"/>
              </a:spcBef>
              <a:spcAft>
                <a:spcPts val="0"/>
              </a:spcAft>
              <a:buSzPts val="1800"/>
              <a:buChar char="•"/>
              <a:defRPr/>
            </a:lvl7pPr>
            <a:lvl8pPr indent="-342900" lvl="7" marL="3657600" algn="l">
              <a:lnSpc>
                <a:spcPct val="115000"/>
              </a:lnSpc>
              <a:spcBef>
                <a:spcPts val="600"/>
              </a:spcBef>
              <a:spcAft>
                <a:spcPts val="0"/>
              </a:spcAft>
              <a:buSzPts val="1800"/>
              <a:buChar char="•"/>
              <a:defRPr/>
            </a:lvl8pPr>
            <a:lvl9pPr indent="-342900" lvl="8" marL="4114800" algn="l">
              <a:lnSpc>
                <a:spcPct val="115000"/>
              </a:lnSpc>
              <a:spcBef>
                <a:spcPts val="600"/>
              </a:spcBef>
              <a:spcAft>
                <a:spcPts val="0"/>
              </a:spcAft>
              <a:buSzPts val="1800"/>
              <a:buChar char="•"/>
              <a:defRPr/>
            </a:lvl9pPr>
          </a:lstStyle>
          <a:p/>
        </p:txBody>
      </p:sp>
      <p:sp>
        <p:nvSpPr>
          <p:cNvPr id="131" name="Google Shape;131;p75"/>
          <p:cNvSpPr txBox="1"/>
          <p:nvPr>
            <p:ph idx="2" type="body"/>
          </p:nvPr>
        </p:nvSpPr>
        <p:spPr>
          <a:xfrm>
            <a:off x="310900" y="448050"/>
            <a:ext cx="3950100" cy="41241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Char char="•"/>
              <a:defRPr/>
            </a:lvl1pPr>
            <a:lvl2pPr indent="-342900" lvl="1" marL="914400" algn="l">
              <a:lnSpc>
                <a:spcPct val="115000"/>
              </a:lnSpc>
              <a:spcBef>
                <a:spcPts val="600"/>
              </a:spcBef>
              <a:spcAft>
                <a:spcPts val="0"/>
              </a:spcAft>
              <a:buSzPts val="1800"/>
              <a:buChar char="•"/>
              <a:defRPr/>
            </a:lvl2pPr>
            <a:lvl3pPr indent="-342900" lvl="2" marL="1371600" algn="l">
              <a:lnSpc>
                <a:spcPct val="115000"/>
              </a:lnSpc>
              <a:spcBef>
                <a:spcPts val="600"/>
              </a:spcBef>
              <a:spcAft>
                <a:spcPts val="0"/>
              </a:spcAft>
              <a:buSzPts val="1800"/>
              <a:buChar char="•"/>
              <a:defRPr/>
            </a:lvl3pPr>
            <a:lvl4pPr indent="-342900" lvl="3" marL="1828800" algn="l">
              <a:lnSpc>
                <a:spcPct val="115000"/>
              </a:lnSpc>
              <a:spcBef>
                <a:spcPts val="600"/>
              </a:spcBef>
              <a:spcAft>
                <a:spcPts val="0"/>
              </a:spcAft>
              <a:buSzPts val="1800"/>
              <a:buChar char="•"/>
              <a:defRPr/>
            </a:lvl4pPr>
            <a:lvl5pPr indent="-342900" lvl="4" marL="2286000" algn="l">
              <a:lnSpc>
                <a:spcPct val="115000"/>
              </a:lnSpc>
              <a:spcBef>
                <a:spcPts val="600"/>
              </a:spcBef>
              <a:spcAft>
                <a:spcPts val="0"/>
              </a:spcAft>
              <a:buSzPts val="1800"/>
              <a:buChar char="•"/>
              <a:defRPr/>
            </a:lvl5pPr>
            <a:lvl6pPr indent="-342900" lvl="5" marL="2743200" algn="l">
              <a:lnSpc>
                <a:spcPct val="115000"/>
              </a:lnSpc>
              <a:spcBef>
                <a:spcPts val="600"/>
              </a:spcBef>
              <a:spcAft>
                <a:spcPts val="0"/>
              </a:spcAft>
              <a:buSzPts val="1800"/>
              <a:buChar char="•"/>
              <a:defRPr/>
            </a:lvl6pPr>
            <a:lvl7pPr indent="-342900" lvl="6" marL="3200400" algn="l">
              <a:lnSpc>
                <a:spcPct val="115000"/>
              </a:lnSpc>
              <a:spcBef>
                <a:spcPts val="600"/>
              </a:spcBef>
              <a:spcAft>
                <a:spcPts val="0"/>
              </a:spcAft>
              <a:buSzPts val="1800"/>
              <a:buChar char="•"/>
              <a:defRPr/>
            </a:lvl7pPr>
            <a:lvl8pPr indent="-342900" lvl="7" marL="3657600" algn="l">
              <a:lnSpc>
                <a:spcPct val="115000"/>
              </a:lnSpc>
              <a:spcBef>
                <a:spcPts val="600"/>
              </a:spcBef>
              <a:spcAft>
                <a:spcPts val="0"/>
              </a:spcAft>
              <a:buSzPts val="1800"/>
              <a:buChar char="•"/>
              <a:defRPr/>
            </a:lvl8pPr>
            <a:lvl9pPr indent="-342900" lvl="8" marL="4114800" algn="l">
              <a:lnSpc>
                <a:spcPct val="115000"/>
              </a:lnSpc>
              <a:spcBef>
                <a:spcPts val="600"/>
              </a:spcBef>
              <a:spcAft>
                <a:spcPts val="0"/>
              </a:spcAft>
              <a:buSzPts val="1800"/>
              <a:buChar char="•"/>
              <a:defRPr/>
            </a:lvl9pPr>
          </a:lstStyle>
          <a:p/>
        </p:txBody>
      </p:sp>
      <p:sp>
        <p:nvSpPr>
          <p:cNvPr id="132" name="Google Shape;132;p75"/>
          <p:cNvSpPr txBox="1"/>
          <p:nvPr>
            <p:ph type="title"/>
          </p:nvPr>
        </p:nvSpPr>
        <p:spPr>
          <a:xfrm>
            <a:off x="4882900" y="445025"/>
            <a:ext cx="39501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3" name="Google Shape;133;p75"/>
          <p:cNvPicPr preferRelativeResize="0"/>
          <p:nvPr/>
        </p:nvPicPr>
        <p:blipFill rotWithShape="1">
          <a:blip r:embed="rId2">
            <a:alphaModFix/>
          </a:blip>
          <a:srcRect b="0" l="0" r="0" t="0"/>
          <a:stretch/>
        </p:blipFill>
        <p:spPr>
          <a:xfrm>
            <a:off x="0" y="4983478"/>
            <a:ext cx="457200" cy="160022"/>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34" name="Shape 134"/>
        <p:cNvGrpSpPr/>
        <p:nvPr/>
      </p:nvGrpSpPr>
      <p:grpSpPr>
        <a:xfrm>
          <a:off x="0" y="0"/>
          <a:ext cx="0" cy="0"/>
          <a:chOff x="0" y="0"/>
          <a:chExt cx="0" cy="0"/>
        </a:xfrm>
      </p:grpSpPr>
      <p:sp>
        <p:nvSpPr>
          <p:cNvPr id="135" name="Google Shape;135;p76"/>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76"/>
          <p:cNvSpPr txBox="1"/>
          <p:nvPr>
            <p:ph idx="1" type="body"/>
          </p:nvPr>
        </p:nvSpPr>
        <p:spPr>
          <a:xfrm>
            <a:off x="4882900" y="1152150"/>
            <a:ext cx="3950100" cy="34200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Char char="•"/>
              <a:defRPr/>
            </a:lvl1pPr>
            <a:lvl2pPr indent="-342900" lvl="1" marL="914400" algn="l">
              <a:lnSpc>
                <a:spcPct val="115000"/>
              </a:lnSpc>
              <a:spcBef>
                <a:spcPts val="600"/>
              </a:spcBef>
              <a:spcAft>
                <a:spcPts val="0"/>
              </a:spcAft>
              <a:buSzPts val="1800"/>
              <a:buChar char="•"/>
              <a:defRPr/>
            </a:lvl2pPr>
            <a:lvl3pPr indent="-342900" lvl="2" marL="1371600" algn="l">
              <a:lnSpc>
                <a:spcPct val="115000"/>
              </a:lnSpc>
              <a:spcBef>
                <a:spcPts val="600"/>
              </a:spcBef>
              <a:spcAft>
                <a:spcPts val="0"/>
              </a:spcAft>
              <a:buSzPts val="1800"/>
              <a:buChar char="•"/>
              <a:defRPr/>
            </a:lvl3pPr>
            <a:lvl4pPr indent="-342900" lvl="3" marL="1828800" algn="l">
              <a:lnSpc>
                <a:spcPct val="115000"/>
              </a:lnSpc>
              <a:spcBef>
                <a:spcPts val="600"/>
              </a:spcBef>
              <a:spcAft>
                <a:spcPts val="0"/>
              </a:spcAft>
              <a:buSzPts val="1800"/>
              <a:buChar char="•"/>
              <a:defRPr/>
            </a:lvl4pPr>
            <a:lvl5pPr indent="-342900" lvl="4" marL="2286000" algn="l">
              <a:lnSpc>
                <a:spcPct val="115000"/>
              </a:lnSpc>
              <a:spcBef>
                <a:spcPts val="600"/>
              </a:spcBef>
              <a:spcAft>
                <a:spcPts val="0"/>
              </a:spcAft>
              <a:buSzPts val="1800"/>
              <a:buChar char="•"/>
              <a:defRPr/>
            </a:lvl5pPr>
            <a:lvl6pPr indent="-342900" lvl="5" marL="2743200" algn="l">
              <a:lnSpc>
                <a:spcPct val="115000"/>
              </a:lnSpc>
              <a:spcBef>
                <a:spcPts val="600"/>
              </a:spcBef>
              <a:spcAft>
                <a:spcPts val="0"/>
              </a:spcAft>
              <a:buSzPts val="1800"/>
              <a:buChar char="•"/>
              <a:defRPr/>
            </a:lvl6pPr>
            <a:lvl7pPr indent="-342900" lvl="6" marL="3200400" algn="l">
              <a:lnSpc>
                <a:spcPct val="115000"/>
              </a:lnSpc>
              <a:spcBef>
                <a:spcPts val="600"/>
              </a:spcBef>
              <a:spcAft>
                <a:spcPts val="0"/>
              </a:spcAft>
              <a:buSzPts val="1800"/>
              <a:buChar char="•"/>
              <a:defRPr/>
            </a:lvl7pPr>
            <a:lvl8pPr indent="-342900" lvl="7" marL="3657600" algn="l">
              <a:lnSpc>
                <a:spcPct val="115000"/>
              </a:lnSpc>
              <a:spcBef>
                <a:spcPts val="600"/>
              </a:spcBef>
              <a:spcAft>
                <a:spcPts val="0"/>
              </a:spcAft>
              <a:buSzPts val="1800"/>
              <a:buChar char="•"/>
              <a:defRPr/>
            </a:lvl8pPr>
            <a:lvl9pPr indent="-342900" lvl="8" marL="4114800" algn="l">
              <a:lnSpc>
                <a:spcPct val="115000"/>
              </a:lnSpc>
              <a:spcBef>
                <a:spcPts val="600"/>
              </a:spcBef>
              <a:spcAft>
                <a:spcPts val="0"/>
              </a:spcAft>
              <a:buSzPts val="1800"/>
              <a:buChar char="•"/>
              <a:defRPr/>
            </a:lvl9pPr>
          </a:lstStyle>
          <a:p/>
        </p:txBody>
      </p:sp>
      <p:sp>
        <p:nvSpPr>
          <p:cNvPr id="138" name="Google Shape;138;p76"/>
          <p:cNvSpPr txBox="1"/>
          <p:nvPr>
            <p:ph idx="2" type="body"/>
          </p:nvPr>
        </p:nvSpPr>
        <p:spPr>
          <a:xfrm>
            <a:off x="310900" y="448050"/>
            <a:ext cx="3950100" cy="41241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Char char="•"/>
              <a:defRPr/>
            </a:lvl1pPr>
            <a:lvl2pPr indent="-342900" lvl="1" marL="914400" algn="l">
              <a:lnSpc>
                <a:spcPct val="115000"/>
              </a:lnSpc>
              <a:spcBef>
                <a:spcPts val="600"/>
              </a:spcBef>
              <a:spcAft>
                <a:spcPts val="0"/>
              </a:spcAft>
              <a:buSzPts val="1800"/>
              <a:buChar char="•"/>
              <a:defRPr/>
            </a:lvl2pPr>
            <a:lvl3pPr indent="-342900" lvl="2" marL="1371600" algn="l">
              <a:lnSpc>
                <a:spcPct val="115000"/>
              </a:lnSpc>
              <a:spcBef>
                <a:spcPts val="600"/>
              </a:spcBef>
              <a:spcAft>
                <a:spcPts val="0"/>
              </a:spcAft>
              <a:buSzPts val="1800"/>
              <a:buChar char="•"/>
              <a:defRPr/>
            </a:lvl3pPr>
            <a:lvl4pPr indent="-342900" lvl="3" marL="1828800" algn="l">
              <a:lnSpc>
                <a:spcPct val="115000"/>
              </a:lnSpc>
              <a:spcBef>
                <a:spcPts val="600"/>
              </a:spcBef>
              <a:spcAft>
                <a:spcPts val="0"/>
              </a:spcAft>
              <a:buSzPts val="1800"/>
              <a:buChar char="•"/>
              <a:defRPr/>
            </a:lvl4pPr>
            <a:lvl5pPr indent="-342900" lvl="4" marL="2286000" algn="l">
              <a:lnSpc>
                <a:spcPct val="115000"/>
              </a:lnSpc>
              <a:spcBef>
                <a:spcPts val="600"/>
              </a:spcBef>
              <a:spcAft>
                <a:spcPts val="0"/>
              </a:spcAft>
              <a:buSzPts val="1800"/>
              <a:buChar char="•"/>
              <a:defRPr/>
            </a:lvl5pPr>
            <a:lvl6pPr indent="-342900" lvl="5" marL="2743200" algn="l">
              <a:lnSpc>
                <a:spcPct val="115000"/>
              </a:lnSpc>
              <a:spcBef>
                <a:spcPts val="600"/>
              </a:spcBef>
              <a:spcAft>
                <a:spcPts val="0"/>
              </a:spcAft>
              <a:buSzPts val="1800"/>
              <a:buChar char="•"/>
              <a:defRPr/>
            </a:lvl6pPr>
            <a:lvl7pPr indent="-342900" lvl="6" marL="3200400" algn="l">
              <a:lnSpc>
                <a:spcPct val="115000"/>
              </a:lnSpc>
              <a:spcBef>
                <a:spcPts val="600"/>
              </a:spcBef>
              <a:spcAft>
                <a:spcPts val="0"/>
              </a:spcAft>
              <a:buSzPts val="1800"/>
              <a:buChar char="•"/>
              <a:defRPr/>
            </a:lvl7pPr>
            <a:lvl8pPr indent="-342900" lvl="7" marL="3657600" algn="l">
              <a:lnSpc>
                <a:spcPct val="115000"/>
              </a:lnSpc>
              <a:spcBef>
                <a:spcPts val="600"/>
              </a:spcBef>
              <a:spcAft>
                <a:spcPts val="0"/>
              </a:spcAft>
              <a:buSzPts val="1800"/>
              <a:buChar char="•"/>
              <a:defRPr/>
            </a:lvl8pPr>
            <a:lvl9pPr indent="-342900" lvl="8" marL="4114800" algn="l">
              <a:lnSpc>
                <a:spcPct val="115000"/>
              </a:lnSpc>
              <a:spcBef>
                <a:spcPts val="600"/>
              </a:spcBef>
              <a:spcAft>
                <a:spcPts val="0"/>
              </a:spcAft>
              <a:buSzPts val="1800"/>
              <a:buChar char="•"/>
              <a:defRPr/>
            </a:lvl9pPr>
          </a:lstStyle>
          <a:p/>
        </p:txBody>
      </p:sp>
      <p:sp>
        <p:nvSpPr>
          <p:cNvPr id="139" name="Google Shape;139;p76"/>
          <p:cNvSpPr txBox="1"/>
          <p:nvPr>
            <p:ph idx="3" type="subTitle"/>
          </p:nvPr>
        </p:nvSpPr>
        <p:spPr>
          <a:xfrm>
            <a:off x="225450" y="3943400"/>
            <a:ext cx="4045200" cy="46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p:txBody>
      </p:sp>
      <p:sp>
        <p:nvSpPr>
          <p:cNvPr id="140" name="Google Shape;140;p76"/>
          <p:cNvSpPr txBox="1"/>
          <p:nvPr>
            <p:ph type="title"/>
          </p:nvPr>
        </p:nvSpPr>
        <p:spPr>
          <a:xfrm>
            <a:off x="208450" y="3418425"/>
            <a:ext cx="39501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pic>
        <p:nvPicPr>
          <p:cNvPr id="141" name="Google Shape;141;p76"/>
          <p:cNvPicPr preferRelativeResize="0"/>
          <p:nvPr/>
        </p:nvPicPr>
        <p:blipFill rotWithShape="1">
          <a:blip r:embed="rId2">
            <a:alphaModFix/>
          </a:blip>
          <a:srcRect b="0" l="0" r="0" t="0"/>
          <a:stretch/>
        </p:blipFill>
        <p:spPr>
          <a:xfrm>
            <a:off x="0" y="4983478"/>
            <a:ext cx="457200" cy="160022"/>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42" name="Shape 142"/>
        <p:cNvGrpSpPr/>
        <p:nvPr/>
      </p:nvGrpSpPr>
      <p:grpSpPr>
        <a:xfrm>
          <a:off x="0" y="0"/>
          <a:ext cx="0" cy="0"/>
          <a:chOff x="0" y="0"/>
          <a:chExt cx="0" cy="0"/>
        </a:xfrm>
      </p:grpSpPr>
      <p:sp>
        <p:nvSpPr>
          <p:cNvPr id="143" name="Google Shape;143;p7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44" name="Google Shape;144;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45" name="Shape 145"/>
        <p:cNvGrpSpPr/>
        <p:nvPr/>
      </p:nvGrpSpPr>
      <p:grpSpPr>
        <a:xfrm>
          <a:off x="0" y="0"/>
          <a:ext cx="0" cy="0"/>
          <a:chOff x="0" y="0"/>
          <a:chExt cx="0" cy="0"/>
        </a:xfrm>
      </p:grpSpPr>
      <p:sp>
        <p:nvSpPr>
          <p:cNvPr id="146" name="Google Shape;146;p78"/>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78"/>
          <p:cNvSpPr txBox="1"/>
          <p:nvPr>
            <p:ph idx="1" type="body"/>
          </p:nvPr>
        </p:nvSpPr>
        <p:spPr>
          <a:xfrm>
            <a:off x="311700" y="1152150"/>
            <a:ext cx="3950100" cy="34200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Char char="•"/>
              <a:defRPr/>
            </a:lvl1pPr>
            <a:lvl2pPr indent="-342900" lvl="1" marL="914400" algn="l">
              <a:lnSpc>
                <a:spcPct val="115000"/>
              </a:lnSpc>
              <a:spcBef>
                <a:spcPts val="600"/>
              </a:spcBef>
              <a:spcAft>
                <a:spcPts val="0"/>
              </a:spcAft>
              <a:buSzPts val="1800"/>
              <a:buChar char="•"/>
              <a:defRPr/>
            </a:lvl2pPr>
            <a:lvl3pPr indent="-342900" lvl="2" marL="1371600" algn="l">
              <a:lnSpc>
                <a:spcPct val="115000"/>
              </a:lnSpc>
              <a:spcBef>
                <a:spcPts val="600"/>
              </a:spcBef>
              <a:spcAft>
                <a:spcPts val="0"/>
              </a:spcAft>
              <a:buSzPts val="1800"/>
              <a:buChar char="•"/>
              <a:defRPr/>
            </a:lvl3pPr>
            <a:lvl4pPr indent="-342900" lvl="3" marL="1828800" algn="l">
              <a:lnSpc>
                <a:spcPct val="115000"/>
              </a:lnSpc>
              <a:spcBef>
                <a:spcPts val="600"/>
              </a:spcBef>
              <a:spcAft>
                <a:spcPts val="0"/>
              </a:spcAft>
              <a:buSzPts val="1800"/>
              <a:buChar char="•"/>
              <a:defRPr/>
            </a:lvl4pPr>
            <a:lvl5pPr indent="-342900" lvl="4" marL="2286000" algn="l">
              <a:lnSpc>
                <a:spcPct val="115000"/>
              </a:lnSpc>
              <a:spcBef>
                <a:spcPts val="600"/>
              </a:spcBef>
              <a:spcAft>
                <a:spcPts val="0"/>
              </a:spcAft>
              <a:buSzPts val="1800"/>
              <a:buChar char="•"/>
              <a:defRPr/>
            </a:lvl5pPr>
            <a:lvl6pPr indent="-342900" lvl="5" marL="2743200" algn="l">
              <a:lnSpc>
                <a:spcPct val="115000"/>
              </a:lnSpc>
              <a:spcBef>
                <a:spcPts val="600"/>
              </a:spcBef>
              <a:spcAft>
                <a:spcPts val="0"/>
              </a:spcAft>
              <a:buSzPts val="1800"/>
              <a:buChar char="•"/>
              <a:defRPr/>
            </a:lvl6pPr>
            <a:lvl7pPr indent="-342900" lvl="6" marL="3200400" algn="l">
              <a:lnSpc>
                <a:spcPct val="115000"/>
              </a:lnSpc>
              <a:spcBef>
                <a:spcPts val="600"/>
              </a:spcBef>
              <a:spcAft>
                <a:spcPts val="0"/>
              </a:spcAft>
              <a:buSzPts val="1800"/>
              <a:buChar char="•"/>
              <a:defRPr/>
            </a:lvl7pPr>
            <a:lvl8pPr indent="-342900" lvl="7" marL="3657600" algn="l">
              <a:lnSpc>
                <a:spcPct val="115000"/>
              </a:lnSpc>
              <a:spcBef>
                <a:spcPts val="600"/>
              </a:spcBef>
              <a:spcAft>
                <a:spcPts val="0"/>
              </a:spcAft>
              <a:buSzPts val="1800"/>
              <a:buChar char="•"/>
              <a:defRPr/>
            </a:lvl8pPr>
            <a:lvl9pPr indent="-342900" lvl="8" marL="4114800" algn="l">
              <a:lnSpc>
                <a:spcPct val="115000"/>
              </a:lnSpc>
              <a:spcBef>
                <a:spcPts val="600"/>
              </a:spcBef>
              <a:spcAft>
                <a:spcPts val="0"/>
              </a:spcAft>
              <a:buSzPts val="1800"/>
              <a:buChar char="•"/>
              <a:defRPr/>
            </a:lvl9pPr>
          </a:lstStyle>
          <a:p/>
        </p:txBody>
      </p:sp>
      <p:sp>
        <p:nvSpPr>
          <p:cNvPr id="149" name="Google Shape;149;p78"/>
          <p:cNvSpPr txBox="1"/>
          <p:nvPr>
            <p:ph idx="2" type="body"/>
          </p:nvPr>
        </p:nvSpPr>
        <p:spPr>
          <a:xfrm>
            <a:off x="4882900" y="448050"/>
            <a:ext cx="3950100" cy="41241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600"/>
              </a:spcBef>
              <a:spcAft>
                <a:spcPts val="0"/>
              </a:spcAft>
              <a:buSzPts val="1800"/>
              <a:buChar char="•"/>
              <a:defRPr/>
            </a:lvl1pPr>
            <a:lvl2pPr indent="-342900" lvl="1" marL="914400" algn="l">
              <a:lnSpc>
                <a:spcPct val="115000"/>
              </a:lnSpc>
              <a:spcBef>
                <a:spcPts val="600"/>
              </a:spcBef>
              <a:spcAft>
                <a:spcPts val="0"/>
              </a:spcAft>
              <a:buSzPts val="1800"/>
              <a:buChar char="•"/>
              <a:defRPr/>
            </a:lvl2pPr>
            <a:lvl3pPr indent="-342900" lvl="2" marL="1371600" algn="l">
              <a:lnSpc>
                <a:spcPct val="115000"/>
              </a:lnSpc>
              <a:spcBef>
                <a:spcPts val="600"/>
              </a:spcBef>
              <a:spcAft>
                <a:spcPts val="0"/>
              </a:spcAft>
              <a:buSzPts val="1800"/>
              <a:buChar char="•"/>
              <a:defRPr/>
            </a:lvl3pPr>
            <a:lvl4pPr indent="-342900" lvl="3" marL="1828800" algn="l">
              <a:lnSpc>
                <a:spcPct val="115000"/>
              </a:lnSpc>
              <a:spcBef>
                <a:spcPts val="600"/>
              </a:spcBef>
              <a:spcAft>
                <a:spcPts val="0"/>
              </a:spcAft>
              <a:buSzPts val="1800"/>
              <a:buChar char="•"/>
              <a:defRPr/>
            </a:lvl4pPr>
            <a:lvl5pPr indent="-342900" lvl="4" marL="2286000" algn="l">
              <a:lnSpc>
                <a:spcPct val="115000"/>
              </a:lnSpc>
              <a:spcBef>
                <a:spcPts val="600"/>
              </a:spcBef>
              <a:spcAft>
                <a:spcPts val="0"/>
              </a:spcAft>
              <a:buSzPts val="1800"/>
              <a:buChar char="•"/>
              <a:defRPr/>
            </a:lvl5pPr>
            <a:lvl6pPr indent="-342900" lvl="5" marL="2743200" algn="l">
              <a:lnSpc>
                <a:spcPct val="115000"/>
              </a:lnSpc>
              <a:spcBef>
                <a:spcPts val="600"/>
              </a:spcBef>
              <a:spcAft>
                <a:spcPts val="0"/>
              </a:spcAft>
              <a:buSzPts val="1800"/>
              <a:buChar char="•"/>
              <a:defRPr/>
            </a:lvl6pPr>
            <a:lvl7pPr indent="-342900" lvl="6" marL="3200400" algn="l">
              <a:lnSpc>
                <a:spcPct val="115000"/>
              </a:lnSpc>
              <a:spcBef>
                <a:spcPts val="600"/>
              </a:spcBef>
              <a:spcAft>
                <a:spcPts val="0"/>
              </a:spcAft>
              <a:buSzPts val="1800"/>
              <a:buChar char="•"/>
              <a:defRPr/>
            </a:lvl7pPr>
            <a:lvl8pPr indent="-342900" lvl="7" marL="3657600" algn="l">
              <a:lnSpc>
                <a:spcPct val="115000"/>
              </a:lnSpc>
              <a:spcBef>
                <a:spcPts val="600"/>
              </a:spcBef>
              <a:spcAft>
                <a:spcPts val="0"/>
              </a:spcAft>
              <a:buSzPts val="1800"/>
              <a:buChar char="•"/>
              <a:defRPr/>
            </a:lvl8pPr>
            <a:lvl9pPr indent="-342900" lvl="8" marL="4114800" algn="l">
              <a:lnSpc>
                <a:spcPct val="115000"/>
              </a:lnSpc>
              <a:spcBef>
                <a:spcPts val="600"/>
              </a:spcBef>
              <a:spcAft>
                <a:spcPts val="0"/>
              </a:spcAft>
              <a:buSzPts val="1800"/>
              <a:buChar char="•"/>
              <a:defRPr/>
            </a:lvl9pPr>
          </a:lstStyle>
          <a:p/>
        </p:txBody>
      </p:sp>
      <p:sp>
        <p:nvSpPr>
          <p:cNvPr id="150" name="Google Shape;150;p78"/>
          <p:cNvSpPr txBox="1"/>
          <p:nvPr>
            <p:ph type="title"/>
          </p:nvPr>
        </p:nvSpPr>
        <p:spPr>
          <a:xfrm>
            <a:off x="311700" y="445025"/>
            <a:ext cx="39501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4"/>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B5394"/>
              </a:buClr>
              <a:buSzPts val="1600"/>
              <a:buFont typeface="Roboto Medium"/>
              <a:buNone/>
              <a:defRPr b="0" i="0" sz="1600" u="none" cap="none" strike="noStrike">
                <a:solidFill>
                  <a:srgbClr val="0B5394"/>
                </a:solidFill>
                <a:latin typeface="Roboto Medium"/>
                <a:ea typeface="Roboto Medium"/>
                <a:cs typeface="Roboto Medium"/>
                <a:sym typeface="Roboto Medium"/>
              </a:defRPr>
            </a:lvl1pPr>
            <a:lvl2pPr lvl="1" marR="0" rtl="0" algn="l">
              <a:lnSpc>
                <a:spcPct val="100000"/>
              </a:lnSpc>
              <a:spcBef>
                <a:spcPts val="0"/>
              </a:spcBef>
              <a:spcAft>
                <a:spcPts val="0"/>
              </a:spcAft>
              <a:buClr>
                <a:srgbClr val="0B5394"/>
              </a:buClr>
              <a:buSzPts val="2800"/>
              <a:buFont typeface="Roboto Medium"/>
              <a:buNone/>
              <a:defRPr b="0" i="0" sz="2800" u="none" cap="none" strike="noStrike">
                <a:solidFill>
                  <a:srgbClr val="0B5394"/>
                </a:solidFill>
                <a:latin typeface="Roboto Medium"/>
                <a:ea typeface="Roboto Medium"/>
                <a:cs typeface="Roboto Medium"/>
                <a:sym typeface="Roboto Medium"/>
              </a:defRPr>
            </a:lvl2pPr>
            <a:lvl3pPr lvl="2" marR="0" rtl="0" algn="l">
              <a:lnSpc>
                <a:spcPct val="100000"/>
              </a:lnSpc>
              <a:spcBef>
                <a:spcPts val="0"/>
              </a:spcBef>
              <a:spcAft>
                <a:spcPts val="0"/>
              </a:spcAft>
              <a:buClr>
                <a:srgbClr val="0B5394"/>
              </a:buClr>
              <a:buSzPts val="2800"/>
              <a:buFont typeface="Roboto Medium"/>
              <a:buNone/>
              <a:defRPr b="0" i="0" sz="2800" u="none" cap="none" strike="noStrike">
                <a:solidFill>
                  <a:srgbClr val="0B5394"/>
                </a:solidFill>
                <a:latin typeface="Roboto Medium"/>
                <a:ea typeface="Roboto Medium"/>
                <a:cs typeface="Roboto Medium"/>
                <a:sym typeface="Roboto Medium"/>
              </a:defRPr>
            </a:lvl3pPr>
            <a:lvl4pPr lvl="3" marR="0" rtl="0" algn="l">
              <a:lnSpc>
                <a:spcPct val="100000"/>
              </a:lnSpc>
              <a:spcBef>
                <a:spcPts val="0"/>
              </a:spcBef>
              <a:spcAft>
                <a:spcPts val="0"/>
              </a:spcAft>
              <a:buClr>
                <a:srgbClr val="0B5394"/>
              </a:buClr>
              <a:buSzPts val="2800"/>
              <a:buFont typeface="Roboto Medium"/>
              <a:buNone/>
              <a:defRPr b="0" i="0" sz="2800" u="none" cap="none" strike="noStrike">
                <a:solidFill>
                  <a:srgbClr val="0B5394"/>
                </a:solidFill>
                <a:latin typeface="Roboto Medium"/>
                <a:ea typeface="Roboto Medium"/>
                <a:cs typeface="Roboto Medium"/>
                <a:sym typeface="Roboto Medium"/>
              </a:defRPr>
            </a:lvl4pPr>
            <a:lvl5pPr lvl="4" marR="0" rtl="0" algn="l">
              <a:lnSpc>
                <a:spcPct val="100000"/>
              </a:lnSpc>
              <a:spcBef>
                <a:spcPts val="0"/>
              </a:spcBef>
              <a:spcAft>
                <a:spcPts val="0"/>
              </a:spcAft>
              <a:buClr>
                <a:srgbClr val="0B5394"/>
              </a:buClr>
              <a:buSzPts val="2800"/>
              <a:buFont typeface="Roboto Medium"/>
              <a:buNone/>
              <a:defRPr b="0" i="0" sz="2800" u="none" cap="none" strike="noStrike">
                <a:solidFill>
                  <a:srgbClr val="0B5394"/>
                </a:solidFill>
                <a:latin typeface="Roboto Medium"/>
                <a:ea typeface="Roboto Medium"/>
                <a:cs typeface="Roboto Medium"/>
                <a:sym typeface="Roboto Medium"/>
              </a:defRPr>
            </a:lvl5pPr>
            <a:lvl6pPr lvl="5" marR="0" rtl="0" algn="l">
              <a:lnSpc>
                <a:spcPct val="100000"/>
              </a:lnSpc>
              <a:spcBef>
                <a:spcPts val="0"/>
              </a:spcBef>
              <a:spcAft>
                <a:spcPts val="0"/>
              </a:spcAft>
              <a:buClr>
                <a:srgbClr val="0B5394"/>
              </a:buClr>
              <a:buSzPts val="2800"/>
              <a:buFont typeface="Roboto Medium"/>
              <a:buNone/>
              <a:defRPr b="0" i="0" sz="2800" u="none" cap="none" strike="noStrike">
                <a:solidFill>
                  <a:srgbClr val="0B5394"/>
                </a:solidFill>
                <a:latin typeface="Roboto Medium"/>
                <a:ea typeface="Roboto Medium"/>
                <a:cs typeface="Roboto Medium"/>
                <a:sym typeface="Roboto Medium"/>
              </a:defRPr>
            </a:lvl6pPr>
            <a:lvl7pPr lvl="6" marR="0" rtl="0" algn="l">
              <a:lnSpc>
                <a:spcPct val="100000"/>
              </a:lnSpc>
              <a:spcBef>
                <a:spcPts val="0"/>
              </a:spcBef>
              <a:spcAft>
                <a:spcPts val="0"/>
              </a:spcAft>
              <a:buClr>
                <a:srgbClr val="0B5394"/>
              </a:buClr>
              <a:buSzPts val="2800"/>
              <a:buFont typeface="Roboto Medium"/>
              <a:buNone/>
              <a:defRPr b="0" i="0" sz="2800" u="none" cap="none" strike="noStrike">
                <a:solidFill>
                  <a:srgbClr val="0B5394"/>
                </a:solidFill>
                <a:latin typeface="Roboto Medium"/>
                <a:ea typeface="Roboto Medium"/>
                <a:cs typeface="Roboto Medium"/>
                <a:sym typeface="Roboto Medium"/>
              </a:defRPr>
            </a:lvl7pPr>
            <a:lvl8pPr lvl="7" marR="0" rtl="0" algn="l">
              <a:lnSpc>
                <a:spcPct val="100000"/>
              </a:lnSpc>
              <a:spcBef>
                <a:spcPts val="0"/>
              </a:spcBef>
              <a:spcAft>
                <a:spcPts val="0"/>
              </a:spcAft>
              <a:buClr>
                <a:srgbClr val="0B5394"/>
              </a:buClr>
              <a:buSzPts val="2800"/>
              <a:buFont typeface="Roboto Medium"/>
              <a:buNone/>
              <a:defRPr b="0" i="0" sz="2800" u="none" cap="none" strike="noStrike">
                <a:solidFill>
                  <a:srgbClr val="0B5394"/>
                </a:solidFill>
                <a:latin typeface="Roboto Medium"/>
                <a:ea typeface="Roboto Medium"/>
                <a:cs typeface="Roboto Medium"/>
                <a:sym typeface="Roboto Medium"/>
              </a:defRPr>
            </a:lvl8pPr>
            <a:lvl9pPr lvl="8" marR="0" rtl="0" algn="l">
              <a:lnSpc>
                <a:spcPct val="100000"/>
              </a:lnSpc>
              <a:spcBef>
                <a:spcPts val="0"/>
              </a:spcBef>
              <a:spcAft>
                <a:spcPts val="0"/>
              </a:spcAft>
              <a:buClr>
                <a:srgbClr val="0B5394"/>
              </a:buClr>
              <a:buSzPts val="2800"/>
              <a:buFont typeface="Roboto Medium"/>
              <a:buNone/>
              <a:defRPr b="0" i="0" sz="2800" u="none" cap="none" strike="noStrike">
                <a:solidFill>
                  <a:srgbClr val="0B5394"/>
                </a:solidFill>
                <a:latin typeface="Roboto Medium"/>
                <a:ea typeface="Roboto Medium"/>
                <a:cs typeface="Roboto Medium"/>
                <a:sym typeface="Roboto Medium"/>
              </a:defRPr>
            </a:lvl9pPr>
          </a:lstStyle>
          <a:p/>
        </p:txBody>
      </p:sp>
      <p:sp>
        <p:nvSpPr>
          <p:cNvPr id="7" name="Google Shape;7;p54"/>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6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42900" lvl="1" marL="914400" marR="0" rtl="0" algn="l">
              <a:lnSpc>
                <a:spcPct val="115000"/>
              </a:lnSpc>
              <a:spcBef>
                <a:spcPts val="6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2pPr>
            <a:lvl3pPr indent="-342900" lvl="2" marL="1371600" marR="0" rtl="0" algn="l">
              <a:lnSpc>
                <a:spcPct val="115000"/>
              </a:lnSpc>
              <a:spcBef>
                <a:spcPts val="6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3pPr>
            <a:lvl4pPr indent="-342900" lvl="3" marL="1828800" marR="0" rtl="0" algn="l">
              <a:lnSpc>
                <a:spcPct val="115000"/>
              </a:lnSpc>
              <a:spcBef>
                <a:spcPts val="6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4pPr>
            <a:lvl5pPr indent="-342900" lvl="4" marL="2286000" marR="0" rtl="0" algn="l">
              <a:lnSpc>
                <a:spcPct val="115000"/>
              </a:lnSpc>
              <a:spcBef>
                <a:spcPts val="6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5pPr>
            <a:lvl6pPr indent="-342900" lvl="5" marL="2743200" marR="0" rtl="0" algn="l">
              <a:lnSpc>
                <a:spcPct val="115000"/>
              </a:lnSpc>
              <a:spcBef>
                <a:spcPts val="6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6pPr>
            <a:lvl7pPr indent="-342900" lvl="6" marL="3200400" marR="0" rtl="0" algn="l">
              <a:lnSpc>
                <a:spcPct val="115000"/>
              </a:lnSpc>
              <a:spcBef>
                <a:spcPts val="6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7pPr>
            <a:lvl8pPr indent="-342900" lvl="7" marL="3657600" marR="0" rtl="0" algn="l">
              <a:lnSpc>
                <a:spcPct val="115000"/>
              </a:lnSpc>
              <a:spcBef>
                <a:spcPts val="6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8pPr>
            <a:lvl9pPr indent="-342900" lvl="8" marL="4114800" marR="0" rtl="0" algn="l">
              <a:lnSpc>
                <a:spcPct val="115000"/>
              </a:lnSpc>
              <a:spcBef>
                <a:spcPts val="60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9pPr>
          </a:lstStyle>
          <a:p/>
        </p:txBody>
      </p:sp>
      <p:sp>
        <p:nvSpPr>
          <p:cNvPr id="8" name="Google Shape;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8.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16.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19.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13.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image" Target="../media/image21.png"/><Relationship Id="rId4" Type="http://schemas.openxmlformats.org/officeDocument/2006/relationships/image" Target="../media/image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 Id="rId3" Type="http://schemas.openxmlformats.org/officeDocument/2006/relationships/image" Target="../media/image18.png"/><Relationship Id="rId4" Type="http://schemas.openxmlformats.org/officeDocument/2006/relationships/image" Target="../media/image15.png"/><Relationship Id="rId5" Type="http://schemas.openxmlformats.org/officeDocument/2006/relationships/image" Target="../media/image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 Id="rId3" Type="http://schemas.openxmlformats.org/officeDocument/2006/relationships/image" Target="../media/image23.png"/><Relationship Id="rId4" Type="http://schemas.openxmlformats.org/officeDocument/2006/relationships/image" Target="../media/image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 Id="rId3" Type="http://schemas.openxmlformats.org/officeDocument/2006/relationships/image" Target="../media/image17.png"/><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6a8ed94f95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56" name="Google Shape;156;g36a8ed94f95_0_0"/>
          <p:cNvSpPr txBox="1"/>
          <p:nvPr/>
        </p:nvSpPr>
        <p:spPr>
          <a:xfrm>
            <a:off x="311700" y="3854350"/>
            <a:ext cx="8520600" cy="80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600"/>
              </a:spcBef>
              <a:spcAft>
                <a:spcPts val="0"/>
              </a:spcAft>
              <a:buClr>
                <a:srgbClr val="000000"/>
              </a:buClr>
              <a:buSzPts val="1600"/>
              <a:buFont typeface="Arial"/>
              <a:buNone/>
            </a:pPr>
            <a:r>
              <a:rPr b="0" i="0" lang="en" sz="1600" u="none" cap="none" strike="noStrike">
                <a:solidFill>
                  <a:srgbClr val="000000"/>
                </a:solidFill>
                <a:latin typeface="Roboto Medium"/>
                <a:ea typeface="Roboto Medium"/>
                <a:cs typeface="Roboto Medium"/>
                <a:sym typeface="Roboto Medium"/>
              </a:rPr>
              <a:t>CS 168, Summer 2025 @ UC Berkeley</a:t>
            </a:r>
            <a:endParaRPr b="0" i="0" sz="1600" u="none" cap="none" strike="noStrike">
              <a:solidFill>
                <a:srgbClr val="000000"/>
              </a:solidFill>
              <a:latin typeface="Roboto Medium"/>
              <a:ea typeface="Roboto Medium"/>
              <a:cs typeface="Roboto Medium"/>
              <a:sym typeface="Roboto Medium"/>
            </a:endParaRPr>
          </a:p>
          <a:p>
            <a:pPr indent="0" lvl="0" marL="0" marR="0" rtl="0" algn="l">
              <a:lnSpc>
                <a:spcPct val="100000"/>
              </a:lnSpc>
              <a:spcBef>
                <a:spcPts val="600"/>
              </a:spcBef>
              <a:spcAft>
                <a:spcPts val="0"/>
              </a:spcAft>
              <a:buClr>
                <a:srgbClr val="000000"/>
              </a:buClr>
              <a:buSzPts val="1600"/>
              <a:buFont typeface="Arial"/>
              <a:buNone/>
            </a:pPr>
            <a:r>
              <a:rPr b="0" i="0" lang="en" sz="1600" u="none" cap="none" strike="noStrike">
                <a:solidFill>
                  <a:srgbClr val="000000"/>
                </a:solidFill>
                <a:latin typeface="Roboto Light"/>
                <a:ea typeface="Roboto Light"/>
                <a:cs typeface="Roboto Light"/>
                <a:sym typeface="Roboto Light"/>
              </a:rPr>
              <a:t>Slides credit: Sylvia Ratnasamy, Rob Shakir, Peyrin Kao, Iuniana Oprescu</a:t>
            </a:r>
            <a:endParaRPr b="0" i="0" sz="1600" u="none" cap="none" strike="noStrike">
              <a:solidFill>
                <a:srgbClr val="000000"/>
              </a:solidFill>
              <a:latin typeface="Roboto Light"/>
              <a:ea typeface="Roboto Light"/>
              <a:cs typeface="Roboto Light"/>
              <a:sym typeface="Roboto Light"/>
            </a:endParaRPr>
          </a:p>
        </p:txBody>
      </p:sp>
      <p:sp>
        <p:nvSpPr>
          <p:cNvPr id="157" name="Google Shape;157;g36a8ed94f95_0_0"/>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3600">
                <a:solidFill>
                  <a:schemeClr val="accent3"/>
                </a:solidFill>
                <a:latin typeface="Roboto Medium"/>
                <a:ea typeface="Roboto Medium"/>
                <a:cs typeface="Roboto Medium"/>
                <a:sym typeface="Roboto Medium"/>
              </a:rPr>
              <a:t>Routing I</a:t>
            </a:r>
            <a:r>
              <a:rPr b="0" i="0" lang="en" sz="3600" u="none" cap="none" strike="noStrike">
                <a:solidFill>
                  <a:schemeClr val="accent3"/>
                </a:solidFill>
                <a:latin typeface="Roboto Medium"/>
                <a:ea typeface="Roboto Medium"/>
                <a:cs typeface="Roboto Medium"/>
                <a:sym typeface="Roboto Medium"/>
              </a:rPr>
              <a:t> </a:t>
            </a:r>
            <a:r>
              <a:rPr lang="en" sz="4800">
                <a:solidFill>
                  <a:schemeClr val="accent3"/>
                </a:solidFill>
                <a:highlight>
                  <a:srgbClr val="FFFFFF"/>
                </a:highlight>
                <a:latin typeface="Roboto"/>
                <a:ea typeface="Roboto"/>
                <a:cs typeface="Roboto"/>
                <a:sym typeface="Roboto"/>
              </a:rPr>
              <a:t>🫂</a:t>
            </a:r>
            <a:endParaRPr b="0" i="0" sz="4800" u="none" cap="none" strike="noStrike">
              <a:solidFill>
                <a:srgbClr val="0B5394"/>
              </a:solidFill>
              <a:latin typeface="Roboto Medium"/>
              <a:ea typeface="Roboto Medium"/>
              <a:cs typeface="Roboto Medium"/>
              <a:sym typeface="Roboto Medium"/>
            </a:endParaRPr>
          </a:p>
        </p:txBody>
      </p:sp>
      <p:sp>
        <p:nvSpPr>
          <p:cNvPr id="158" name="Google Shape;158;g36a8ed94f95_0_0"/>
          <p:cNvSpPr txBox="1"/>
          <p:nvPr>
            <p:ph idx="1" type="subTitle"/>
          </p:nvPr>
        </p:nvSpPr>
        <p:spPr>
          <a:xfrm>
            <a:off x="311700" y="2571750"/>
            <a:ext cx="8520600" cy="54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2400"/>
              <a:buNone/>
            </a:pPr>
            <a:r>
              <a:rPr lang="en"/>
              <a:t>Discussion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6a8da6ef7b_1_41"/>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Logistics</a:t>
            </a:r>
            <a:endParaRPr/>
          </a:p>
        </p:txBody>
      </p:sp>
      <p:sp>
        <p:nvSpPr>
          <p:cNvPr id="164" name="Google Shape;164;g36a8da6ef7b_1_41"/>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400"/>
              </a:spcBef>
              <a:spcAft>
                <a:spcPts val="0"/>
              </a:spcAft>
              <a:buSzPts val="2000"/>
              <a:buChar char="●"/>
            </a:pPr>
            <a:r>
              <a:rPr lang="en" sz="2000"/>
              <a:t>Project 1B: Traceroute Error Handling</a:t>
            </a:r>
            <a:endParaRPr sz="2000"/>
          </a:p>
          <a:p>
            <a:pPr indent="-355600" lvl="1" marL="914400" rtl="0" algn="l">
              <a:lnSpc>
                <a:spcPct val="100000"/>
              </a:lnSpc>
              <a:spcBef>
                <a:spcPts val="400"/>
              </a:spcBef>
              <a:spcAft>
                <a:spcPts val="0"/>
              </a:spcAft>
              <a:buSzPts val="2000"/>
              <a:buFont typeface="Avenir"/>
              <a:buChar char="○"/>
            </a:pPr>
            <a:r>
              <a:rPr lang="en" sz="2000"/>
              <a:t>Deadline: </a:t>
            </a:r>
            <a:r>
              <a:rPr b="1" lang="en" sz="2000"/>
              <a:t>Thursday, July 3rd</a:t>
            </a:r>
            <a:endParaRPr b="1" sz="2000"/>
          </a:p>
          <a:p>
            <a:pPr indent="0" lvl="0" marL="457200" rtl="0" algn="l">
              <a:lnSpc>
                <a:spcPct val="100000"/>
              </a:lnSpc>
              <a:spcBef>
                <a:spcPts val="400"/>
              </a:spcBef>
              <a:spcAft>
                <a:spcPts val="0"/>
              </a:spcAft>
              <a:buSzPts val="1800"/>
              <a:buNone/>
            </a:pPr>
            <a:r>
              <a:t/>
            </a:r>
            <a:endParaRPr sz="2000"/>
          </a:p>
          <a:p>
            <a:pPr indent="0" lvl="0" marL="0" rtl="0" algn="l">
              <a:lnSpc>
                <a:spcPct val="100000"/>
              </a:lnSpc>
              <a:spcBef>
                <a:spcPts val="400"/>
              </a:spcBef>
              <a:spcAft>
                <a:spcPts val="0"/>
              </a:spcAft>
              <a:buSzPts val="1800"/>
              <a:buNone/>
            </a:pPr>
            <a:r>
              <a:t/>
            </a:r>
            <a:endParaRPr sz="2000"/>
          </a:p>
          <a:p>
            <a:pPr indent="-355600" lvl="0" marL="457200" rtl="0" algn="l">
              <a:lnSpc>
                <a:spcPct val="100000"/>
              </a:lnSpc>
              <a:spcBef>
                <a:spcPts val="400"/>
              </a:spcBef>
              <a:spcAft>
                <a:spcPts val="0"/>
              </a:spcAft>
              <a:buSzPts val="2000"/>
              <a:buChar char="●"/>
            </a:pPr>
            <a:r>
              <a:rPr lang="en" sz="2000"/>
              <a:t>Still somewhat far ahead: Midterm on July 22nd, 7-9pm (put it in your calendar)!</a:t>
            </a:r>
            <a:endParaRPr sz="2000"/>
          </a:p>
          <a:p>
            <a:pPr indent="0" lvl="0" marL="0" rtl="0" algn="l">
              <a:lnSpc>
                <a:spcPct val="100000"/>
              </a:lnSpc>
              <a:spcBef>
                <a:spcPts val="400"/>
              </a:spcBef>
              <a:spcAft>
                <a:spcPts val="0"/>
              </a:spcAft>
              <a:buSzPts val="1800"/>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
          <p:cNvSpPr txBox="1"/>
          <p:nvPr>
            <p:ph idx="1" type="body"/>
          </p:nvPr>
        </p:nvSpPr>
        <p:spPr>
          <a:xfrm>
            <a:off x="4812375" y="402200"/>
            <a:ext cx="4038000" cy="426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600"/>
              </a:spcBef>
              <a:spcAft>
                <a:spcPts val="0"/>
              </a:spcAft>
              <a:buSzPts val="1800"/>
              <a:buNone/>
            </a:pPr>
            <a:r>
              <a:rPr b="1" lang="en">
                <a:solidFill>
                  <a:schemeClr val="accent3"/>
                </a:solidFill>
                <a:latin typeface="Roboto"/>
                <a:ea typeface="Roboto"/>
                <a:cs typeface="Roboto"/>
                <a:sym typeface="Roboto"/>
              </a:rPr>
              <a:t>Distance-Vector Correctness</a:t>
            </a:r>
            <a:endParaRPr b="1">
              <a:solidFill>
                <a:schemeClr val="accent3"/>
              </a:solidFill>
              <a:latin typeface="Roboto"/>
              <a:ea typeface="Roboto"/>
              <a:cs typeface="Roboto"/>
              <a:sym typeface="Roboto"/>
            </a:endParaRPr>
          </a:p>
          <a:p>
            <a:pPr indent="-342900" lvl="0" marL="457200" rtl="0" algn="l">
              <a:lnSpc>
                <a:spcPct val="115000"/>
              </a:lnSpc>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Algorithm Sketch</a:t>
            </a:r>
            <a:endParaRPr b="1">
              <a:solidFill>
                <a:schemeClr val="accent3"/>
              </a:solidFill>
              <a:latin typeface="Roboto"/>
              <a:ea typeface="Roboto"/>
              <a:cs typeface="Roboto"/>
              <a:sym typeface="Roboto"/>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1: Bellman-Ford Updates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2: Updates From Next-Hop</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3: Resending and Expiring</a:t>
            </a:r>
            <a:endParaRPr>
              <a:solidFill>
                <a:srgbClr val="B7B7B7"/>
              </a:solidFill>
            </a:endParaRPr>
          </a:p>
          <a:p>
            <a:pPr indent="0" lvl="0" marL="0" rtl="0" algn="l">
              <a:lnSpc>
                <a:spcPct val="115000"/>
              </a:lnSpc>
              <a:spcBef>
                <a:spcPts val="600"/>
              </a:spcBef>
              <a:spcAft>
                <a:spcPts val="0"/>
              </a:spcAft>
              <a:buSzPts val="1800"/>
              <a:buNone/>
            </a:pPr>
            <a:r>
              <a:rPr lang="en">
                <a:solidFill>
                  <a:srgbClr val="B7B7B7"/>
                </a:solidFill>
              </a:rPr>
              <a:t>Distance-Vector Enhancements</a:t>
            </a:r>
            <a:endParaRPr>
              <a:solidFill>
                <a:srgbClr val="B7B7B7"/>
              </a:solidFill>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Rule 4: Poison Expired Routes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5A: Split Horizon</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5B: Poison Reverse</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6: Count To Infinity</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Eventful Updates</a:t>
            </a:r>
            <a:endParaRPr>
              <a:solidFill>
                <a:srgbClr val="B7B7B7"/>
              </a:solidFill>
            </a:endParaRPr>
          </a:p>
        </p:txBody>
      </p:sp>
      <p:sp>
        <p:nvSpPr>
          <p:cNvPr id="170" name="Google Shape;170;p3"/>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Distance-Vector Algorithm Sketch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4"/>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Distance-Vector Algorithm Sketch – Routing vs. Forwarding</a:t>
            </a:r>
            <a:endParaRPr/>
          </a:p>
        </p:txBody>
      </p:sp>
      <p:cxnSp>
        <p:nvCxnSpPr>
          <p:cNvPr id="176" name="Google Shape;176;p4"/>
          <p:cNvCxnSpPr>
            <a:stCxn id="177" idx="3"/>
            <a:endCxn id="178" idx="1"/>
          </p:cNvCxnSpPr>
          <p:nvPr/>
        </p:nvCxnSpPr>
        <p:spPr>
          <a:xfrm flipH="1" rot="10800000">
            <a:off x="2951800" y="2720825"/>
            <a:ext cx="1239000" cy="781200"/>
          </a:xfrm>
          <a:prstGeom prst="straightConnector1">
            <a:avLst/>
          </a:prstGeom>
          <a:noFill/>
          <a:ln cap="flat" cmpd="sng" w="19050">
            <a:solidFill>
              <a:srgbClr val="000000"/>
            </a:solidFill>
            <a:prstDash val="solid"/>
            <a:round/>
            <a:headEnd len="sm" w="sm" type="none"/>
            <a:tailEnd len="sm" w="sm" type="none"/>
          </a:ln>
        </p:spPr>
      </p:cxnSp>
      <p:sp>
        <p:nvSpPr>
          <p:cNvPr id="178" name="Google Shape;178;p4"/>
          <p:cNvSpPr/>
          <p:nvPr/>
        </p:nvSpPr>
        <p:spPr>
          <a:xfrm>
            <a:off x="4190800" y="25784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179" name="Google Shape;179;p4"/>
          <p:cNvSpPr/>
          <p:nvPr/>
        </p:nvSpPr>
        <p:spPr>
          <a:xfrm>
            <a:off x="1371388" y="3359525"/>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a:t>
            </a:r>
            <a:endParaRPr b="0" i="0" sz="1400" u="none" cap="none" strike="noStrike">
              <a:solidFill>
                <a:srgbClr val="000000"/>
              </a:solidFill>
              <a:latin typeface="Roboto"/>
              <a:ea typeface="Roboto"/>
              <a:cs typeface="Roboto"/>
              <a:sym typeface="Roboto"/>
            </a:endParaRPr>
          </a:p>
        </p:txBody>
      </p:sp>
      <p:sp>
        <p:nvSpPr>
          <p:cNvPr id="180" name="Google Shape;180;p4"/>
          <p:cNvSpPr/>
          <p:nvPr/>
        </p:nvSpPr>
        <p:spPr>
          <a:xfrm>
            <a:off x="4190800" y="41405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181" name="Google Shape;181;p4"/>
          <p:cNvCxnSpPr>
            <a:stCxn id="177" idx="3"/>
            <a:endCxn id="180" idx="1"/>
          </p:cNvCxnSpPr>
          <p:nvPr/>
        </p:nvCxnSpPr>
        <p:spPr>
          <a:xfrm>
            <a:off x="2951800" y="3502025"/>
            <a:ext cx="1239000" cy="781200"/>
          </a:xfrm>
          <a:prstGeom prst="straightConnector1">
            <a:avLst/>
          </a:prstGeom>
          <a:noFill/>
          <a:ln cap="flat" cmpd="sng" w="19050">
            <a:solidFill>
              <a:srgbClr val="000000"/>
            </a:solidFill>
            <a:prstDash val="solid"/>
            <a:round/>
            <a:headEnd len="sm" w="sm" type="none"/>
            <a:tailEnd len="sm" w="sm" type="none"/>
          </a:ln>
        </p:spPr>
      </p:cxnSp>
      <p:sp>
        <p:nvSpPr>
          <p:cNvPr id="177" name="Google Shape;177;p4"/>
          <p:cNvSpPr/>
          <p:nvPr/>
        </p:nvSpPr>
        <p:spPr>
          <a:xfrm>
            <a:off x="2666800" y="3359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182" name="Google Shape;182;p4"/>
          <p:cNvCxnSpPr>
            <a:stCxn id="179" idx="6"/>
            <a:endCxn id="177" idx="1"/>
          </p:cNvCxnSpPr>
          <p:nvPr/>
        </p:nvCxnSpPr>
        <p:spPr>
          <a:xfrm>
            <a:off x="1656388" y="3502025"/>
            <a:ext cx="1010400" cy="0"/>
          </a:xfrm>
          <a:prstGeom prst="straightConnector1">
            <a:avLst/>
          </a:prstGeom>
          <a:noFill/>
          <a:ln cap="flat" cmpd="sng" w="19050">
            <a:solidFill>
              <a:srgbClr val="000000"/>
            </a:solidFill>
            <a:prstDash val="solid"/>
            <a:round/>
            <a:headEnd len="sm" w="sm" type="none"/>
            <a:tailEnd len="sm" w="sm" type="none"/>
          </a:ln>
        </p:spPr>
      </p:cxnSp>
      <p:sp>
        <p:nvSpPr>
          <p:cNvPr id="183" name="Google Shape;183;p4"/>
          <p:cNvSpPr/>
          <p:nvPr/>
        </p:nvSpPr>
        <p:spPr>
          <a:xfrm>
            <a:off x="5714800" y="29594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R5</a:t>
            </a:r>
            <a:endParaRPr b="0" i="0" sz="1400" u="none" cap="none" strike="noStrike">
              <a:solidFill>
                <a:srgbClr val="000000"/>
              </a:solidFill>
              <a:latin typeface="Roboto"/>
              <a:ea typeface="Roboto"/>
              <a:cs typeface="Roboto"/>
              <a:sym typeface="Roboto"/>
            </a:endParaRPr>
          </a:p>
        </p:txBody>
      </p:sp>
      <p:sp>
        <p:nvSpPr>
          <p:cNvPr id="184" name="Google Shape;184;p4"/>
          <p:cNvSpPr/>
          <p:nvPr/>
        </p:nvSpPr>
        <p:spPr>
          <a:xfrm>
            <a:off x="5714800" y="21974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R4</a:t>
            </a:r>
            <a:endParaRPr b="0" i="0" sz="1400" u="none" cap="none" strike="noStrike">
              <a:solidFill>
                <a:srgbClr val="000000"/>
              </a:solidFill>
              <a:latin typeface="Roboto"/>
              <a:ea typeface="Roboto"/>
              <a:cs typeface="Roboto"/>
              <a:sym typeface="Roboto"/>
            </a:endParaRPr>
          </a:p>
        </p:txBody>
      </p:sp>
      <p:sp>
        <p:nvSpPr>
          <p:cNvPr id="185" name="Google Shape;185;p4"/>
          <p:cNvSpPr/>
          <p:nvPr/>
        </p:nvSpPr>
        <p:spPr>
          <a:xfrm>
            <a:off x="5714800" y="37595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R6</a:t>
            </a:r>
            <a:endParaRPr b="0" i="0" sz="1400" u="none" cap="none" strike="noStrike">
              <a:solidFill>
                <a:srgbClr val="000000"/>
              </a:solidFill>
              <a:latin typeface="Roboto"/>
              <a:ea typeface="Roboto"/>
              <a:cs typeface="Roboto"/>
              <a:sym typeface="Roboto"/>
            </a:endParaRPr>
          </a:p>
        </p:txBody>
      </p:sp>
      <p:sp>
        <p:nvSpPr>
          <p:cNvPr id="186" name="Google Shape;186;p4"/>
          <p:cNvSpPr/>
          <p:nvPr/>
        </p:nvSpPr>
        <p:spPr>
          <a:xfrm>
            <a:off x="5714800" y="45215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R7</a:t>
            </a:r>
            <a:endParaRPr b="0" i="0" sz="1400" u="none" cap="none" strike="noStrike">
              <a:solidFill>
                <a:srgbClr val="000000"/>
              </a:solidFill>
              <a:latin typeface="Roboto"/>
              <a:ea typeface="Roboto"/>
              <a:cs typeface="Roboto"/>
              <a:sym typeface="Roboto"/>
            </a:endParaRPr>
          </a:p>
        </p:txBody>
      </p:sp>
      <p:cxnSp>
        <p:nvCxnSpPr>
          <p:cNvPr id="187" name="Google Shape;187;p4"/>
          <p:cNvCxnSpPr>
            <a:stCxn id="178" idx="3"/>
            <a:endCxn id="184" idx="1"/>
          </p:cNvCxnSpPr>
          <p:nvPr/>
        </p:nvCxnSpPr>
        <p:spPr>
          <a:xfrm flipH="1" rot="10800000">
            <a:off x="4475800" y="2339975"/>
            <a:ext cx="1239000" cy="381000"/>
          </a:xfrm>
          <a:prstGeom prst="straightConnector1">
            <a:avLst/>
          </a:prstGeom>
          <a:noFill/>
          <a:ln cap="flat" cmpd="sng" w="19050">
            <a:solidFill>
              <a:srgbClr val="000000"/>
            </a:solidFill>
            <a:prstDash val="solid"/>
            <a:round/>
            <a:headEnd len="sm" w="sm" type="none"/>
            <a:tailEnd len="sm" w="sm" type="none"/>
          </a:ln>
        </p:spPr>
      </p:cxnSp>
      <p:cxnSp>
        <p:nvCxnSpPr>
          <p:cNvPr id="188" name="Google Shape;188;p4"/>
          <p:cNvCxnSpPr>
            <a:stCxn id="178" idx="3"/>
            <a:endCxn id="183" idx="1"/>
          </p:cNvCxnSpPr>
          <p:nvPr/>
        </p:nvCxnSpPr>
        <p:spPr>
          <a:xfrm>
            <a:off x="4475800" y="2720975"/>
            <a:ext cx="1239000" cy="381000"/>
          </a:xfrm>
          <a:prstGeom prst="straightConnector1">
            <a:avLst/>
          </a:prstGeom>
          <a:noFill/>
          <a:ln cap="flat" cmpd="sng" w="19050">
            <a:solidFill>
              <a:srgbClr val="000000"/>
            </a:solidFill>
            <a:prstDash val="solid"/>
            <a:round/>
            <a:headEnd len="sm" w="sm" type="none"/>
            <a:tailEnd len="sm" w="sm" type="none"/>
          </a:ln>
        </p:spPr>
      </p:cxnSp>
      <p:cxnSp>
        <p:nvCxnSpPr>
          <p:cNvPr id="189" name="Google Shape;189;p4"/>
          <p:cNvCxnSpPr>
            <a:stCxn id="180" idx="3"/>
            <a:endCxn id="185" idx="1"/>
          </p:cNvCxnSpPr>
          <p:nvPr/>
        </p:nvCxnSpPr>
        <p:spPr>
          <a:xfrm flipH="1" rot="10800000">
            <a:off x="4475800" y="3902075"/>
            <a:ext cx="1239000" cy="381000"/>
          </a:xfrm>
          <a:prstGeom prst="straightConnector1">
            <a:avLst/>
          </a:prstGeom>
          <a:noFill/>
          <a:ln cap="flat" cmpd="sng" w="19050">
            <a:solidFill>
              <a:srgbClr val="000000"/>
            </a:solidFill>
            <a:prstDash val="solid"/>
            <a:round/>
            <a:headEnd len="sm" w="sm" type="none"/>
            <a:tailEnd len="sm" w="sm" type="none"/>
          </a:ln>
        </p:spPr>
      </p:cxnSp>
      <p:cxnSp>
        <p:nvCxnSpPr>
          <p:cNvPr id="190" name="Google Shape;190;p4"/>
          <p:cNvCxnSpPr>
            <a:stCxn id="180" idx="3"/>
            <a:endCxn id="186" idx="1"/>
          </p:cNvCxnSpPr>
          <p:nvPr/>
        </p:nvCxnSpPr>
        <p:spPr>
          <a:xfrm>
            <a:off x="4475800" y="4283075"/>
            <a:ext cx="1239000" cy="381000"/>
          </a:xfrm>
          <a:prstGeom prst="straightConnector1">
            <a:avLst/>
          </a:prstGeom>
          <a:noFill/>
          <a:ln cap="flat" cmpd="sng" w="19050">
            <a:solidFill>
              <a:srgbClr val="000000"/>
            </a:solidFill>
            <a:prstDash val="solid"/>
            <a:round/>
            <a:headEnd len="sm" w="sm" type="none"/>
            <a:tailEnd len="sm" w="sm" type="none"/>
          </a:ln>
        </p:spPr>
      </p:cxnSp>
      <p:sp>
        <p:nvSpPr>
          <p:cNvPr id="191" name="Google Shape;191;p4"/>
          <p:cNvSpPr/>
          <p:nvPr/>
        </p:nvSpPr>
        <p:spPr>
          <a:xfrm>
            <a:off x="7238800" y="201650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R8</a:t>
            </a:r>
            <a:endParaRPr b="0" i="0" sz="1400" u="none" cap="none" strike="noStrike">
              <a:solidFill>
                <a:srgbClr val="000000"/>
              </a:solidFill>
              <a:latin typeface="Roboto"/>
              <a:ea typeface="Roboto"/>
              <a:cs typeface="Roboto"/>
              <a:sym typeface="Roboto"/>
            </a:endParaRPr>
          </a:p>
        </p:txBody>
      </p:sp>
      <p:sp>
        <p:nvSpPr>
          <p:cNvPr id="192" name="Google Shape;192;p4"/>
          <p:cNvSpPr/>
          <p:nvPr/>
        </p:nvSpPr>
        <p:spPr>
          <a:xfrm>
            <a:off x="7238800" y="23784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R9</a:t>
            </a:r>
            <a:endParaRPr b="0" i="0" sz="1400" u="none" cap="none" strike="noStrike">
              <a:solidFill>
                <a:srgbClr val="000000"/>
              </a:solidFill>
              <a:latin typeface="Roboto"/>
              <a:ea typeface="Roboto"/>
              <a:cs typeface="Roboto"/>
              <a:sym typeface="Roboto"/>
            </a:endParaRPr>
          </a:p>
        </p:txBody>
      </p:sp>
      <p:sp>
        <p:nvSpPr>
          <p:cNvPr id="193" name="Google Shape;193;p4"/>
          <p:cNvSpPr/>
          <p:nvPr/>
        </p:nvSpPr>
        <p:spPr>
          <a:xfrm>
            <a:off x="7238800" y="277850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R10</a:t>
            </a:r>
            <a:endParaRPr b="0" i="0" sz="1200" u="none" cap="none" strike="noStrike">
              <a:solidFill>
                <a:srgbClr val="000000"/>
              </a:solidFill>
              <a:latin typeface="Roboto"/>
              <a:ea typeface="Roboto"/>
              <a:cs typeface="Roboto"/>
              <a:sym typeface="Roboto"/>
            </a:endParaRPr>
          </a:p>
        </p:txBody>
      </p:sp>
      <p:sp>
        <p:nvSpPr>
          <p:cNvPr id="194" name="Google Shape;194;p4"/>
          <p:cNvSpPr/>
          <p:nvPr/>
        </p:nvSpPr>
        <p:spPr>
          <a:xfrm>
            <a:off x="7238800" y="31404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R11</a:t>
            </a:r>
            <a:endParaRPr b="0" i="0" sz="1200" u="none" cap="none" strike="noStrike">
              <a:solidFill>
                <a:srgbClr val="000000"/>
              </a:solidFill>
              <a:latin typeface="Roboto"/>
              <a:ea typeface="Roboto"/>
              <a:cs typeface="Roboto"/>
              <a:sym typeface="Roboto"/>
            </a:endParaRPr>
          </a:p>
        </p:txBody>
      </p:sp>
      <p:sp>
        <p:nvSpPr>
          <p:cNvPr id="195" name="Google Shape;195;p4"/>
          <p:cNvSpPr/>
          <p:nvPr/>
        </p:nvSpPr>
        <p:spPr>
          <a:xfrm>
            <a:off x="7238800" y="357860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R12</a:t>
            </a:r>
            <a:endParaRPr b="0" i="0" sz="1200" u="none" cap="none" strike="noStrike">
              <a:solidFill>
                <a:srgbClr val="000000"/>
              </a:solidFill>
              <a:latin typeface="Roboto"/>
              <a:ea typeface="Roboto"/>
              <a:cs typeface="Roboto"/>
              <a:sym typeface="Roboto"/>
            </a:endParaRPr>
          </a:p>
        </p:txBody>
      </p:sp>
      <p:sp>
        <p:nvSpPr>
          <p:cNvPr id="196" name="Google Shape;196;p4"/>
          <p:cNvSpPr/>
          <p:nvPr/>
        </p:nvSpPr>
        <p:spPr>
          <a:xfrm>
            <a:off x="7238800" y="39405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R13</a:t>
            </a:r>
            <a:endParaRPr b="0" i="0" sz="1200" u="none" cap="none" strike="noStrike">
              <a:solidFill>
                <a:srgbClr val="000000"/>
              </a:solidFill>
              <a:latin typeface="Roboto"/>
              <a:ea typeface="Roboto"/>
              <a:cs typeface="Roboto"/>
              <a:sym typeface="Roboto"/>
            </a:endParaRPr>
          </a:p>
        </p:txBody>
      </p:sp>
      <p:sp>
        <p:nvSpPr>
          <p:cNvPr id="197" name="Google Shape;197;p4"/>
          <p:cNvSpPr/>
          <p:nvPr/>
        </p:nvSpPr>
        <p:spPr>
          <a:xfrm>
            <a:off x="7238800" y="434060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R14</a:t>
            </a:r>
            <a:endParaRPr b="0" i="0" sz="1200" u="none" cap="none" strike="noStrike">
              <a:solidFill>
                <a:srgbClr val="000000"/>
              </a:solidFill>
              <a:latin typeface="Roboto"/>
              <a:ea typeface="Roboto"/>
              <a:cs typeface="Roboto"/>
              <a:sym typeface="Roboto"/>
            </a:endParaRPr>
          </a:p>
        </p:txBody>
      </p:sp>
      <p:sp>
        <p:nvSpPr>
          <p:cNvPr id="198" name="Google Shape;198;p4"/>
          <p:cNvSpPr/>
          <p:nvPr/>
        </p:nvSpPr>
        <p:spPr>
          <a:xfrm>
            <a:off x="7238800" y="47025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R15</a:t>
            </a:r>
            <a:endParaRPr b="0" i="0" sz="1200" u="none" cap="none" strike="noStrike">
              <a:solidFill>
                <a:srgbClr val="000000"/>
              </a:solidFill>
              <a:latin typeface="Roboto"/>
              <a:ea typeface="Roboto"/>
              <a:cs typeface="Roboto"/>
              <a:sym typeface="Roboto"/>
            </a:endParaRPr>
          </a:p>
        </p:txBody>
      </p:sp>
      <p:cxnSp>
        <p:nvCxnSpPr>
          <p:cNvPr id="199" name="Google Shape;199;p4"/>
          <p:cNvCxnSpPr>
            <a:stCxn id="184" idx="3"/>
            <a:endCxn id="191" idx="1"/>
          </p:cNvCxnSpPr>
          <p:nvPr/>
        </p:nvCxnSpPr>
        <p:spPr>
          <a:xfrm flipH="1" rot="10800000">
            <a:off x="5999800" y="2159075"/>
            <a:ext cx="1239000" cy="180900"/>
          </a:xfrm>
          <a:prstGeom prst="straightConnector1">
            <a:avLst/>
          </a:prstGeom>
          <a:noFill/>
          <a:ln cap="flat" cmpd="sng" w="19050">
            <a:solidFill>
              <a:srgbClr val="000000"/>
            </a:solidFill>
            <a:prstDash val="solid"/>
            <a:round/>
            <a:headEnd len="sm" w="sm" type="none"/>
            <a:tailEnd len="sm" w="sm" type="none"/>
          </a:ln>
        </p:spPr>
      </p:cxnSp>
      <p:cxnSp>
        <p:nvCxnSpPr>
          <p:cNvPr id="200" name="Google Shape;200;p4"/>
          <p:cNvCxnSpPr>
            <a:stCxn id="184" idx="3"/>
            <a:endCxn id="192" idx="1"/>
          </p:cNvCxnSpPr>
          <p:nvPr/>
        </p:nvCxnSpPr>
        <p:spPr>
          <a:xfrm>
            <a:off x="5999800" y="2339975"/>
            <a:ext cx="1239000" cy="180900"/>
          </a:xfrm>
          <a:prstGeom prst="straightConnector1">
            <a:avLst/>
          </a:prstGeom>
          <a:noFill/>
          <a:ln cap="flat" cmpd="sng" w="19050">
            <a:solidFill>
              <a:srgbClr val="000000"/>
            </a:solidFill>
            <a:prstDash val="solid"/>
            <a:round/>
            <a:headEnd len="sm" w="sm" type="none"/>
            <a:tailEnd len="sm" w="sm" type="none"/>
          </a:ln>
        </p:spPr>
      </p:cxnSp>
      <p:cxnSp>
        <p:nvCxnSpPr>
          <p:cNvPr id="201" name="Google Shape;201;p4"/>
          <p:cNvCxnSpPr>
            <a:stCxn id="183" idx="3"/>
            <a:endCxn id="193" idx="1"/>
          </p:cNvCxnSpPr>
          <p:nvPr/>
        </p:nvCxnSpPr>
        <p:spPr>
          <a:xfrm flipH="1" rot="10800000">
            <a:off x="5999800" y="2921075"/>
            <a:ext cx="1239000" cy="180900"/>
          </a:xfrm>
          <a:prstGeom prst="straightConnector1">
            <a:avLst/>
          </a:prstGeom>
          <a:noFill/>
          <a:ln cap="flat" cmpd="sng" w="19050">
            <a:solidFill>
              <a:srgbClr val="000000"/>
            </a:solidFill>
            <a:prstDash val="solid"/>
            <a:round/>
            <a:headEnd len="sm" w="sm" type="none"/>
            <a:tailEnd len="sm" w="sm" type="none"/>
          </a:ln>
        </p:spPr>
      </p:cxnSp>
      <p:cxnSp>
        <p:nvCxnSpPr>
          <p:cNvPr id="202" name="Google Shape;202;p4"/>
          <p:cNvCxnSpPr>
            <a:stCxn id="183" idx="3"/>
            <a:endCxn id="194" idx="1"/>
          </p:cNvCxnSpPr>
          <p:nvPr/>
        </p:nvCxnSpPr>
        <p:spPr>
          <a:xfrm>
            <a:off x="5999800" y="3101975"/>
            <a:ext cx="1239000" cy="180900"/>
          </a:xfrm>
          <a:prstGeom prst="straightConnector1">
            <a:avLst/>
          </a:prstGeom>
          <a:noFill/>
          <a:ln cap="flat" cmpd="sng" w="19050">
            <a:solidFill>
              <a:srgbClr val="000000"/>
            </a:solidFill>
            <a:prstDash val="solid"/>
            <a:round/>
            <a:headEnd len="sm" w="sm" type="none"/>
            <a:tailEnd len="sm" w="sm" type="none"/>
          </a:ln>
        </p:spPr>
      </p:cxnSp>
      <p:cxnSp>
        <p:nvCxnSpPr>
          <p:cNvPr id="203" name="Google Shape;203;p4"/>
          <p:cNvCxnSpPr>
            <a:stCxn id="185" idx="3"/>
            <a:endCxn id="195" idx="1"/>
          </p:cNvCxnSpPr>
          <p:nvPr/>
        </p:nvCxnSpPr>
        <p:spPr>
          <a:xfrm flipH="1" rot="10800000">
            <a:off x="5999800" y="3721175"/>
            <a:ext cx="1239000" cy="180900"/>
          </a:xfrm>
          <a:prstGeom prst="straightConnector1">
            <a:avLst/>
          </a:prstGeom>
          <a:noFill/>
          <a:ln cap="flat" cmpd="sng" w="19050">
            <a:solidFill>
              <a:srgbClr val="000000"/>
            </a:solidFill>
            <a:prstDash val="solid"/>
            <a:round/>
            <a:headEnd len="sm" w="sm" type="none"/>
            <a:tailEnd len="sm" w="sm" type="none"/>
          </a:ln>
        </p:spPr>
      </p:cxnSp>
      <p:cxnSp>
        <p:nvCxnSpPr>
          <p:cNvPr id="204" name="Google Shape;204;p4"/>
          <p:cNvCxnSpPr>
            <a:stCxn id="185" idx="3"/>
            <a:endCxn id="196" idx="1"/>
          </p:cNvCxnSpPr>
          <p:nvPr/>
        </p:nvCxnSpPr>
        <p:spPr>
          <a:xfrm>
            <a:off x="5999800" y="3902075"/>
            <a:ext cx="1239000" cy="180900"/>
          </a:xfrm>
          <a:prstGeom prst="straightConnector1">
            <a:avLst/>
          </a:prstGeom>
          <a:noFill/>
          <a:ln cap="flat" cmpd="sng" w="19050">
            <a:solidFill>
              <a:srgbClr val="000000"/>
            </a:solidFill>
            <a:prstDash val="solid"/>
            <a:round/>
            <a:headEnd len="sm" w="sm" type="none"/>
            <a:tailEnd len="sm" w="sm" type="none"/>
          </a:ln>
        </p:spPr>
      </p:cxnSp>
      <p:cxnSp>
        <p:nvCxnSpPr>
          <p:cNvPr id="205" name="Google Shape;205;p4"/>
          <p:cNvCxnSpPr>
            <a:stCxn id="186" idx="3"/>
            <a:endCxn id="197" idx="1"/>
          </p:cNvCxnSpPr>
          <p:nvPr/>
        </p:nvCxnSpPr>
        <p:spPr>
          <a:xfrm flipH="1" rot="10800000">
            <a:off x="5999800" y="4483175"/>
            <a:ext cx="1239000" cy="180900"/>
          </a:xfrm>
          <a:prstGeom prst="straightConnector1">
            <a:avLst/>
          </a:prstGeom>
          <a:noFill/>
          <a:ln cap="flat" cmpd="sng" w="19050">
            <a:solidFill>
              <a:srgbClr val="000000"/>
            </a:solidFill>
            <a:prstDash val="solid"/>
            <a:round/>
            <a:headEnd len="sm" w="sm" type="none"/>
            <a:tailEnd len="sm" w="sm" type="none"/>
          </a:ln>
        </p:spPr>
      </p:cxnSp>
      <p:cxnSp>
        <p:nvCxnSpPr>
          <p:cNvPr id="206" name="Google Shape;206;p4"/>
          <p:cNvCxnSpPr>
            <a:stCxn id="186" idx="3"/>
            <a:endCxn id="198" idx="1"/>
          </p:cNvCxnSpPr>
          <p:nvPr/>
        </p:nvCxnSpPr>
        <p:spPr>
          <a:xfrm>
            <a:off x="5999800" y="4664075"/>
            <a:ext cx="1239000" cy="180900"/>
          </a:xfrm>
          <a:prstGeom prst="straightConnector1">
            <a:avLst/>
          </a:prstGeom>
          <a:noFill/>
          <a:ln cap="flat" cmpd="sng" w="19050">
            <a:solidFill>
              <a:srgbClr val="000000"/>
            </a:solidFill>
            <a:prstDash val="solid"/>
            <a:round/>
            <a:headEnd len="sm" w="sm" type="none"/>
            <a:tailEnd len="sm" w="sm" type="none"/>
          </a:ln>
        </p:spPr>
      </p:cxnSp>
      <p:cxnSp>
        <p:nvCxnSpPr>
          <p:cNvPr id="207" name="Google Shape;207;p4"/>
          <p:cNvCxnSpPr/>
          <p:nvPr/>
        </p:nvCxnSpPr>
        <p:spPr>
          <a:xfrm>
            <a:off x="1259851" y="1074500"/>
            <a:ext cx="6624300" cy="0"/>
          </a:xfrm>
          <a:prstGeom prst="straightConnector1">
            <a:avLst/>
          </a:prstGeom>
          <a:noFill/>
          <a:ln cap="flat" cmpd="sng" w="28575">
            <a:solidFill>
              <a:schemeClr val="accent2"/>
            </a:solidFill>
            <a:prstDash val="solid"/>
            <a:round/>
            <a:headEnd len="sm" w="sm" type="none"/>
            <a:tailEnd len="med" w="med" type="triangle"/>
          </a:ln>
        </p:spPr>
      </p:cxnSp>
      <p:sp>
        <p:nvSpPr>
          <p:cNvPr id="208" name="Google Shape;208;p4"/>
          <p:cNvSpPr txBox="1"/>
          <p:nvPr/>
        </p:nvSpPr>
        <p:spPr>
          <a:xfrm>
            <a:off x="1259864" y="754575"/>
            <a:ext cx="6622800" cy="270900"/>
          </a:xfrm>
          <a:prstGeom prst="rect">
            <a:avLst/>
          </a:prstGeom>
          <a:noFill/>
          <a:ln>
            <a:noFill/>
          </a:ln>
        </p:spPr>
        <p:txBody>
          <a:bodyPr anchorCtr="0" anchor="t" bIns="27425" lIns="27425" spcFirstLastPara="1" rIns="27425" wrap="square" tIns="27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accent2"/>
                </a:solidFill>
                <a:latin typeface="Roboto"/>
                <a:ea typeface="Roboto"/>
                <a:cs typeface="Roboto"/>
                <a:sym typeface="Roboto"/>
              </a:rPr>
              <a:t>Routing</a:t>
            </a:r>
            <a:r>
              <a:rPr b="0" i="0" lang="en" sz="1400" u="none" cap="none" strike="noStrike">
                <a:solidFill>
                  <a:schemeClr val="accent2"/>
                </a:solidFill>
                <a:latin typeface="Roboto"/>
                <a:ea typeface="Roboto"/>
                <a:cs typeface="Roboto"/>
                <a:sym typeface="Roboto"/>
              </a:rPr>
              <a:t> announcements ("I can reach A") propagated </a:t>
            </a:r>
            <a:r>
              <a:rPr b="0" i="1" lang="en" sz="1400" u="none" cap="none" strike="noStrike">
                <a:solidFill>
                  <a:schemeClr val="accent2"/>
                </a:solidFill>
                <a:latin typeface="Roboto"/>
                <a:ea typeface="Roboto"/>
                <a:cs typeface="Roboto"/>
                <a:sym typeface="Roboto"/>
              </a:rPr>
              <a:t>outward</a:t>
            </a:r>
            <a:r>
              <a:rPr b="0" i="0" lang="en" sz="1400" u="none" cap="none" strike="noStrike">
                <a:solidFill>
                  <a:schemeClr val="accent2"/>
                </a:solidFill>
                <a:latin typeface="Roboto"/>
                <a:ea typeface="Roboto"/>
                <a:cs typeface="Roboto"/>
                <a:sym typeface="Roboto"/>
              </a:rPr>
              <a:t>, away from A.</a:t>
            </a:r>
            <a:endParaRPr b="0" i="0" sz="1400" u="none" cap="none" strike="noStrike">
              <a:solidFill>
                <a:schemeClr val="accent2"/>
              </a:solidFill>
              <a:latin typeface="Roboto"/>
              <a:ea typeface="Roboto"/>
              <a:cs typeface="Roboto"/>
              <a:sym typeface="Roboto"/>
            </a:endParaRPr>
          </a:p>
        </p:txBody>
      </p:sp>
      <p:cxnSp>
        <p:nvCxnSpPr>
          <p:cNvPr id="209" name="Google Shape;209;p4"/>
          <p:cNvCxnSpPr/>
          <p:nvPr/>
        </p:nvCxnSpPr>
        <p:spPr>
          <a:xfrm>
            <a:off x="1259851" y="1684100"/>
            <a:ext cx="6624300" cy="0"/>
          </a:xfrm>
          <a:prstGeom prst="straightConnector1">
            <a:avLst/>
          </a:prstGeom>
          <a:noFill/>
          <a:ln cap="flat" cmpd="sng" w="28575">
            <a:solidFill>
              <a:srgbClr val="0000FF"/>
            </a:solidFill>
            <a:prstDash val="solid"/>
            <a:round/>
            <a:headEnd len="med" w="med" type="triangle"/>
            <a:tailEnd len="sm" w="sm" type="none"/>
          </a:ln>
        </p:spPr>
      </p:cxnSp>
      <p:sp>
        <p:nvSpPr>
          <p:cNvPr id="210" name="Google Shape;210;p4"/>
          <p:cNvSpPr txBox="1"/>
          <p:nvPr/>
        </p:nvSpPr>
        <p:spPr>
          <a:xfrm>
            <a:off x="1259864" y="1364175"/>
            <a:ext cx="6622800" cy="270900"/>
          </a:xfrm>
          <a:prstGeom prst="rect">
            <a:avLst/>
          </a:prstGeom>
          <a:noFill/>
          <a:ln>
            <a:noFill/>
          </a:ln>
        </p:spPr>
        <p:txBody>
          <a:bodyPr anchorCtr="0" anchor="t" bIns="27425" lIns="27425" spcFirstLastPara="1" rIns="27425" wrap="square" tIns="27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FF"/>
                </a:solidFill>
                <a:latin typeface="Roboto"/>
                <a:ea typeface="Roboto"/>
                <a:cs typeface="Roboto"/>
                <a:sym typeface="Roboto"/>
              </a:rPr>
              <a:t>When </a:t>
            </a:r>
            <a:r>
              <a:rPr b="1" i="0" lang="en" sz="1400" u="none" cap="none" strike="noStrike">
                <a:solidFill>
                  <a:srgbClr val="0000FF"/>
                </a:solidFill>
                <a:latin typeface="Roboto"/>
                <a:ea typeface="Roboto"/>
                <a:cs typeface="Roboto"/>
                <a:sym typeface="Roboto"/>
              </a:rPr>
              <a:t>forwarding</a:t>
            </a:r>
            <a:r>
              <a:rPr b="0" i="0" lang="en" sz="1400" u="none" cap="none" strike="noStrike">
                <a:solidFill>
                  <a:srgbClr val="0000FF"/>
                </a:solidFill>
                <a:latin typeface="Roboto"/>
                <a:ea typeface="Roboto"/>
                <a:cs typeface="Roboto"/>
                <a:sym typeface="Roboto"/>
              </a:rPr>
              <a:t> packets toward A, packets travel </a:t>
            </a:r>
            <a:r>
              <a:rPr b="0" i="1" lang="en" sz="1400" u="none" cap="none" strike="noStrike">
                <a:solidFill>
                  <a:srgbClr val="0000FF"/>
                </a:solidFill>
                <a:latin typeface="Roboto"/>
                <a:ea typeface="Roboto"/>
                <a:cs typeface="Roboto"/>
                <a:sym typeface="Roboto"/>
              </a:rPr>
              <a:t>inward</a:t>
            </a:r>
            <a:r>
              <a:rPr b="0" i="0" lang="en" sz="1400" u="none" cap="none" strike="noStrike">
                <a:solidFill>
                  <a:srgbClr val="0000FF"/>
                </a:solidFill>
                <a:latin typeface="Roboto"/>
                <a:ea typeface="Roboto"/>
                <a:cs typeface="Roboto"/>
                <a:sym typeface="Roboto"/>
              </a:rPr>
              <a:t>, toward A.</a:t>
            </a:r>
            <a:endParaRPr b="0" i="0" sz="1400" u="none" cap="none" strike="noStrike">
              <a:solidFill>
                <a:srgbClr val="0000FF"/>
              </a:solidFill>
              <a:latin typeface="Roboto"/>
              <a:ea typeface="Roboto"/>
              <a:cs typeface="Roboto"/>
              <a:sym typeface="Roboto"/>
            </a:endParaRPr>
          </a:p>
        </p:txBody>
      </p:sp>
      <p:sp>
        <p:nvSpPr>
          <p:cNvPr id="211" name="Google Shape;211;p4"/>
          <p:cNvSpPr txBox="1"/>
          <p:nvPr/>
        </p:nvSpPr>
        <p:spPr>
          <a:xfrm>
            <a:off x="168025" y="2080475"/>
            <a:ext cx="3619500" cy="699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600"/>
              </a:spcBef>
              <a:spcAft>
                <a:spcPts val="0"/>
              </a:spcAft>
              <a:buClr>
                <a:schemeClr val="dk1"/>
              </a:buClr>
              <a:buSzPts val="1100"/>
              <a:buFont typeface="Arial"/>
              <a:buNone/>
            </a:pPr>
            <a:r>
              <a:rPr b="0" i="0" lang="en" sz="1800" u="none" cap="none" strike="noStrike">
                <a:solidFill>
                  <a:schemeClr val="dk1"/>
                </a:solidFill>
                <a:latin typeface="Roboto"/>
                <a:ea typeface="Roboto"/>
                <a:cs typeface="Roboto"/>
                <a:sym typeface="Roboto"/>
              </a:rPr>
              <a:t>One-line algorithm: If you hear about a path to a destination, tell all your neighbors!</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5"/>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Distance-Vector Algorithm Sketch – Multiple Destinations</a:t>
            </a:r>
            <a:endParaRPr/>
          </a:p>
        </p:txBody>
      </p:sp>
      <p:sp>
        <p:nvSpPr>
          <p:cNvPr id="217" name="Google Shape;217;p5"/>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What if there are multiple destinations?</a:t>
            </a:r>
            <a:endParaRPr/>
          </a:p>
          <a:p>
            <a:pPr indent="-342900" lvl="0" marL="457200" rtl="0" algn="l">
              <a:lnSpc>
                <a:spcPct val="115000"/>
              </a:lnSpc>
              <a:spcBef>
                <a:spcPts val="600"/>
              </a:spcBef>
              <a:spcAft>
                <a:spcPts val="0"/>
              </a:spcAft>
              <a:buSzPts val="1800"/>
              <a:buChar char="●"/>
            </a:pPr>
            <a:r>
              <a:rPr lang="en"/>
              <a:t>Run the same path propagation algorithm, once per destination.</a:t>
            </a:r>
            <a:endParaRPr/>
          </a:p>
          <a:p>
            <a:pPr indent="-342900" lvl="0" marL="457200" rtl="0" algn="l">
              <a:lnSpc>
                <a:spcPct val="115000"/>
              </a:lnSpc>
              <a:spcBef>
                <a:spcPts val="0"/>
              </a:spcBef>
              <a:spcAft>
                <a:spcPts val="0"/>
              </a:spcAft>
              <a:buSzPts val="1800"/>
              <a:buChar char="●"/>
            </a:pPr>
            <a:r>
              <a:rPr lang="en"/>
              <a:t>Routers use </a:t>
            </a:r>
            <a:r>
              <a:rPr b="1" lang="en"/>
              <a:t>forwarding tables</a:t>
            </a:r>
            <a:r>
              <a:rPr lang="en"/>
              <a:t> to keep track of the next-hop of each destination.</a:t>
            </a:r>
            <a:endParaRPr/>
          </a:p>
          <a:p>
            <a:pPr indent="0" lvl="0" marL="0" rtl="0" algn="l">
              <a:lnSpc>
                <a:spcPct val="115000"/>
              </a:lnSpc>
              <a:spcBef>
                <a:spcPts val="600"/>
              </a:spcBef>
              <a:spcAft>
                <a:spcPts val="0"/>
              </a:spcAft>
              <a:buSzPts val="1800"/>
              <a:buNone/>
            </a:pPr>
            <a:r>
              <a:t/>
            </a:r>
            <a:endParaRPr/>
          </a:p>
          <a:p>
            <a:pPr indent="0" lvl="0" marL="0" rtl="0" algn="l">
              <a:lnSpc>
                <a:spcPct val="115000"/>
              </a:lnSpc>
              <a:spcBef>
                <a:spcPts val="600"/>
              </a:spcBef>
              <a:spcAft>
                <a:spcPts val="0"/>
              </a:spcAft>
              <a:buSzPts val="1800"/>
              <a:buNone/>
            </a:pPr>
            <a:r>
              <a:rPr lang="en"/>
              <a:t>We'll focus on a single destination for simplicity.</a:t>
            </a:r>
            <a:endParaRPr/>
          </a:p>
          <a:p>
            <a:pPr indent="-342900" lvl="0" marL="457200" rtl="0" algn="l">
              <a:lnSpc>
                <a:spcPct val="115000"/>
              </a:lnSpc>
              <a:spcBef>
                <a:spcPts val="600"/>
              </a:spcBef>
              <a:spcAft>
                <a:spcPts val="0"/>
              </a:spcAft>
              <a:buSzPts val="1800"/>
              <a:buChar char="●"/>
            </a:pPr>
            <a:r>
              <a:rPr lang="en"/>
              <a:t>But the protocol can extend to multiple destinations.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6"/>
          <p:cNvSpPr txBox="1"/>
          <p:nvPr>
            <p:ph idx="1" type="body"/>
          </p:nvPr>
        </p:nvSpPr>
        <p:spPr>
          <a:xfrm>
            <a:off x="4812375" y="402200"/>
            <a:ext cx="4038000" cy="426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600"/>
              </a:spcBef>
              <a:spcAft>
                <a:spcPts val="0"/>
              </a:spcAft>
              <a:buSzPts val="1800"/>
              <a:buNone/>
            </a:pPr>
            <a:r>
              <a:rPr b="1" lang="en">
                <a:solidFill>
                  <a:schemeClr val="accent3"/>
                </a:solidFill>
                <a:latin typeface="Roboto"/>
                <a:ea typeface="Roboto"/>
                <a:cs typeface="Roboto"/>
                <a:sym typeface="Roboto"/>
              </a:rPr>
              <a:t>Distance-Vector Correctness</a:t>
            </a:r>
            <a:endParaRPr b="1">
              <a:solidFill>
                <a:schemeClr val="accent3"/>
              </a:solidFill>
              <a:latin typeface="Roboto"/>
              <a:ea typeface="Roboto"/>
              <a:cs typeface="Roboto"/>
              <a:sym typeface="Roboto"/>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lnSpc>
                <a:spcPct val="115000"/>
              </a:lnSpc>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Rule 1: Bellman-Ford Updates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2: Updates From Next-Hop</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3: Resending and Expiring</a:t>
            </a:r>
            <a:endParaRPr>
              <a:solidFill>
                <a:srgbClr val="B7B7B7"/>
              </a:solidFill>
            </a:endParaRPr>
          </a:p>
          <a:p>
            <a:pPr indent="0" lvl="0" marL="0" rtl="0" algn="l">
              <a:lnSpc>
                <a:spcPct val="115000"/>
              </a:lnSpc>
              <a:spcBef>
                <a:spcPts val="600"/>
              </a:spcBef>
              <a:spcAft>
                <a:spcPts val="0"/>
              </a:spcAft>
              <a:buSzPts val="1800"/>
              <a:buNone/>
            </a:pPr>
            <a:r>
              <a:rPr lang="en">
                <a:solidFill>
                  <a:srgbClr val="B7B7B7"/>
                </a:solidFill>
              </a:rPr>
              <a:t>Distance-Vector Enhancements</a:t>
            </a:r>
            <a:endParaRPr>
              <a:solidFill>
                <a:srgbClr val="B7B7B7"/>
              </a:solidFill>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Rule 4: Poison Expired Routes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5A: Split Horizon</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5B: Poison Reverse</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6: Count To Infinity</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Eventful Updates</a:t>
            </a:r>
            <a:endParaRPr>
              <a:solidFill>
                <a:srgbClr val="B7B7B7"/>
              </a:solidFill>
            </a:endParaRPr>
          </a:p>
        </p:txBody>
      </p:sp>
      <p:sp>
        <p:nvSpPr>
          <p:cNvPr id="223" name="Google Shape;223;p6"/>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Rule 1: Bellman-Ford Updates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7"/>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Multiple Paths Advertised</a:t>
            </a:r>
            <a:endParaRPr/>
          </a:p>
        </p:txBody>
      </p:sp>
      <p:sp>
        <p:nvSpPr>
          <p:cNvPr id="229" name="Google Shape;229;p7"/>
          <p:cNvSpPr txBox="1"/>
          <p:nvPr>
            <p:ph idx="1" type="body"/>
          </p:nvPr>
        </p:nvSpPr>
        <p:spPr>
          <a:xfrm>
            <a:off x="107050" y="402200"/>
            <a:ext cx="8909700" cy="114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What if you hear about multiple paths to a single destination?</a:t>
            </a:r>
            <a:endParaRPr/>
          </a:p>
          <a:p>
            <a:pPr indent="-342900" lvl="0" marL="457200" rtl="0" algn="l">
              <a:lnSpc>
                <a:spcPct val="115000"/>
              </a:lnSpc>
              <a:spcBef>
                <a:spcPts val="600"/>
              </a:spcBef>
              <a:spcAft>
                <a:spcPts val="0"/>
              </a:spcAft>
              <a:buSzPts val="1800"/>
              <a:buChar char="●"/>
            </a:pPr>
            <a:r>
              <a:rPr lang="en"/>
              <a:t>Accept the shorter path.</a:t>
            </a:r>
            <a:endParaRPr/>
          </a:p>
        </p:txBody>
      </p:sp>
      <p:sp>
        <p:nvSpPr>
          <p:cNvPr id="230" name="Google Shape;230;p7"/>
          <p:cNvSpPr/>
          <p:nvPr/>
        </p:nvSpPr>
        <p:spPr>
          <a:xfrm>
            <a:off x="4790875" y="3264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R5</a:t>
            </a:r>
            <a:endParaRPr b="0" i="0" sz="1400" u="none" cap="none" strike="noStrike">
              <a:solidFill>
                <a:srgbClr val="000000"/>
              </a:solidFill>
              <a:latin typeface="Roboto"/>
              <a:ea typeface="Roboto"/>
              <a:cs typeface="Roboto"/>
              <a:sym typeface="Roboto"/>
            </a:endParaRPr>
          </a:p>
        </p:txBody>
      </p:sp>
      <p:cxnSp>
        <p:nvCxnSpPr>
          <p:cNvPr id="231" name="Google Shape;231;p7"/>
          <p:cNvCxnSpPr>
            <a:endCxn id="230" idx="1"/>
          </p:cNvCxnSpPr>
          <p:nvPr/>
        </p:nvCxnSpPr>
        <p:spPr>
          <a:xfrm>
            <a:off x="4348075" y="2639625"/>
            <a:ext cx="442800" cy="767100"/>
          </a:xfrm>
          <a:prstGeom prst="straightConnector1">
            <a:avLst/>
          </a:prstGeom>
          <a:noFill/>
          <a:ln cap="flat" cmpd="sng" w="19050">
            <a:solidFill>
              <a:srgbClr val="000000"/>
            </a:solidFill>
            <a:prstDash val="solid"/>
            <a:round/>
            <a:headEnd len="sm" w="sm" type="none"/>
            <a:tailEnd len="sm" w="sm" type="none"/>
          </a:ln>
        </p:spPr>
      </p:cxnSp>
      <p:sp>
        <p:nvSpPr>
          <p:cNvPr id="232" name="Google Shape;232;p7"/>
          <p:cNvSpPr/>
          <p:nvPr/>
        </p:nvSpPr>
        <p:spPr>
          <a:xfrm>
            <a:off x="3495475" y="2502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233" name="Google Shape;233;p7"/>
          <p:cNvCxnSpPr>
            <a:stCxn id="232" idx="3"/>
          </p:cNvCxnSpPr>
          <p:nvPr/>
        </p:nvCxnSpPr>
        <p:spPr>
          <a:xfrm>
            <a:off x="3780475" y="2644725"/>
            <a:ext cx="577500" cy="0"/>
          </a:xfrm>
          <a:prstGeom prst="straightConnector1">
            <a:avLst/>
          </a:prstGeom>
          <a:noFill/>
          <a:ln cap="flat" cmpd="sng" w="19050">
            <a:solidFill>
              <a:srgbClr val="000000"/>
            </a:solidFill>
            <a:prstDash val="solid"/>
            <a:round/>
            <a:headEnd len="sm" w="sm" type="none"/>
            <a:tailEnd len="sm" w="sm" type="none"/>
          </a:ln>
        </p:spPr>
      </p:cxnSp>
      <p:cxnSp>
        <p:nvCxnSpPr>
          <p:cNvPr id="234" name="Google Shape;234;p7"/>
          <p:cNvCxnSpPr>
            <a:endCxn id="230" idx="1"/>
          </p:cNvCxnSpPr>
          <p:nvPr/>
        </p:nvCxnSpPr>
        <p:spPr>
          <a:xfrm flipH="1" rot="10800000">
            <a:off x="4348075" y="3406725"/>
            <a:ext cx="442800" cy="767100"/>
          </a:xfrm>
          <a:prstGeom prst="straightConnector1">
            <a:avLst/>
          </a:prstGeom>
          <a:noFill/>
          <a:ln cap="flat" cmpd="sng" w="19050">
            <a:solidFill>
              <a:srgbClr val="000000"/>
            </a:solidFill>
            <a:prstDash val="solid"/>
            <a:round/>
            <a:headEnd len="sm" w="sm" type="none"/>
            <a:tailEnd len="sm" w="sm" type="none"/>
          </a:ln>
        </p:spPr>
      </p:cxnSp>
      <p:sp>
        <p:nvSpPr>
          <p:cNvPr id="235" name="Google Shape;235;p7"/>
          <p:cNvSpPr/>
          <p:nvPr/>
        </p:nvSpPr>
        <p:spPr>
          <a:xfrm>
            <a:off x="3152575" y="4026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R4</a:t>
            </a:r>
            <a:endParaRPr b="0" i="0" sz="1400" u="none" cap="none" strike="noStrike">
              <a:solidFill>
                <a:srgbClr val="000000"/>
              </a:solidFill>
              <a:latin typeface="Roboto"/>
              <a:ea typeface="Roboto"/>
              <a:cs typeface="Roboto"/>
              <a:sym typeface="Roboto"/>
            </a:endParaRPr>
          </a:p>
        </p:txBody>
      </p:sp>
      <p:cxnSp>
        <p:nvCxnSpPr>
          <p:cNvPr id="236" name="Google Shape;236;p7"/>
          <p:cNvCxnSpPr>
            <a:stCxn id="235" idx="3"/>
          </p:cNvCxnSpPr>
          <p:nvPr/>
        </p:nvCxnSpPr>
        <p:spPr>
          <a:xfrm>
            <a:off x="3437575" y="4168725"/>
            <a:ext cx="920400" cy="0"/>
          </a:xfrm>
          <a:prstGeom prst="straightConnector1">
            <a:avLst/>
          </a:prstGeom>
          <a:noFill/>
          <a:ln cap="flat" cmpd="sng" w="19050">
            <a:solidFill>
              <a:srgbClr val="000000"/>
            </a:solidFill>
            <a:prstDash val="solid"/>
            <a:round/>
            <a:headEnd len="sm" w="sm" type="none"/>
            <a:tailEnd len="sm" w="sm" type="none"/>
          </a:ln>
        </p:spPr>
      </p:cxnSp>
      <p:sp>
        <p:nvSpPr>
          <p:cNvPr id="237" name="Google Shape;237;p7"/>
          <p:cNvSpPr/>
          <p:nvPr/>
        </p:nvSpPr>
        <p:spPr>
          <a:xfrm>
            <a:off x="2809675" y="2502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cxnSp>
        <p:nvCxnSpPr>
          <p:cNvPr id="238" name="Google Shape;238;p7"/>
          <p:cNvCxnSpPr>
            <a:stCxn id="237" idx="3"/>
            <a:endCxn id="232" idx="1"/>
          </p:cNvCxnSpPr>
          <p:nvPr/>
        </p:nvCxnSpPr>
        <p:spPr>
          <a:xfrm>
            <a:off x="3094675" y="2644725"/>
            <a:ext cx="400800" cy="0"/>
          </a:xfrm>
          <a:prstGeom prst="straightConnector1">
            <a:avLst/>
          </a:prstGeom>
          <a:noFill/>
          <a:ln cap="flat" cmpd="sng" w="19050">
            <a:solidFill>
              <a:srgbClr val="000000"/>
            </a:solidFill>
            <a:prstDash val="solid"/>
            <a:round/>
            <a:headEnd len="sm" w="sm" type="none"/>
            <a:tailEnd len="sm" w="sm" type="none"/>
          </a:ln>
        </p:spPr>
      </p:cxnSp>
      <p:cxnSp>
        <p:nvCxnSpPr>
          <p:cNvPr id="239" name="Google Shape;239;p7"/>
          <p:cNvCxnSpPr>
            <a:endCxn id="240" idx="3"/>
          </p:cNvCxnSpPr>
          <p:nvPr/>
        </p:nvCxnSpPr>
        <p:spPr>
          <a:xfrm flipH="1">
            <a:off x="1757275" y="2639625"/>
            <a:ext cx="442800" cy="767100"/>
          </a:xfrm>
          <a:prstGeom prst="straightConnector1">
            <a:avLst/>
          </a:prstGeom>
          <a:noFill/>
          <a:ln cap="flat" cmpd="sng" w="19050">
            <a:solidFill>
              <a:srgbClr val="000000"/>
            </a:solidFill>
            <a:prstDash val="solid"/>
            <a:round/>
            <a:headEnd len="sm" w="sm" type="none"/>
            <a:tailEnd len="sm" w="sm" type="none"/>
          </a:ln>
        </p:spPr>
      </p:cxnSp>
      <p:cxnSp>
        <p:nvCxnSpPr>
          <p:cNvPr id="241" name="Google Shape;241;p7"/>
          <p:cNvCxnSpPr>
            <a:endCxn id="240" idx="3"/>
          </p:cNvCxnSpPr>
          <p:nvPr/>
        </p:nvCxnSpPr>
        <p:spPr>
          <a:xfrm rot="10800000">
            <a:off x="1757275" y="3406725"/>
            <a:ext cx="442800" cy="767100"/>
          </a:xfrm>
          <a:prstGeom prst="straightConnector1">
            <a:avLst/>
          </a:prstGeom>
          <a:noFill/>
          <a:ln cap="flat" cmpd="sng" w="19050">
            <a:solidFill>
              <a:srgbClr val="000000"/>
            </a:solidFill>
            <a:prstDash val="solid"/>
            <a:round/>
            <a:headEnd len="sm" w="sm" type="none"/>
            <a:tailEnd len="sm" w="sm" type="none"/>
          </a:ln>
        </p:spPr>
      </p:cxnSp>
      <p:cxnSp>
        <p:nvCxnSpPr>
          <p:cNvPr id="242" name="Google Shape;242;p7"/>
          <p:cNvCxnSpPr>
            <a:endCxn id="237" idx="1"/>
          </p:cNvCxnSpPr>
          <p:nvPr/>
        </p:nvCxnSpPr>
        <p:spPr>
          <a:xfrm>
            <a:off x="2191675" y="2644725"/>
            <a:ext cx="618000" cy="0"/>
          </a:xfrm>
          <a:prstGeom prst="straightConnector1">
            <a:avLst/>
          </a:prstGeom>
          <a:noFill/>
          <a:ln cap="flat" cmpd="sng" w="19050">
            <a:solidFill>
              <a:srgbClr val="000000"/>
            </a:solidFill>
            <a:prstDash val="solid"/>
            <a:round/>
            <a:headEnd len="sm" w="sm" type="none"/>
            <a:tailEnd len="sm" w="sm" type="none"/>
          </a:ln>
        </p:spPr>
      </p:cxnSp>
      <p:cxnSp>
        <p:nvCxnSpPr>
          <p:cNvPr id="243" name="Google Shape;243;p7"/>
          <p:cNvCxnSpPr>
            <a:endCxn id="235" idx="1"/>
          </p:cNvCxnSpPr>
          <p:nvPr/>
        </p:nvCxnSpPr>
        <p:spPr>
          <a:xfrm>
            <a:off x="2191675" y="4168725"/>
            <a:ext cx="960900" cy="0"/>
          </a:xfrm>
          <a:prstGeom prst="straightConnector1">
            <a:avLst/>
          </a:prstGeom>
          <a:noFill/>
          <a:ln cap="flat" cmpd="sng" w="19050">
            <a:solidFill>
              <a:srgbClr val="000000"/>
            </a:solidFill>
            <a:prstDash val="solid"/>
            <a:round/>
            <a:headEnd len="sm" w="sm" type="none"/>
            <a:tailEnd len="sm" w="sm" type="none"/>
          </a:ln>
        </p:spPr>
      </p:cxnSp>
      <p:sp>
        <p:nvSpPr>
          <p:cNvPr id="240" name="Google Shape;240;p7"/>
          <p:cNvSpPr/>
          <p:nvPr/>
        </p:nvSpPr>
        <p:spPr>
          <a:xfrm>
            <a:off x="1472275" y="3264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sp>
        <p:nvSpPr>
          <p:cNvPr id="244" name="Google Shape;244;p7"/>
          <p:cNvSpPr/>
          <p:nvPr/>
        </p:nvSpPr>
        <p:spPr>
          <a:xfrm>
            <a:off x="634063" y="3264225"/>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a:t>
            </a:r>
            <a:endParaRPr b="0" i="0" sz="1400" u="none" cap="none" strike="noStrike">
              <a:solidFill>
                <a:srgbClr val="000000"/>
              </a:solidFill>
              <a:latin typeface="Roboto"/>
              <a:ea typeface="Roboto"/>
              <a:cs typeface="Roboto"/>
              <a:sym typeface="Roboto"/>
            </a:endParaRPr>
          </a:p>
        </p:txBody>
      </p:sp>
      <p:cxnSp>
        <p:nvCxnSpPr>
          <p:cNvPr id="245" name="Google Shape;245;p7"/>
          <p:cNvCxnSpPr>
            <a:stCxn id="244" idx="6"/>
            <a:endCxn id="240" idx="1"/>
          </p:cNvCxnSpPr>
          <p:nvPr/>
        </p:nvCxnSpPr>
        <p:spPr>
          <a:xfrm>
            <a:off x="919063" y="3406725"/>
            <a:ext cx="553200" cy="0"/>
          </a:xfrm>
          <a:prstGeom prst="straightConnector1">
            <a:avLst/>
          </a:prstGeom>
          <a:noFill/>
          <a:ln cap="flat" cmpd="sng" w="19050">
            <a:solidFill>
              <a:srgbClr val="000000"/>
            </a:solidFill>
            <a:prstDash val="solid"/>
            <a:round/>
            <a:headEnd len="sm" w="sm" type="none"/>
            <a:tailEnd len="sm" w="sm" type="none"/>
          </a:ln>
        </p:spPr>
      </p:cxnSp>
      <p:sp>
        <p:nvSpPr>
          <p:cNvPr id="246" name="Google Shape;246;p7"/>
          <p:cNvSpPr/>
          <p:nvPr/>
        </p:nvSpPr>
        <p:spPr>
          <a:xfrm>
            <a:off x="3898850" y="2568850"/>
            <a:ext cx="898150" cy="573900"/>
          </a:xfrm>
          <a:custGeom>
            <a:rect b="b" l="l" r="r" t="t"/>
            <a:pathLst>
              <a:path extrusionOk="0" h="22956" w="35926">
                <a:moveTo>
                  <a:pt x="0" y="0"/>
                </a:moveTo>
                <a:lnTo>
                  <a:pt x="22672" y="0"/>
                </a:lnTo>
                <a:lnTo>
                  <a:pt x="35926" y="22956"/>
                </a:lnTo>
              </a:path>
            </a:pathLst>
          </a:custGeom>
          <a:noFill/>
          <a:ln cap="flat" cmpd="sng" w="19050">
            <a:solidFill>
              <a:schemeClr val="accent2"/>
            </a:solidFill>
            <a:prstDash val="solid"/>
            <a:round/>
            <a:headEnd len="sm" w="sm" type="none"/>
            <a:tailEnd len="med" w="med" type="triangle"/>
          </a:ln>
        </p:spPr>
      </p:sp>
      <p:sp>
        <p:nvSpPr>
          <p:cNvPr id="247" name="Google Shape;247;p7"/>
          <p:cNvSpPr/>
          <p:nvPr/>
        </p:nvSpPr>
        <p:spPr>
          <a:xfrm>
            <a:off x="3583600" y="3638900"/>
            <a:ext cx="1273750" cy="620350"/>
          </a:xfrm>
          <a:custGeom>
            <a:rect b="b" l="l" r="r" t="t"/>
            <a:pathLst>
              <a:path extrusionOk="0" h="24814" w="50950">
                <a:moveTo>
                  <a:pt x="0" y="24814"/>
                </a:moveTo>
                <a:lnTo>
                  <a:pt x="36624" y="24814"/>
                </a:lnTo>
                <a:lnTo>
                  <a:pt x="50950" y="0"/>
                </a:lnTo>
              </a:path>
            </a:pathLst>
          </a:custGeom>
          <a:noFill/>
          <a:ln cap="flat" cmpd="sng" w="19050">
            <a:solidFill>
              <a:schemeClr val="accent2"/>
            </a:solidFill>
            <a:prstDash val="solid"/>
            <a:round/>
            <a:headEnd len="sm" w="sm" type="none"/>
            <a:tailEnd len="med" w="med" type="triangle"/>
          </a:ln>
        </p:spPr>
      </p:sp>
      <p:sp>
        <p:nvSpPr>
          <p:cNvPr id="248" name="Google Shape;248;p7"/>
          <p:cNvSpPr/>
          <p:nvPr/>
        </p:nvSpPr>
        <p:spPr>
          <a:xfrm>
            <a:off x="4056400" y="2064550"/>
            <a:ext cx="903300" cy="4332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A is 3 away from me.</a:t>
            </a:r>
            <a:endParaRPr b="0" i="0" sz="1200" u="none" cap="none" strike="noStrike">
              <a:solidFill>
                <a:srgbClr val="000000"/>
              </a:solidFill>
              <a:latin typeface="Roboto"/>
              <a:ea typeface="Roboto"/>
              <a:cs typeface="Roboto"/>
              <a:sym typeface="Roboto"/>
            </a:endParaRPr>
          </a:p>
        </p:txBody>
      </p:sp>
      <p:sp>
        <p:nvSpPr>
          <p:cNvPr id="249" name="Google Shape;249;p7"/>
          <p:cNvSpPr/>
          <p:nvPr/>
        </p:nvSpPr>
        <p:spPr>
          <a:xfrm>
            <a:off x="4056400" y="4350550"/>
            <a:ext cx="903300" cy="4332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A is 2 away from me.</a:t>
            </a:r>
            <a:endParaRPr b="0" i="0" sz="1200" u="none" cap="none" strike="noStrike">
              <a:solidFill>
                <a:srgbClr val="000000"/>
              </a:solidFill>
              <a:latin typeface="Roboto"/>
              <a:ea typeface="Roboto"/>
              <a:cs typeface="Roboto"/>
              <a:sym typeface="Roboto"/>
            </a:endParaRPr>
          </a:p>
        </p:txBody>
      </p:sp>
      <p:sp>
        <p:nvSpPr>
          <p:cNvPr id="250" name="Google Shape;250;p7"/>
          <p:cNvSpPr/>
          <p:nvPr/>
        </p:nvSpPr>
        <p:spPr>
          <a:xfrm>
            <a:off x="5290725" y="2639600"/>
            <a:ext cx="1382100" cy="688500"/>
          </a:xfrm>
          <a:prstGeom prst="wedgeRoundRectCallout">
            <a:avLst>
              <a:gd fmla="val -60451" name="adj1"/>
              <a:gd fmla="val 59041" name="adj2"/>
              <a:gd fmla="val 0" name="adj3"/>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2"/>
                </a:solidFill>
                <a:latin typeface="Roboto"/>
                <a:ea typeface="Roboto"/>
                <a:cs typeface="Roboto"/>
                <a:sym typeface="Roboto"/>
              </a:rPr>
              <a:t>I prefer what R4 is offering.</a:t>
            </a:r>
            <a:endParaRPr b="0" i="0" sz="1400" u="none" cap="none" strike="noStrike">
              <a:solidFill>
                <a:schemeClr val="accent2"/>
              </a:solidFill>
              <a:latin typeface="Roboto"/>
              <a:ea typeface="Roboto"/>
              <a:cs typeface="Roboto"/>
              <a:sym typeface="Roboto"/>
            </a:endParaRPr>
          </a:p>
        </p:txBody>
      </p:sp>
      <p:cxnSp>
        <p:nvCxnSpPr>
          <p:cNvPr id="251" name="Google Shape;251;p7"/>
          <p:cNvCxnSpPr/>
          <p:nvPr/>
        </p:nvCxnSpPr>
        <p:spPr>
          <a:xfrm flipH="1">
            <a:off x="4317075" y="3392600"/>
            <a:ext cx="349500" cy="605700"/>
          </a:xfrm>
          <a:prstGeom prst="straightConnector1">
            <a:avLst/>
          </a:prstGeom>
          <a:noFill/>
          <a:ln cap="flat" cmpd="sng" w="9525">
            <a:solidFill>
              <a:srgbClr val="0000FF"/>
            </a:solidFill>
            <a:prstDash val="solid"/>
            <a:round/>
            <a:headEnd len="sm" w="sm" type="none"/>
            <a:tailEnd len="med" w="med" type="triangle"/>
          </a:ln>
        </p:spPr>
      </p:cxnSp>
      <p:sp>
        <p:nvSpPr>
          <p:cNvPr id="252" name="Google Shape;252;p7"/>
          <p:cNvSpPr txBox="1"/>
          <p:nvPr/>
        </p:nvSpPr>
        <p:spPr>
          <a:xfrm rot="-3604017">
            <a:off x="4139328" y="3518986"/>
            <a:ext cx="589193" cy="15390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FF"/>
                </a:solidFill>
                <a:latin typeface="Roboto"/>
                <a:ea typeface="Roboto"/>
                <a:cs typeface="Roboto"/>
                <a:sym typeface="Roboto"/>
              </a:rPr>
              <a:t>A this way</a:t>
            </a:r>
            <a:endParaRPr b="0" i="0" sz="1000" u="none" cap="none" strike="noStrike">
              <a:solidFill>
                <a:srgbClr val="0000FF"/>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8"/>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Multiple Paths Advertised</a:t>
            </a:r>
            <a:endParaRPr/>
          </a:p>
        </p:txBody>
      </p:sp>
      <p:sp>
        <p:nvSpPr>
          <p:cNvPr id="258" name="Google Shape;258;p8"/>
          <p:cNvSpPr txBox="1"/>
          <p:nvPr>
            <p:ph idx="1" type="body"/>
          </p:nvPr>
        </p:nvSpPr>
        <p:spPr>
          <a:xfrm>
            <a:off x="107050" y="402200"/>
            <a:ext cx="8909700" cy="142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You might not hear about both paths simultaneously.</a:t>
            </a:r>
            <a:endParaRPr/>
          </a:p>
          <a:p>
            <a:pPr indent="-342900" lvl="0" marL="457200" rtl="0" algn="l">
              <a:lnSpc>
                <a:spcPct val="115000"/>
              </a:lnSpc>
              <a:spcBef>
                <a:spcPts val="600"/>
              </a:spcBef>
              <a:spcAft>
                <a:spcPts val="0"/>
              </a:spcAft>
              <a:buSzPts val="1800"/>
              <a:buChar char="●"/>
            </a:pPr>
            <a:r>
              <a:rPr lang="en"/>
              <a:t>In the forwarding table, record the best-known cost to a destination.</a:t>
            </a:r>
            <a:endParaRPr/>
          </a:p>
          <a:p>
            <a:pPr indent="-342900" lvl="0" marL="457200" rtl="0" algn="l">
              <a:lnSpc>
                <a:spcPct val="115000"/>
              </a:lnSpc>
              <a:spcBef>
                <a:spcPts val="0"/>
              </a:spcBef>
              <a:spcAft>
                <a:spcPts val="0"/>
              </a:spcAft>
              <a:buSzPts val="1800"/>
              <a:buChar char="●"/>
            </a:pPr>
            <a:r>
              <a:rPr lang="en"/>
              <a:t>If your table doesn't have a path to a destination, accept any path you hear about.</a:t>
            </a:r>
            <a:endParaRPr/>
          </a:p>
          <a:p>
            <a:pPr indent="0" lvl="0" marL="0" rtl="0" algn="l">
              <a:lnSpc>
                <a:spcPct val="115000"/>
              </a:lnSpc>
              <a:spcBef>
                <a:spcPts val="600"/>
              </a:spcBef>
              <a:spcAft>
                <a:spcPts val="0"/>
              </a:spcAft>
              <a:buSzPts val="1800"/>
              <a:buNone/>
            </a:pPr>
            <a:r>
              <a:t/>
            </a:r>
            <a:endParaRPr/>
          </a:p>
        </p:txBody>
      </p:sp>
      <p:sp>
        <p:nvSpPr>
          <p:cNvPr id="259" name="Google Shape;259;p8"/>
          <p:cNvSpPr/>
          <p:nvPr/>
        </p:nvSpPr>
        <p:spPr>
          <a:xfrm>
            <a:off x="4790875" y="3264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R5</a:t>
            </a:r>
            <a:endParaRPr b="0" i="0" sz="1400" u="none" cap="none" strike="noStrike">
              <a:solidFill>
                <a:srgbClr val="000000"/>
              </a:solidFill>
              <a:latin typeface="Roboto"/>
              <a:ea typeface="Roboto"/>
              <a:cs typeface="Roboto"/>
              <a:sym typeface="Roboto"/>
            </a:endParaRPr>
          </a:p>
        </p:txBody>
      </p:sp>
      <p:cxnSp>
        <p:nvCxnSpPr>
          <p:cNvPr id="260" name="Google Shape;260;p8"/>
          <p:cNvCxnSpPr/>
          <p:nvPr/>
        </p:nvCxnSpPr>
        <p:spPr>
          <a:xfrm>
            <a:off x="4348075" y="2639625"/>
            <a:ext cx="442800" cy="767100"/>
          </a:xfrm>
          <a:prstGeom prst="straightConnector1">
            <a:avLst/>
          </a:prstGeom>
          <a:noFill/>
          <a:ln cap="flat" cmpd="sng" w="19050">
            <a:solidFill>
              <a:srgbClr val="000000"/>
            </a:solidFill>
            <a:prstDash val="solid"/>
            <a:round/>
            <a:headEnd len="sm" w="sm" type="none"/>
            <a:tailEnd len="sm" w="sm" type="none"/>
          </a:ln>
        </p:spPr>
      </p:cxnSp>
      <p:sp>
        <p:nvSpPr>
          <p:cNvPr id="261" name="Google Shape;261;p8"/>
          <p:cNvSpPr/>
          <p:nvPr/>
        </p:nvSpPr>
        <p:spPr>
          <a:xfrm>
            <a:off x="3495475" y="2502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262" name="Google Shape;262;p8"/>
          <p:cNvCxnSpPr>
            <a:stCxn id="261" idx="3"/>
          </p:cNvCxnSpPr>
          <p:nvPr/>
        </p:nvCxnSpPr>
        <p:spPr>
          <a:xfrm>
            <a:off x="3780475" y="2644725"/>
            <a:ext cx="577500" cy="0"/>
          </a:xfrm>
          <a:prstGeom prst="straightConnector1">
            <a:avLst/>
          </a:prstGeom>
          <a:noFill/>
          <a:ln cap="flat" cmpd="sng" w="19050">
            <a:solidFill>
              <a:srgbClr val="000000"/>
            </a:solidFill>
            <a:prstDash val="solid"/>
            <a:round/>
            <a:headEnd len="sm" w="sm" type="none"/>
            <a:tailEnd len="sm" w="sm" type="none"/>
          </a:ln>
        </p:spPr>
      </p:cxnSp>
      <p:cxnSp>
        <p:nvCxnSpPr>
          <p:cNvPr id="263" name="Google Shape;263;p8"/>
          <p:cNvCxnSpPr/>
          <p:nvPr/>
        </p:nvCxnSpPr>
        <p:spPr>
          <a:xfrm flipH="1" rot="10800000">
            <a:off x="4348075" y="3406725"/>
            <a:ext cx="442800" cy="767100"/>
          </a:xfrm>
          <a:prstGeom prst="straightConnector1">
            <a:avLst/>
          </a:prstGeom>
          <a:noFill/>
          <a:ln cap="flat" cmpd="sng" w="19050">
            <a:solidFill>
              <a:srgbClr val="000000"/>
            </a:solidFill>
            <a:prstDash val="solid"/>
            <a:round/>
            <a:headEnd len="sm" w="sm" type="none"/>
            <a:tailEnd len="sm" w="sm" type="none"/>
          </a:ln>
        </p:spPr>
      </p:cxnSp>
      <p:sp>
        <p:nvSpPr>
          <p:cNvPr id="264" name="Google Shape;264;p8"/>
          <p:cNvSpPr/>
          <p:nvPr/>
        </p:nvSpPr>
        <p:spPr>
          <a:xfrm>
            <a:off x="3152575" y="4026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R4</a:t>
            </a:r>
            <a:endParaRPr b="0" i="0" sz="1400" u="none" cap="none" strike="noStrike">
              <a:solidFill>
                <a:srgbClr val="000000"/>
              </a:solidFill>
              <a:latin typeface="Roboto"/>
              <a:ea typeface="Roboto"/>
              <a:cs typeface="Roboto"/>
              <a:sym typeface="Roboto"/>
            </a:endParaRPr>
          </a:p>
        </p:txBody>
      </p:sp>
      <p:cxnSp>
        <p:nvCxnSpPr>
          <p:cNvPr id="265" name="Google Shape;265;p8"/>
          <p:cNvCxnSpPr>
            <a:stCxn id="264" idx="3"/>
          </p:cNvCxnSpPr>
          <p:nvPr/>
        </p:nvCxnSpPr>
        <p:spPr>
          <a:xfrm>
            <a:off x="3437575" y="4168725"/>
            <a:ext cx="920400" cy="0"/>
          </a:xfrm>
          <a:prstGeom prst="straightConnector1">
            <a:avLst/>
          </a:prstGeom>
          <a:noFill/>
          <a:ln cap="flat" cmpd="sng" w="19050">
            <a:solidFill>
              <a:srgbClr val="000000"/>
            </a:solidFill>
            <a:prstDash val="solid"/>
            <a:round/>
            <a:headEnd len="sm" w="sm" type="none"/>
            <a:tailEnd len="sm" w="sm" type="none"/>
          </a:ln>
        </p:spPr>
      </p:cxnSp>
      <p:sp>
        <p:nvSpPr>
          <p:cNvPr id="266" name="Google Shape;266;p8"/>
          <p:cNvSpPr/>
          <p:nvPr/>
        </p:nvSpPr>
        <p:spPr>
          <a:xfrm>
            <a:off x="2809675" y="2502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cxnSp>
        <p:nvCxnSpPr>
          <p:cNvPr id="267" name="Google Shape;267;p8"/>
          <p:cNvCxnSpPr>
            <a:stCxn id="266" idx="3"/>
            <a:endCxn id="261" idx="1"/>
          </p:cNvCxnSpPr>
          <p:nvPr/>
        </p:nvCxnSpPr>
        <p:spPr>
          <a:xfrm>
            <a:off x="3094675" y="2644725"/>
            <a:ext cx="400800" cy="0"/>
          </a:xfrm>
          <a:prstGeom prst="straightConnector1">
            <a:avLst/>
          </a:prstGeom>
          <a:noFill/>
          <a:ln cap="flat" cmpd="sng" w="19050">
            <a:solidFill>
              <a:srgbClr val="000000"/>
            </a:solidFill>
            <a:prstDash val="solid"/>
            <a:round/>
            <a:headEnd len="sm" w="sm" type="none"/>
            <a:tailEnd len="sm" w="sm" type="none"/>
          </a:ln>
        </p:spPr>
      </p:cxnSp>
      <p:cxnSp>
        <p:nvCxnSpPr>
          <p:cNvPr id="268" name="Google Shape;268;p8"/>
          <p:cNvCxnSpPr>
            <a:endCxn id="269" idx="3"/>
          </p:cNvCxnSpPr>
          <p:nvPr/>
        </p:nvCxnSpPr>
        <p:spPr>
          <a:xfrm flipH="1">
            <a:off x="1757275" y="2639625"/>
            <a:ext cx="442800" cy="767100"/>
          </a:xfrm>
          <a:prstGeom prst="straightConnector1">
            <a:avLst/>
          </a:prstGeom>
          <a:noFill/>
          <a:ln cap="flat" cmpd="sng" w="19050">
            <a:solidFill>
              <a:srgbClr val="000000"/>
            </a:solidFill>
            <a:prstDash val="solid"/>
            <a:round/>
            <a:headEnd len="sm" w="sm" type="none"/>
            <a:tailEnd len="sm" w="sm" type="none"/>
          </a:ln>
        </p:spPr>
      </p:cxnSp>
      <p:cxnSp>
        <p:nvCxnSpPr>
          <p:cNvPr id="270" name="Google Shape;270;p8"/>
          <p:cNvCxnSpPr>
            <a:endCxn id="269" idx="3"/>
          </p:cNvCxnSpPr>
          <p:nvPr/>
        </p:nvCxnSpPr>
        <p:spPr>
          <a:xfrm rot="10800000">
            <a:off x="1757275" y="3406725"/>
            <a:ext cx="442800" cy="767100"/>
          </a:xfrm>
          <a:prstGeom prst="straightConnector1">
            <a:avLst/>
          </a:prstGeom>
          <a:noFill/>
          <a:ln cap="flat" cmpd="sng" w="19050">
            <a:solidFill>
              <a:srgbClr val="000000"/>
            </a:solidFill>
            <a:prstDash val="solid"/>
            <a:round/>
            <a:headEnd len="sm" w="sm" type="none"/>
            <a:tailEnd len="sm" w="sm" type="none"/>
          </a:ln>
        </p:spPr>
      </p:cxnSp>
      <p:cxnSp>
        <p:nvCxnSpPr>
          <p:cNvPr id="271" name="Google Shape;271;p8"/>
          <p:cNvCxnSpPr>
            <a:endCxn id="266" idx="1"/>
          </p:cNvCxnSpPr>
          <p:nvPr/>
        </p:nvCxnSpPr>
        <p:spPr>
          <a:xfrm>
            <a:off x="2191675" y="2644725"/>
            <a:ext cx="618000" cy="0"/>
          </a:xfrm>
          <a:prstGeom prst="straightConnector1">
            <a:avLst/>
          </a:prstGeom>
          <a:noFill/>
          <a:ln cap="flat" cmpd="sng" w="19050">
            <a:solidFill>
              <a:srgbClr val="000000"/>
            </a:solidFill>
            <a:prstDash val="solid"/>
            <a:round/>
            <a:headEnd len="sm" w="sm" type="none"/>
            <a:tailEnd len="sm" w="sm" type="none"/>
          </a:ln>
        </p:spPr>
      </p:cxnSp>
      <p:cxnSp>
        <p:nvCxnSpPr>
          <p:cNvPr id="272" name="Google Shape;272;p8"/>
          <p:cNvCxnSpPr>
            <a:endCxn id="264" idx="1"/>
          </p:cNvCxnSpPr>
          <p:nvPr/>
        </p:nvCxnSpPr>
        <p:spPr>
          <a:xfrm>
            <a:off x="2191675" y="4168725"/>
            <a:ext cx="960900" cy="0"/>
          </a:xfrm>
          <a:prstGeom prst="straightConnector1">
            <a:avLst/>
          </a:prstGeom>
          <a:noFill/>
          <a:ln cap="flat" cmpd="sng" w="19050">
            <a:solidFill>
              <a:srgbClr val="000000"/>
            </a:solidFill>
            <a:prstDash val="solid"/>
            <a:round/>
            <a:headEnd len="sm" w="sm" type="none"/>
            <a:tailEnd len="sm" w="sm" type="none"/>
          </a:ln>
        </p:spPr>
      </p:cxnSp>
      <p:sp>
        <p:nvSpPr>
          <p:cNvPr id="269" name="Google Shape;269;p8"/>
          <p:cNvSpPr/>
          <p:nvPr/>
        </p:nvSpPr>
        <p:spPr>
          <a:xfrm>
            <a:off x="1472275" y="3264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sp>
        <p:nvSpPr>
          <p:cNvPr id="273" name="Google Shape;273;p8"/>
          <p:cNvSpPr/>
          <p:nvPr/>
        </p:nvSpPr>
        <p:spPr>
          <a:xfrm>
            <a:off x="634063" y="3264225"/>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a:t>
            </a:r>
            <a:endParaRPr b="0" i="0" sz="1400" u="none" cap="none" strike="noStrike">
              <a:solidFill>
                <a:srgbClr val="000000"/>
              </a:solidFill>
              <a:latin typeface="Roboto"/>
              <a:ea typeface="Roboto"/>
              <a:cs typeface="Roboto"/>
              <a:sym typeface="Roboto"/>
            </a:endParaRPr>
          </a:p>
        </p:txBody>
      </p:sp>
      <p:cxnSp>
        <p:nvCxnSpPr>
          <p:cNvPr id="274" name="Google Shape;274;p8"/>
          <p:cNvCxnSpPr>
            <a:stCxn id="273" idx="6"/>
            <a:endCxn id="269" idx="1"/>
          </p:cNvCxnSpPr>
          <p:nvPr/>
        </p:nvCxnSpPr>
        <p:spPr>
          <a:xfrm>
            <a:off x="919063" y="3406725"/>
            <a:ext cx="553200" cy="0"/>
          </a:xfrm>
          <a:prstGeom prst="straightConnector1">
            <a:avLst/>
          </a:prstGeom>
          <a:noFill/>
          <a:ln cap="flat" cmpd="sng" w="19050">
            <a:solidFill>
              <a:srgbClr val="000000"/>
            </a:solidFill>
            <a:prstDash val="solid"/>
            <a:round/>
            <a:headEnd len="sm" w="sm" type="none"/>
            <a:tailEnd len="sm" w="sm" type="none"/>
          </a:ln>
        </p:spPr>
      </p:cxnSp>
      <p:sp>
        <p:nvSpPr>
          <p:cNvPr id="275" name="Google Shape;275;p8"/>
          <p:cNvSpPr/>
          <p:nvPr/>
        </p:nvSpPr>
        <p:spPr>
          <a:xfrm>
            <a:off x="3898850" y="2568850"/>
            <a:ext cx="898150" cy="573900"/>
          </a:xfrm>
          <a:custGeom>
            <a:rect b="b" l="l" r="r" t="t"/>
            <a:pathLst>
              <a:path extrusionOk="0" h="22956" w="35926">
                <a:moveTo>
                  <a:pt x="0" y="0"/>
                </a:moveTo>
                <a:lnTo>
                  <a:pt x="22672" y="0"/>
                </a:lnTo>
                <a:lnTo>
                  <a:pt x="35926" y="22956"/>
                </a:lnTo>
              </a:path>
            </a:pathLst>
          </a:custGeom>
          <a:noFill/>
          <a:ln cap="flat" cmpd="sng" w="19050">
            <a:solidFill>
              <a:schemeClr val="accent2"/>
            </a:solidFill>
            <a:prstDash val="solid"/>
            <a:round/>
            <a:headEnd len="sm" w="sm" type="none"/>
            <a:tailEnd len="med" w="med" type="triangle"/>
          </a:ln>
        </p:spPr>
      </p:sp>
      <p:sp>
        <p:nvSpPr>
          <p:cNvPr id="276" name="Google Shape;276;p8"/>
          <p:cNvSpPr/>
          <p:nvPr/>
        </p:nvSpPr>
        <p:spPr>
          <a:xfrm>
            <a:off x="4056400" y="2064550"/>
            <a:ext cx="903300" cy="4332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A is 3 away from me.</a:t>
            </a:r>
            <a:endParaRPr b="0" i="0" sz="1200" u="none" cap="none" strike="noStrike">
              <a:solidFill>
                <a:srgbClr val="000000"/>
              </a:solidFill>
              <a:latin typeface="Roboto"/>
              <a:ea typeface="Roboto"/>
              <a:cs typeface="Roboto"/>
              <a:sym typeface="Roboto"/>
            </a:endParaRPr>
          </a:p>
        </p:txBody>
      </p:sp>
      <p:graphicFrame>
        <p:nvGraphicFramePr>
          <p:cNvPr id="277" name="Google Shape;277;p8"/>
          <p:cNvGraphicFramePr/>
          <p:nvPr/>
        </p:nvGraphicFramePr>
        <p:xfrm>
          <a:off x="7110582" y="2687500"/>
          <a:ext cx="3000000" cy="3000000"/>
        </p:xfrm>
        <a:graphic>
          <a:graphicData uri="http://schemas.openxmlformats.org/drawingml/2006/table">
            <a:tbl>
              <a:tblPr>
                <a:noFill/>
                <a:tableStyleId>{F0B5DC11-5EE2-4423-BDDD-F7B3A7C20352}</a:tableStyleId>
              </a:tblPr>
              <a:tblGrid>
                <a:gridCol w="668600"/>
                <a:gridCol w="610050"/>
                <a:gridCol w="610050"/>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R5's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4</a:t>
                      </a:r>
                      <a:endParaRPr sz="1400" u="none" cap="none" strike="noStrike">
                        <a:latin typeface="Roboto"/>
                        <a:ea typeface="Roboto"/>
                        <a:cs typeface="Roboto"/>
                        <a:sym typeface="Roboto"/>
                      </a:endParaRPr>
                    </a:p>
                  </a:txBody>
                  <a:tcPr marT="18275" marB="18275" marR="0" marL="0"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9"/>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Multiple Paths Advertised</a:t>
            </a:r>
            <a:endParaRPr/>
          </a:p>
        </p:txBody>
      </p:sp>
      <p:sp>
        <p:nvSpPr>
          <p:cNvPr id="283" name="Google Shape;283;p9"/>
          <p:cNvSpPr txBox="1"/>
          <p:nvPr>
            <p:ph idx="1" type="body"/>
          </p:nvPr>
        </p:nvSpPr>
        <p:spPr>
          <a:xfrm>
            <a:off x="107050" y="402200"/>
            <a:ext cx="8909700" cy="165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You might not hear about both paths simultaneously.</a:t>
            </a:r>
            <a:endParaRPr/>
          </a:p>
          <a:p>
            <a:pPr indent="-342900" lvl="0" marL="457200" rtl="0" algn="l">
              <a:lnSpc>
                <a:spcPct val="115000"/>
              </a:lnSpc>
              <a:spcBef>
                <a:spcPts val="600"/>
              </a:spcBef>
              <a:spcAft>
                <a:spcPts val="0"/>
              </a:spcAft>
              <a:buSzPts val="1800"/>
              <a:buChar char="●"/>
            </a:pPr>
            <a:r>
              <a:rPr lang="en"/>
              <a:t>In the forwarding table, record the best-known cost to a destination.</a:t>
            </a:r>
            <a:endParaRPr/>
          </a:p>
          <a:p>
            <a:pPr indent="-342900" lvl="0" marL="457200" rtl="0" algn="l">
              <a:lnSpc>
                <a:spcPct val="115000"/>
              </a:lnSpc>
              <a:spcBef>
                <a:spcPts val="0"/>
              </a:spcBef>
              <a:spcAft>
                <a:spcPts val="0"/>
              </a:spcAft>
              <a:buSzPts val="1800"/>
              <a:buChar char="●"/>
            </a:pPr>
            <a:r>
              <a:rPr lang="en"/>
              <a:t>If your table doesn't have a path to a destination, accept any path you hear about.</a:t>
            </a:r>
            <a:endParaRPr/>
          </a:p>
          <a:p>
            <a:pPr indent="-342900" lvl="0" marL="457200" rtl="0" algn="l">
              <a:lnSpc>
                <a:spcPct val="115000"/>
              </a:lnSpc>
              <a:spcBef>
                <a:spcPts val="0"/>
              </a:spcBef>
              <a:spcAft>
                <a:spcPts val="0"/>
              </a:spcAft>
              <a:buSzPts val="1800"/>
              <a:buChar char="●"/>
            </a:pPr>
            <a:r>
              <a:rPr lang="en"/>
              <a:t>If you hear about a better path later, update the table (next-hop and cost).</a:t>
            </a:r>
            <a:endParaRPr/>
          </a:p>
          <a:p>
            <a:pPr indent="0" lvl="0" marL="0" rtl="0" algn="l">
              <a:lnSpc>
                <a:spcPct val="115000"/>
              </a:lnSpc>
              <a:spcBef>
                <a:spcPts val="600"/>
              </a:spcBef>
              <a:spcAft>
                <a:spcPts val="0"/>
              </a:spcAft>
              <a:buSzPts val="1800"/>
              <a:buNone/>
            </a:pPr>
            <a:r>
              <a:t/>
            </a:r>
            <a:endParaRPr/>
          </a:p>
        </p:txBody>
      </p:sp>
      <p:sp>
        <p:nvSpPr>
          <p:cNvPr id="284" name="Google Shape;284;p9"/>
          <p:cNvSpPr/>
          <p:nvPr/>
        </p:nvSpPr>
        <p:spPr>
          <a:xfrm>
            <a:off x="4790875" y="3264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R5</a:t>
            </a:r>
            <a:endParaRPr b="0" i="0" sz="1400" u="none" cap="none" strike="noStrike">
              <a:solidFill>
                <a:srgbClr val="000000"/>
              </a:solidFill>
              <a:latin typeface="Roboto"/>
              <a:ea typeface="Roboto"/>
              <a:cs typeface="Roboto"/>
              <a:sym typeface="Roboto"/>
            </a:endParaRPr>
          </a:p>
        </p:txBody>
      </p:sp>
      <p:cxnSp>
        <p:nvCxnSpPr>
          <p:cNvPr id="285" name="Google Shape;285;p9"/>
          <p:cNvCxnSpPr/>
          <p:nvPr/>
        </p:nvCxnSpPr>
        <p:spPr>
          <a:xfrm>
            <a:off x="4348075" y="2639625"/>
            <a:ext cx="442800" cy="767100"/>
          </a:xfrm>
          <a:prstGeom prst="straightConnector1">
            <a:avLst/>
          </a:prstGeom>
          <a:noFill/>
          <a:ln cap="flat" cmpd="sng" w="19050">
            <a:solidFill>
              <a:srgbClr val="000000"/>
            </a:solidFill>
            <a:prstDash val="solid"/>
            <a:round/>
            <a:headEnd len="sm" w="sm" type="none"/>
            <a:tailEnd len="sm" w="sm" type="none"/>
          </a:ln>
        </p:spPr>
      </p:cxnSp>
      <p:sp>
        <p:nvSpPr>
          <p:cNvPr id="286" name="Google Shape;286;p9"/>
          <p:cNvSpPr/>
          <p:nvPr/>
        </p:nvSpPr>
        <p:spPr>
          <a:xfrm>
            <a:off x="3495475" y="2502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287" name="Google Shape;287;p9"/>
          <p:cNvCxnSpPr>
            <a:stCxn id="286" idx="3"/>
          </p:cNvCxnSpPr>
          <p:nvPr/>
        </p:nvCxnSpPr>
        <p:spPr>
          <a:xfrm>
            <a:off x="3780475" y="2644725"/>
            <a:ext cx="577500" cy="0"/>
          </a:xfrm>
          <a:prstGeom prst="straightConnector1">
            <a:avLst/>
          </a:prstGeom>
          <a:noFill/>
          <a:ln cap="flat" cmpd="sng" w="19050">
            <a:solidFill>
              <a:srgbClr val="000000"/>
            </a:solidFill>
            <a:prstDash val="solid"/>
            <a:round/>
            <a:headEnd len="sm" w="sm" type="none"/>
            <a:tailEnd len="sm" w="sm" type="none"/>
          </a:ln>
        </p:spPr>
      </p:cxnSp>
      <p:cxnSp>
        <p:nvCxnSpPr>
          <p:cNvPr id="288" name="Google Shape;288;p9"/>
          <p:cNvCxnSpPr/>
          <p:nvPr/>
        </p:nvCxnSpPr>
        <p:spPr>
          <a:xfrm flipH="1" rot="10800000">
            <a:off x="4348075" y="3406725"/>
            <a:ext cx="442800" cy="767100"/>
          </a:xfrm>
          <a:prstGeom prst="straightConnector1">
            <a:avLst/>
          </a:prstGeom>
          <a:noFill/>
          <a:ln cap="flat" cmpd="sng" w="19050">
            <a:solidFill>
              <a:srgbClr val="000000"/>
            </a:solidFill>
            <a:prstDash val="solid"/>
            <a:round/>
            <a:headEnd len="sm" w="sm" type="none"/>
            <a:tailEnd len="sm" w="sm" type="none"/>
          </a:ln>
        </p:spPr>
      </p:cxnSp>
      <p:sp>
        <p:nvSpPr>
          <p:cNvPr id="289" name="Google Shape;289;p9"/>
          <p:cNvSpPr/>
          <p:nvPr/>
        </p:nvSpPr>
        <p:spPr>
          <a:xfrm>
            <a:off x="3152575" y="4026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R4</a:t>
            </a:r>
            <a:endParaRPr b="0" i="0" sz="1400" u="none" cap="none" strike="noStrike">
              <a:solidFill>
                <a:srgbClr val="000000"/>
              </a:solidFill>
              <a:latin typeface="Roboto"/>
              <a:ea typeface="Roboto"/>
              <a:cs typeface="Roboto"/>
              <a:sym typeface="Roboto"/>
            </a:endParaRPr>
          </a:p>
        </p:txBody>
      </p:sp>
      <p:cxnSp>
        <p:nvCxnSpPr>
          <p:cNvPr id="290" name="Google Shape;290;p9"/>
          <p:cNvCxnSpPr>
            <a:stCxn id="289" idx="3"/>
          </p:cNvCxnSpPr>
          <p:nvPr/>
        </p:nvCxnSpPr>
        <p:spPr>
          <a:xfrm>
            <a:off x="3437575" y="4168725"/>
            <a:ext cx="920400" cy="0"/>
          </a:xfrm>
          <a:prstGeom prst="straightConnector1">
            <a:avLst/>
          </a:prstGeom>
          <a:noFill/>
          <a:ln cap="flat" cmpd="sng" w="19050">
            <a:solidFill>
              <a:srgbClr val="000000"/>
            </a:solidFill>
            <a:prstDash val="solid"/>
            <a:round/>
            <a:headEnd len="sm" w="sm" type="none"/>
            <a:tailEnd len="sm" w="sm" type="none"/>
          </a:ln>
        </p:spPr>
      </p:cxnSp>
      <p:sp>
        <p:nvSpPr>
          <p:cNvPr id="291" name="Google Shape;291;p9"/>
          <p:cNvSpPr/>
          <p:nvPr/>
        </p:nvSpPr>
        <p:spPr>
          <a:xfrm>
            <a:off x="2809675" y="2502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cxnSp>
        <p:nvCxnSpPr>
          <p:cNvPr id="292" name="Google Shape;292;p9"/>
          <p:cNvCxnSpPr>
            <a:stCxn id="291" idx="3"/>
            <a:endCxn id="286" idx="1"/>
          </p:cNvCxnSpPr>
          <p:nvPr/>
        </p:nvCxnSpPr>
        <p:spPr>
          <a:xfrm>
            <a:off x="3094675" y="2644725"/>
            <a:ext cx="400800" cy="0"/>
          </a:xfrm>
          <a:prstGeom prst="straightConnector1">
            <a:avLst/>
          </a:prstGeom>
          <a:noFill/>
          <a:ln cap="flat" cmpd="sng" w="19050">
            <a:solidFill>
              <a:srgbClr val="000000"/>
            </a:solidFill>
            <a:prstDash val="solid"/>
            <a:round/>
            <a:headEnd len="sm" w="sm" type="none"/>
            <a:tailEnd len="sm" w="sm" type="none"/>
          </a:ln>
        </p:spPr>
      </p:cxnSp>
      <p:cxnSp>
        <p:nvCxnSpPr>
          <p:cNvPr id="293" name="Google Shape;293;p9"/>
          <p:cNvCxnSpPr>
            <a:endCxn id="294" idx="3"/>
          </p:cNvCxnSpPr>
          <p:nvPr/>
        </p:nvCxnSpPr>
        <p:spPr>
          <a:xfrm flipH="1">
            <a:off x="1757275" y="2639625"/>
            <a:ext cx="442800" cy="767100"/>
          </a:xfrm>
          <a:prstGeom prst="straightConnector1">
            <a:avLst/>
          </a:prstGeom>
          <a:noFill/>
          <a:ln cap="flat" cmpd="sng" w="19050">
            <a:solidFill>
              <a:srgbClr val="000000"/>
            </a:solidFill>
            <a:prstDash val="solid"/>
            <a:round/>
            <a:headEnd len="sm" w="sm" type="none"/>
            <a:tailEnd len="sm" w="sm" type="none"/>
          </a:ln>
        </p:spPr>
      </p:cxnSp>
      <p:cxnSp>
        <p:nvCxnSpPr>
          <p:cNvPr id="295" name="Google Shape;295;p9"/>
          <p:cNvCxnSpPr>
            <a:endCxn id="294" idx="3"/>
          </p:cNvCxnSpPr>
          <p:nvPr/>
        </p:nvCxnSpPr>
        <p:spPr>
          <a:xfrm rot="10800000">
            <a:off x="1757275" y="3406725"/>
            <a:ext cx="442800" cy="767100"/>
          </a:xfrm>
          <a:prstGeom prst="straightConnector1">
            <a:avLst/>
          </a:prstGeom>
          <a:noFill/>
          <a:ln cap="flat" cmpd="sng" w="19050">
            <a:solidFill>
              <a:srgbClr val="000000"/>
            </a:solidFill>
            <a:prstDash val="solid"/>
            <a:round/>
            <a:headEnd len="sm" w="sm" type="none"/>
            <a:tailEnd len="sm" w="sm" type="none"/>
          </a:ln>
        </p:spPr>
      </p:cxnSp>
      <p:cxnSp>
        <p:nvCxnSpPr>
          <p:cNvPr id="296" name="Google Shape;296;p9"/>
          <p:cNvCxnSpPr>
            <a:endCxn id="291" idx="1"/>
          </p:cNvCxnSpPr>
          <p:nvPr/>
        </p:nvCxnSpPr>
        <p:spPr>
          <a:xfrm>
            <a:off x="2191675" y="2644725"/>
            <a:ext cx="618000" cy="0"/>
          </a:xfrm>
          <a:prstGeom prst="straightConnector1">
            <a:avLst/>
          </a:prstGeom>
          <a:noFill/>
          <a:ln cap="flat" cmpd="sng" w="19050">
            <a:solidFill>
              <a:srgbClr val="000000"/>
            </a:solidFill>
            <a:prstDash val="solid"/>
            <a:round/>
            <a:headEnd len="sm" w="sm" type="none"/>
            <a:tailEnd len="sm" w="sm" type="none"/>
          </a:ln>
        </p:spPr>
      </p:cxnSp>
      <p:cxnSp>
        <p:nvCxnSpPr>
          <p:cNvPr id="297" name="Google Shape;297;p9"/>
          <p:cNvCxnSpPr>
            <a:endCxn id="289" idx="1"/>
          </p:cNvCxnSpPr>
          <p:nvPr/>
        </p:nvCxnSpPr>
        <p:spPr>
          <a:xfrm>
            <a:off x="2191675" y="4168725"/>
            <a:ext cx="960900" cy="0"/>
          </a:xfrm>
          <a:prstGeom prst="straightConnector1">
            <a:avLst/>
          </a:prstGeom>
          <a:noFill/>
          <a:ln cap="flat" cmpd="sng" w="19050">
            <a:solidFill>
              <a:srgbClr val="000000"/>
            </a:solidFill>
            <a:prstDash val="solid"/>
            <a:round/>
            <a:headEnd len="sm" w="sm" type="none"/>
            <a:tailEnd len="sm" w="sm" type="none"/>
          </a:ln>
        </p:spPr>
      </p:cxnSp>
      <p:sp>
        <p:nvSpPr>
          <p:cNvPr id="294" name="Google Shape;294;p9"/>
          <p:cNvSpPr/>
          <p:nvPr/>
        </p:nvSpPr>
        <p:spPr>
          <a:xfrm>
            <a:off x="1472275" y="32642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sp>
        <p:nvSpPr>
          <p:cNvPr id="298" name="Google Shape;298;p9"/>
          <p:cNvSpPr/>
          <p:nvPr/>
        </p:nvSpPr>
        <p:spPr>
          <a:xfrm>
            <a:off x="634063" y="3264225"/>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a:t>
            </a:r>
            <a:endParaRPr b="0" i="0" sz="1400" u="none" cap="none" strike="noStrike">
              <a:solidFill>
                <a:srgbClr val="000000"/>
              </a:solidFill>
              <a:latin typeface="Roboto"/>
              <a:ea typeface="Roboto"/>
              <a:cs typeface="Roboto"/>
              <a:sym typeface="Roboto"/>
            </a:endParaRPr>
          </a:p>
        </p:txBody>
      </p:sp>
      <p:cxnSp>
        <p:nvCxnSpPr>
          <p:cNvPr id="299" name="Google Shape;299;p9"/>
          <p:cNvCxnSpPr>
            <a:stCxn id="298" idx="6"/>
            <a:endCxn id="294" idx="1"/>
          </p:cNvCxnSpPr>
          <p:nvPr/>
        </p:nvCxnSpPr>
        <p:spPr>
          <a:xfrm>
            <a:off x="919063" y="3406725"/>
            <a:ext cx="553200" cy="0"/>
          </a:xfrm>
          <a:prstGeom prst="straightConnector1">
            <a:avLst/>
          </a:prstGeom>
          <a:noFill/>
          <a:ln cap="flat" cmpd="sng" w="19050">
            <a:solidFill>
              <a:srgbClr val="000000"/>
            </a:solidFill>
            <a:prstDash val="solid"/>
            <a:round/>
            <a:headEnd len="sm" w="sm" type="none"/>
            <a:tailEnd len="sm" w="sm" type="none"/>
          </a:ln>
        </p:spPr>
      </p:cxnSp>
      <p:graphicFrame>
        <p:nvGraphicFramePr>
          <p:cNvPr id="300" name="Google Shape;300;p9"/>
          <p:cNvGraphicFramePr/>
          <p:nvPr/>
        </p:nvGraphicFramePr>
        <p:xfrm>
          <a:off x="7110582" y="2687500"/>
          <a:ext cx="3000000" cy="3000000"/>
        </p:xfrm>
        <a:graphic>
          <a:graphicData uri="http://schemas.openxmlformats.org/drawingml/2006/table">
            <a:tbl>
              <a:tblPr>
                <a:noFill/>
                <a:tableStyleId>{F0B5DC11-5EE2-4423-BDDD-F7B3A7C20352}</a:tableStyleId>
              </a:tblPr>
              <a:tblGrid>
                <a:gridCol w="668600"/>
                <a:gridCol w="610050"/>
                <a:gridCol w="610050"/>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R5's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sngStrike">
                          <a:latin typeface="Roboto"/>
                          <a:ea typeface="Roboto"/>
                          <a:cs typeface="Roboto"/>
                          <a:sym typeface="Roboto"/>
                        </a:rPr>
                        <a:t>R3</a:t>
                      </a:r>
                      <a:br>
                        <a:rPr lang="en" sz="1400" u="none" cap="none" strike="noStrike">
                          <a:latin typeface="Roboto"/>
                          <a:ea typeface="Roboto"/>
                          <a:cs typeface="Roboto"/>
                          <a:sym typeface="Roboto"/>
                        </a:rPr>
                      </a:br>
                      <a:r>
                        <a:rPr b="1" lang="en" sz="1400" u="none" cap="none" strike="noStrike">
                          <a:latin typeface="Roboto"/>
                          <a:ea typeface="Roboto"/>
                          <a:cs typeface="Roboto"/>
                          <a:sym typeface="Roboto"/>
                        </a:rPr>
                        <a:t>R4</a:t>
                      </a:r>
                      <a:endParaRPr b="1"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sngStrike">
                          <a:latin typeface="Roboto"/>
                          <a:ea typeface="Roboto"/>
                          <a:cs typeface="Roboto"/>
                          <a:sym typeface="Roboto"/>
                        </a:rPr>
                        <a:t>4</a:t>
                      </a:r>
                      <a:br>
                        <a:rPr lang="en" sz="1400" u="none" cap="none" strike="sngStrike">
                          <a:latin typeface="Roboto"/>
                          <a:ea typeface="Roboto"/>
                          <a:cs typeface="Roboto"/>
                          <a:sym typeface="Roboto"/>
                        </a:rPr>
                      </a:br>
                      <a:r>
                        <a:rPr b="1" lang="en" sz="1400" u="none" cap="none" strike="noStrike">
                          <a:latin typeface="Roboto"/>
                          <a:ea typeface="Roboto"/>
                          <a:cs typeface="Roboto"/>
                          <a:sym typeface="Roboto"/>
                        </a:rPr>
                        <a:t>3</a:t>
                      </a:r>
                      <a:endParaRPr b="1" sz="1400" u="none" cap="none" strike="noStrike">
                        <a:latin typeface="Roboto"/>
                        <a:ea typeface="Roboto"/>
                        <a:cs typeface="Roboto"/>
                        <a:sym typeface="Roboto"/>
                      </a:endParaRPr>
                    </a:p>
                  </a:txBody>
                  <a:tcPr marT="18275" marB="18275" marR="0" marL="0" anchor="ctr"/>
                </a:tc>
              </a:tr>
            </a:tbl>
          </a:graphicData>
        </a:graphic>
      </p:graphicFrame>
      <p:sp>
        <p:nvSpPr>
          <p:cNvPr id="301" name="Google Shape;301;p9"/>
          <p:cNvSpPr/>
          <p:nvPr/>
        </p:nvSpPr>
        <p:spPr>
          <a:xfrm>
            <a:off x="3583600" y="3638900"/>
            <a:ext cx="1273750" cy="620350"/>
          </a:xfrm>
          <a:custGeom>
            <a:rect b="b" l="l" r="r" t="t"/>
            <a:pathLst>
              <a:path extrusionOk="0" h="24814" w="50950">
                <a:moveTo>
                  <a:pt x="0" y="24814"/>
                </a:moveTo>
                <a:lnTo>
                  <a:pt x="36624" y="24814"/>
                </a:lnTo>
                <a:lnTo>
                  <a:pt x="50950" y="0"/>
                </a:lnTo>
              </a:path>
            </a:pathLst>
          </a:custGeom>
          <a:noFill/>
          <a:ln cap="flat" cmpd="sng" w="19050">
            <a:solidFill>
              <a:schemeClr val="accent2"/>
            </a:solidFill>
            <a:prstDash val="solid"/>
            <a:round/>
            <a:headEnd len="sm" w="sm" type="none"/>
            <a:tailEnd len="med" w="med" type="triangle"/>
          </a:ln>
        </p:spPr>
      </p:sp>
      <p:sp>
        <p:nvSpPr>
          <p:cNvPr id="302" name="Google Shape;302;p9"/>
          <p:cNvSpPr/>
          <p:nvPr/>
        </p:nvSpPr>
        <p:spPr>
          <a:xfrm>
            <a:off x="4056400" y="4350550"/>
            <a:ext cx="903300" cy="4332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A is 2 away from me.</a:t>
            </a:r>
            <a:endParaRPr b="0" i="0" sz="1200" u="none" cap="none" strike="noStrike">
              <a:solidFill>
                <a:srgbClr val="000000"/>
              </a:solidFill>
              <a:latin typeface="Roboto"/>
              <a:ea typeface="Roboto"/>
              <a:cs typeface="Roboto"/>
              <a:sym typeface="Roboto"/>
            </a:endParaRPr>
          </a:p>
        </p:txBody>
      </p:sp>
      <p:sp>
        <p:nvSpPr>
          <p:cNvPr id="303" name="Google Shape;303;p9"/>
          <p:cNvSpPr/>
          <p:nvPr/>
        </p:nvSpPr>
        <p:spPr>
          <a:xfrm>
            <a:off x="5366925" y="2281350"/>
            <a:ext cx="1351500" cy="1046700"/>
          </a:xfrm>
          <a:prstGeom prst="wedgeRoundRectCallout">
            <a:avLst>
              <a:gd fmla="val -68383" name="adj1"/>
              <a:gd fmla="val 53869" name="adj2"/>
              <a:gd fmla="val 0" name="adj3"/>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2"/>
                </a:solidFill>
                <a:latin typeface="Roboto"/>
                <a:ea typeface="Roboto"/>
                <a:cs typeface="Roboto"/>
                <a:sym typeface="Roboto"/>
              </a:rPr>
              <a:t>I like this new path better. I'll abandon the old one.</a:t>
            </a:r>
            <a:endParaRPr b="0" i="0" sz="1400" u="none" cap="none" strike="noStrike">
              <a:solidFill>
                <a:schemeClr val="accen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0"/>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The Distance-Vector Algorithm So Far</a:t>
            </a:r>
            <a:endParaRPr/>
          </a:p>
        </p:txBody>
      </p:sp>
      <p:sp>
        <p:nvSpPr>
          <p:cNvPr id="309" name="Google Shape;309;p10"/>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For each destination:</a:t>
            </a:r>
            <a:endParaRPr/>
          </a:p>
          <a:p>
            <a:pPr indent="-342900" lvl="0" marL="457200" rtl="0" algn="l">
              <a:lnSpc>
                <a:spcPct val="115000"/>
              </a:lnSpc>
              <a:spcBef>
                <a:spcPts val="600"/>
              </a:spcBef>
              <a:spcAft>
                <a:spcPts val="0"/>
              </a:spcAft>
              <a:buSzPts val="1800"/>
              <a:buChar char="●"/>
            </a:pPr>
            <a:r>
              <a:rPr lang="en"/>
              <a:t>If you hear about a path to that destination, update table if:</a:t>
            </a:r>
            <a:endParaRPr/>
          </a:p>
          <a:p>
            <a:pPr indent="-342900" lvl="1" marL="914400" rtl="0" algn="l">
              <a:lnSpc>
                <a:spcPct val="115000"/>
              </a:lnSpc>
              <a:spcBef>
                <a:spcPts val="0"/>
              </a:spcBef>
              <a:spcAft>
                <a:spcPts val="0"/>
              </a:spcAft>
              <a:buClr>
                <a:schemeClr val="accent2"/>
              </a:buClr>
              <a:buSzPts val="1800"/>
              <a:buChar char="○"/>
            </a:pPr>
            <a:r>
              <a:rPr lang="en">
                <a:solidFill>
                  <a:schemeClr val="accent2"/>
                </a:solidFill>
              </a:rPr>
              <a:t>The destination isn't in the table.</a:t>
            </a:r>
            <a:endParaRPr>
              <a:solidFill>
                <a:schemeClr val="accent2"/>
              </a:solidFill>
            </a:endParaRPr>
          </a:p>
          <a:p>
            <a:pPr indent="-342900" lvl="1" marL="914400" rtl="0" algn="l">
              <a:lnSpc>
                <a:spcPct val="115000"/>
              </a:lnSpc>
              <a:spcBef>
                <a:spcPts val="0"/>
              </a:spcBef>
              <a:spcAft>
                <a:spcPts val="0"/>
              </a:spcAft>
              <a:buClr>
                <a:schemeClr val="accent2"/>
              </a:buClr>
              <a:buSzPts val="1800"/>
              <a:buChar char="○"/>
            </a:pPr>
            <a:r>
              <a:rPr lang="en">
                <a:solidFill>
                  <a:schemeClr val="accent2"/>
                </a:solidFill>
              </a:rPr>
              <a:t>The advertised cost is better than best-known cost.</a:t>
            </a:r>
            <a:endParaRPr>
              <a:solidFill>
                <a:schemeClr val="accent2"/>
              </a:solidFill>
            </a:endParaRPr>
          </a:p>
          <a:p>
            <a:pPr indent="-342900" lvl="0" marL="457200" rtl="0" algn="l">
              <a:lnSpc>
                <a:spcPct val="115000"/>
              </a:lnSpc>
              <a:spcBef>
                <a:spcPts val="0"/>
              </a:spcBef>
              <a:spcAft>
                <a:spcPts val="0"/>
              </a:spcAft>
              <a:buSzPts val="1800"/>
              <a:buChar char="●"/>
            </a:pPr>
            <a:r>
              <a:rPr lang="en"/>
              <a:t>Then, tell all your neighbors.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1"/>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Unequal Costs</a:t>
            </a:r>
            <a:endParaRPr/>
          </a:p>
        </p:txBody>
      </p:sp>
      <p:sp>
        <p:nvSpPr>
          <p:cNvPr id="315" name="Google Shape;315;p11"/>
          <p:cNvSpPr txBox="1"/>
          <p:nvPr>
            <p:ph idx="1" type="body"/>
          </p:nvPr>
        </p:nvSpPr>
        <p:spPr>
          <a:xfrm>
            <a:off x="107050" y="402200"/>
            <a:ext cx="8909700" cy="181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Not all link costs are 1.</a:t>
            </a:r>
            <a:endParaRPr/>
          </a:p>
          <a:p>
            <a:pPr indent="-342900" lvl="0" marL="457200" rtl="0" algn="l">
              <a:lnSpc>
                <a:spcPct val="115000"/>
              </a:lnSpc>
              <a:spcBef>
                <a:spcPts val="600"/>
              </a:spcBef>
              <a:spcAft>
                <a:spcPts val="0"/>
              </a:spcAft>
              <a:buSzPts val="1800"/>
              <a:buChar char="●"/>
            </a:pPr>
            <a:r>
              <a:rPr lang="en"/>
              <a:t>When a neighbor advertises a path, the cost via that path is the sum of:</a:t>
            </a:r>
            <a:endParaRPr/>
          </a:p>
          <a:p>
            <a:pPr indent="-342900" lvl="1" marL="914400" rtl="0" algn="l">
              <a:lnSpc>
                <a:spcPct val="115000"/>
              </a:lnSpc>
              <a:spcBef>
                <a:spcPts val="0"/>
              </a:spcBef>
              <a:spcAft>
                <a:spcPts val="0"/>
              </a:spcAft>
              <a:buSzPts val="1800"/>
              <a:buChar char="○"/>
            </a:pPr>
            <a:r>
              <a:rPr lang="en"/>
              <a:t>Link cost from you to the neighbor.</a:t>
            </a:r>
            <a:endParaRPr/>
          </a:p>
          <a:p>
            <a:pPr indent="-342900" lvl="1" marL="914400" rtl="0" algn="l">
              <a:lnSpc>
                <a:spcPct val="115000"/>
              </a:lnSpc>
              <a:spcBef>
                <a:spcPts val="0"/>
              </a:spcBef>
              <a:spcAft>
                <a:spcPts val="0"/>
              </a:spcAft>
              <a:buSzPts val="1800"/>
              <a:buChar char="○"/>
            </a:pPr>
            <a:r>
              <a:rPr lang="en"/>
              <a:t>Cost from neighbor to destination (as advertised by neighbor).</a:t>
            </a:r>
            <a:endParaRPr/>
          </a:p>
        </p:txBody>
      </p:sp>
      <p:sp>
        <p:nvSpPr>
          <p:cNvPr id="316" name="Google Shape;316;p11"/>
          <p:cNvSpPr/>
          <p:nvPr/>
        </p:nvSpPr>
        <p:spPr>
          <a:xfrm>
            <a:off x="3591425" y="33359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sp>
        <p:nvSpPr>
          <p:cNvPr id="317" name="Google Shape;317;p11"/>
          <p:cNvSpPr/>
          <p:nvPr/>
        </p:nvSpPr>
        <p:spPr>
          <a:xfrm>
            <a:off x="1984375" y="2571751"/>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318" name="Google Shape;318;p11"/>
          <p:cNvCxnSpPr>
            <a:stCxn id="317" idx="3"/>
            <a:endCxn id="316" idx="1"/>
          </p:cNvCxnSpPr>
          <p:nvPr/>
        </p:nvCxnSpPr>
        <p:spPr>
          <a:xfrm>
            <a:off x="2269375" y="2714251"/>
            <a:ext cx="1322100" cy="764100"/>
          </a:xfrm>
          <a:prstGeom prst="straightConnector1">
            <a:avLst/>
          </a:prstGeom>
          <a:noFill/>
          <a:ln cap="flat" cmpd="sng" w="19050">
            <a:solidFill>
              <a:srgbClr val="000000"/>
            </a:solidFill>
            <a:prstDash val="solid"/>
            <a:round/>
            <a:headEnd len="sm" w="sm" type="none"/>
            <a:tailEnd len="sm" w="sm" type="none"/>
          </a:ln>
        </p:spPr>
      </p:cxnSp>
      <p:cxnSp>
        <p:nvCxnSpPr>
          <p:cNvPr id="319" name="Google Shape;319;p11"/>
          <p:cNvCxnSpPr>
            <a:stCxn id="320" idx="3"/>
          </p:cNvCxnSpPr>
          <p:nvPr/>
        </p:nvCxnSpPr>
        <p:spPr>
          <a:xfrm flipH="1" rot="10800000">
            <a:off x="2269375" y="3478508"/>
            <a:ext cx="1322400" cy="762900"/>
          </a:xfrm>
          <a:prstGeom prst="straightConnector1">
            <a:avLst/>
          </a:prstGeom>
          <a:noFill/>
          <a:ln cap="flat" cmpd="sng" w="19050">
            <a:solidFill>
              <a:srgbClr val="000000"/>
            </a:solidFill>
            <a:prstDash val="solid"/>
            <a:round/>
            <a:headEnd len="sm" w="sm" type="none"/>
            <a:tailEnd len="sm" w="sm" type="none"/>
          </a:ln>
        </p:spPr>
      </p:cxnSp>
      <p:sp>
        <p:nvSpPr>
          <p:cNvPr id="320" name="Google Shape;320;p11"/>
          <p:cNvSpPr/>
          <p:nvPr/>
        </p:nvSpPr>
        <p:spPr>
          <a:xfrm>
            <a:off x="1984375" y="4098908"/>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321" name="Google Shape;321;p11"/>
          <p:cNvSpPr txBox="1"/>
          <p:nvPr/>
        </p:nvSpPr>
        <p:spPr>
          <a:xfrm>
            <a:off x="2758675" y="3027400"/>
            <a:ext cx="1146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1</a:t>
            </a:r>
            <a:endParaRPr b="0" i="0" sz="1400" u="none" cap="none" strike="noStrike">
              <a:solidFill>
                <a:schemeClr val="dk1"/>
              </a:solidFill>
              <a:latin typeface="Roboto"/>
              <a:ea typeface="Roboto"/>
              <a:cs typeface="Roboto"/>
              <a:sym typeface="Roboto"/>
            </a:endParaRPr>
          </a:p>
        </p:txBody>
      </p:sp>
      <p:sp>
        <p:nvSpPr>
          <p:cNvPr id="322" name="Google Shape;322;p11"/>
          <p:cNvSpPr txBox="1"/>
          <p:nvPr/>
        </p:nvSpPr>
        <p:spPr>
          <a:xfrm>
            <a:off x="2710225" y="3667827"/>
            <a:ext cx="2115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10</a:t>
            </a:r>
            <a:endParaRPr b="0" i="0" sz="1400" u="none" cap="none" strike="noStrike">
              <a:solidFill>
                <a:schemeClr val="dk1"/>
              </a:solidFill>
              <a:latin typeface="Roboto"/>
              <a:ea typeface="Roboto"/>
              <a:cs typeface="Roboto"/>
              <a:sym typeface="Roboto"/>
            </a:endParaRPr>
          </a:p>
        </p:txBody>
      </p:sp>
      <p:sp>
        <p:nvSpPr>
          <p:cNvPr id="323" name="Google Shape;323;p11"/>
          <p:cNvSpPr/>
          <p:nvPr/>
        </p:nvSpPr>
        <p:spPr>
          <a:xfrm>
            <a:off x="2921725" y="2363025"/>
            <a:ext cx="1206000" cy="535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 is 5 away from me.</a:t>
            </a:r>
            <a:endParaRPr b="0" i="0" sz="1400" u="none" cap="none" strike="noStrike">
              <a:solidFill>
                <a:srgbClr val="000000"/>
              </a:solidFill>
              <a:latin typeface="Roboto"/>
              <a:ea typeface="Roboto"/>
              <a:cs typeface="Roboto"/>
              <a:sym typeface="Roboto"/>
            </a:endParaRPr>
          </a:p>
        </p:txBody>
      </p:sp>
      <p:cxnSp>
        <p:nvCxnSpPr>
          <p:cNvPr id="324" name="Google Shape;324;p11"/>
          <p:cNvCxnSpPr/>
          <p:nvPr/>
        </p:nvCxnSpPr>
        <p:spPr>
          <a:xfrm>
            <a:off x="2490050" y="2690520"/>
            <a:ext cx="865200" cy="499500"/>
          </a:xfrm>
          <a:prstGeom prst="straightConnector1">
            <a:avLst/>
          </a:prstGeom>
          <a:noFill/>
          <a:ln cap="flat" cmpd="sng" w="19050">
            <a:solidFill>
              <a:schemeClr val="accent2"/>
            </a:solidFill>
            <a:prstDash val="solid"/>
            <a:round/>
            <a:headEnd len="sm" w="sm" type="none"/>
            <a:tailEnd len="med" w="med" type="triangle"/>
          </a:ln>
        </p:spPr>
      </p:cxnSp>
      <p:graphicFrame>
        <p:nvGraphicFramePr>
          <p:cNvPr id="325" name="Google Shape;325;p11"/>
          <p:cNvGraphicFramePr/>
          <p:nvPr/>
        </p:nvGraphicFramePr>
        <p:xfrm>
          <a:off x="4780082" y="3799600"/>
          <a:ext cx="3000000" cy="3000000"/>
        </p:xfrm>
        <a:graphic>
          <a:graphicData uri="http://schemas.openxmlformats.org/drawingml/2006/table">
            <a:tbl>
              <a:tblPr>
                <a:noFill/>
                <a:tableStyleId>{F0B5DC11-5EE2-4423-BDDD-F7B3A7C20352}</a:tableStyleId>
              </a:tblPr>
              <a:tblGrid>
                <a:gridCol w="668600"/>
                <a:gridCol w="610050"/>
                <a:gridCol w="11135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R1</a:t>
                      </a:r>
                      <a:endParaRPr b="1"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1+5 = 6</a:t>
                      </a:r>
                      <a:endParaRPr sz="1400" u="none" cap="none" strike="noStrike">
                        <a:latin typeface="Roboto"/>
                        <a:ea typeface="Roboto"/>
                        <a:cs typeface="Roboto"/>
                        <a:sym typeface="Roboto"/>
                      </a:endParaRPr>
                    </a:p>
                  </a:txBody>
                  <a:tcPr marT="18275" marB="18275" marR="0" marL="0"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2"/>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Unequal Costs</a:t>
            </a:r>
            <a:endParaRPr/>
          </a:p>
        </p:txBody>
      </p:sp>
      <p:sp>
        <p:nvSpPr>
          <p:cNvPr id="331" name="Google Shape;331;p12"/>
          <p:cNvSpPr txBox="1"/>
          <p:nvPr>
            <p:ph idx="1" type="body"/>
          </p:nvPr>
        </p:nvSpPr>
        <p:spPr>
          <a:xfrm>
            <a:off x="107050" y="402200"/>
            <a:ext cx="8909700" cy="181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Not all link costs are 1.</a:t>
            </a:r>
            <a:endParaRPr/>
          </a:p>
          <a:p>
            <a:pPr indent="-342900" lvl="0" marL="457200" rtl="0" algn="l">
              <a:lnSpc>
                <a:spcPct val="115000"/>
              </a:lnSpc>
              <a:spcBef>
                <a:spcPts val="600"/>
              </a:spcBef>
              <a:spcAft>
                <a:spcPts val="0"/>
              </a:spcAft>
              <a:buSzPts val="1800"/>
              <a:buChar char="●"/>
            </a:pPr>
            <a:r>
              <a:rPr lang="en"/>
              <a:t>When a neighbor advertises a path, the cost via that path is the sum of:</a:t>
            </a:r>
            <a:endParaRPr/>
          </a:p>
          <a:p>
            <a:pPr indent="-342900" lvl="1" marL="914400" rtl="0" algn="l">
              <a:lnSpc>
                <a:spcPct val="115000"/>
              </a:lnSpc>
              <a:spcBef>
                <a:spcPts val="0"/>
              </a:spcBef>
              <a:spcAft>
                <a:spcPts val="0"/>
              </a:spcAft>
              <a:buSzPts val="1800"/>
              <a:buChar char="○"/>
            </a:pPr>
            <a:r>
              <a:rPr lang="en"/>
              <a:t>Link cost from you to the neighbor.</a:t>
            </a:r>
            <a:endParaRPr/>
          </a:p>
          <a:p>
            <a:pPr indent="-342900" lvl="1" marL="914400" rtl="0" algn="l">
              <a:lnSpc>
                <a:spcPct val="115000"/>
              </a:lnSpc>
              <a:spcBef>
                <a:spcPts val="0"/>
              </a:spcBef>
              <a:spcAft>
                <a:spcPts val="0"/>
              </a:spcAft>
              <a:buSzPts val="1800"/>
              <a:buChar char="○"/>
            </a:pPr>
            <a:r>
              <a:rPr lang="en"/>
              <a:t>Cost from neighbor to destination (as advertised by neighbor).</a:t>
            </a:r>
            <a:endParaRPr/>
          </a:p>
        </p:txBody>
      </p:sp>
      <p:sp>
        <p:nvSpPr>
          <p:cNvPr id="332" name="Google Shape;332;p12"/>
          <p:cNvSpPr/>
          <p:nvPr/>
        </p:nvSpPr>
        <p:spPr>
          <a:xfrm>
            <a:off x="3591425" y="33359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sp>
        <p:nvSpPr>
          <p:cNvPr id="333" name="Google Shape;333;p12"/>
          <p:cNvSpPr/>
          <p:nvPr/>
        </p:nvSpPr>
        <p:spPr>
          <a:xfrm>
            <a:off x="1984375" y="2571751"/>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334" name="Google Shape;334;p12"/>
          <p:cNvCxnSpPr>
            <a:stCxn id="333" idx="3"/>
            <a:endCxn id="332" idx="1"/>
          </p:cNvCxnSpPr>
          <p:nvPr/>
        </p:nvCxnSpPr>
        <p:spPr>
          <a:xfrm>
            <a:off x="2269375" y="2714251"/>
            <a:ext cx="1322100" cy="764100"/>
          </a:xfrm>
          <a:prstGeom prst="straightConnector1">
            <a:avLst/>
          </a:prstGeom>
          <a:noFill/>
          <a:ln cap="flat" cmpd="sng" w="19050">
            <a:solidFill>
              <a:srgbClr val="000000"/>
            </a:solidFill>
            <a:prstDash val="solid"/>
            <a:round/>
            <a:headEnd len="sm" w="sm" type="none"/>
            <a:tailEnd len="sm" w="sm" type="none"/>
          </a:ln>
        </p:spPr>
      </p:cxnSp>
      <p:cxnSp>
        <p:nvCxnSpPr>
          <p:cNvPr id="335" name="Google Shape;335;p12"/>
          <p:cNvCxnSpPr>
            <a:stCxn id="336" idx="3"/>
          </p:cNvCxnSpPr>
          <p:nvPr/>
        </p:nvCxnSpPr>
        <p:spPr>
          <a:xfrm flipH="1" rot="10800000">
            <a:off x="2269375" y="3478508"/>
            <a:ext cx="1322400" cy="762900"/>
          </a:xfrm>
          <a:prstGeom prst="straightConnector1">
            <a:avLst/>
          </a:prstGeom>
          <a:noFill/>
          <a:ln cap="flat" cmpd="sng" w="19050">
            <a:solidFill>
              <a:srgbClr val="000000"/>
            </a:solidFill>
            <a:prstDash val="solid"/>
            <a:round/>
            <a:headEnd len="sm" w="sm" type="none"/>
            <a:tailEnd len="sm" w="sm" type="none"/>
          </a:ln>
        </p:spPr>
      </p:cxnSp>
      <p:sp>
        <p:nvSpPr>
          <p:cNvPr id="336" name="Google Shape;336;p12"/>
          <p:cNvSpPr/>
          <p:nvPr/>
        </p:nvSpPr>
        <p:spPr>
          <a:xfrm>
            <a:off x="1984375" y="4098908"/>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337" name="Google Shape;337;p12"/>
          <p:cNvSpPr txBox="1"/>
          <p:nvPr/>
        </p:nvSpPr>
        <p:spPr>
          <a:xfrm>
            <a:off x="2758675" y="3027400"/>
            <a:ext cx="1146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1</a:t>
            </a:r>
            <a:endParaRPr b="0" i="0" sz="1400" u="none" cap="none" strike="noStrike">
              <a:solidFill>
                <a:schemeClr val="dk1"/>
              </a:solidFill>
              <a:latin typeface="Roboto"/>
              <a:ea typeface="Roboto"/>
              <a:cs typeface="Roboto"/>
              <a:sym typeface="Roboto"/>
            </a:endParaRPr>
          </a:p>
        </p:txBody>
      </p:sp>
      <p:sp>
        <p:nvSpPr>
          <p:cNvPr id="338" name="Google Shape;338;p12"/>
          <p:cNvSpPr txBox="1"/>
          <p:nvPr/>
        </p:nvSpPr>
        <p:spPr>
          <a:xfrm>
            <a:off x="2710225" y="3667827"/>
            <a:ext cx="2115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10</a:t>
            </a:r>
            <a:endParaRPr b="0" i="0" sz="1400" u="none" cap="none" strike="noStrike">
              <a:solidFill>
                <a:schemeClr val="dk1"/>
              </a:solidFill>
              <a:latin typeface="Roboto"/>
              <a:ea typeface="Roboto"/>
              <a:cs typeface="Roboto"/>
              <a:sym typeface="Roboto"/>
            </a:endParaRPr>
          </a:p>
        </p:txBody>
      </p:sp>
      <p:graphicFrame>
        <p:nvGraphicFramePr>
          <p:cNvPr id="339" name="Google Shape;339;p12"/>
          <p:cNvGraphicFramePr/>
          <p:nvPr/>
        </p:nvGraphicFramePr>
        <p:xfrm>
          <a:off x="4780082" y="3799600"/>
          <a:ext cx="3000000" cy="3000000"/>
        </p:xfrm>
        <a:graphic>
          <a:graphicData uri="http://schemas.openxmlformats.org/drawingml/2006/table">
            <a:tbl>
              <a:tblPr>
                <a:noFill/>
                <a:tableStyleId>{F0B5DC11-5EE2-4423-BDDD-F7B3A7C20352}</a:tableStyleId>
              </a:tblPr>
              <a:tblGrid>
                <a:gridCol w="668600"/>
                <a:gridCol w="610050"/>
                <a:gridCol w="11135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R1</a:t>
                      </a:r>
                      <a:endParaRPr b="1"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1+5 = 6</a:t>
                      </a:r>
                      <a:endParaRPr sz="1400" u="none" cap="none" strike="noStrike">
                        <a:latin typeface="Roboto"/>
                        <a:ea typeface="Roboto"/>
                        <a:cs typeface="Roboto"/>
                        <a:sym typeface="Roboto"/>
                      </a:endParaRPr>
                    </a:p>
                  </a:txBody>
                  <a:tcPr marT="18275" marB="18275" marR="0" marL="0" anchor="ctr"/>
                </a:tc>
              </a:tr>
            </a:tbl>
          </a:graphicData>
        </a:graphic>
      </p:graphicFrame>
      <p:sp>
        <p:nvSpPr>
          <p:cNvPr id="340" name="Google Shape;340;p12"/>
          <p:cNvSpPr/>
          <p:nvPr/>
        </p:nvSpPr>
        <p:spPr>
          <a:xfrm>
            <a:off x="2921725" y="4115625"/>
            <a:ext cx="1206000" cy="535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 is 3 away from me.</a:t>
            </a:r>
            <a:endParaRPr b="0" i="0" sz="1400" u="none" cap="none" strike="noStrike">
              <a:solidFill>
                <a:srgbClr val="000000"/>
              </a:solidFill>
              <a:latin typeface="Roboto"/>
              <a:ea typeface="Roboto"/>
              <a:cs typeface="Roboto"/>
              <a:sym typeface="Roboto"/>
            </a:endParaRPr>
          </a:p>
        </p:txBody>
      </p:sp>
      <p:cxnSp>
        <p:nvCxnSpPr>
          <p:cNvPr id="341" name="Google Shape;341;p12"/>
          <p:cNvCxnSpPr/>
          <p:nvPr/>
        </p:nvCxnSpPr>
        <p:spPr>
          <a:xfrm flipH="1" rot="10800000">
            <a:off x="2558725" y="3799600"/>
            <a:ext cx="796500" cy="459900"/>
          </a:xfrm>
          <a:prstGeom prst="straightConnector1">
            <a:avLst/>
          </a:prstGeom>
          <a:noFill/>
          <a:ln cap="flat" cmpd="sng" w="19050">
            <a:solidFill>
              <a:schemeClr val="accent2"/>
            </a:solidFill>
            <a:prstDash val="solid"/>
            <a:round/>
            <a:headEnd len="sm" w="sm" type="none"/>
            <a:tailEnd len="med" w="med" type="triangle"/>
          </a:ln>
        </p:spPr>
      </p:cxnSp>
      <p:sp>
        <p:nvSpPr>
          <p:cNvPr id="342" name="Google Shape;342;p12"/>
          <p:cNvSpPr/>
          <p:nvPr/>
        </p:nvSpPr>
        <p:spPr>
          <a:xfrm>
            <a:off x="4127725" y="2221300"/>
            <a:ext cx="2481000" cy="919500"/>
          </a:xfrm>
          <a:prstGeom prst="wedgeRoundRectCallout">
            <a:avLst>
              <a:gd fmla="val -64779" name="adj1"/>
              <a:gd fmla="val 59940" name="adj2"/>
              <a:gd fmla="val 0" name="adj3"/>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2"/>
                </a:solidFill>
                <a:latin typeface="Roboto"/>
                <a:ea typeface="Roboto"/>
                <a:cs typeface="Roboto"/>
                <a:sym typeface="Roboto"/>
              </a:rPr>
              <a:t>This path actually costs 10+3=13. I'll keep using the cost 6 path and reject this.</a:t>
            </a:r>
            <a:endParaRPr b="0" i="0" sz="1400" u="none" cap="none" strike="noStrike">
              <a:solidFill>
                <a:schemeClr val="accent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3"/>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The Distance-Vector Algorithm So Far</a:t>
            </a:r>
            <a:endParaRPr/>
          </a:p>
        </p:txBody>
      </p:sp>
      <p:sp>
        <p:nvSpPr>
          <p:cNvPr id="348" name="Google Shape;348;p13"/>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For each destination:</a:t>
            </a:r>
            <a:endParaRPr/>
          </a:p>
          <a:p>
            <a:pPr indent="-342900" lvl="0" marL="457200" rtl="0" algn="l">
              <a:lnSpc>
                <a:spcPct val="115000"/>
              </a:lnSpc>
              <a:spcBef>
                <a:spcPts val="600"/>
              </a:spcBef>
              <a:spcAft>
                <a:spcPts val="0"/>
              </a:spcAft>
              <a:buSzPts val="1800"/>
              <a:buChar char="●"/>
            </a:pPr>
            <a:r>
              <a:rPr lang="en"/>
              <a:t>If you hear about a path to that destination, update table if:</a:t>
            </a:r>
            <a:endParaRPr/>
          </a:p>
          <a:p>
            <a:pPr indent="-342900" lvl="1" marL="914400" rtl="0" algn="l">
              <a:lnSpc>
                <a:spcPct val="115000"/>
              </a:lnSpc>
              <a:spcBef>
                <a:spcPts val="0"/>
              </a:spcBef>
              <a:spcAft>
                <a:spcPts val="0"/>
              </a:spcAft>
              <a:buSzPts val="1800"/>
              <a:buChar char="○"/>
            </a:pPr>
            <a:r>
              <a:rPr lang="en"/>
              <a:t>The destination isn't in the table.</a:t>
            </a:r>
            <a:endParaRPr/>
          </a:p>
          <a:p>
            <a:pPr indent="-342900" lvl="1" marL="914400" rtl="0" algn="l">
              <a:lnSpc>
                <a:spcPct val="115000"/>
              </a:lnSpc>
              <a:spcBef>
                <a:spcPts val="0"/>
              </a:spcBef>
              <a:spcAft>
                <a:spcPts val="0"/>
              </a:spcAft>
              <a:buSzPts val="1800"/>
              <a:buChar char="○"/>
            </a:pPr>
            <a:r>
              <a:rPr lang="en"/>
              <a:t>Advertised cost </a:t>
            </a:r>
            <a:r>
              <a:rPr lang="en">
                <a:solidFill>
                  <a:schemeClr val="accent2"/>
                </a:solidFill>
              </a:rPr>
              <a:t>+ link cost to neighbor</a:t>
            </a:r>
            <a:r>
              <a:rPr lang="en"/>
              <a:t> &lt; best-known cost. </a:t>
            </a:r>
            <a:r>
              <a:rPr lang="en" sz="1400">
                <a:solidFill>
                  <a:schemeClr val="accent3"/>
                </a:solidFill>
              </a:rPr>
              <a:t>(#1)</a:t>
            </a:r>
            <a:endParaRPr sz="1400">
              <a:solidFill>
                <a:schemeClr val="accent3"/>
              </a:solidFill>
            </a:endParaRPr>
          </a:p>
          <a:p>
            <a:pPr indent="-342900" lvl="0" marL="457200" rtl="0" algn="l">
              <a:lnSpc>
                <a:spcPct val="115000"/>
              </a:lnSpc>
              <a:spcBef>
                <a:spcPts val="0"/>
              </a:spcBef>
              <a:spcAft>
                <a:spcPts val="0"/>
              </a:spcAft>
              <a:buSzPts val="1800"/>
              <a:buChar char="●"/>
            </a:pPr>
            <a:r>
              <a:rPr lang="en"/>
              <a:t>Then, tell all your neighbors.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4"/>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Distributed Bellman-Ford Algorithm</a:t>
            </a:r>
            <a:endParaRPr/>
          </a:p>
        </p:txBody>
      </p:sp>
      <p:sp>
        <p:nvSpPr>
          <p:cNvPr id="354" name="Google Shape;354;p14"/>
          <p:cNvSpPr txBox="1"/>
          <p:nvPr>
            <p:ph idx="1" type="body"/>
          </p:nvPr>
        </p:nvSpPr>
        <p:spPr>
          <a:xfrm>
            <a:off x="107050" y="402200"/>
            <a:ext cx="8909700" cy="446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Careful viewers might have noticed this operation looks familiar.</a:t>
            </a:r>
            <a:endParaRPr/>
          </a:p>
          <a:p>
            <a:pPr indent="-342900" lvl="0" marL="457200" rtl="0" algn="l">
              <a:lnSpc>
                <a:spcPct val="115000"/>
              </a:lnSpc>
              <a:spcBef>
                <a:spcPts val="600"/>
              </a:spcBef>
              <a:spcAft>
                <a:spcPts val="0"/>
              </a:spcAft>
              <a:buSzPts val="1800"/>
              <a:buChar char="●"/>
            </a:pPr>
            <a:r>
              <a:rPr lang="en"/>
              <a:t>"If cost to neighbor + cost from neighbor to destination &lt; best-known cost,</a:t>
            </a:r>
            <a:br>
              <a:rPr lang="en"/>
            </a:br>
            <a:r>
              <a:rPr lang="en"/>
              <a:t>accept update."</a:t>
            </a:r>
            <a:endParaRPr/>
          </a:p>
          <a:p>
            <a:pPr indent="-342900" lvl="0" marL="457200" rtl="0" algn="l">
              <a:lnSpc>
                <a:spcPct val="115000"/>
              </a:lnSpc>
              <a:spcBef>
                <a:spcPts val="0"/>
              </a:spcBef>
              <a:spcAft>
                <a:spcPts val="0"/>
              </a:spcAft>
              <a:buSzPts val="1800"/>
              <a:buChar char="●"/>
            </a:pPr>
            <a:r>
              <a:rPr lang="en"/>
              <a:t>This is the relaxation operation in Dijkstra's shortest path algorithm!</a:t>
            </a:r>
            <a:endParaRPr/>
          </a:p>
          <a:p>
            <a:pPr indent="0" lvl="0" marL="0" rtl="0" algn="l">
              <a:lnSpc>
                <a:spcPct val="115000"/>
              </a:lnSpc>
              <a:spcBef>
                <a:spcPts val="600"/>
              </a:spcBef>
              <a:spcAft>
                <a:spcPts val="0"/>
              </a:spcAft>
              <a:buSzPts val="1800"/>
              <a:buNone/>
            </a:pPr>
            <a:r>
              <a:rPr b="1" lang="en"/>
              <a:t>Bellman-Ford</a:t>
            </a:r>
            <a:r>
              <a:rPr lang="en"/>
              <a:t> is another relaxation-based shortest path algorithm.</a:t>
            </a:r>
            <a:endParaRPr/>
          </a:p>
          <a:p>
            <a:pPr indent="-342900" lvl="0" marL="457200" rtl="0" algn="l">
              <a:lnSpc>
                <a:spcPct val="115000"/>
              </a:lnSpc>
              <a:spcBef>
                <a:spcPts val="600"/>
              </a:spcBef>
              <a:spcAft>
                <a:spcPts val="0"/>
              </a:spcAft>
              <a:buSzPts val="1800"/>
              <a:buChar char="●"/>
            </a:pPr>
            <a:r>
              <a:rPr lang="en"/>
              <a:t>Relax every edge repeatedly until we get shortest paths.</a:t>
            </a:r>
            <a:endParaRPr/>
          </a:p>
          <a:p>
            <a:pPr indent="-342900" lvl="0" marL="457200" rtl="0" algn="l">
              <a:lnSpc>
                <a:spcPct val="115000"/>
              </a:lnSpc>
              <a:spcBef>
                <a:spcPts val="0"/>
              </a:spcBef>
              <a:spcAft>
                <a:spcPts val="0"/>
              </a:spcAft>
              <a:buSzPts val="1800"/>
              <a:buChar char="●"/>
            </a:pPr>
            <a:r>
              <a:rPr lang="en"/>
              <a:t>Unlike Dijkstra's, does not require relaxing the edges in any specific order.</a:t>
            </a:r>
            <a:endParaRPr/>
          </a:p>
          <a:p>
            <a:pPr indent="0" lvl="0" marL="0" rtl="0" algn="l">
              <a:lnSpc>
                <a:spcPct val="115000"/>
              </a:lnSpc>
              <a:spcBef>
                <a:spcPts val="600"/>
              </a:spcBef>
              <a:spcAft>
                <a:spcPts val="0"/>
              </a:spcAft>
              <a:buSzPts val="1800"/>
              <a:buNone/>
            </a:pPr>
            <a:r>
              <a:rPr lang="en"/>
              <a:t>Distance-vector algorithms are a </a:t>
            </a:r>
            <a:r>
              <a:rPr i="1" lang="en"/>
              <a:t>distributed</a:t>
            </a:r>
            <a:r>
              <a:rPr lang="en"/>
              <a:t>, </a:t>
            </a:r>
            <a:r>
              <a:rPr i="1" lang="en"/>
              <a:t>asynchronous</a:t>
            </a:r>
            <a:r>
              <a:rPr lang="en"/>
              <a:t> version of Bellman-Ford.</a:t>
            </a:r>
            <a:endParaRPr/>
          </a:p>
          <a:p>
            <a:pPr indent="-342900" lvl="0" marL="457200" rtl="0" algn="l">
              <a:lnSpc>
                <a:spcPct val="115000"/>
              </a:lnSpc>
              <a:spcBef>
                <a:spcPts val="600"/>
              </a:spcBef>
              <a:spcAft>
                <a:spcPts val="0"/>
              </a:spcAft>
              <a:buSzPts val="1800"/>
              <a:buChar char="●"/>
            </a:pPr>
            <a:r>
              <a:rPr lang="en"/>
              <a:t>Distributed: Each router relaxes its own links. No global mastermind.</a:t>
            </a:r>
            <a:endParaRPr/>
          </a:p>
          <a:p>
            <a:pPr indent="-342900" lvl="0" marL="457200" rtl="0" algn="l">
              <a:lnSpc>
                <a:spcPct val="115000"/>
              </a:lnSpc>
              <a:spcBef>
                <a:spcPts val="0"/>
              </a:spcBef>
              <a:spcAft>
                <a:spcPts val="0"/>
              </a:spcAft>
              <a:buSzPts val="1800"/>
              <a:buChar char="●"/>
            </a:pPr>
            <a:r>
              <a:rPr lang="en"/>
              <a:t>Asynchronous: Nobody is syncing when the routers do relaxations.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5"/>
          <p:cNvSpPr txBox="1"/>
          <p:nvPr>
            <p:ph idx="1" type="body"/>
          </p:nvPr>
        </p:nvSpPr>
        <p:spPr>
          <a:xfrm>
            <a:off x="4812375" y="402200"/>
            <a:ext cx="4038000" cy="426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600"/>
              </a:spcBef>
              <a:spcAft>
                <a:spcPts val="0"/>
              </a:spcAft>
              <a:buSzPts val="1800"/>
              <a:buNone/>
            </a:pPr>
            <a:r>
              <a:rPr b="1" lang="en">
                <a:solidFill>
                  <a:schemeClr val="accent3"/>
                </a:solidFill>
                <a:latin typeface="Roboto"/>
                <a:ea typeface="Roboto"/>
                <a:cs typeface="Roboto"/>
                <a:sym typeface="Roboto"/>
              </a:rPr>
              <a:t>Distance-Vector Correctness</a:t>
            </a:r>
            <a:endParaRPr b="1">
              <a:solidFill>
                <a:schemeClr val="accent3"/>
              </a:solidFill>
              <a:latin typeface="Roboto"/>
              <a:ea typeface="Roboto"/>
              <a:cs typeface="Roboto"/>
              <a:sym typeface="Roboto"/>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1: Bellman-Ford Updates</a:t>
            </a:r>
            <a:endParaRPr>
              <a:solidFill>
                <a:srgbClr val="B7B7B7"/>
              </a:solidFill>
            </a:endParaRPr>
          </a:p>
          <a:p>
            <a:pPr indent="-342900" lvl="0" marL="457200" rtl="0" algn="l">
              <a:lnSpc>
                <a:spcPct val="115000"/>
              </a:lnSpc>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Rule 2: Updates From Next-Hop</a:t>
            </a:r>
            <a:endParaRPr b="1">
              <a:solidFill>
                <a:schemeClr val="accent3"/>
              </a:solidFill>
              <a:latin typeface="Roboto"/>
              <a:ea typeface="Roboto"/>
              <a:cs typeface="Roboto"/>
              <a:sym typeface="Roboto"/>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3: Resending and Expiring</a:t>
            </a:r>
            <a:endParaRPr>
              <a:solidFill>
                <a:srgbClr val="B7B7B7"/>
              </a:solidFill>
            </a:endParaRPr>
          </a:p>
          <a:p>
            <a:pPr indent="0" lvl="0" marL="0" rtl="0" algn="l">
              <a:lnSpc>
                <a:spcPct val="115000"/>
              </a:lnSpc>
              <a:spcBef>
                <a:spcPts val="600"/>
              </a:spcBef>
              <a:spcAft>
                <a:spcPts val="0"/>
              </a:spcAft>
              <a:buSzPts val="1800"/>
              <a:buNone/>
            </a:pPr>
            <a:r>
              <a:rPr lang="en">
                <a:solidFill>
                  <a:srgbClr val="B7B7B7"/>
                </a:solidFill>
              </a:rPr>
              <a:t>Distance-Vector Enhancements</a:t>
            </a:r>
            <a:endParaRPr>
              <a:solidFill>
                <a:srgbClr val="B7B7B7"/>
              </a:solidFill>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Rule 4: Poison Expired Routes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5A: Split Horizon</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5B: Poison Reverse</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6: Count To Infinity</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Eventful Updates</a:t>
            </a:r>
            <a:endParaRPr>
              <a:solidFill>
                <a:srgbClr val="B7B7B7"/>
              </a:solidFill>
            </a:endParaRPr>
          </a:p>
        </p:txBody>
      </p:sp>
      <p:sp>
        <p:nvSpPr>
          <p:cNvPr id="360" name="Google Shape;360;p15"/>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Rule 2: Updates from Next-Hop</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6"/>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Updates From the Current Next-Hop</a:t>
            </a:r>
            <a:endParaRPr/>
          </a:p>
        </p:txBody>
      </p:sp>
      <p:sp>
        <p:nvSpPr>
          <p:cNvPr id="366" name="Google Shape;366;p16"/>
          <p:cNvSpPr txBox="1"/>
          <p:nvPr>
            <p:ph idx="1" type="body"/>
          </p:nvPr>
        </p:nvSpPr>
        <p:spPr>
          <a:xfrm>
            <a:off x="51025" y="1040925"/>
            <a:ext cx="8909700" cy="189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Recall our routing challenges: Topology can change.</a:t>
            </a:r>
            <a:endParaRPr/>
          </a:p>
          <a:p>
            <a:pPr indent="-342900" lvl="0" marL="457200" rtl="0" algn="l">
              <a:lnSpc>
                <a:spcPct val="115000"/>
              </a:lnSpc>
              <a:spcBef>
                <a:spcPts val="600"/>
              </a:spcBef>
              <a:spcAft>
                <a:spcPts val="0"/>
              </a:spcAft>
              <a:buSzPts val="1800"/>
              <a:buChar char="●"/>
            </a:pPr>
            <a:r>
              <a:rPr lang="en"/>
              <a:t>So far: We update if we get a better path (or if we didn't have a path before).</a:t>
            </a:r>
            <a:endParaRPr/>
          </a:p>
          <a:p>
            <a:pPr indent="-342900" lvl="0" marL="457200" rtl="0" algn="l">
              <a:lnSpc>
                <a:spcPct val="115000"/>
              </a:lnSpc>
              <a:spcBef>
                <a:spcPts val="0"/>
              </a:spcBef>
              <a:spcAft>
                <a:spcPts val="0"/>
              </a:spcAft>
              <a:buSzPts val="1800"/>
              <a:buChar char="●"/>
            </a:pPr>
            <a:r>
              <a:rPr lang="en"/>
              <a:t>Fix: If our current next hop sends us an announcement, accept it,</a:t>
            </a:r>
            <a:br>
              <a:rPr lang="en"/>
            </a:br>
            <a:r>
              <a:rPr i="1" lang="en"/>
              <a:t>even if the path is worse</a:t>
            </a:r>
            <a:r>
              <a:rPr lang="en"/>
              <a:t>.</a:t>
            </a:r>
            <a:endParaRPr/>
          </a:p>
          <a:p>
            <a:pPr indent="-342900" lvl="0" marL="457200" rtl="0" algn="l">
              <a:lnSpc>
                <a:spcPct val="115000"/>
              </a:lnSpc>
              <a:spcBef>
                <a:spcPts val="0"/>
              </a:spcBef>
              <a:spcAft>
                <a:spcPts val="0"/>
              </a:spcAft>
              <a:buSzPts val="1800"/>
              <a:buChar char="●"/>
            </a:pPr>
            <a:r>
              <a:rPr lang="en"/>
              <a:t>This lets the next-hop notify us if the topology changed.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7"/>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Convergence</a:t>
            </a:r>
            <a:endParaRPr/>
          </a:p>
        </p:txBody>
      </p:sp>
      <p:sp>
        <p:nvSpPr>
          <p:cNvPr id="372" name="Google Shape;372;p17"/>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If the network never changes:</a:t>
            </a:r>
            <a:endParaRPr/>
          </a:p>
          <a:p>
            <a:pPr indent="-342900" lvl="0" marL="457200" rtl="0" algn="l">
              <a:lnSpc>
                <a:spcPct val="115000"/>
              </a:lnSpc>
              <a:spcBef>
                <a:spcPts val="600"/>
              </a:spcBef>
              <a:spcAft>
                <a:spcPts val="0"/>
              </a:spcAft>
              <a:buSzPts val="1800"/>
              <a:buChar char="●"/>
            </a:pPr>
            <a:r>
              <a:rPr lang="en"/>
              <a:t>After running this protocol for some time, it will </a:t>
            </a:r>
            <a:r>
              <a:rPr b="1" lang="en"/>
              <a:t>converge</a:t>
            </a:r>
            <a:r>
              <a:rPr lang="en"/>
              <a:t>.</a:t>
            </a:r>
            <a:endParaRPr/>
          </a:p>
          <a:p>
            <a:pPr indent="-342900" lvl="0" marL="457200" rtl="0" algn="l">
              <a:lnSpc>
                <a:spcPct val="115000"/>
              </a:lnSpc>
              <a:spcBef>
                <a:spcPts val="0"/>
              </a:spcBef>
              <a:spcAft>
                <a:spcPts val="0"/>
              </a:spcAft>
              <a:buSzPts val="1800"/>
              <a:buChar char="●"/>
            </a:pPr>
            <a:r>
              <a:rPr lang="en"/>
              <a:t>Everyone's forwarding table has the least-cost next hop.</a:t>
            </a:r>
            <a:endParaRPr/>
          </a:p>
          <a:p>
            <a:pPr indent="-342900" lvl="0" marL="457200" rtl="0" algn="l">
              <a:lnSpc>
                <a:spcPct val="115000"/>
              </a:lnSpc>
              <a:spcBef>
                <a:spcPts val="0"/>
              </a:spcBef>
              <a:spcAft>
                <a:spcPts val="0"/>
              </a:spcAft>
              <a:buSzPts val="1800"/>
              <a:buChar char="●"/>
            </a:pPr>
            <a:r>
              <a:rPr lang="en"/>
              <a:t>All future announcements will be rejected.</a:t>
            </a:r>
            <a:endParaRPr/>
          </a:p>
          <a:p>
            <a:pPr indent="0" lvl="0" marL="0" rtl="0" algn="l">
              <a:lnSpc>
                <a:spcPct val="115000"/>
              </a:lnSpc>
              <a:spcBef>
                <a:spcPts val="600"/>
              </a:spcBef>
              <a:spcAft>
                <a:spcPts val="0"/>
              </a:spcAft>
              <a:buSzPts val="1800"/>
              <a:buNone/>
            </a:pPr>
            <a:r>
              <a:rPr lang="en"/>
              <a:t>If a change happens (e.g. a link goes down):</a:t>
            </a:r>
            <a:endParaRPr/>
          </a:p>
          <a:p>
            <a:pPr indent="-342900" lvl="0" marL="457200" rtl="0" algn="l">
              <a:lnSpc>
                <a:spcPct val="115000"/>
              </a:lnSpc>
              <a:spcBef>
                <a:spcPts val="600"/>
              </a:spcBef>
              <a:spcAft>
                <a:spcPts val="0"/>
              </a:spcAft>
              <a:buSzPts val="1800"/>
              <a:buChar char="●"/>
            </a:pPr>
            <a:r>
              <a:rPr lang="en"/>
              <a:t>Some new announcements are sent.</a:t>
            </a:r>
            <a:endParaRPr/>
          </a:p>
          <a:p>
            <a:pPr indent="-342900" lvl="0" marL="457200" rtl="0" algn="l">
              <a:lnSpc>
                <a:spcPct val="115000"/>
              </a:lnSpc>
              <a:spcBef>
                <a:spcPts val="0"/>
              </a:spcBef>
              <a:spcAft>
                <a:spcPts val="0"/>
              </a:spcAft>
              <a:buSzPts val="1800"/>
              <a:buChar char="●"/>
            </a:pPr>
            <a:r>
              <a:rPr lang="en"/>
              <a:t>Some forwarding tables are updated.</a:t>
            </a:r>
            <a:endParaRPr/>
          </a:p>
          <a:p>
            <a:pPr indent="-342900" lvl="0" marL="457200" rtl="0" algn="l">
              <a:lnSpc>
                <a:spcPct val="115000"/>
              </a:lnSpc>
              <a:spcBef>
                <a:spcPts val="0"/>
              </a:spcBef>
              <a:spcAft>
                <a:spcPts val="0"/>
              </a:spcAft>
              <a:buSzPts val="1800"/>
              <a:buChar char="●"/>
            </a:pPr>
            <a:r>
              <a:rPr lang="en"/>
              <a:t>Eventually, we converge again to the new routing state.</a:t>
            </a:r>
            <a:endParaRPr/>
          </a:p>
          <a:p>
            <a:pPr indent="0" lvl="0" marL="0" rtl="0" algn="l">
              <a:lnSpc>
                <a:spcPct val="115000"/>
              </a:lnSpc>
              <a:spcBef>
                <a:spcPts val="600"/>
              </a:spcBef>
              <a:spcAft>
                <a:spcPts val="0"/>
              </a:spcAft>
              <a:buSzPts val="1800"/>
              <a:buNone/>
            </a:pPr>
            <a:r>
              <a:rPr lang="en"/>
              <a:t>The network topology is constantly changing, so routers run the protocol </a:t>
            </a:r>
            <a:r>
              <a:rPr i="1" lang="en"/>
              <a:t>indefinitely</a:t>
            </a:r>
            <a:r>
              <a:rPr lang="en"/>
              <a:t>.</a:t>
            </a:r>
            <a:endParaRPr/>
          </a:p>
          <a:p>
            <a:pPr indent="-342900" lvl="0" marL="457200" rtl="0" algn="l">
              <a:lnSpc>
                <a:spcPct val="115000"/>
              </a:lnSpc>
              <a:spcBef>
                <a:spcPts val="600"/>
              </a:spcBef>
              <a:spcAft>
                <a:spcPts val="0"/>
              </a:spcAft>
              <a:buSzPts val="1800"/>
              <a:buChar char="●"/>
            </a:pPr>
            <a:r>
              <a:rPr b="1" lang="en"/>
              <a:t>Steady-state</a:t>
            </a:r>
            <a:r>
              <a:rPr lang="en"/>
              <a:t> occurs when the network has converged.</a:t>
            </a:r>
            <a:endParaRPr/>
          </a:p>
          <a:p>
            <a:pPr indent="-342900" lvl="0" marL="457200" rtl="0" algn="l">
              <a:lnSpc>
                <a:spcPct val="115000"/>
              </a:lnSpc>
              <a:spcBef>
                <a:spcPts val="0"/>
              </a:spcBef>
              <a:spcAft>
                <a:spcPts val="0"/>
              </a:spcAft>
              <a:buSzPts val="1800"/>
              <a:buChar char="●"/>
            </a:pPr>
            <a:r>
              <a:rPr lang="en"/>
              <a:t>In steady-state, everything stays the same until the next topology change.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8"/>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The Distance-Vector Algorithm So Far</a:t>
            </a:r>
            <a:endParaRPr/>
          </a:p>
        </p:txBody>
      </p:sp>
      <p:sp>
        <p:nvSpPr>
          <p:cNvPr id="378" name="Google Shape;378;p18"/>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solidFill>
                  <a:srgbClr val="000000"/>
                </a:solidFill>
              </a:rPr>
              <a:t>For each destination:</a:t>
            </a:r>
            <a:endParaRPr>
              <a:solidFill>
                <a:srgbClr val="000000"/>
              </a:solidFill>
            </a:endParaRPr>
          </a:p>
          <a:p>
            <a:pPr indent="-342900" lvl="0" marL="457200" rtl="0" algn="l">
              <a:lnSpc>
                <a:spcPct val="115000"/>
              </a:lnSpc>
              <a:spcBef>
                <a:spcPts val="600"/>
              </a:spcBef>
              <a:spcAft>
                <a:spcPts val="0"/>
              </a:spcAft>
              <a:buSzPts val="1800"/>
              <a:buChar char="●"/>
            </a:pPr>
            <a:r>
              <a:rPr lang="en"/>
              <a:t>If you hear an advertisement, update table if:</a:t>
            </a:r>
            <a:endParaRPr/>
          </a:p>
          <a:p>
            <a:pPr indent="-342900" lvl="1" marL="914400" rtl="0" algn="l">
              <a:lnSpc>
                <a:spcPct val="115000"/>
              </a:lnSpc>
              <a:spcBef>
                <a:spcPts val="0"/>
              </a:spcBef>
              <a:spcAft>
                <a:spcPts val="0"/>
              </a:spcAft>
              <a:buSzPts val="1800"/>
              <a:buChar char="○"/>
            </a:pPr>
            <a:r>
              <a:rPr lang="en"/>
              <a:t>The destination isn't in the table.</a:t>
            </a:r>
            <a:endParaRPr/>
          </a:p>
          <a:p>
            <a:pPr indent="-342900" lvl="1" marL="914400" rtl="0" algn="l">
              <a:lnSpc>
                <a:spcPct val="115000"/>
              </a:lnSpc>
              <a:spcBef>
                <a:spcPts val="0"/>
              </a:spcBef>
              <a:spcAft>
                <a:spcPts val="0"/>
              </a:spcAft>
              <a:buSzPts val="1800"/>
              <a:buChar char="○"/>
            </a:pPr>
            <a:r>
              <a:rPr lang="en"/>
              <a:t>Advertised cost + link cost to neighbor &lt; best-known cost. </a:t>
            </a:r>
            <a:r>
              <a:rPr lang="en" sz="1400">
                <a:solidFill>
                  <a:schemeClr val="accent3"/>
                </a:solidFill>
              </a:rPr>
              <a:t>(#1)</a:t>
            </a:r>
            <a:endParaRPr sz="1400">
              <a:solidFill>
                <a:schemeClr val="accent3"/>
              </a:solidFill>
            </a:endParaRPr>
          </a:p>
          <a:p>
            <a:pPr indent="-342900" lvl="1" marL="914400" rtl="0" algn="l">
              <a:lnSpc>
                <a:spcPct val="115000"/>
              </a:lnSpc>
              <a:spcBef>
                <a:spcPts val="0"/>
              </a:spcBef>
              <a:spcAft>
                <a:spcPts val="0"/>
              </a:spcAft>
              <a:buClr>
                <a:schemeClr val="accent2"/>
              </a:buClr>
              <a:buSzPts val="1800"/>
              <a:buChar char="○"/>
            </a:pPr>
            <a:r>
              <a:rPr lang="en">
                <a:solidFill>
                  <a:schemeClr val="accent2"/>
                </a:solidFill>
              </a:rPr>
              <a:t>The advertisement is from current next-hop. </a:t>
            </a:r>
            <a:r>
              <a:rPr lang="en" sz="1400">
                <a:solidFill>
                  <a:schemeClr val="accent3"/>
                </a:solidFill>
              </a:rPr>
              <a:t>(#2)</a:t>
            </a:r>
            <a:endParaRPr sz="1400">
              <a:solidFill>
                <a:schemeClr val="accent3"/>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Then, advertise to all your neighbors.</a:t>
            </a:r>
            <a:endParaRPr>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19"/>
          <p:cNvSpPr txBox="1"/>
          <p:nvPr>
            <p:ph idx="1" type="body"/>
          </p:nvPr>
        </p:nvSpPr>
        <p:spPr>
          <a:xfrm>
            <a:off x="4812375" y="402200"/>
            <a:ext cx="4038000" cy="426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600"/>
              </a:spcBef>
              <a:spcAft>
                <a:spcPts val="0"/>
              </a:spcAft>
              <a:buSzPts val="1800"/>
              <a:buNone/>
            </a:pPr>
            <a:r>
              <a:rPr b="1" lang="en">
                <a:solidFill>
                  <a:schemeClr val="accent3"/>
                </a:solidFill>
                <a:latin typeface="Roboto"/>
                <a:ea typeface="Roboto"/>
                <a:cs typeface="Roboto"/>
                <a:sym typeface="Roboto"/>
              </a:rPr>
              <a:t>Distance-Vector Correctness</a:t>
            </a:r>
            <a:endParaRPr b="1">
              <a:solidFill>
                <a:schemeClr val="accent3"/>
              </a:solidFill>
              <a:latin typeface="Roboto"/>
              <a:ea typeface="Roboto"/>
              <a:cs typeface="Roboto"/>
              <a:sym typeface="Roboto"/>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1: Bellman-Ford Updates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2: Updates From Next-Hop</a:t>
            </a:r>
            <a:endParaRPr>
              <a:solidFill>
                <a:srgbClr val="B7B7B7"/>
              </a:solidFill>
            </a:endParaRPr>
          </a:p>
          <a:p>
            <a:pPr indent="-342900" lvl="0" marL="457200" rtl="0" algn="l">
              <a:lnSpc>
                <a:spcPct val="115000"/>
              </a:lnSpc>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Rule 3: Resending and Expiring</a:t>
            </a:r>
            <a:endParaRPr b="1">
              <a:solidFill>
                <a:schemeClr val="accent3"/>
              </a:solidFill>
              <a:latin typeface="Roboto"/>
              <a:ea typeface="Roboto"/>
              <a:cs typeface="Roboto"/>
              <a:sym typeface="Roboto"/>
            </a:endParaRPr>
          </a:p>
          <a:p>
            <a:pPr indent="0" lvl="0" marL="0" rtl="0" algn="l">
              <a:lnSpc>
                <a:spcPct val="115000"/>
              </a:lnSpc>
              <a:spcBef>
                <a:spcPts val="600"/>
              </a:spcBef>
              <a:spcAft>
                <a:spcPts val="0"/>
              </a:spcAft>
              <a:buSzPts val="1800"/>
              <a:buNone/>
            </a:pPr>
            <a:r>
              <a:rPr lang="en">
                <a:solidFill>
                  <a:srgbClr val="B7B7B7"/>
                </a:solidFill>
              </a:rPr>
              <a:t>Distance-Vector Enhancements</a:t>
            </a:r>
            <a:endParaRPr>
              <a:solidFill>
                <a:srgbClr val="B7B7B7"/>
              </a:solidFill>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Rule 4: Poison Expired Routes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5A: Split Horizon</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5B: Poison Reverse</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6: Count To Infinity</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Eventful Updates</a:t>
            </a:r>
            <a:endParaRPr>
              <a:solidFill>
                <a:srgbClr val="B7B7B7"/>
              </a:solidFill>
            </a:endParaRPr>
          </a:p>
        </p:txBody>
      </p:sp>
      <p:sp>
        <p:nvSpPr>
          <p:cNvPr id="384" name="Google Shape;384;p19"/>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Rule 3: Resending and Expiring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0"/>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The Distance-Vector Algorithm So Far</a:t>
            </a:r>
            <a:endParaRPr/>
          </a:p>
        </p:txBody>
      </p:sp>
      <p:sp>
        <p:nvSpPr>
          <p:cNvPr id="390" name="Google Shape;390;p20"/>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a:t>For each destination:</a:t>
            </a:r>
            <a:endParaRPr/>
          </a:p>
          <a:p>
            <a:pPr indent="-342900" lvl="0" marL="457200" rtl="0" algn="l">
              <a:lnSpc>
                <a:spcPct val="115000"/>
              </a:lnSpc>
              <a:spcBef>
                <a:spcPts val="600"/>
              </a:spcBef>
              <a:spcAft>
                <a:spcPts val="0"/>
              </a:spcAft>
              <a:buSzPts val="1800"/>
              <a:buChar char="●"/>
            </a:pPr>
            <a:r>
              <a:rPr lang="en"/>
              <a:t>If you hear an advertisement, update table if:</a:t>
            </a:r>
            <a:endParaRPr/>
          </a:p>
          <a:p>
            <a:pPr indent="-342900" lvl="1" marL="914400" rtl="0" algn="l">
              <a:lnSpc>
                <a:spcPct val="115000"/>
              </a:lnSpc>
              <a:spcBef>
                <a:spcPts val="0"/>
              </a:spcBef>
              <a:spcAft>
                <a:spcPts val="0"/>
              </a:spcAft>
              <a:buSzPts val="1800"/>
              <a:buChar char="○"/>
            </a:pPr>
            <a:r>
              <a:rPr lang="en"/>
              <a:t>The destination isn't in the table.</a:t>
            </a:r>
            <a:endParaRPr/>
          </a:p>
          <a:p>
            <a:pPr indent="-342900" lvl="1" marL="914400" rtl="0" algn="l">
              <a:lnSpc>
                <a:spcPct val="115000"/>
              </a:lnSpc>
              <a:spcBef>
                <a:spcPts val="0"/>
              </a:spcBef>
              <a:spcAft>
                <a:spcPts val="0"/>
              </a:spcAft>
              <a:buSzPts val="1800"/>
              <a:buChar char="○"/>
            </a:pPr>
            <a:r>
              <a:rPr lang="en"/>
              <a:t>Advertised cost + link cost to neighbor &lt; best-known cost. </a:t>
            </a:r>
            <a:r>
              <a:rPr lang="en" sz="1400">
                <a:solidFill>
                  <a:schemeClr val="accent3"/>
                </a:solidFill>
              </a:rPr>
              <a:t>(#1)</a:t>
            </a:r>
            <a:endParaRPr sz="1400">
              <a:solidFill>
                <a:schemeClr val="accent3"/>
              </a:solidFill>
            </a:endParaRPr>
          </a:p>
          <a:p>
            <a:pPr indent="-342900" lvl="1" marL="914400" rtl="0" algn="l">
              <a:lnSpc>
                <a:spcPct val="115000"/>
              </a:lnSpc>
              <a:spcBef>
                <a:spcPts val="0"/>
              </a:spcBef>
              <a:spcAft>
                <a:spcPts val="0"/>
              </a:spcAft>
              <a:buClr>
                <a:srgbClr val="000000"/>
              </a:buClr>
              <a:buSzPts val="1800"/>
              <a:buChar char="○"/>
            </a:pPr>
            <a:r>
              <a:rPr lang="en">
                <a:solidFill>
                  <a:srgbClr val="000000"/>
                </a:solidFill>
              </a:rPr>
              <a:t>The advertisement is from current next-hop. </a:t>
            </a:r>
            <a:r>
              <a:rPr lang="en" sz="1400">
                <a:solidFill>
                  <a:schemeClr val="accent3"/>
                </a:solidFill>
              </a:rPr>
              <a:t>(#2)</a:t>
            </a:r>
            <a:endParaRPr sz="1400">
              <a:solidFill>
                <a:schemeClr val="accent3"/>
              </a:solidFill>
            </a:endParaRPr>
          </a:p>
          <a:p>
            <a:pPr indent="-342900" lvl="0" marL="457200" rtl="0" algn="l">
              <a:lnSpc>
                <a:spcPct val="115000"/>
              </a:lnSpc>
              <a:spcBef>
                <a:spcPts val="0"/>
              </a:spcBef>
              <a:spcAft>
                <a:spcPts val="0"/>
              </a:spcAft>
              <a:buSzPts val="1800"/>
              <a:buChar char="●"/>
            </a:pPr>
            <a:r>
              <a:rPr lang="en"/>
              <a:t>Advertise to all your neighbors </a:t>
            </a:r>
            <a:r>
              <a:rPr lang="en">
                <a:solidFill>
                  <a:schemeClr val="accent2"/>
                </a:solidFill>
              </a:rPr>
              <a:t>when the table updates, and periodically. </a:t>
            </a:r>
            <a:r>
              <a:rPr lang="en" sz="1400">
                <a:solidFill>
                  <a:schemeClr val="accent3"/>
                </a:solidFill>
              </a:rPr>
              <a:t>(#3)</a:t>
            </a:r>
            <a:endParaRPr sz="140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1"/>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Handling Failures</a:t>
            </a:r>
            <a:endParaRPr/>
          </a:p>
        </p:txBody>
      </p:sp>
      <p:sp>
        <p:nvSpPr>
          <p:cNvPr id="396" name="Google Shape;396;p21"/>
          <p:cNvSpPr txBox="1"/>
          <p:nvPr>
            <p:ph idx="1" type="body"/>
          </p:nvPr>
        </p:nvSpPr>
        <p:spPr>
          <a:xfrm>
            <a:off x="107050" y="402200"/>
            <a:ext cx="8909700" cy="24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Recall our routing challenges: Links and routers can fail.</a:t>
            </a:r>
            <a:endParaRPr/>
          </a:p>
          <a:p>
            <a:pPr indent="0" lvl="0" marL="0" rtl="0" algn="l">
              <a:lnSpc>
                <a:spcPct val="115000"/>
              </a:lnSpc>
              <a:spcBef>
                <a:spcPts val="600"/>
              </a:spcBef>
              <a:spcAft>
                <a:spcPts val="0"/>
              </a:spcAft>
              <a:buSzPts val="1800"/>
              <a:buNone/>
            </a:pPr>
            <a:r>
              <a:rPr lang="en"/>
              <a:t>Solution: Each route has a finite </a:t>
            </a:r>
            <a:r>
              <a:rPr b="1" lang="en"/>
              <a:t>time to live (TTL)</a:t>
            </a:r>
            <a:r>
              <a:rPr lang="en"/>
              <a:t>.</a:t>
            </a:r>
            <a:endParaRPr/>
          </a:p>
          <a:p>
            <a:pPr indent="-342900" lvl="0" marL="457200" rtl="0" algn="l">
              <a:lnSpc>
                <a:spcPct val="115000"/>
              </a:lnSpc>
              <a:spcBef>
                <a:spcPts val="600"/>
              </a:spcBef>
              <a:spcAft>
                <a:spcPts val="0"/>
              </a:spcAft>
              <a:buSzPts val="1800"/>
              <a:buChar char="●"/>
            </a:pPr>
            <a:r>
              <a:rPr lang="en"/>
              <a:t>Periodic advertisements help us confirm that a route still exists.</a:t>
            </a:r>
            <a:endParaRPr/>
          </a:p>
          <a:p>
            <a:pPr indent="-342900" lvl="1" marL="914400" rtl="0" algn="l">
              <a:lnSpc>
                <a:spcPct val="115000"/>
              </a:lnSpc>
              <a:spcBef>
                <a:spcPts val="0"/>
              </a:spcBef>
              <a:spcAft>
                <a:spcPts val="0"/>
              </a:spcAft>
              <a:buSzPts val="1800"/>
              <a:buChar char="○"/>
            </a:pPr>
            <a:r>
              <a:rPr lang="en"/>
              <a:t>When we get an advertisement, reset ("recharge") the TTL.</a:t>
            </a:r>
            <a:endParaRPr/>
          </a:p>
          <a:p>
            <a:pPr indent="-342900" lvl="0" marL="457200" rtl="0" algn="l">
              <a:lnSpc>
                <a:spcPct val="115000"/>
              </a:lnSpc>
              <a:spcBef>
                <a:spcPts val="0"/>
              </a:spcBef>
              <a:spcAft>
                <a:spcPts val="0"/>
              </a:spcAft>
              <a:buSzPts val="1800"/>
              <a:buChar char="●"/>
            </a:pPr>
            <a:r>
              <a:rPr lang="en"/>
              <a:t>If a link goes down, we stop getting periodic updates, and the TTL will expire.</a:t>
            </a:r>
            <a:endParaRPr/>
          </a:p>
          <a:p>
            <a:pPr indent="-342900" lvl="1" marL="914400" rtl="0" algn="l">
              <a:lnSpc>
                <a:spcPct val="115000"/>
              </a:lnSpc>
              <a:spcBef>
                <a:spcPts val="0"/>
              </a:spcBef>
              <a:spcAft>
                <a:spcPts val="0"/>
              </a:spcAft>
              <a:buSzPts val="1800"/>
              <a:buChar char="○"/>
            </a:pPr>
            <a:r>
              <a:rPr lang="en"/>
              <a:t>If the TTL expires, delete the entry from the table.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2"/>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Timers</a:t>
            </a:r>
            <a:endParaRPr/>
          </a:p>
        </p:txBody>
      </p:sp>
      <p:sp>
        <p:nvSpPr>
          <p:cNvPr id="402" name="Google Shape;402;p22"/>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Routers maintain multiple timers:</a:t>
            </a:r>
            <a:endParaRPr/>
          </a:p>
          <a:p>
            <a:pPr indent="-342900" lvl="0" marL="457200" rtl="0" algn="l">
              <a:lnSpc>
                <a:spcPct val="115000"/>
              </a:lnSpc>
              <a:spcBef>
                <a:spcPts val="600"/>
              </a:spcBef>
              <a:spcAft>
                <a:spcPts val="0"/>
              </a:spcAft>
              <a:buSzPts val="1800"/>
              <a:buChar char="●"/>
            </a:pPr>
            <a:r>
              <a:rPr lang="en"/>
              <a:t>Advertisement interval: How long before we advertise routes to neighbors.</a:t>
            </a:r>
            <a:endParaRPr/>
          </a:p>
          <a:p>
            <a:pPr indent="-342900" lvl="1" marL="914400" rtl="0" algn="l">
              <a:lnSpc>
                <a:spcPct val="115000"/>
              </a:lnSpc>
              <a:spcBef>
                <a:spcPts val="0"/>
              </a:spcBef>
              <a:spcAft>
                <a:spcPts val="0"/>
              </a:spcAft>
              <a:buSzPts val="1800"/>
              <a:buChar char="○"/>
            </a:pPr>
            <a:r>
              <a:rPr lang="en"/>
              <a:t>Usually one timer for all entries in the table.</a:t>
            </a:r>
            <a:endParaRPr/>
          </a:p>
          <a:p>
            <a:pPr indent="-342900" lvl="0" marL="457200" rtl="0" algn="l">
              <a:lnSpc>
                <a:spcPct val="115000"/>
              </a:lnSpc>
              <a:spcBef>
                <a:spcPts val="0"/>
              </a:spcBef>
              <a:spcAft>
                <a:spcPts val="0"/>
              </a:spcAft>
              <a:buSzPts val="1800"/>
              <a:buChar char="●"/>
            </a:pPr>
            <a:r>
              <a:rPr lang="en"/>
              <a:t>TTL: How long before we expire a route.</a:t>
            </a:r>
            <a:endParaRPr/>
          </a:p>
          <a:p>
            <a:pPr indent="-342900" lvl="1" marL="914400" rtl="0" algn="l">
              <a:lnSpc>
                <a:spcPct val="115000"/>
              </a:lnSpc>
              <a:spcBef>
                <a:spcPts val="0"/>
              </a:spcBef>
              <a:spcAft>
                <a:spcPts val="0"/>
              </a:spcAft>
              <a:buSzPts val="1800"/>
              <a:buChar char="○"/>
            </a:pPr>
            <a:r>
              <a:rPr lang="en"/>
              <a:t>Each table entry has its own TTL.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3"/>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The Distance-Vector Algorithm So Far</a:t>
            </a:r>
            <a:endParaRPr/>
          </a:p>
        </p:txBody>
      </p:sp>
      <p:sp>
        <p:nvSpPr>
          <p:cNvPr id="408" name="Google Shape;408;p23"/>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a:t>For each destination:</a:t>
            </a:r>
            <a:endParaRPr/>
          </a:p>
          <a:p>
            <a:pPr indent="-342900" lvl="0" marL="457200" rtl="0" algn="l">
              <a:lnSpc>
                <a:spcPct val="115000"/>
              </a:lnSpc>
              <a:spcBef>
                <a:spcPts val="600"/>
              </a:spcBef>
              <a:spcAft>
                <a:spcPts val="0"/>
              </a:spcAft>
              <a:buSzPts val="1800"/>
              <a:buChar char="●"/>
            </a:pPr>
            <a:r>
              <a:rPr lang="en"/>
              <a:t>If you hear an advertisement, update table </a:t>
            </a:r>
            <a:r>
              <a:rPr lang="en">
                <a:solidFill>
                  <a:schemeClr val="accent2"/>
                </a:solidFill>
              </a:rPr>
              <a:t>and reset TTL </a:t>
            </a:r>
            <a:r>
              <a:rPr lang="en"/>
              <a:t>if:</a:t>
            </a:r>
            <a:endParaRPr/>
          </a:p>
          <a:p>
            <a:pPr indent="-342900" lvl="1" marL="914400" rtl="0" algn="l">
              <a:lnSpc>
                <a:spcPct val="115000"/>
              </a:lnSpc>
              <a:spcBef>
                <a:spcPts val="0"/>
              </a:spcBef>
              <a:spcAft>
                <a:spcPts val="0"/>
              </a:spcAft>
              <a:buSzPts val="1800"/>
              <a:buChar char="○"/>
            </a:pPr>
            <a:r>
              <a:rPr lang="en"/>
              <a:t>The destination isn't in the table.</a:t>
            </a:r>
            <a:endParaRPr/>
          </a:p>
          <a:p>
            <a:pPr indent="-342900" lvl="1" marL="914400" rtl="0" algn="l">
              <a:lnSpc>
                <a:spcPct val="115000"/>
              </a:lnSpc>
              <a:spcBef>
                <a:spcPts val="0"/>
              </a:spcBef>
              <a:spcAft>
                <a:spcPts val="0"/>
              </a:spcAft>
              <a:buSzPts val="1800"/>
              <a:buChar char="○"/>
            </a:pPr>
            <a:r>
              <a:rPr lang="en"/>
              <a:t>Advertised cost + link cost to neighbor &lt; best-known cost. </a:t>
            </a:r>
            <a:r>
              <a:rPr lang="en" sz="1400">
                <a:solidFill>
                  <a:schemeClr val="accent3"/>
                </a:solidFill>
              </a:rPr>
              <a:t>(#1)</a:t>
            </a:r>
            <a:endParaRPr sz="1400">
              <a:solidFill>
                <a:schemeClr val="accent3"/>
              </a:solidFill>
            </a:endParaRPr>
          </a:p>
          <a:p>
            <a:pPr indent="-342900" lvl="1" marL="914400" rtl="0" algn="l">
              <a:lnSpc>
                <a:spcPct val="115000"/>
              </a:lnSpc>
              <a:spcBef>
                <a:spcPts val="0"/>
              </a:spcBef>
              <a:spcAft>
                <a:spcPts val="0"/>
              </a:spcAft>
              <a:buSzPts val="1800"/>
              <a:buChar char="○"/>
            </a:pPr>
            <a:r>
              <a:rPr lang="en"/>
              <a:t>The advertisement is from current next-hop. </a:t>
            </a:r>
            <a:r>
              <a:rPr lang="en" sz="1400">
                <a:solidFill>
                  <a:schemeClr val="accent3"/>
                </a:solidFill>
              </a:rPr>
              <a:t>(#2)</a:t>
            </a:r>
            <a:endParaRPr sz="1400">
              <a:solidFill>
                <a:schemeClr val="accent3"/>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Advertise to all your neighbors when the table updates, and periodically. </a:t>
            </a:r>
            <a:r>
              <a:rPr lang="en" sz="1400">
                <a:solidFill>
                  <a:schemeClr val="accent3"/>
                </a:solidFill>
              </a:rPr>
              <a:t>(#3)</a:t>
            </a:r>
            <a:endParaRPr sz="1400">
              <a:solidFill>
                <a:schemeClr val="accent3"/>
              </a:solidFill>
            </a:endParaRPr>
          </a:p>
          <a:p>
            <a:pPr indent="-342900" lvl="0" marL="457200" rtl="0" algn="l">
              <a:lnSpc>
                <a:spcPct val="115000"/>
              </a:lnSpc>
              <a:spcBef>
                <a:spcPts val="0"/>
              </a:spcBef>
              <a:spcAft>
                <a:spcPts val="0"/>
              </a:spcAft>
              <a:buClr>
                <a:schemeClr val="accent2"/>
              </a:buClr>
              <a:buSzPts val="1800"/>
              <a:buChar char="●"/>
            </a:pPr>
            <a:r>
              <a:rPr lang="en">
                <a:solidFill>
                  <a:schemeClr val="accent2"/>
                </a:solidFill>
              </a:rPr>
              <a:t>If a table entry expires, delete it. </a:t>
            </a:r>
            <a:r>
              <a:rPr lang="en" sz="1400">
                <a:solidFill>
                  <a:schemeClr val="accent3"/>
                </a:solidFill>
              </a:rPr>
              <a:t>(#3)</a:t>
            </a:r>
            <a:endParaRPr sz="1400">
              <a:solidFill>
                <a:schemeClr val="accent3"/>
              </a:solidFill>
            </a:endParaRPr>
          </a:p>
          <a:p>
            <a:pPr indent="0" lvl="0" marL="0" rtl="0" algn="l">
              <a:lnSpc>
                <a:spcPct val="115000"/>
              </a:lnSpc>
              <a:spcBef>
                <a:spcPts val="600"/>
              </a:spcBef>
              <a:spcAft>
                <a:spcPts val="0"/>
              </a:spcAft>
              <a:buSzPts val="1800"/>
              <a:buNone/>
            </a:pPr>
            <a:r>
              <a:t/>
            </a:r>
            <a:endParaRPr>
              <a:solidFill>
                <a:srgbClr val="000000"/>
              </a:solidFill>
            </a:endParaRPr>
          </a:p>
          <a:p>
            <a:pPr indent="0" lvl="0" marL="0" rtl="0" algn="l">
              <a:lnSpc>
                <a:spcPct val="115000"/>
              </a:lnSpc>
              <a:spcBef>
                <a:spcPts val="600"/>
              </a:spcBef>
              <a:spcAft>
                <a:spcPts val="0"/>
              </a:spcAft>
              <a:buSzPts val="1800"/>
              <a:buNone/>
            </a:pPr>
            <a:r>
              <a:rPr lang="en">
                <a:solidFill>
                  <a:srgbClr val="000000"/>
                </a:solidFill>
              </a:rPr>
              <a:t>This is a mostly-functional protocol now.</a:t>
            </a:r>
            <a:br>
              <a:rPr lang="en">
                <a:solidFill>
                  <a:srgbClr val="000000"/>
                </a:solidFill>
              </a:rPr>
            </a:br>
            <a:r>
              <a:rPr lang="en">
                <a:solidFill>
                  <a:srgbClr val="000000"/>
                </a:solidFill>
              </a:rPr>
              <a:t>Let's add some optimizations for faster convergence.</a:t>
            </a:r>
            <a:endParaRPr>
              <a:solidFill>
                <a:srgbClr val="0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4"/>
          <p:cNvSpPr txBox="1"/>
          <p:nvPr>
            <p:ph idx="1" type="body"/>
          </p:nvPr>
        </p:nvSpPr>
        <p:spPr>
          <a:xfrm>
            <a:off x="4812375" y="402200"/>
            <a:ext cx="4038000" cy="426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600"/>
              </a:spcBef>
              <a:spcAft>
                <a:spcPts val="0"/>
              </a:spcAft>
              <a:buSzPts val="1800"/>
              <a:buNone/>
            </a:pPr>
            <a:r>
              <a:rPr lang="en">
                <a:solidFill>
                  <a:srgbClr val="B7B7B7"/>
                </a:solidFill>
              </a:rPr>
              <a:t>Distance-Vector Correctness</a:t>
            </a:r>
            <a:endParaRPr>
              <a:solidFill>
                <a:srgbClr val="B7B7B7"/>
              </a:solidFill>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1: Bellman-Ford Updates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2: Updates From Next-Hop</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3: Resending and Expiring</a:t>
            </a:r>
            <a:endParaRPr>
              <a:solidFill>
                <a:srgbClr val="B7B7B7"/>
              </a:solidFill>
            </a:endParaRPr>
          </a:p>
          <a:p>
            <a:pPr indent="0" lvl="0" marL="0" rtl="0" algn="l">
              <a:lnSpc>
                <a:spcPct val="115000"/>
              </a:lnSpc>
              <a:spcBef>
                <a:spcPts val="600"/>
              </a:spcBef>
              <a:spcAft>
                <a:spcPts val="0"/>
              </a:spcAft>
              <a:buSzPts val="1800"/>
              <a:buNone/>
            </a:pPr>
            <a:r>
              <a:rPr b="1" lang="en">
                <a:solidFill>
                  <a:schemeClr val="accent3"/>
                </a:solidFill>
                <a:latin typeface="Roboto"/>
                <a:ea typeface="Roboto"/>
                <a:cs typeface="Roboto"/>
                <a:sym typeface="Roboto"/>
              </a:rPr>
              <a:t>Distance-Vector Enhancements</a:t>
            </a:r>
            <a:endParaRPr b="1">
              <a:solidFill>
                <a:schemeClr val="accent3"/>
              </a:solidFill>
              <a:latin typeface="Roboto"/>
              <a:ea typeface="Roboto"/>
              <a:cs typeface="Roboto"/>
              <a:sym typeface="Roboto"/>
            </a:endParaRPr>
          </a:p>
          <a:p>
            <a:pPr indent="-342900" lvl="0" marL="457200" rtl="0" algn="l">
              <a:lnSpc>
                <a:spcPct val="115000"/>
              </a:lnSpc>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Rule 4: Poison Expired Routes</a:t>
            </a:r>
            <a:endParaRPr b="1">
              <a:solidFill>
                <a:schemeClr val="accent3"/>
              </a:solidFill>
              <a:latin typeface="Roboto"/>
              <a:ea typeface="Roboto"/>
              <a:cs typeface="Roboto"/>
              <a:sym typeface="Roboto"/>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5A: Split Horizon</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5B: Poison Reverse</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6: Count To Infinity</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Eventful Updates</a:t>
            </a:r>
            <a:endParaRPr>
              <a:solidFill>
                <a:srgbClr val="B7B7B7"/>
              </a:solidFill>
            </a:endParaRPr>
          </a:p>
        </p:txBody>
      </p:sp>
      <p:sp>
        <p:nvSpPr>
          <p:cNvPr id="414" name="Google Shape;414;p24"/>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Rule 4: Poison Expired Routes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5"/>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Poison for Fast Route Expiry</a:t>
            </a:r>
            <a:endParaRPr/>
          </a:p>
        </p:txBody>
      </p:sp>
      <p:sp>
        <p:nvSpPr>
          <p:cNvPr id="420" name="Google Shape;420;p25"/>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Key problem: When something fails, nobody's reporting it.</a:t>
            </a:r>
            <a:endParaRPr/>
          </a:p>
          <a:p>
            <a:pPr indent="0" lvl="0" marL="0" rtl="0" algn="l">
              <a:lnSpc>
                <a:spcPct val="115000"/>
              </a:lnSpc>
              <a:spcBef>
                <a:spcPts val="600"/>
              </a:spcBef>
              <a:spcAft>
                <a:spcPts val="0"/>
              </a:spcAft>
              <a:buSzPts val="1800"/>
              <a:buNone/>
            </a:pPr>
            <a:r>
              <a:t/>
            </a:r>
            <a:endParaRPr/>
          </a:p>
          <a:p>
            <a:pPr indent="0" lvl="0" marL="0" rtl="0" algn="l">
              <a:lnSpc>
                <a:spcPct val="115000"/>
              </a:lnSpc>
              <a:spcBef>
                <a:spcPts val="600"/>
              </a:spcBef>
              <a:spcAft>
                <a:spcPts val="0"/>
              </a:spcAft>
              <a:buSzPts val="1800"/>
              <a:buNone/>
            </a:pPr>
            <a:r>
              <a:rPr lang="en"/>
              <a:t>Solution: </a:t>
            </a:r>
            <a:r>
              <a:rPr b="1" lang="en"/>
              <a:t>Poison </a:t>
            </a:r>
            <a:r>
              <a:rPr lang="en" sz="1500">
                <a:solidFill>
                  <a:srgbClr val="1F1F1F"/>
                </a:solidFill>
                <a:highlight>
                  <a:srgbClr val="FFFFFF"/>
                </a:highlight>
              </a:rPr>
              <a:t>☠️</a:t>
            </a:r>
            <a:r>
              <a:rPr lang="en"/>
              <a:t>.</a:t>
            </a:r>
            <a:endParaRPr/>
          </a:p>
          <a:p>
            <a:pPr indent="-342900" lvl="0" marL="457200" rtl="0" algn="l">
              <a:lnSpc>
                <a:spcPct val="115000"/>
              </a:lnSpc>
              <a:spcBef>
                <a:spcPts val="600"/>
              </a:spcBef>
              <a:spcAft>
                <a:spcPts val="0"/>
              </a:spcAft>
              <a:buSzPts val="1800"/>
              <a:buChar char="●"/>
            </a:pPr>
            <a:r>
              <a:rPr lang="en"/>
              <a:t>Explicitly advertise that a path is busted.</a:t>
            </a:r>
            <a:endParaRPr/>
          </a:p>
          <a:p>
            <a:pPr indent="-342900" lvl="0" marL="457200" rtl="0" algn="l">
              <a:lnSpc>
                <a:spcPct val="115000"/>
              </a:lnSpc>
              <a:spcBef>
                <a:spcPts val="0"/>
              </a:spcBef>
              <a:spcAft>
                <a:spcPts val="0"/>
              </a:spcAft>
              <a:buSzPts val="1800"/>
              <a:buChar char="●"/>
            </a:pPr>
            <a:r>
              <a:rPr lang="en"/>
              <a:t>A path with </a:t>
            </a:r>
            <a:r>
              <a:rPr b="1" lang="en"/>
              <a:t>cost infinity</a:t>
            </a:r>
            <a:r>
              <a:rPr lang="en"/>
              <a:t> represents a busted path.</a:t>
            </a:r>
            <a:endParaRPr/>
          </a:p>
          <a:p>
            <a:pPr indent="-342900" lvl="0" marL="457200" rtl="0" algn="l">
              <a:lnSpc>
                <a:spcPct val="115000"/>
              </a:lnSpc>
              <a:spcBef>
                <a:spcPts val="0"/>
              </a:spcBef>
              <a:spcAft>
                <a:spcPts val="0"/>
              </a:spcAft>
              <a:buSzPts val="1800"/>
              <a:buChar char="●"/>
            </a:pPr>
            <a:r>
              <a:rPr lang="en"/>
              <a:t>This path propagates just like any other path.</a:t>
            </a:r>
            <a:endParaRPr/>
          </a:p>
          <a:p>
            <a:pPr indent="-342900" lvl="1" marL="914400" rtl="0" algn="l">
              <a:lnSpc>
                <a:spcPct val="115000"/>
              </a:lnSpc>
              <a:spcBef>
                <a:spcPts val="0"/>
              </a:spcBef>
              <a:spcAft>
                <a:spcPts val="0"/>
              </a:spcAft>
              <a:buSzPts val="1800"/>
              <a:buChar char="○"/>
            </a:pPr>
            <a:r>
              <a:rPr lang="en"/>
              <a:t>Routers accept the poison path to invalidate the route.</a:t>
            </a:r>
            <a:endParaRPr/>
          </a:p>
          <a:p>
            <a:pPr indent="-342900" lvl="0" marL="457200" rtl="0" algn="l">
              <a:lnSpc>
                <a:spcPct val="115000"/>
              </a:lnSpc>
              <a:spcBef>
                <a:spcPts val="0"/>
              </a:spcBef>
              <a:spcAft>
                <a:spcPts val="0"/>
              </a:spcAft>
              <a:buSzPts val="1800"/>
              <a:buChar char="●"/>
            </a:pPr>
            <a:r>
              <a:rPr lang="en"/>
              <a:t>Can be much faster than waiting for timeouts!</a:t>
            </a:r>
            <a:endParaRPr/>
          </a:p>
          <a:p>
            <a:pPr indent="0" lvl="0" marL="0" rtl="0" algn="l">
              <a:lnSpc>
                <a:spcPct val="115000"/>
              </a:lnSpc>
              <a:spcBef>
                <a:spcPts val="600"/>
              </a:spcBef>
              <a:spcAft>
                <a:spcPts val="0"/>
              </a:spcAft>
              <a:buSzPts val="18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6"/>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solidFill>
                  <a:schemeClr val="accent3"/>
                </a:solidFill>
              </a:rPr>
              <a:t>Accepting and Advertising Poison</a:t>
            </a:r>
            <a:endParaRPr/>
          </a:p>
        </p:txBody>
      </p:sp>
      <p:sp>
        <p:nvSpPr>
          <p:cNvPr id="426" name="Google Shape;426;p26"/>
          <p:cNvSpPr txBox="1"/>
          <p:nvPr>
            <p:ph idx="1" type="body"/>
          </p:nvPr>
        </p:nvSpPr>
        <p:spPr>
          <a:xfrm>
            <a:off x="107050" y="402200"/>
            <a:ext cx="8909700" cy="386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When you get a poison advertisement from the current next-hop:</a:t>
            </a:r>
            <a:endParaRPr/>
          </a:p>
          <a:p>
            <a:pPr indent="-342900" lvl="0" marL="457200" rtl="0" algn="l">
              <a:lnSpc>
                <a:spcPct val="115000"/>
              </a:lnSpc>
              <a:spcBef>
                <a:spcPts val="600"/>
              </a:spcBef>
              <a:spcAft>
                <a:spcPts val="0"/>
              </a:spcAft>
              <a:buSzPts val="1800"/>
              <a:buChar char="●"/>
            </a:pPr>
            <a:r>
              <a:rPr lang="en"/>
              <a:t>Accept it, even if you have a better path.</a:t>
            </a:r>
            <a:endParaRPr/>
          </a:p>
          <a:p>
            <a:pPr indent="-342900" lvl="1" marL="914400" rtl="0" algn="l">
              <a:lnSpc>
                <a:spcPct val="115000"/>
              </a:lnSpc>
              <a:spcBef>
                <a:spcPts val="0"/>
              </a:spcBef>
              <a:spcAft>
                <a:spcPts val="0"/>
              </a:spcAft>
              <a:buSzPts val="1800"/>
              <a:buChar char="○"/>
            </a:pPr>
            <a:r>
              <a:rPr lang="en"/>
              <a:t>Because the next-hop is telling you that the route no longer exists.</a:t>
            </a:r>
            <a:endParaRPr/>
          </a:p>
          <a:p>
            <a:pPr indent="-342900" lvl="1" marL="914400" rtl="0" algn="l">
              <a:lnSpc>
                <a:spcPct val="115000"/>
              </a:lnSpc>
              <a:spcBef>
                <a:spcPts val="0"/>
              </a:spcBef>
              <a:spcAft>
                <a:spcPts val="0"/>
              </a:spcAft>
              <a:buSzPts val="1800"/>
              <a:buChar char="○"/>
            </a:pPr>
            <a:r>
              <a:rPr lang="en"/>
              <a:t>Similar to Rule #2: accept worse paths from current next-hop.</a:t>
            </a:r>
            <a:endParaRPr/>
          </a:p>
          <a:p>
            <a:pPr indent="0" lvl="0" marL="0" rtl="0" algn="l">
              <a:lnSpc>
                <a:spcPct val="115000"/>
              </a:lnSpc>
              <a:spcBef>
                <a:spcPts val="600"/>
              </a:spcBef>
              <a:spcAft>
                <a:spcPts val="0"/>
              </a:spcAft>
              <a:buSzPts val="1800"/>
              <a:buNone/>
            </a:pPr>
            <a:r>
              <a:t/>
            </a:r>
            <a:endParaRPr/>
          </a:p>
          <a:p>
            <a:pPr indent="0" lvl="0" marL="0" rtl="0" algn="l">
              <a:lnSpc>
                <a:spcPct val="115000"/>
              </a:lnSpc>
              <a:spcBef>
                <a:spcPts val="600"/>
              </a:spcBef>
              <a:spcAft>
                <a:spcPts val="0"/>
              </a:spcAft>
              <a:buClr>
                <a:schemeClr val="dk1"/>
              </a:buClr>
              <a:buSzPts val="1100"/>
              <a:buFont typeface="Arial"/>
              <a:buNone/>
            </a:pPr>
            <a:r>
              <a:rPr lang="en"/>
              <a:t>When you update the table with a poison route:</a:t>
            </a:r>
            <a:endParaRPr/>
          </a:p>
          <a:p>
            <a:pPr indent="-342900" lvl="0" marL="457200" rtl="0" algn="l">
              <a:lnSpc>
                <a:spcPct val="115000"/>
              </a:lnSpc>
              <a:spcBef>
                <a:spcPts val="600"/>
              </a:spcBef>
              <a:spcAft>
                <a:spcPts val="0"/>
              </a:spcAft>
              <a:buSzPts val="1800"/>
              <a:buChar char="●"/>
            </a:pPr>
            <a:r>
              <a:rPr lang="en"/>
              <a:t>Reset the TTL, just like any other table update.</a:t>
            </a:r>
            <a:endParaRPr/>
          </a:p>
          <a:p>
            <a:pPr indent="-342900" lvl="0" marL="457200" rtl="0" algn="l">
              <a:lnSpc>
                <a:spcPct val="115000"/>
              </a:lnSpc>
              <a:spcBef>
                <a:spcPts val="0"/>
              </a:spcBef>
              <a:spcAft>
                <a:spcPts val="0"/>
              </a:spcAft>
              <a:buSzPts val="1800"/>
              <a:buChar char="●"/>
            </a:pPr>
            <a:r>
              <a:rPr lang="en"/>
              <a:t>Advertise the poison to your neighbors, so they also know about the busted route.</a:t>
            </a:r>
            <a:endParaRPr/>
          </a:p>
          <a:p>
            <a:pPr indent="0" lvl="0" marL="0" rtl="0" algn="l">
              <a:lnSpc>
                <a:spcPct val="115000"/>
              </a:lnSpc>
              <a:spcBef>
                <a:spcPts val="600"/>
              </a:spcBef>
              <a:spcAft>
                <a:spcPts val="0"/>
              </a:spcAft>
              <a:buSzPts val="1800"/>
              <a:buNone/>
            </a:pPr>
            <a:r>
              <a:t/>
            </a:r>
            <a:endParaRPr/>
          </a:p>
          <a:p>
            <a:pPr indent="0" lvl="0" marL="0" rtl="0" algn="l">
              <a:lnSpc>
                <a:spcPct val="115000"/>
              </a:lnSpc>
              <a:spcBef>
                <a:spcPts val="600"/>
              </a:spcBef>
              <a:spcAft>
                <a:spcPts val="0"/>
              </a:spcAft>
              <a:buSzPts val="1800"/>
              <a:buNone/>
            </a:pPr>
            <a:r>
              <a:rPr lang="en"/>
              <a:t>Don't forward packets along a poisoned route.</a:t>
            </a:r>
            <a:endParaRPr/>
          </a:p>
        </p:txBody>
      </p:sp>
      <p:graphicFrame>
        <p:nvGraphicFramePr>
          <p:cNvPr id="427" name="Google Shape;427;p26"/>
          <p:cNvGraphicFramePr/>
          <p:nvPr/>
        </p:nvGraphicFramePr>
        <p:xfrm>
          <a:off x="1288844" y="4274500"/>
          <a:ext cx="3000000" cy="3000000"/>
        </p:xfrm>
        <a:graphic>
          <a:graphicData uri="http://schemas.openxmlformats.org/drawingml/2006/table">
            <a:tbl>
              <a:tblPr>
                <a:noFill/>
                <a:tableStyleId>{F0B5DC11-5EE2-4423-BDDD-F7B3A7C20352}</a:tableStyleId>
              </a:tblPr>
              <a:tblGrid>
                <a:gridCol w="544800"/>
                <a:gridCol w="497075"/>
                <a:gridCol w="793625"/>
              </a:tblGrid>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R1</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Roboto"/>
                          <a:ea typeface="Roboto"/>
                          <a:cs typeface="Roboto"/>
                          <a:sym typeface="Roboto"/>
                        </a:rPr>
                        <a:t>∞</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cxnSp>
        <p:nvCxnSpPr>
          <p:cNvPr id="428" name="Google Shape;428;p26"/>
          <p:cNvCxnSpPr/>
          <p:nvPr/>
        </p:nvCxnSpPr>
        <p:spPr>
          <a:xfrm rot="10800000">
            <a:off x="3293000" y="4493925"/>
            <a:ext cx="590400" cy="0"/>
          </a:xfrm>
          <a:prstGeom prst="straightConnector1">
            <a:avLst/>
          </a:prstGeom>
          <a:noFill/>
          <a:ln cap="flat" cmpd="sng" w="9525">
            <a:solidFill>
              <a:schemeClr val="dk2"/>
            </a:solidFill>
            <a:prstDash val="solid"/>
            <a:round/>
            <a:headEnd len="sm" w="sm" type="none"/>
            <a:tailEnd len="med" w="med" type="triangle"/>
          </a:ln>
        </p:spPr>
      </p:cxnSp>
      <p:sp>
        <p:nvSpPr>
          <p:cNvPr id="429" name="Google Shape;429;p26"/>
          <p:cNvSpPr txBox="1"/>
          <p:nvPr/>
        </p:nvSpPr>
        <p:spPr>
          <a:xfrm>
            <a:off x="3927375" y="4358475"/>
            <a:ext cx="1661100" cy="270900"/>
          </a:xfrm>
          <a:prstGeom prst="rect">
            <a:avLst/>
          </a:prstGeom>
          <a:noFill/>
          <a:ln>
            <a:noFill/>
          </a:ln>
        </p:spPr>
        <p:txBody>
          <a:bodyPr anchorCtr="0" anchor="t" bIns="27425" lIns="27425" spcFirstLastPara="1" rIns="27425" wrap="square" tIns="27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Don't forward to R1.</a:t>
            </a:r>
            <a:endParaRPr b="0" i="0" sz="1400" u="none" cap="none" strike="noStrike">
              <a:solidFill>
                <a:schemeClr val="dk1"/>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7"/>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The Distance-Vector Algorithm So Far</a:t>
            </a:r>
            <a:endParaRPr/>
          </a:p>
        </p:txBody>
      </p:sp>
      <p:sp>
        <p:nvSpPr>
          <p:cNvPr id="435" name="Google Shape;435;p27"/>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a:t>For each destination:</a:t>
            </a:r>
            <a:endParaRPr/>
          </a:p>
          <a:p>
            <a:pPr indent="-342900" lvl="0" marL="457200" rtl="0" algn="l">
              <a:lnSpc>
                <a:spcPct val="115000"/>
              </a:lnSpc>
              <a:spcBef>
                <a:spcPts val="600"/>
              </a:spcBef>
              <a:spcAft>
                <a:spcPts val="0"/>
              </a:spcAft>
              <a:buClr>
                <a:srgbClr val="000000"/>
              </a:buClr>
              <a:buSzPts val="1800"/>
              <a:buChar char="●"/>
            </a:pPr>
            <a:r>
              <a:rPr lang="en">
                <a:solidFill>
                  <a:srgbClr val="000000"/>
                </a:solidFill>
              </a:rPr>
              <a:t>If you hear an advertisement, update table and reset TTL if:</a:t>
            </a:r>
            <a:endParaRPr>
              <a:solidFill>
                <a:srgbClr val="000000"/>
              </a:solidFill>
            </a:endParaRPr>
          </a:p>
          <a:p>
            <a:pPr indent="-342900" lvl="1" marL="914400" rtl="0" algn="l">
              <a:lnSpc>
                <a:spcPct val="115000"/>
              </a:lnSpc>
              <a:spcBef>
                <a:spcPts val="0"/>
              </a:spcBef>
              <a:spcAft>
                <a:spcPts val="0"/>
              </a:spcAft>
              <a:buSzPts val="1800"/>
              <a:buChar char="○"/>
            </a:pPr>
            <a:r>
              <a:rPr lang="en"/>
              <a:t>The destination isn't in the table.</a:t>
            </a:r>
            <a:endParaRPr/>
          </a:p>
          <a:p>
            <a:pPr indent="-342900" lvl="1" marL="914400" rtl="0" algn="l">
              <a:lnSpc>
                <a:spcPct val="115000"/>
              </a:lnSpc>
              <a:spcBef>
                <a:spcPts val="0"/>
              </a:spcBef>
              <a:spcAft>
                <a:spcPts val="0"/>
              </a:spcAft>
              <a:buSzPts val="1800"/>
              <a:buChar char="○"/>
            </a:pPr>
            <a:r>
              <a:rPr lang="en"/>
              <a:t>Advertised cost + link cost to neighbor &lt; best-known cost. </a:t>
            </a:r>
            <a:r>
              <a:rPr lang="en" sz="1400">
                <a:solidFill>
                  <a:schemeClr val="accent3"/>
                </a:solidFill>
              </a:rPr>
              <a:t>(#1)</a:t>
            </a:r>
            <a:endParaRPr sz="1400">
              <a:solidFill>
                <a:schemeClr val="accent3"/>
              </a:solidFill>
            </a:endParaRPr>
          </a:p>
          <a:p>
            <a:pPr indent="-342900" lvl="1" marL="914400" rtl="0" algn="l">
              <a:lnSpc>
                <a:spcPct val="115000"/>
              </a:lnSpc>
              <a:spcBef>
                <a:spcPts val="0"/>
              </a:spcBef>
              <a:spcAft>
                <a:spcPts val="0"/>
              </a:spcAft>
              <a:buSzPts val="1800"/>
              <a:buChar char="○"/>
            </a:pPr>
            <a:r>
              <a:rPr lang="en"/>
              <a:t>The advertisement is from current next-hop. </a:t>
            </a:r>
            <a:r>
              <a:rPr lang="en" sz="1400">
                <a:solidFill>
                  <a:schemeClr val="accent3"/>
                </a:solidFill>
              </a:rPr>
              <a:t>(#2)</a:t>
            </a:r>
            <a:br>
              <a:rPr lang="en"/>
            </a:br>
            <a:r>
              <a:rPr lang="en">
                <a:solidFill>
                  <a:schemeClr val="accent2"/>
                </a:solidFill>
              </a:rPr>
              <a:t>Includes poison advertisements. </a:t>
            </a:r>
            <a:r>
              <a:rPr lang="en" sz="1400">
                <a:solidFill>
                  <a:schemeClr val="accent3"/>
                </a:solidFill>
              </a:rPr>
              <a:t>(#4)</a:t>
            </a:r>
            <a:endParaRPr sz="1400">
              <a:solidFill>
                <a:schemeClr val="accent3"/>
              </a:solidFill>
            </a:endParaRPr>
          </a:p>
          <a:p>
            <a:pPr indent="-342900" lvl="0" marL="457200" rtl="0" algn="l">
              <a:lnSpc>
                <a:spcPct val="115000"/>
              </a:lnSpc>
              <a:spcBef>
                <a:spcPts val="0"/>
              </a:spcBef>
              <a:spcAft>
                <a:spcPts val="0"/>
              </a:spcAft>
              <a:buSzPts val="1800"/>
              <a:buChar char="●"/>
            </a:pPr>
            <a:r>
              <a:rPr lang="en"/>
              <a:t>Advertise to all your neighbors when the table updates, and periodically. </a:t>
            </a:r>
            <a:r>
              <a:rPr lang="en" sz="1400">
                <a:solidFill>
                  <a:schemeClr val="accent3"/>
                </a:solidFill>
              </a:rPr>
              <a:t>(#3)</a:t>
            </a:r>
            <a:endParaRPr sz="1400">
              <a:solidFill>
                <a:schemeClr val="accent3"/>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If a table entry expires, </a:t>
            </a:r>
            <a:r>
              <a:rPr lang="en">
                <a:solidFill>
                  <a:schemeClr val="accent2"/>
                </a:solidFill>
              </a:rPr>
              <a:t>make the entry poison and advertise it</a:t>
            </a:r>
            <a:r>
              <a:rPr lang="en">
                <a:solidFill>
                  <a:srgbClr val="000000"/>
                </a:solidFill>
              </a:rPr>
              <a:t>. </a:t>
            </a:r>
            <a:r>
              <a:rPr lang="en" sz="1400">
                <a:solidFill>
                  <a:schemeClr val="accent3"/>
                </a:solidFill>
              </a:rPr>
              <a:t>(#3, #4)</a:t>
            </a:r>
            <a:endParaRPr sz="140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8"/>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Rule 5A/5B:</a:t>
            </a:r>
            <a:br>
              <a:rPr lang="en"/>
            </a:br>
            <a:r>
              <a:rPr lang="en"/>
              <a:t>Split Horizon / Poison Reverse</a:t>
            </a:r>
            <a:endParaRPr/>
          </a:p>
        </p:txBody>
      </p:sp>
      <p:sp>
        <p:nvSpPr>
          <p:cNvPr id="441" name="Google Shape;441;p28"/>
          <p:cNvSpPr txBox="1"/>
          <p:nvPr>
            <p:ph idx="1" type="body"/>
          </p:nvPr>
        </p:nvSpPr>
        <p:spPr>
          <a:xfrm>
            <a:off x="4812375" y="402200"/>
            <a:ext cx="4038000" cy="426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600"/>
              </a:spcBef>
              <a:spcAft>
                <a:spcPts val="0"/>
              </a:spcAft>
              <a:buSzPts val="1800"/>
              <a:buNone/>
            </a:pPr>
            <a:r>
              <a:rPr lang="en">
                <a:solidFill>
                  <a:srgbClr val="B7B7B7"/>
                </a:solidFill>
              </a:rPr>
              <a:t>Distance-Vector Correctness</a:t>
            </a:r>
            <a:endParaRPr>
              <a:solidFill>
                <a:srgbClr val="B7B7B7"/>
              </a:solidFill>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1: Bellman-Ford Updates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2: Updates From Next-Hop</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3: Resending and Expiring</a:t>
            </a:r>
            <a:endParaRPr>
              <a:solidFill>
                <a:srgbClr val="B7B7B7"/>
              </a:solidFill>
            </a:endParaRPr>
          </a:p>
          <a:p>
            <a:pPr indent="0" lvl="0" marL="0" rtl="0" algn="l">
              <a:lnSpc>
                <a:spcPct val="115000"/>
              </a:lnSpc>
              <a:spcBef>
                <a:spcPts val="600"/>
              </a:spcBef>
              <a:spcAft>
                <a:spcPts val="0"/>
              </a:spcAft>
              <a:buSzPts val="1800"/>
              <a:buNone/>
            </a:pPr>
            <a:r>
              <a:rPr b="1" lang="en">
                <a:solidFill>
                  <a:schemeClr val="accent3"/>
                </a:solidFill>
                <a:latin typeface="Roboto"/>
                <a:ea typeface="Roboto"/>
                <a:cs typeface="Roboto"/>
                <a:sym typeface="Roboto"/>
              </a:rPr>
              <a:t>Distance-Vector Enhancements</a:t>
            </a:r>
            <a:endParaRPr b="1">
              <a:solidFill>
                <a:schemeClr val="accent3"/>
              </a:solidFill>
              <a:latin typeface="Roboto"/>
              <a:ea typeface="Roboto"/>
              <a:cs typeface="Roboto"/>
              <a:sym typeface="Roboto"/>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Rule 4: Poison Expired Routes</a:t>
            </a:r>
            <a:endParaRPr>
              <a:solidFill>
                <a:srgbClr val="B7B7B7"/>
              </a:solidFill>
            </a:endParaRPr>
          </a:p>
          <a:p>
            <a:pPr indent="-342900" lvl="0" marL="457200" rtl="0" algn="l">
              <a:lnSpc>
                <a:spcPct val="115000"/>
              </a:lnSpc>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Rule 5A: Split Horizon</a:t>
            </a:r>
            <a:endParaRPr b="1">
              <a:solidFill>
                <a:schemeClr val="accent3"/>
              </a:solidFill>
              <a:latin typeface="Roboto"/>
              <a:ea typeface="Roboto"/>
              <a:cs typeface="Roboto"/>
              <a:sym typeface="Roboto"/>
            </a:endParaRPr>
          </a:p>
          <a:p>
            <a:pPr indent="-342900" lvl="0" marL="457200" rtl="0" algn="l">
              <a:lnSpc>
                <a:spcPct val="115000"/>
              </a:lnSpc>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Rule 5B: Poison Reverse</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6: Count To Infinity</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Eventful Updates</a:t>
            </a:r>
            <a:endParaRPr>
              <a:solidFill>
                <a:srgbClr val="B7B7B7"/>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9"/>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Split Horizon / Poison Reverse – The Problem</a:t>
            </a:r>
            <a:endParaRPr/>
          </a:p>
        </p:txBody>
      </p:sp>
      <p:sp>
        <p:nvSpPr>
          <p:cNvPr id="447" name="Google Shape;447;p29"/>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The problem: When I give someone a path, they advertise it back to me.</a:t>
            </a:r>
            <a:endParaRPr/>
          </a:p>
          <a:p>
            <a:pPr indent="-342900" lvl="0" marL="457200" rtl="0" algn="l">
              <a:lnSpc>
                <a:spcPct val="115000"/>
              </a:lnSpc>
              <a:spcBef>
                <a:spcPts val="600"/>
              </a:spcBef>
              <a:spcAft>
                <a:spcPts val="0"/>
              </a:spcAft>
              <a:buSzPts val="1800"/>
              <a:buChar char="●"/>
            </a:pPr>
            <a:r>
              <a:rPr lang="en"/>
              <a:t>Path goes from me → them → me.</a:t>
            </a:r>
            <a:endParaRPr/>
          </a:p>
          <a:p>
            <a:pPr indent="-342900" lvl="0" marL="457200" rtl="0" algn="l">
              <a:lnSpc>
                <a:spcPct val="115000"/>
              </a:lnSpc>
              <a:spcBef>
                <a:spcPts val="0"/>
              </a:spcBef>
              <a:spcAft>
                <a:spcPts val="0"/>
              </a:spcAft>
              <a:buSzPts val="1800"/>
              <a:buChar char="●"/>
            </a:pPr>
            <a:r>
              <a:rPr lang="en"/>
              <a:t>Path with extra loop is always longer, so I'd never accept.</a:t>
            </a:r>
            <a:endParaRPr/>
          </a:p>
          <a:p>
            <a:pPr indent="-342900" lvl="0" marL="457200" rtl="0" algn="l">
              <a:lnSpc>
                <a:spcPct val="115000"/>
              </a:lnSpc>
              <a:spcBef>
                <a:spcPts val="0"/>
              </a:spcBef>
              <a:spcAft>
                <a:spcPts val="0"/>
              </a:spcAft>
              <a:buSzPts val="1800"/>
              <a:buChar char="●"/>
            </a:pPr>
            <a:r>
              <a:rPr lang="en"/>
              <a:t>But if I lost my earlier routes, I might accept.</a:t>
            </a:r>
            <a:endParaRPr/>
          </a:p>
          <a:p>
            <a:pPr indent="-342900" lvl="0" marL="457200" rtl="0" algn="l">
              <a:lnSpc>
                <a:spcPct val="115000"/>
              </a:lnSpc>
              <a:spcBef>
                <a:spcPts val="0"/>
              </a:spcBef>
              <a:spcAft>
                <a:spcPts val="0"/>
              </a:spcAft>
              <a:buSzPts val="1800"/>
              <a:buChar char="●"/>
            </a:pPr>
            <a:r>
              <a:rPr lang="en"/>
              <a:t>I might not realize the path is going through me.</a:t>
            </a:r>
            <a:endParaRPr/>
          </a:p>
          <a:p>
            <a:pPr indent="0" lvl="0" marL="0" rtl="0" algn="l">
              <a:lnSpc>
                <a:spcPct val="115000"/>
              </a:lnSpc>
              <a:spcBef>
                <a:spcPts val="600"/>
              </a:spcBef>
              <a:spcAft>
                <a:spcPts val="0"/>
              </a:spcAft>
              <a:buSzPts val="1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0"/>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Poison Reverse vs. Split Horizon</a:t>
            </a:r>
            <a:endParaRPr/>
          </a:p>
        </p:txBody>
      </p:sp>
      <p:sp>
        <p:nvSpPr>
          <p:cNvPr id="453" name="Google Shape;453;p30"/>
          <p:cNvSpPr/>
          <p:nvPr/>
        </p:nvSpPr>
        <p:spPr>
          <a:xfrm>
            <a:off x="1971188" y="17295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cxnSp>
        <p:nvCxnSpPr>
          <p:cNvPr id="454" name="Google Shape;454;p30"/>
          <p:cNvCxnSpPr>
            <a:stCxn id="455" idx="3"/>
            <a:endCxn id="453" idx="1"/>
          </p:cNvCxnSpPr>
          <p:nvPr/>
        </p:nvCxnSpPr>
        <p:spPr>
          <a:xfrm>
            <a:off x="605888" y="1872050"/>
            <a:ext cx="1365300" cy="0"/>
          </a:xfrm>
          <a:prstGeom prst="straightConnector1">
            <a:avLst/>
          </a:prstGeom>
          <a:noFill/>
          <a:ln cap="flat" cmpd="sng" w="19050">
            <a:solidFill>
              <a:srgbClr val="000000"/>
            </a:solidFill>
            <a:prstDash val="solid"/>
            <a:round/>
            <a:headEnd len="sm" w="sm" type="none"/>
            <a:tailEnd len="sm" w="sm" type="none"/>
          </a:ln>
        </p:spPr>
      </p:cxnSp>
      <p:cxnSp>
        <p:nvCxnSpPr>
          <p:cNvPr id="456" name="Google Shape;456;p30"/>
          <p:cNvCxnSpPr/>
          <p:nvPr/>
        </p:nvCxnSpPr>
        <p:spPr>
          <a:xfrm>
            <a:off x="736438" y="1770125"/>
            <a:ext cx="1045200" cy="0"/>
          </a:xfrm>
          <a:prstGeom prst="straightConnector1">
            <a:avLst/>
          </a:prstGeom>
          <a:noFill/>
          <a:ln cap="flat" cmpd="sng" w="19050">
            <a:solidFill>
              <a:schemeClr val="accent2"/>
            </a:solidFill>
            <a:prstDash val="solid"/>
            <a:round/>
            <a:headEnd len="sm" w="sm" type="none"/>
            <a:tailEnd len="med" w="med" type="triangle"/>
          </a:ln>
        </p:spPr>
      </p:cxnSp>
      <p:sp>
        <p:nvSpPr>
          <p:cNvPr id="457" name="Google Shape;457;p30"/>
          <p:cNvSpPr/>
          <p:nvPr/>
        </p:nvSpPr>
        <p:spPr>
          <a:xfrm>
            <a:off x="834288" y="1133300"/>
            <a:ext cx="781200" cy="534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I can reach A.</a:t>
            </a:r>
            <a:endParaRPr b="0" i="0" sz="1400" u="none" cap="none" strike="noStrike">
              <a:solidFill>
                <a:srgbClr val="000000"/>
              </a:solidFill>
              <a:latin typeface="Roboto"/>
              <a:ea typeface="Roboto"/>
              <a:cs typeface="Roboto"/>
              <a:sym typeface="Roboto"/>
            </a:endParaRPr>
          </a:p>
        </p:txBody>
      </p:sp>
      <p:cxnSp>
        <p:nvCxnSpPr>
          <p:cNvPr id="458" name="Google Shape;458;p30"/>
          <p:cNvCxnSpPr>
            <a:stCxn id="453" idx="3"/>
          </p:cNvCxnSpPr>
          <p:nvPr/>
        </p:nvCxnSpPr>
        <p:spPr>
          <a:xfrm flipH="1" rot="10800000">
            <a:off x="2256188" y="1215950"/>
            <a:ext cx="656100" cy="656100"/>
          </a:xfrm>
          <a:prstGeom prst="straightConnector1">
            <a:avLst/>
          </a:prstGeom>
          <a:noFill/>
          <a:ln cap="flat" cmpd="sng" w="19050">
            <a:solidFill>
              <a:srgbClr val="000000"/>
            </a:solidFill>
            <a:prstDash val="solid"/>
            <a:round/>
            <a:headEnd len="sm" w="sm" type="none"/>
            <a:tailEnd len="sm" w="sm" type="none"/>
          </a:ln>
        </p:spPr>
      </p:cxnSp>
      <p:cxnSp>
        <p:nvCxnSpPr>
          <p:cNvPr id="459" name="Google Shape;459;p30"/>
          <p:cNvCxnSpPr>
            <a:stCxn id="453" idx="3"/>
          </p:cNvCxnSpPr>
          <p:nvPr/>
        </p:nvCxnSpPr>
        <p:spPr>
          <a:xfrm flipH="1" rot="10800000">
            <a:off x="2256188" y="1659350"/>
            <a:ext cx="793800" cy="212700"/>
          </a:xfrm>
          <a:prstGeom prst="straightConnector1">
            <a:avLst/>
          </a:prstGeom>
          <a:noFill/>
          <a:ln cap="flat" cmpd="sng" w="19050">
            <a:solidFill>
              <a:srgbClr val="000000"/>
            </a:solidFill>
            <a:prstDash val="solid"/>
            <a:round/>
            <a:headEnd len="sm" w="sm" type="none"/>
            <a:tailEnd len="sm" w="sm" type="none"/>
          </a:ln>
        </p:spPr>
      </p:cxnSp>
      <p:cxnSp>
        <p:nvCxnSpPr>
          <p:cNvPr id="460" name="Google Shape;460;p30"/>
          <p:cNvCxnSpPr>
            <a:stCxn id="453" idx="3"/>
          </p:cNvCxnSpPr>
          <p:nvPr/>
        </p:nvCxnSpPr>
        <p:spPr>
          <a:xfrm>
            <a:off x="2256188" y="1872050"/>
            <a:ext cx="756900" cy="202800"/>
          </a:xfrm>
          <a:prstGeom prst="straightConnector1">
            <a:avLst/>
          </a:prstGeom>
          <a:noFill/>
          <a:ln cap="flat" cmpd="sng" w="19050">
            <a:solidFill>
              <a:srgbClr val="000000"/>
            </a:solidFill>
            <a:prstDash val="solid"/>
            <a:round/>
            <a:headEnd len="sm" w="sm" type="none"/>
            <a:tailEnd len="sm" w="sm" type="none"/>
          </a:ln>
        </p:spPr>
      </p:cxnSp>
      <p:cxnSp>
        <p:nvCxnSpPr>
          <p:cNvPr id="461" name="Google Shape;461;p30"/>
          <p:cNvCxnSpPr>
            <a:stCxn id="453" idx="3"/>
          </p:cNvCxnSpPr>
          <p:nvPr/>
        </p:nvCxnSpPr>
        <p:spPr>
          <a:xfrm>
            <a:off x="2256188" y="1872050"/>
            <a:ext cx="638400" cy="638400"/>
          </a:xfrm>
          <a:prstGeom prst="straightConnector1">
            <a:avLst/>
          </a:prstGeom>
          <a:noFill/>
          <a:ln cap="flat" cmpd="sng" w="19050">
            <a:solidFill>
              <a:srgbClr val="000000"/>
            </a:solidFill>
            <a:prstDash val="solid"/>
            <a:round/>
            <a:headEnd len="sm" w="sm" type="none"/>
            <a:tailEnd len="sm" w="sm" type="none"/>
          </a:ln>
        </p:spPr>
      </p:cxnSp>
      <p:sp>
        <p:nvSpPr>
          <p:cNvPr id="462" name="Google Shape;462;p30"/>
          <p:cNvSpPr txBox="1"/>
          <p:nvPr/>
        </p:nvSpPr>
        <p:spPr>
          <a:xfrm>
            <a:off x="605975" y="572450"/>
            <a:ext cx="33186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Split Horizon:</a:t>
            </a:r>
            <a:endParaRPr b="0" i="0" sz="1800" u="none" cap="none" strike="noStrike">
              <a:solidFill>
                <a:schemeClr val="dk1"/>
              </a:solidFill>
              <a:latin typeface="Roboto"/>
              <a:ea typeface="Roboto"/>
              <a:cs typeface="Roboto"/>
              <a:sym typeface="Roboto"/>
            </a:endParaRPr>
          </a:p>
        </p:txBody>
      </p:sp>
      <p:cxnSp>
        <p:nvCxnSpPr>
          <p:cNvPr id="463" name="Google Shape;463;p30"/>
          <p:cNvCxnSpPr>
            <a:stCxn id="464" idx="3"/>
            <a:endCxn id="465" idx="1"/>
          </p:cNvCxnSpPr>
          <p:nvPr/>
        </p:nvCxnSpPr>
        <p:spPr>
          <a:xfrm>
            <a:off x="5189988" y="1872050"/>
            <a:ext cx="1365300" cy="0"/>
          </a:xfrm>
          <a:prstGeom prst="straightConnector1">
            <a:avLst/>
          </a:prstGeom>
          <a:noFill/>
          <a:ln cap="flat" cmpd="sng" w="19050">
            <a:solidFill>
              <a:srgbClr val="000000"/>
            </a:solidFill>
            <a:prstDash val="solid"/>
            <a:round/>
            <a:headEnd len="sm" w="sm" type="none"/>
            <a:tailEnd len="sm" w="sm" type="none"/>
          </a:ln>
        </p:spPr>
      </p:cxnSp>
      <p:cxnSp>
        <p:nvCxnSpPr>
          <p:cNvPr id="466" name="Google Shape;466;p30"/>
          <p:cNvCxnSpPr/>
          <p:nvPr/>
        </p:nvCxnSpPr>
        <p:spPr>
          <a:xfrm>
            <a:off x="5320538" y="1771325"/>
            <a:ext cx="1045200" cy="0"/>
          </a:xfrm>
          <a:prstGeom prst="straightConnector1">
            <a:avLst/>
          </a:prstGeom>
          <a:noFill/>
          <a:ln cap="flat" cmpd="sng" w="19050">
            <a:solidFill>
              <a:schemeClr val="accent2"/>
            </a:solidFill>
            <a:prstDash val="solid"/>
            <a:round/>
            <a:headEnd len="sm" w="sm" type="none"/>
            <a:tailEnd len="med" w="med" type="triangle"/>
          </a:ln>
        </p:spPr>
      </p:cxnSp>
      <p:sp>
        <p:nvSpPr>
          <p:cNvPr id="467" name="Google Shape;467;p30"/>
          <p:cNvSpPr/>
          <p:nvPr/>
        </p:nvSpPr>
        <p:spPr>
          <a:xfrm>
            <a:off x="5418388" y="1134500"/>
            <a:ext cx="781200" cy="534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I can reach A.</a:t>
            </a:r>
            <a:endParaRPr b="0" i="0" sz="1400" u="none" cap="none" strike="noStrike">
              <a:solidFill>
                <a:srgbClr val="000000"/>
              </a:solidFill>
              <a:latin typeface="Roboto"/>
              <a:ea typeface="Roboto"/>
              <a:cs typeface="Roboto"/>
              <a:sym typeface="Roboto"/>
            </a:endParaRPr>
          </a:p>
        </p:txBody>
      </p:sp>
      <p:sp>
        <p:nvSpPr>
          <p:cNvPr id="468" name="Google Shape;468;p30"/>
          <p:cNvSpPr txBox="1"/>
          <p:nvPr/>
        </p:nvSpPr>
        <p:spPr>
          <a:xfrm>
            <a:off x="5190000" y="572450"/>
            <a:ext cx="33186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Poison Reverse:</a:t>
            </a:r>
            <a:endParaRPr b="0" i="0" sz="1800" u="none" cap="none" strike="noStrike">
              <a:solidFill>
                <a:schemeClr val="dk1"/>
              </a:solidFill>
              <a:latin typeface="Roboto"/>
              <a:ea typeface="Roboto"/>
              <a:cs typeface="Roboto"/>
              <a:sym typeface="Roboto"/>
            </a:endParaRPr>
          </a:p>
        </p:txBody>
      </p:sp>
      <p:sp>
        <p:nvSpPr>
          <p:cNvPr id="465" name="Google Shape;465;p30"/>
          <p:cNvSpPr/>
          <p:nvPr/>
        </p:nvSpPr>
        <p:spPr>
          <a:xfrm>
            <a:off x="6555288" y="17295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cxnSp>
        <p:nvCxnSpPr>
          <p:cNvPr id="469" name="Google Shape;469;p30"/>
          <p:cNvCxnSpPr>
            <a:stCxn id="465" idx="3"/>
          </p:cNvCxnSpPr>
          <p:nvPr/>
        </p:nvCxnSpPr>
        <p:spPr>
          <a:xfrm flipH="1" rot="10800000">
            <a:off x="6840288" y="1215950"/>
            <a:ext cx="656100" cy="656100"/>
          </a:xfrm>
          <a:prstGeom prst="straightConnector1">
            <a:avLst/>
          </a:prstGeom>
          <a:noFill/>
          <a:ln cap="flat" cmpd="sng" w="19050">
            <a:solidFill>
              <a:srgbClr val="000000"/>
            </a:solidFill>
            <a:prstDash val="solid"/>
            <a:round/>
            <a:headEnd len="sm" w="sm" type="none"/>
            <a:tailEnd len="sm" w="sm" type="none"/>
          </a:ln>
        </p:spPr>
      </p:cxnSp>
      <p:cxnSp>
        <p:nvCxnSpPr>
          <p:cNvPr id="470" name="Google Shape;470;p30"/>
          <p:cNvCxnSpPr>
            <a:stCxn id="465" idx="3"/>
          </p:cNvCxnSpPr>
          <p:nvPr/>
        </p:nvCxnSpPr>
        <p:spPr>
          <a:xfrm flipH="1" rot="10800000">
            <a:off x="6840288" y="1659350"/>
            <a:ext cx="793800" cy="212700"/>
          </a:xfrm>
          <a:prstGeom prst="straightConnector1">
            <a:avLst/>
          </a:prstGeom>
          <a:noFill/>
          <a:ln cap="flat" cmpd="sng" w="19050">
            <a:solidFill>
              <a:srgbClr val="000000"/>
            </a:solidFill>
            <a:prstDash val="solid"/>
            <a:round/>
            <a:headEnd len="sm" w="sm" type="none"/>
            <a:tailEnd len="sm" w="sm" type="none"/>
          </a:ln>
        </p:spPr>
      </p:cxnSp>
      <p:cxnSp>
        <p:nvCxnSpPr>
          <p:cNvPr id="471" name="Google Shape;471;p30"/>
          <p:cNvCxnSpPr>
            <a:stCxn id="465" idx="3"/>
          </p:cNvCxnSpPr>
          <p:nvPr/>
        </p:nvCxnSpPr>
        <p:spPr>
          <a:xfrm>
            <a:off x="6840288" y="1872050"/>
            <a:ext cx="756900" cy="202800"/>
          </a:xfrm>
          <a:prstGeom prst="straightConnector1">
            <a:avLst/>
          </a:prstGeom>
          <a:noFill/>
          <a:ln cap="flat" cmpd="sng" w="19050">
            <a:solidFill>
              <a:srgbClr val="000000"/>
            </a:solidFill>
            <a:prstDash val="solid"/>
            <a:round/>
            <a:headEnd len="sm" w="sm" type="none"/>
            <a:tailEnd len="sm" w="sm" type="none"/>
          </a:ln>
        </p:spPr>
      </p:cxnSp>
      <p:cxnSp>
        <p:nvCxnSpPr>
          <p:cNvPr id="472" name="Google Shape;472;p30"/>
          <p:cNvCxnSpPr>
            <a:stCxn id="465" idx="3"/>
          </p:cNvCxnSpPr>
          <p:nvPr/>
        </p:nvCxnSpPr>
        <p:spPr>
          <a:xfrm>
            <a:off x="6840288" y="1872050"/>
            <a:ext cx="638400" cy="638400"/>
          </a:xfrm>
          <a:prstGeom prst="straightConnector1">
            <a:avLst/>
          </a:prstGeom>
          <a:noFill/>
          <a:ln cap="flat" cmpd="sng" w="19050">
            <a:solidFill>
              <a:srgbClr val="000000"/>
            </a:solidFill>
            <a:prstDash val="solid"/>
            <a:round/>
            <a:headEnd len="sm" w="sm" type="none"/>
            <a:tailEnd len="sm" w="sm" type="none"/>
          </a:ln>
        </p:spPr>
      </p:cxnSp>
      <p:sp>
        <p:nvSpPr>
          <p:cNvPr id="473" name="Google Shape;473;p30"/>
          <p:cNvSpPr/>
          <p:nvPr/>
        </p:nvSpPr>
        <p:spPr>
          <a:xfrm>
            <a:off x="1971188" y="34059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cxnSp>
        <p:nvCxnSpPr>
          <p:cNvPr id="474" name="Google Shape;474;p30"/>
          <p:cNvCxnSpPr>
            <a:stCxn id="475" idx="3"/>
            <a:endCxn id="473" idx="1"/>
          </p:cNvCxnSpPr>
          <p:nvPr/>
        </p:nvCxnSpPr>
        <p:spPr>
          <a:xfrm>
            <a:off x="605888" y="3548450"/>
            <a:ext cx="1365300" cy="0"/>
          </a:xfrm>
          <a:prstGeom prst="straightConnector1">
            <a:avLst/>
          </a:prstGeom>
          <a:noFill/>
          <a:ln cap="flat" cmpd="sng" w="19050">
            <a:solidFill>
              <a:srgbClr val="000000"/>
            </a:solidFill>
            <a:prstDash val="solid"/>
            <a:round/>
            <a:headEnd len="sm" w="sm" type="none"/>
            <a:tailEnd len="sm" w="sm" type="none"/>
          </a:ln>
        </p:spPr>
      </p:cxnSp>
      <p:cxnSp>
        <p:nvCxnSpPr>
          <p:cNvPr id="476" name="Google Shape;476;p30"/>
          <p:cNvCxnSpPr/>
          <p:nvPr/>
        </p:nvCxnSpPr>
        <p:spPr>
          <a:xfrm flipH="1" rot="10800000">
            <a:off x="2441450" y="2866075"/>
            <a:ext cx="386400" cy="386400"/>
          </a:xfrm>
          <a:prstGeom prst="straightConnector1">
            <a:avLst/>
          </a:prstGeom>
          <a:noFill/>
          <a:ln cap="flat" cmpd="sng" w="19050">
            <a:solidFill>
              <a:schemeClr val="accent2"/>
            </a:solidFill>
            <a:prstDash val="solid"/>
            <a:round/>
            <a:headEnd len="sm" w="sm" type="none"/>
            <a:tailEnd len="med" w="med" type="triangle"/>
          </a:ln>
        </p:spPr>
      </p:cxnSp>
      <p:cxnSp>
        <p:nvCxnSpPr>
          <p:cNvPr id="477" name="Google Shape;477;p30"/>
          <p:cNvCxnSpPr>
            <a:stCxn id="473" idx="3"/>
          </p:cNvCxnSpPr>
          <p:nvPr/>
        </p:nvCxnSpPr>
        <p:spPr>
          <a:xfrm flipH="1" rot="10800000">
            <a:off x="2256188" y="2892350"/>
            <a:ext cx="656100" cy="656100"/>
          </a:xfrm>
          <a:prstGeom prst="straightConnector1">
            <a:avLst/>
          </a:prstGeom>
          <a:noFill/>
          <a:ln cap="flat" cmpd="sng" w="19050">
            <a:solidFill>
              <a:srgbClr val="000000"/>
            </a:solidFill>
            <a:prstDash val="solid"/>
            <a:round/>
            <a:headEnd len="sm" w="sm" type="none"/>
            <a:tailEnd len="sm" w="sm" type="none"/>
          </a:ln>
        </p:spPr>
      </p:cxnSp>
      <p:cxnSp>
        <p:nvCxnSpPr>
          <p:cNvPr id="478" name="Google Shape;478;p30"/>
          <p:cNvCxnSpPr>
            <a:stCxn id="473" idx="3"/>
          </p:cNvCxnSpPr>
          <p:nvPr/>
        </p:nvCxnSpPr>
        <p:spPr>
          <a:xfrm flipH="1" rot="10800000">
            <a:off x="2256188" y="3335750"/>
            <a:ext cx="793800" cy="212700"/>
          </a:xfrm>
          <a:prstGeom prst="straightConnector1">
            <a:avLst/>
          </a:prstGeom>
          <a:noFill/>
          <a:ln cap="flat" cmpd="sng" w="19050">
            <a:solidFill>
              <a:srgbClr val="000000"/>
            </a:solidFill>
            <a:prstDash val="solid"/>
            <a:round/>
            <a:headEnd len="sm" w="sm" type="none"/>
            <a:tailEnd len="sm" w="sm" type="none"/>
          </a:ln>
        </p:spPr>
      </p:cxnSp>
      <p:cxnSp>
        <p:nvCxnSpPr>
          <p:cNvPr id="479" name="Google Shape;479;p30"/>
          <p:cNvCxnSpPr>
            <a:stCxn id="473" idx="3"/>
          </p:cNvCxnSpPr>
          <p:nvPr/>
        </p:nvCxnSpPr>
        <p:spPr>
          <a:xfrm>
            <a:off x="2256188" y="3548450"/>
            <a:ext cx="756900" cy="202800"/>
          </a:xfrm>
          <a:prstGeom prst="straightConnector1">
            <a:avLst/>
          </a:prstGeom>
          <a:noFill/>
          <a:ln cap="flat" cmpd="sng" w="19050">
            <a:solidFill>
              <a:srgbClr val="000000"/>
            </a:solidFill>
            <a:prstDash val="solid"/>
            <a:round/>
            <a:headEnd len="sm" w="sm" type="none"/>
            <a:tailEnd len="sm" w="sm" type="none"/>
          </a:ln>
        </p:spPr>
      </p:cxnSp>
      <p:cxnSp>
        <p:nvCxnSpPr>
          <p:cNvPr id="480" name="Google Shape;480;p30"/>
          <p:cNvCxnSpPr>
            <a:stCxn id="473" idx="3"/>
          </p:cNvCxnSpPr>
          <p:nvPr/>
        </p:nvCxnSpPr>
        <p:spPr>
          <a:xfrm>
            <a:off x="2256188" y="3548450"/>
            <a:ext cx="638400" cy="638400"/>
          </a:xfrm>
          <a:prstGeom prst="straightConnector1">
            <a:avLst/>
          </a:prstGeom>
          <a:noFill/>
          <a:ln cap="flat" cmpd="sng" w="19050">
            <a:solidFill>
              <a:srgbClr val="000000"/>
            </a:solidFill>
            <a:prstDash val="solid"/>
            <a:round/>
            <a:headEnd len="sm" w="sm" type="none"/>
            <a:tailEnd len="sm" w="sm" type="none"/>
          </a:ln>
        </p:spPr>
      </p:cxnSp>
      <p:cxnSp>
        <p:nvCxnSpPr>
          <p:cNvPr id="481" name="Google Shape;481;p30"/>
          <p:cNvCxnSpPr/>
          <p:nvPr/>
        </p:nvCxnSpPr>
        <p:spPr>
          <a:xfrm flipH="1" rot="10800000">
            <a:off x="2493238" y="3273050"/>
            <a:ext cx="496500" cy="132900"/>
          </a:xfrm>
          <a:prstGeom prst="straightConnector1">
            <a:avLst/>
          </a:prstGeom>
          <a:noFill/>
          <a:ln cap="flat" cmpd="sng" w="19050">
            <a:solidFill>
              <a:schemeClr val="accent2"/>
            </a:solidFill>
            <a:prstDash val="solid"/>
            <a:round/>
            <a:headEnd len="sm" w="sm" type="none"/>
            <a:tailEnd len="med" w="med" type="triangle"/>
          </a:ln>
        </p:spPr>
      </p:cxnSp>
      <p:cxnSp>
        <p:nvCxnSpPr>
          <p:cNvPr id="482" name="Google Shape;482;p30"/>
          <p:cNvCxnSpPr/>
          <p:nvPr/>
        </p:nvCxnSpPr>
        <p:spPr>
          <a:xfrm>
            <a:off x="2510488" y="3549650"/>
            <a:ext cx="462000" cy="123900"/>
          </a:xfrm>
          <a:prstGeom prst="straightConnector1">
            <a:avLst/>
          </a:prstGeom>
          <a:noFill/>
          <a:ln cap="flat" cmpd="sng" w="19050">
            <a:solidFill>
              <a:schemeClr val="accent2"/>
            </a:solidFill>
            <a:prstDash val="solid"/>
            <a:round/>
            <a:headEnd len="sm" w="sm" type="none"/>
            <a:tailEnd len="med" w="med" type="triangle"/>
          </a:ln>
        </p:spPr>
      </p:cxnSp>
      <p:sp>
        <p:nvSpPr>
          <p:cNvPr id="483" name="Google Shape;483;p30"/>
          <p:cNvSpPr/>
          <p:nvPr/>
        </p:nvSpPr>
        <p:spPr>
          <a:xfrm>
            <a:off x="3143288" y="2892350"/>
            <a:ext cx="781200" cy="534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I can reach A.</a:t>
            </a:r>
            <a:endParaRPr b="0" i="0" sz="1400" u="none" cap="none" strike="noStrike">
              <a:solidFill>
                <a:srgbClr val="000000"/>
              </a:solidFill>
              <a:latin typeface="Roboto"/>
              <a:ea typeface="Roboto"/>
              <a:cs typeface="Roboto"/>
              <a:sym typeface="Roboto"/>
            </a:endParaRPr>
          </a:p>
        </p:txBody>
      </p:sp>
      <p:cxnSp>
        <p:nvCxnSpPr>
          <p:cNvPr id="484" name="Google Shape;484;p30"/>
          <p:cNvCxnSpPr/>
          <p:nvPr/>
        </p:nvCxnSpPr>
        <p:spPr>
          <a:xfrm>
            <a:off x="2511650" y="3690950"/>
            <a:ext cx="319800" cy="319800"/>
          </a:xfrm>
          <a:prstGeom prst="straightConnector1">
            <a:avLst/>
          </a:prstGeom>
          <a:noFill/>
          <a:ln cap="flat" cmpd="sng" w="19050">
            <a:solidFill>
              <a:schemeClr val="accent2"/>
            </a:solidFill>
            <a:prstDash val="solid"/>
            <a:round/>
            <a:headEnd len="sm" w="sm" type="none"/>
            <a:tailEnd len="med" w="med" type="triangle"/>
          </a:ln>
        </p:spPr>
      </p:cxnSp>
      <p:sp>
        <p:nvSpPr>
          <p:cNvPr id="485" name="Google Shape;485;p30"/>
          <p:cNvSpPr/>
          <p:nvPr/>
        </p:nvSpPr>
        <p:spPr>
          <a:xfrm>
            <a:off x="6555288" y="3427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cxnSp>
        <p:nvCxnSpPr>
          <p:cNvPr id="486" name="Google Shape;486;p30"/>
          <p:cNvCxnSpPr>
            <a:stCxn id="487" idx="3"/>
            <a:endCxn id="485" idx="1"/>
          </p:cNvCxnSpPr>
          <p:nvPr/>
        </p:nvCxnSpPr>
        <p:spPr>
          <a:xfrm>
            <a:off x="5189988" y="3570425"/>
            <a:ext cx="1365300" cy="0"/>
          </a:xfrm>
          <a:prstGeom prst="straightConnector1">
            <a:avLst/>
          </a:prstGeom>
          <a:noFill/>
          <a:ln cap="flat" cmpd="sng" w="19050">
            <a:solidFill>
              <a:srgbClr val="000000"/>
            </a:solidFill>
            <a:prstDash val="solid"/>
            <a:round/>
            <a:headEnd len="sm" w="sm" type="none"/>
            <a:tailEnd len="sm" w="sm" type="none"/>
          </a:ln>
        </p:spPr>
      </p:cxnSp>
      <p:cxnSp>
        <p:nvCxnSpPr>
          <p:cNvPr id="488" name="Google Shape;488;p30"/>
          <p:cNvCxnSpPr/>
          <p:nvPr/>
        </p:nvCxnSpPr>
        <p:spPr>
          <a:xfrm flipH="1" rot="10800000">
            <a:off x="7025550" y="2888050"/>
            <a:ext cx="386400" cy="386400"/>
          </a:xfrm>
          <a:prstGeom prst="straightConnector1">
            <a:avLst/>
          </a:prstGeom>
          <a:noFill/>
          <a:ln cap="flat" cmpd="sng" w="19050">
            <a:solidFill>
              <a:schemeClr val="accent2"/>
            </a:solidFill>
            <a:prstDash val="solid"/>
            <a:round/>
            <a:headEnd len="sm" w="sm" type="none"/>
            <a:tailEnd len="med" w="med" type="triangle"/>
          </a:ln>
        </p:spPr>
      </p:cxnSp>
      <p:cxnSp>
        <p:nvCxnSpPr>
          <p:cNvPr id="489" name="Google Shape;489;p30"/>
          <p:cNvCxnSpPr>
            <a:stCxn id="485" idx="3"/>
          </p:cNvCxnSpPr>
          <p:nvPr/>
        </p:nvCxnSpPr>
        <p:spPr>
          <a:xfrm flipH="1" rot="10800000">
            <a:off x="6840288" y="2914325"/>
            <a:ext cx="656100" cy="656100"/>
          </a:xfrm>
          <a:prstGeom prst="straightConnector1">
            <a:avLst/>
          </a:prstGeom>
          <a:noFill/>
          <a:ln cap="flat" cmpd="sng" w="19050">
            <a:solidFill>
              <a:srgbClr val="000000"/>
            </a:solidFill>
            <a:prstDash val="solid"/>
            <a:round/>
            <a:headEnd len="sm" w="sm" type="none"/>
            <a:tailEnd len="sm" w="sm" type="none"/>
          </a:ln>
        </p:spPr>
      </p:cxnSp>
      <p:cxnSp>
        <p:nvCxnSpPr>
          <p:cNvPr id="490" name="Google Shape;490;p30"/>
          <p:cNvCxnSpPr>
            <a:stCxn id="485" idx="3"/>
          </p:cNvCxnSpPr>
          <p:nvPr/>
        </p:nvCxnSpPr>
        <p:spPr>
          <a:xfrm flipH="1" rot="10800000">
            <a:off x="6840288" y="3357725"/>
            <a:ext cx="793800" cy="212700"/>
          </a:xfrm>
          <a:prstGeom prst="straightConnector1">
            <a:avLst/>
          </a:prstGeom>
          <a:noFill/>
          <a:ln cap="flat" cmpd="sng" w="19050">
            <a:solidFill>
              <a:srgbClr val="000000"/>
            </a:solidFill>
            <a:prstDash val="solid"/>
            <a:round/>
            <a:headEnd len="sm" w="sm" type="none"/>
            <a:tailEnd len="sm" w="sm" type="none"/>
          </a:ln>
        </p:spPr>
      </p:cxnSp>
      <p:cxnSp>
        <p:nvCxnSpPr>
          <p:cNvPr id="491" name="Google Shape;491;p30"/>
          <p:cNvCxnSpPr>
            <a:stCxn id="485" idx="3"/>
          </p:cNvCxnSpPr>
          <p:nvPr/>
        </p:nvCxnSpPr>
        <p:spPr>
          <a:xfrm>
            <a:off x="6840288" y="3570425"/>
            <a:ext cx="756900" cy="202800"/>
          </a:xfrm>
          <a:prstGeom prst="straightConnector1">
            <a:avLst/>
          </a:prstGeom>
          <a:noFill/>
          <a:ln cap="flat" cmpd="sng" w="19050">
            <a:solidFill>
              <a:srgbClr val="000000"/>
            </a:solidFill>
            <a:prstDash val="solid"/>
            <a:round/>
            <a:headEnd len="sm" w="sm" type="none"/>
            <a:tailEnd len="sm" w="sm" type="none"/>
          </a:ln>
        </p:spPr>
      </p:cxnSp>
      <p:cxnSp>
        <p:nvCxnSpPr>
          <p:cNvPr id="492" name="Google Shape;492;p30"/>
          <p:cNvCxnSpPr>
            <a:stCxn id="485" idx="3"/>
          </p:cNvCxnSpPr>
          <p:nvPr/>
        </p:nvCxnSpPr>
        <p:spPr>
          <a:xfrm>
            <a:off x="6840288" y="3570425"/>
            <a:ext cx="638400" cy="638400"/>
          </a:xfrm>
          <a:prstGeom prst="straightConnector1">
            <a:avLst/>
          </a:prstGeom>
          <a:noFill/>
          <a:ln cap="flat" cmpd="sng" w="19050">
            <a:solidFill>
              <a:srgbClr val="000000"/>
            </a:solidFill>
            <a:prstDash val="solid"/>
            <a:round/>
            <a:headEnd len="sm" w="sm" type="none"/>
            <a:tailEnd len="sm" w="sm" type="none"/>
          </a:ln>
        </p:spPr>
      </p:cxnSp>
      <p:cxnSp>
        <p:nvCxnSpPr>
          <p:cNvPr id="493" name="Google Shape;493;p30"/>
          <p:cNvCxnSpPr/>
          <p:nvPr/>
        </p:nvCxnSpPr>
        <p:spPr>
          <a:xfrm flipH="1" rot="10800000">
            <a:off x="7077338" y="3295025"/>
            <a:ext cx="496500" cy="132900"/>
          </a:xfrm>
          <a:prstGeom prst="straightConnector1">
            <a:avLst/>
          </a:prstGeom>
          <a:noFill/>
          <a:ln cap="flat" cmpd="sng" w="19050">
            <a:solidFill>
              <a:schemeClr val="accent2"/>
            </a:solidFill>
            <a:prstDash val="solid"/>
            <a:round/>
            <a:headEnd len="sm" w="sm" type="none"/>
            <a:tailEnd len="med" w="med" type="triangle"/>
          </a:ln>
        </p:spPr>
      </p:cxnSp>
      <p:cxnSp>
        <p:nvCxnSpPr>
          <p:cNvPr id="494" name="Google Shape;494;p30"/>
          <p:cNvCxnSpPr/>
          <p:nvPr/>
        </p:nvCxnSpPr>
        <p:spPr>
          <a:xfrm>
            <a:off x="7094588" y="3571625"/>
            <a:ext cx="462000" cy="123900"/>
          </a:xfrm>
          <a:prstGeom prst="straightConnector1">
            <a:avLst/>
          </a:prstGeom>
          <a:noFill/>
          <a:ln cap="flat" cmpd="sng" w="19050">
            <a:solidFill>
              <a:schemeClr val="accent2"/>
            </a:solidFill>
            <a:prstDash val="solid"/>
            <a:round/>
            <a:headEnd len="sm" w="sm" type="none"/>
            <a:tailEnd len="med" w="med" type="triangle"/>
          </a:ln>
        </p:spPr>
      </p:cxnSp>
      <p:sp>
        <p:nvSpPr>
          <p:cNvPr id="495" name="Google Shape;495;p30"/>
          <p:cNvSpPr/>
          <p:nvPr/>
        </p:nvSpPr>
        <p:spPr>
          <a:xfrm>
            <a:off x="7727388" y="2914325"/>
            <a:ext cx="781200" cy="534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I can reach A.</a:t>
            </a:r>
            <a:endParaRPr b="0" i="0" sz="1400" u="none" cap="none" strike="noStrike">
              <a:solidFill>
                <a:srgbClr val="000000"/>
              </a:solidFill>
              <a:latin typeface="Roboto"/>
              <a:ea typeface="Roboto"/>
              <a:cs typeface="Roboto"/>
              <a:sym typeface="Roboto"/>
            </a:endParaRPr>
          </a:p>
        </p:txBody>
      </p:sp>
      <p:cxnSp>
        <p:nvCxnSpPr>
          <p:cNvPr id="496" name="Google Shape;496;p30"/>
          <p:cNvCxnSpPr/>
          <p:nvPr/>
        </p:nvCxnSpPr>
        <p:spPr>
          <a:xfrm>
            <a:off x="7095750" y="3712925"/>
            <a:ext cx="319800" cy="319800"/>
          </a:xfrm>
          <a:prstGeom prst="straightConnector1">
            <a:avLst/>
          </a:prstGeom>
          <a:noFill/>
          <a:ln cap="flat" cmpd="sng" w="19050">
            <a:solidFill>
              <a:schemeClr val="accent2"/>
            </a:solidFill>
            <a:prstDash val="solid"/>
            <a:round/>
            <a:headEnd len="sm" w="sm" type="none"/>
            <a:tailEnd len="med" w="med" type="triangle"/>
          </a:ln>
        </p:spPr>
      </p:cxnSp>
      <p:cxnSp>
        <p:nvCxnSpPr>
          <p:cNvPr id="497" name="Google Shape;497;p30"/>
          <p:cNvCxnSpPr/>
          <p:nvPr/>
        </p:nvCxnSpPr>
        <p:spPr>
          <a:xfrm>
            <a:off x="5320538" y="3447725"/>
            <a:ext cx="1045200" cy="0"/>
          </a:xfrm>
          <a:prstGeom prst="straightConnector1">
            <a:avLst/>
          </a:prstGeom>
          <a:noFill/>
          <a:ln cap="flat" cmpd="sng" w="19050">
            <a:solidFill>
              <a:schemeClr val="accent2"/>
            </a:solidFill>
            <a:prstDash val="solid"/>
            <a:round/>
            <a:headEnd len="med" w="med" type="triangle"/>
            <a:tailEnd len="sm" w="sm" type="none"/>
          </a:ln>
        </p:spPr>
      </p:cxnSp>
      <p:sp>
        <p:nvSpPr>
          <p:cNvPr id="498" name="Google Shape;498;p30"/>
          <p:cNvSpPr/>
          <p:nvPr/>
        </p:nvSpPr>
        <p:spPr>
          <a:xfrm>
            <a:off x="5418388" y="2810900"/>
            <a:ext cx="781200" cy="534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I </a:t>
            </a:r>
            <a:r>
              <a:rPr b="1" i="0" lang="en" sz="1400" u="none" cap="none" strike="noStrike">
                <a:solidFill>
                  <a:srgbClr val="000000"/>
                </a:solidFill>
                <a:latin typeface="Roboto"/>
                <a:ea typeface="Roboto"/>
                <a:cs typeface="Roboto"/>
                <a:sym typeface="Roboto"/>
              </a:rPr>
              <a:t>cannot</a:t>
            </a:r>
            <a:r>
              <a:rPr b="0" i="0" lang="en" sz="1400" u="none" cap="none" strike="noStrike">
                <a:solidFill>
                  <a:srgbClr val="000000"/>
                </a:solidFill>
                <a:latin typeface="Roboto"/>
                <a:ea typeface="Roboto"/>
                <a:cs typeface="Roboto"/>
                <a:sym typeface="Roboto"/>
              </a:rPr>
              <a:t> reach A.</a:t>
            </a:r>
            <a:endParaRPr b="0" i="0" sz="1400" u="none" cap="none" strike="noStrike">
              <a:solidFill>
                <a:srgbClr val="000000"/>
              </a:solidFill>
              <a:latin typeface="Roboto"/>
              <a:ea typeface="Roboto"/>
              <a:cs typeface="Roboto"/>
              <a:sym typeface="Roboto"/>
            </a:endParaRPr>
          </a:p>
        </p:txBody>
      </p:sp>
      <p:sp>
        <p:nvSpPr>
          <p:cNvPr id="499" name="Google Shape;499;p30"/>
          <p:cNvSpPr txBox="1"/>
          <p:nvPr/>
        </p:nvSpPr>
        <p:spPr>
          <a:xfrm>
            <a:off x="605975" y="4306250"/>
            <a:ext cx="33186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Don't advertise anything back to R1.</a:t>
            </a:r>
            <a:endParaRPr b="0" i="0" sz="1400" u="none" cap="none" strike="noStrike">
              <a:solidFill>
                <a:schemeClr val="dk1"/>
              </a:solidFill>
              <a:latin typeface="Roboto"/>
              <a:ea typeface="Roboto"/>
              <a:cs typeface="Roboto"/>
              <a:sym typeface="Roboto"/>
            </a:endParaRPr>
          </a:p>
        </p:txBody>
      </p:sp>
      <p:sp>
        <p:nvSpPr>
          <p:cNvPr id="500" name="Google Shape;500;p30"/>
          <p:cNvSpPr txBox="1"/>
          <p:nvPr/>
        </p:nvSpPr>
        <p:spPr>
          <a:xfrm>
            <a:off x="5190000" y="4306250"/>
            <a:ext cx="33186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Explicitly advertise poison back to R1 (infinity).</a:t>
            </a:r>
            <a:endParaRPr b="0" i="0" sz="1400" u="none" cap="none" strike="noStrike">
              <a:solidFill>
                <a:schemeClr val="dk1"/>
              </a:solidFill>
              <a:latin typeface="Roboto"/>
              <a:ea typeface="Roboto"/>
              <a:cs typeface="Roboto"/>
              <a:sym typeface="Roboto"/>
            </a:endParaRPr>
          </a:p>
        </p:txBody>
      </p:sp>
      <p:sp>
        <p:nvSpPr>
          <p:cNvPr id="455" name="Google Shape;455;p30"/>
          <p:cNvSpPr/>
          <p:nvPr/>
        </p:nvSpPr>
        <p:spPr>
          <a:xfrm>
            <a:off x="320888" y="17295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sp>
        <p:nvSpPr>
          <p:cNvPr id="464" name="Google Shape;464;p30"/>
          <p:cNvSpPr/>
          <p:nvPr/>
        </p:nvSpPr>
        <p:spPr>
          <a:xfrm>
            <a:off x="4904988" y="17295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sp>
        <p:nvSpPr>
          <p:cNvPr id="475" name="Google Shape;475;p30"/>
          <p:cNvSpPr/>
          <p:nvPr/>
        </p:nvSpPr>
        <p:spPr>
          <a:xfrm>
            <a:off x="320888" y="34059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sp>
        <p:nvSpPr>
          <p:cNvPr id="487" name="Google Shape;487;p30"/>
          <p:cNvSpPr/>
          <p:nvPr/>
        </p:nvSpPr>
        <p:spPr>
          <a:xfrm>
            <a:off x="4904988" y="3427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501" name="Google Shape;501;p30"/>
          <p:cNvCxnSpPr/>
          <p:nvPr/>
        </p:nvCxnSpPr>
        <p:spPr>
          <a:xfrm>
            <a:off x="4376350" y="506275"/>
            <a:ext cx="0" cy="44280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1"/>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Poison Reverse vs. Split Horizon</a:t>
            </a:r>
            <a:endParaRPr/>
          </a:p>
        </p:txBody>
      </p:sp>
      <p:sp>
        <p:nvSpPr>
          <p:cNvPr id="507" name="Google Shape;507;p31"/>
          <p:cNvSpPr txBox="1"/>
          <p:nvPr>
            <p:ph idx="1" type="body"/>
          </p:nvPr>
        </p:nvSpPr>
        <p:spPr>
          <a:xfrm>
            <a:off x="107050" y="402200"/>
            <a:ext cx="8909700" cy="180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Suppose we end up with a routing loop somehow.</a:t>
            </a:r>
            <a:endParaRPr/>
          </a:p>
          <a:p>
            <a:pPr indent="0" lvl="0" marL="0" rtl="0" algn="l">
              <a:lnSpc>
                <a:spcPct val="115000"/>
              </a:lnSpc>
              <a:spcBef>
                <a:spcPts val="600"/>
              </a:spcBef>
              <a:spcAft>
                <a:spcPts val="0"/>
              </a:spcAft>
              <a:buSzPts val="1800"/>
              <a:buNone/>
            </a:pPr>
            <a:r>
              <a:rPr lang="en"/>
              <a:t>Split horizon: No poison is sent.</a:t>
            </a:r>
            <a:endParaRPr/>
          </a:p>
          <a:p>
            <a:pPr indent="-342900" lvl="0" marL="457200" rtl="0" algn="l">
              <a:lnSpc>
                <a:spcPct val="115000"/>
              </a:lnSpc>
              <a:spcBef>
                <a:spcPts val="600"/>
              </a:spcBef>
              <a:spcAft>
                <a:spcPts val="0"/>
              </a:spcAft>
              <a:buSzPts val="1800"/>
              <a:buChar char="●"/>
            </a:pPr>
            <a:r>
              <a:rPr lang="en"/>
              <a:t>Loop stays until the routes expire.</a:t>
            </a:r>
            <a:endParaRPr/>
          </a:p>
          <a:p>
            <a:pPr indent="0" lvl="0" marL="0" rtl="0" algn="l">
              <a:lnSpc>
                <a:spcPct val="115000"/>
              </a:lnSpc>
              <a:spcBef>
                <a:spcPts val="600"/>
              </a:spcBef>
              <a:spcAft>
                <a:spcPts val="0"/>
              </a:spcAft>
              <a:buSzPts val="1800"/>
              <a:buNone/>
            </a:pPr>
            <a:r>
              <a:t/>
            </a:r>
            <a:endParaRPr/>
          </a:p>
        </p:txBody>
      </p:sp>
      <p:graphicFrame>
        <p:nvGraphicFramePr>
          <p:cNvPr id="508" name="Google Shape;508;p31"/>
          <p:cNvGraphicFramePr/>
          <p:nvPr/>
        </p:nvGraphicFramePr>
        <p:xfrm>
          <a:off x="2043944" y="4126825"/>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4</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
        <p:nvSpPr>
          <p:cNvPr id="509" name="Google Shape;509;p31"/>
          <p:cNvSpPr/>
          <p:nvPr/>
        </p:nvSpPr>
        <p:spPr>
          <a:xfrm>
            <a:off x="2819200" y="36100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510" name="Google Shape;510;p31"/>
          <p:cNvSpPr/>
          <p:nvPr/>
        </p:nvSpPr>
        <p:spPr>
          <a:xfrm>
            <a:off x="6019600" y="36100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511" name="Google Shape;511;p31"/>
          <p:cNvCxnSpPr>
            <a:stCxn id="509" idx="3"/>
            <a:endCxn id="510" idx="1"/>
          </p:cNvCxnSpPr>
          <p:nvPr/>
        </p:nvCxnSpPr>
        <p:spPr>
          <a:xfrm>
            <a:off x="3104200" y="3752575"/>
            <a:ext cx="2915400" cy="0"/>
          </a:xfrm>
          <a:prstGeom prst="straightConnector1">
            <a:avLst/>
          </a:prstGeom>
          <a:noFill/>
          <a:ln cap="flat" cmpd="sng" w="19050">
            <a:solidFill>
              <a:srgbClr val="000000"/>
            </a:solidFill>
            <a:prstDash val="solid"/>
            <a:round/>
            <a:headEnd len="sm" w="sm" type="none"/>
            <a:tailEnd len="sm" w="sm" type="none"/>
          </a:ln>
        </p:spPr>
      </p:cxnSp>
      <p:graphicFrame>
        <p:nvGraphicFramePr>
          <p:cNvPr id="512" name="Google Shape;512;p31"/>
          <p:cNvGraphicFramePr/>
          <p:nvPr/>
        </p:nvGraphicFramePr>
        <p:xfrm>
          <a:off x="5244344" y="4126825"/>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R2</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3</a:t>
                      </a:r>
                      <a:endParaRPr sz="1400" u="none" cap="none" strike="noStrike">
                        <a:latin typeface="Roboto"/>
                        <a:ea typeface="Roboto"/>
                        <a:cs typeface="Roboto"/>
                        <a:sym typeface="Roboto"/>
                      </a:endParaRPr>
                    </a:p>
                  </a:txBody>
                  <a:tcPr marT="18275" marB="18275" marR="0" marL="0" anchor="ctr"/>
                </a:tc>
              </a:tr>
            </a:tbl>
          </a:graphicData>
        </a:graphic>
      </p:graphicFrame>
      <p:sp>
        <p:nvSpPr>
          <p:cNvPr id="513" name="Google Shape;513;p31"/>
          <p:cNvSpPr/>
          <p:nvPr/>
        </p:nvSpPr>
        <p:spPr>
          <a:xfrm>
            <a:off x="696600" y="2957025"/>
            <a:ext cx="2054400" cy="552900"/>
          </a:xfrm>
          <a:prstGeom prst="wedgeRoundRectCallout">
            <a:avLst>
              <a:gd fmla="val 59886" name="adj1"/>
              <a:gd fmla="val 52885" name="adj2"/>
              <a:gd fmla="val 0" name="adj3"/>
            </a:avLst>
          </a:prstGeom>
          <a:no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I got this route from R3, so don't send it to R3.</a:t>
            </a:r>
            <a:endParaRPr b="0" i="0" sz="1400" u="none" cap="none" strike="noStrike">
              <a:solidFill>
                <a:srgbClr val="000000"/>
              </a:solidFill>
              <a:latin typeface="Roboto"/>
              <a:ea typeface="Roboto"/>
              <a:cs typeface="Roboto"/>
              <a:sym typeface="Roboto"/>
            </a:endParaRPr>
          </a:p>
        </p:txBody>
      </p:sp>
      <p:sp>
        <p:nvSpPr>
          <p:cNvPr id="514" name="Google Shape;514;p31"/>
          <p:cNvSpPr/>
          <p:nvPr/>
        </p:nvSpPr>
        <p:spPr>
          <a:xfrm>
            <a:off x="6286225" y="2957025"/>
            <a:ext cx="2054400" cy="552900"/>
          </a:xfrm>
          <a:prstGeom prst="wedgeRoundRectCallout">
            <a:avLst>
              <a:gd fmla="val -58083" name="adj1"/>
              <a:gd fmla="val 50276" name="adj2"/>
              <a:gd fmla="val 0" name="adj3"/>
            </a:avLst>
          </a:prstGeom>
          <a:no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I got this route from R2, so don't send it to R2.</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2"/>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Poison Reverse vs. Split Horizon</a:t>
            </a:r>
            <a:endParaRPr/>
          </a:p>
        </p:txBody>
      </p:sp>
      <p:sp>
        <p:nvSpPr>
          <p:cNvPr id="520" name="Google Shape;520;p32"/>
          <p:cNvSpPr txBox="1"/>
          <p:nvPr>
            <p:ph idx="1" type="body"/>
          </p:nvPr>
        </p:nvSpPr>
        <p:spPr>
          <a:xfrm>
            <a:off x="107050" y="402200"/>
            <a:ext cx="8909700" cy="210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Suppose we end up with a routing loop somehow.</a:t>
            </a:r>
            <a:endParaRPr/>
          </a:p>
          <a:p>
            <a:pPr indent="0" lvl="0" marL="0" rtl="0" algn="l">
              <a:lnSpc>
                <a:spcPct val="115000"/>
              </a:lnSpc>
              <a:spcBef>
                <a:spcPts val="600"/>
              </a:spcBef>
              <a:spcAft>
                <a:spcPts val="0"/>
              </a:spcAft>
              <a:buSzPts val="1800"/>
              <a:buNone/>
            </a:pPr>
            <a:r>
              <a:rPr lang="en"/>
              <a:t>Poison reverse: R3 explicitly sends poison back to R2.</a:t>
            </a:r>
            <a:endParaRPr/>
          </a:p>
          <a:p>
            <a:pPr indent="-342900" lvl="0" marL="457200" rtl="0" algn="l">
              <a:lnSpc>
                <a:spcPct val="115000"/>
              </a:lnSpc>
              <a:spcBef>
                <a:spcPts val="600"/>
              </a:spcBef>
              <a:spcAft>
                <a:spcPts val="0"/>
              </a:spcAft>
              <a:buSzPts val="1800"/>
              <a:buChar char="●"/>
            </a:pPr>
            <a:r>
              <a:rPr lang="en"/>
              <a:t>Loop is immediately eliminated!</a:t>
            </a:r>
            <a:endParaRPr/>
          </a:p>
          <a:p>
            <a:pPr indent="-342900" lvl="0" marL="457200" rtl="0" algn="l">
              <a:lnSpc>
                <a:spcPct val="115000"/>
              </a:lnSpc>
              <a:spcBef>
                <a:spcPts val="0"/>
              </a:spcBef>
              <a:spcAft>
                <a:spcPts val="0"/>
              </a:spcAft>
              <a:buSzPts val="1800"/>
              <a:buChar char="●"/>
            </a:pPr>
            <a:r>
              <a:rPr lang="en"/>
              <a:t>Faster than split horizon.</a:t>
            </a:r>
            <a:endParaRPr/>
          </a:p>
        </p:txBody>
      </p:sp>
      <p:graphicFrame>
        <p:nvGraphicFramePr>
          <p:cNvPr id="521" name="Google Shape;521;p32"/>
          <p:cNvGraphicFramePr/>
          <p:nvPr/>
        </p:nvGraphicFramePr>
        <p:xfrm>
          <a:off x="2043944" y="4126825"/>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4</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
        <p:nvSpPr>
          <p:cNvPr id="522" name="Google Shape;522;p32"/>
          <p:cNvSpPr/>
          <p:nvPr/>
        </p:nvSpPr>
        <p:spPr>
          <a:xfrm>
            <a:off x="2819200" y="36100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523" name="Google Shape;523;p32"/>
          <p:cNvSpPr/>
          <p:nvPr/>
        </p:nvSpPr>
        <p:spPr>
          <a:xfrm>
            <a:off x="6019600" y="36100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524" name="Google Shape;524;p32"/>
          <p:cNvCxnSpPr>
            <a:stCxn id="522" idx="3"/>
            <a:endCxn id="523" idx="1"/>
          </p:cNvCxnSpPr>
          <p:nvPr/>
        </p:nvCxnSpPr>
        <p:spPr>
          <a:xfrm>
            <a:off x="3104200" y="3752575"/>
            <a:ext cx="2915400" cy="0"/>
          </a:xfrm>
          <a:prstGeom prst="straightConnector1">
            <a:avLst/>
          </a:prstGeom>
          <a:noFill/>
          <a:ln cap="flat" cmpd="sng" w="19050">
            <a:solidFill>
              <a:srgbClr val="000000"/>
            </a:solidFill>
            <a:prstDash val="solid"/>
            <a:round/>
            <a:headEnd len="sm" w="sm" type="none"/>
            <a:tailEnd len="sm" w="sm" type="none"/>
          </a:ln>
        </p:spPr>
      </p:cxnSp>
      <p:graphicFrame>
        <p:nvGraphicFramePr>
          <p:cNvPr id="525" name="Google Shape;525;p32"/>
          <p:cNvGraphicFramePr/>
          <p:nvPr/>
        </p:nvGraphicFramePr>
        <p:xfrm>
          <a:off x="5244344" y="4126825"/>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R2</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3</a:t>
                      </a:r>
                      <a:endParaRPr sz="1400" u="none" cap="none" strike="noStrike">
                        <a:latin typeface="Roboto"/>
                        <a:ea typeface="Roboto"/>
                        <a:cs typeface="Roboto"/>
                        <a:sym typeface="Roboto"/>
                      </a:endParaRPr>
                    </a:p>
                  </a:txBody>
                  <a:tcPr marT="18275" marB="18275" marR="0" marL="0" anchor="ctr"/>
                </a:tc>
              </a:tr>
            </a:tbl>
          </a:graphicData>
        </a:graphic>
      </p:graphicFrame>
      <p:cxnSp>
        <p:nvCxnSpPr>
          <p:cNvPr id="526" name="Google Shape;526;p32"/>
          <p:cNvCxnSpPr/>
          <p:nvPr/>
        </p:nvCxnSpPr>
        <p:spPr>
          <a:xfrm>
            <a:off x="4561045" y="3658950"/>
            <a:ext cx="1393500" cy="0"/>
          </a:xfrm>
          <a:prstGeom prst="straightConnector1">
            <a:avLst/>
          </a:prstGeom>
          <a:noFill/>
          <a:ln cap="flat" cmpd="sng" w="19050">
            <a:solidFill>
              <a:schemeClr val="accent2"/>
            </a:solidFill>
            <a:prstDash val="solid"/>
            <a:round/>
            <a:headEnd len="med" w="med" type="triangle"/>
            <a:tailEnd len="sm" w="sm" type="none"/>
          </a:ln>
        </p:spPr>
      </p:cxnSp>
      <p:sp>
        <p:nvSpPr>
          <p:cNvPr id="527" name="Google Shape;527;p32"/>
          <p:cNvSpPr/>
          <p:nvPr/>
        </p:nvSpPr>
        <p:spPr>
          <a:xfrm>
            <a:off x="4707600" y="2823225"/>
            <a:ext cx="1100400" cy="7338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I'm </a:t>
            </a:r>
            <a:r>
              <a:rPr b="1" i="0" lang="en" sz="1400" u="none" cap="none" strike="noStrike">
                <a:solidFill>
                  <a:srgbClr val="000000"/>
                </a:solidFill>
                <a:latin typeface="Roboto"/>
                <a:ea typeface="Roboto"/>
                <a:cs typeface="Roboto"/>
                <a:sym typeface="Roboto"/>
              </a:rPr>
              <a:t>R3</a:t>
            </a:r>
            <a:r>
              <a:rPr b="0" i="0" lang="en" sz="1400" u="none" cap="none" strike="noStrike">
                <a:solidFill>
                  <a:srgbClr val="000000"/>
                </a:solidFill>
                <a:latin typeface="Roboto"/>
                <a:ea typeface="Roboto"/>
                <a:cs typeface="Roboto"/>
                <a:sym typeface="Roboto"/>
              </a:rPr>
              <a:t>, and </a:t>
            </a:r>
            <a:r>
              <a:rPr b="1" i="0" lang="en" sz="1400" u="none" cap="none" strike="noStrike">
                <a:solidFill>
                  <a:srgbClr val="000000"/>
                </a:solidFill>
                <a:latin typeface="Roboto"/>
                <a:ea typeface="Roboto"/>
                <a:cs typeface="Roboto"/>
                <a:sym typeface="Roboto"/>
              </a:rPr>
              <a:t>A</a:t>
            </a:r>
            <a:r>
              <a:rPr b="0" i="0" lang="en" sz="1400" u="none" cap="none" strike="noStrike">
                <a:solidFill>
                  <a:srgbClr val="000000"/>
                </a:solidFill>
                <a:latin typeface="Roboto"/>
                <a:ea typeface="Roboto"/>
                <a:cs typeface="Roboto"/>
                <a:sym typeface="Roboto"/>
              </a:rPr>
              <a:t> is </a:t>
            </a:r>
            <a:r>
              <a:rPr b="1" i="0" lang="en" sz="1400" u="none" cap="none" strike="noStrike">
                <a:solidFill>
                  <a:srgbClr val="000000"/>
                </a:solidFill>
                <a:latin typeface="Roboto"/>
                <a:ea typeface="Roboto"/>
                <a:cs typeface="Roboto"/>
                <a:sym typeface="Roboto"/>
              </a:rPr>
              <a:t>∞</a:t>
            </a:r>
            <a:r>
              <a:rPr b="0" i="0" lang="en" sz="1400" u="none" cap="none" strike="noStrike">
                <a:solidFill>
                  <a:srgbClr val="000000"/>
                </a:solidFill>
                <a:latin typeface="Roboto"/>
                <a:ea typeface="Roboto"/>
                <a:cs typeface="Roboto"/>
                <a:sym typeface="Roboto"/>
              </a:rPr>
              <a:t> away from me.</a:t>
            </a:r>
            <a:endParaRPr b="0" i="0" sz="1400" u="none" cap="none" strike="noStrike">
              <a:solidFill>
                <a:srgbClr val="000000"/>
              </a:solidFill>
              <a:latin typeface="Roboto"/>
              <a:ea typeface="Roboto"/>
              <a:cs typeface="Roboto"/>
              <a:sym typeface="Roboto"/>
            </a:endParaRPr>
          </a:p>
        </p:txBody>
      </p:sp>
      <p:sp>
        <p:nvSpPr>
          <p:cNvPr id="528" name="Google Shape;528;p32"/>
          <p:cNvSpPr/>
          <p:nvPr/>
        </p:nvSpPr>
        <p:spPr>
          <a:xfrm>
            <a:off x="1026275" y="2955900"/>
            <a:ext cx="1724700" cy="553800"/>
          </a:xfrm>
          <a:prstGeom prst="wedgeRoundRectCallout">
            <a:avLst>
              <a:gd fmla="val 59886" name="adj1"/>
              <a:gd fmla="val 52885" name="adj2"/>
              <a:gd fmla="val 0" name="adj3"/>
            </a:avLst>
          </a:prstGeom>
          <a:no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2"/>
                </a:solidFill>
                <a:latin typeface="Roboto"/>
                <a:ea typeface="Roboto"/>
                <a:cs typeface="Roboto"/>
                <a:sym typeface="Roboto"/>
              </a:rPr>
              <a:t>R3 is my next-hop, so I accept.</a:t>
            </a:r>
            <a:endParaRPr b="0" i="0" sz="1400" u="none" cap="none" strike="noStrike">
              <a:solidFill>
                <a:schemeClr val="accent2"/>
              </a:solidFill>
              <a:latin typeface="Roboto"/>
              <a:ea typeface="Roboto"/>
              <a:cs typeface="Roboto"/>
              <a:sym typeface="Roboto"/>
            </a:endParaRPr>
          </a:p>
        </p:txBody>
      </p:sp>
      <p:graphicFrame>
        <p:nvGraphicFramePr>
          <p:cNvPr id="529" name="Google Shape;529;p32"/>
          <p:cNvGraphicFramePr/>
          <p:nvPr/>
        </p:nvGraphicFramePr>
        <p:xfrm>
          <a:off x="2043944" y="4126825"/>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R3</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b="1" lang="en" sz="1400" u="none" cap="none" strike="noStrike">
                          <a:solidFill>
                            <a:schemeClr val="dk1"/>
                          </a:solidFill>
                          <a:latin typeface="Roboto"/>
                          <a:ea typeface="Roboto"/>
                          <a:cs typeface="Roboto"/>
                          <a:sym typeface="Roboto"/>
                        </a:rPr>
                        <a:t>∞</a:t>
                      </a:r>
                      <a:endParaRPr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
        <p:nvSpPr>
          <p:cNvPr id="530" name="Google Shape;530;p32"/>
          <p:cNvSpPr/>
          <p:nvPr/>
        </p:nvSpPr>
        <p:spPr>
          <a:xfrm>
            <a:off x="6286225" y="2957025"/>
            <a:ext cx="2054400" cy="552900"/>
          </a:xfrm>
          <a:prstGeom prst="wedgeRoundRectCallout">
            <a:avLst>
              <a:gd fmla="val -58083" name="adj1"/>
              <a:gd fmla="val 50276" name="adj2"/>
              <a:gd fmla="val 0" name="adj3"/>
            </a:avLst>
          </a:prstGeom>
          <a:no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I got this route from R2, so send poison to R2.</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3"/>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The Distance-Vector Algorithm So Far</a:t>
            </a:r>
            <a:endParaRPr/>
          </a:p>
        </p:txBody>
      </p:sp>
      <p:sp>
        <p:nvSpPr>
          <p:cNvPr id="536" name="Google Shape;536;p33"/>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a:t>For each destination:</a:t>
            </a:r>
            <a:endParaRPr/>
          </a:p>
          <a:p>
            <a:pPr indent="-342900" lvl="0" marL="457200" rtl="0" algn="l">
              <a:lnSpc>
                <a:spcPct val="115000"/>
              </a:lnSpc>
              <a:spcBef>
                <a:spcPts val="600"/>
              </a:spcBef>
              <a:spcAft>
                <a:spcPts val="0"/>
              </a:spcAft>
              <a:buSzPts val="1800"/>
              <a:buChar char="●"/>
            </a:pPr>
            <a:r>
              <a:rPr lang="en"/>
              <a:t>If you hear an advertisement, update table and reset TTL if:</a:t>
            </a:r>
            <a:endParaRPr/>
          </a:p>
          <a:p>
            <a:pPr indent="-342900" lvl="1" marL="914400" rtl="0" algn="l">
              <a:lnSpc>
                <a:spcPct val="115000"/>
              </a:lnSpc>
              <a:spcBef>
                <a:spcPts val="0"/>
              </a:spcBef>
              <a:spcAft>
                <a:spcPts val="0"/>
              </a:spcAft>
              <a:buSzPts val="1800"/>
              <a:buChar char="○"/>
            </a:pPr>
            <a:r>
              <a:rPr lang="en"/>
              <a:t>The destination isn't in the table.</a:t>
            </a:r>
            <a:endParaRPr/>
          </a:p>
          <a:p>
            <a:pPr indent="-342900" lvl="1" marL="914400" rtl="0" algn="l">
              <a:lnSpc>
                <a:spcPct val="115000"/>
              </a:lnSpc>
              <a:spcBef>
                <a:spcPts val="0"/>
              </a:spcBef>
              <a:spcAft>
                <a:spcPts val="0"/>
              </a:spcAft>
              <a:buSzPts val="1800"/>
              <a:buChar char="○"/>
            </a:pPr>
            <a:r>
              <a:rPr lang="en"/>
              <a:t>Advertised cost + link cost to neighbor &lt; best-known cost. </a:t>
            </a:r>
            <a:r>
              <a:rPr lang="en" sz="1400">
                <a:solidFill>
                  <a:schemeClr val="accent3"/>
                </a:solidFill>
              </a:rPr>
              <a:t>(#1)</a:t>
            </a:r>
            <a:endParaRPr sz="1400">
              <a:solidFill>
                <a:schemeClr val="accent3"/>
              </a:solidFill>
            </a:endParaRPr>
          </a:p>
          <a:p>
            <a:pPr indent="-342900" lvl="1" marL="914400" rtl="0" algn="l">
              <a:lnSpc>
                <a:spcPct val="115000"/>
              </a:lnSpc>
              <a:spcBef>
                <a:spcPts val="0"/>
              </a:spcBef>
              <a:spcAft>
                <a:spcPts val="0"/>
              </a:spcAft>
              <a:buSzPts val="1800"/>
              <a:buChar char="○"/>
            </a:pPr>
            <a:r>
              <a:rPr lang="en"/>
              <a:t>The advertisement is from current next-hop. </a:t>
            </a:r>
            <a:r>
              <a:rPr lang="en" sz="1400">
                <a:solidFill>
                  <a:schemeClr val="accent3"/>
                </a:solidFill>
              </a:rPr>
              <a:t>(#2)</a:t>
            </a:r>
            <a:br>
              <a:rPr lang="en"/>
            </a:br>
            <a:r>
              <a:rPr lang="en"/>
              <a:t>Includes poison advertisements. </a:t>
            </a:r>
            <a:r>
              <a:rPr lang="en" sz="1400">
                <a:solidFill>
                  <a:schemeClr val="accent3"/>
                </a:solidFill>
              </a:rPr>
              <a:t>(#4)</a:t>
            </a:r>
            <a:endParaRPr sz="1400">
              <a:solidFill>
                <a:schemeClr val="accent3"/>
              </a:solidFill>
            </a:endParaRPr>
          </a:p>
          <a:p>
            <a:pPr indent="-342900" lvl="0" marL="457200" rtl="0" algn="l">
              <a:lnSpc>
                <a:spcPct val="115000"/>
              </a:lnSpc>
              <a:spcBef>
                <a:spcPts val="0"/>
              </a:spcBef>
              <a:spcAft>
                <a:spcPts val="0"/>
              </a:spcAft>
              <a:buSzPts val="1800"/>
              <a:buChar char="●"/>
            </a:pPr>
            <a:r>
              <a:rPr lang="en"/>
              <a:t>Advertise to all your neighbors when the table updates, and periodically. </a:t>
            </a:r>
            <a:r>
              <a:rPr lang="en" sz="1400">
                <a:solidFill>
                  <a:schemeClr val="accent3"/>
                </a:solidFill>
              </a:rPr>
              <a:t>(#3)</a:t>
            </a:r>
            <a:endParaRPr sz="1400">
              <a:solidFill>
                <a:schemeClr val="accent3"/>
              </a:solidFill>
            </a:endParaRPr>
          </a:p>
          <a:p>
            <a:pPr indent="-342900" lvl="1" marL="914400" rtl="0" algn="l">
              <a:lnSpc>
                <a:spcPct val="115000"/>
              </a:lnSpc>
              <a:spcBef>
                <a:spcPts val="0"/>
              </a:spcBef>
              <a:spcAft>
                <a:spcPts val="0"/>
              </a:spcAft>
              <a:buClr>
                <a:srgbClr val="000000"/>
              </a:buClr>
              <a:buSzPts val="1800"/>
              <a:buChar char="○"/>
            </a:pPr>
            <a:r>
              <a:rPr lang="en">
                <a:solidFill>
                  <a:schemeClr val="accent2"/>
                </a:solidFill>
              </a:rPr>
              <a:t>But don't advertise back to the next-hop.</a:t>
            </a:r>
            <a:r>
              <a:rPr lang="en">
                <a:solidFill>
                  <a:srgbClr val="000000"/>
                </a:solidFill>
              </a:rPr>
              <a:t> </a:t>
            </a:r>
            <a:r>
              <a:rPr lang="en" sz="1400">
                <a:solidFill>
                  <a:schemeClr val="accent3"/>
                </a:solidFill>
              </a:rPr>
              <a:t>(#5A)</a:t>
            </a:r>
            <a:endParaRPr sz="1400">
              <a:solidFill>
                <a:schemeClr val="accent3"/>
              </a:solidFill>
            </a:endParaRPr>
          </a:p>
          <a:p>
            <a:pPr indent="-342900" lvl="1" marL="914400" rtl="0" algn="l">
              <a:lnSpc>
                <a:spcPct val="115000"/>
              </a:lnSpc>
              <a:spcBef>
                <a:spcPts val="0"/>
              </a:spcBef>
              <a:spcAft>
                <a:spcPts val="0"/>
              </a:spcAft>
              <a:buClr>
                <a:schemeClr val="accent2"/>
              </a:buClr>
              <a:buSzPts val="1800"/>
              <a:buChar char="○"/>
            </a:pPr>
            <a:r>
              <a:rPr lang="en">
                <a:solidFill>
                  <a:schemeClr val="accent2"/>
                </a:solidFill>
              </a:rPr>
              <a:t>...Or, advertise poison back to the next-hop. </a:t>
            </a:r>
            <a:r>
              <a:rPr lang="en" sz="1400">
                <a:solidFill>
                  <a:schemeClr val="accent3"/>
                </a:solidFill>
              </a:rPr>
              <a:t>(#5B)</a:t>
            </a:r>
            <a:endParaRPr sz="1400">
              <a:solidFill>
                <a:schemeClr val="accent3"/>
              </a:solidFill>
            </a:endParaRPr>
          </a:p>
          <a:p>
            <a:pPr indent="-342900" lvl="0" marL="457200" rtl="0" algn="l">
              <a:lnSpc>
                <a:spcPct val="115000"/>
              </a:lnSpc>
              <a:spcBef>
                <a:spcPts val="0"/>
              </a:spcBef>
              <a:spcAft>
                <a:spcPts val="0"/>
              </a:spcAft>
              <a:buSzPts val="1800"/>
              <a:buChar char="●"/>
            </a:pPr>
            <a:r>
              <a:rPr lang="en"/>
              <a:t>If a table entry expires, make the entry poison and advertise it. </a:t>
            </a:r>
            <a:r>
              <a:rPr lang="en" sz="1400">
                <a:solidFill>
                  <a:schemeClr val="accent3"/>
                </a:solidFill>
              </a:rPr>
              <a:t>(#3, #4)</a:t>
            </a:r>
            <a:endParaRPr sz="1400">
              <a:solidFill>
                <a:schemeClr val="accent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4"/>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Rule 6: Count to Infinity</a:t>
            </a:r>
            <a:endParaRPr/>
          </a:p>
        </p:txBody>
      </p:sp>
      <p:sp>
        <p:nvSpPr>
          <p:cNvPr id="542" name="Google Shape;542;p34"/>
          <p:cNvSpPr txBox="1"/>
          <p:nvPr>
            <p:ph idx="1" type="body"/>
          </p:nvPr>
        </p:nvSpPr>
        <p:spPr>
          <a:xfrm>
            <a:off x="4812375" y="402200"/>
            <a:ext cx="4038000" cy="426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600"/>
              </a:spcBef>
              <a:spcAft>
                <a:spcPts val="0"/>
              </a:spcAft>
              <a:buSzPts val="1800"/>
              <a:buNone/>
            </a:pPr>
            <a:r>
              <a:rPr lang="en">
                <a:solidFill>
                  <a:srgbClr val="B7B7B7"/>
                </a:solidFill>
              </a:rPr>
              <a:t>Distance-Vector Correctness</a:t>
            </a:r>
            <a:endParaRPr>
              <a:solidFill>
                <a:srgbClr val="B7B7B7"/>
              </a:solidFill>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1: Bellman-Ford Updates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2: Updates From Next-Hop</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3: Resending and Expiring</a:t>
            </a:r>
            <a:endParaRPr>
              <a:solidFill>
                <a:srgbClr val="B7B7B7"/>
              </a:solidFill>
            </a:endParaRPr>
          </a:p>
          <a:p>
            <a:pPr indent="0" lvl="0" marL="0" rtl="0" algn="l">
              <a:lnSpc>
                <a:spcPct val="115000"/>
              </a:lnSpc>
              <a:spcBef>
                <a:spcPts val="600"/>
              </a:spcBef>
              <a:spcAft>
                <a:spcPts val="0"/>
              </a:spcAft>
              <a:buSzPts val="1800"/>
              <a:buNone/>
            </a:pPr>
            <a:r>
              <a:rPr b="1" lang="en">
                <a:solidFill>
                  <a:schemeClr val="accent3"/>
                </a:solidFill>
                <a:latin typeface="Roboto"/>
                <a:ea typeface="Roboto"/>
                <a:cs typeface="Roboto"/>
                <a:sym typeface="Roboto"/>
              </a:rPr>
              <a:t>Distance-Vector Enhancements</a:t>
            </a:r>
            <a:endParaRPr b="1">
              <a:solidFill>
                <a:schemeClr val="accent3"/>
              </a:solidFill>
              <a:latin typeface="Roboto"/>
              <a:ea typeface="Roboto"/>
              <a:cs typeface="Roboto"/>
              <a:sym typeface="Roboto"/>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Rule 4: Poison Expired Routes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5A: Split Horizon</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5B: Poison Reverse</a:t>
            </a:r>
            <a:endParaRPr>
              <a:solidFill>
                <a:srgbClr val="B7B7B7"/>
              </a:solidFill>
            </a:endParaRPr>
          </a:p>
          <a:p>
            <a:pPr indent="-342900" lvl="0" marL="457200" rtl="0" algn="l">
              <a:lnSpc>
                <a:spcPct val="115000"/>
              </a:lnSpc>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Rule 6: Count To Infinity</a:t>
            </a:r>
            <a:endParaRPr b="1">
              <a:solidFill>
                <a:schemeClr val="accent3"/>
              </a:solidFill>
              <a:latin typeface="Roboto"/>
              <a:ea typeface="Roboto"/>
              <a:cs typeface="Roboto"/>
              <a:sym typeface="Roboto"/>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Eventful Updates</a:t>
            </a:r>
            <a:endParaRPr>
              <a:solidFill>
                <a:srgbClr val="B7B7B7"/>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35"/>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Count to Infinity – The Problem</a:t>
            </a:r>
            <a:endParaRPr/>
          </a:p>
        </p:txBody>
      </p:sp>
      <p:sp>
        <p:nvSpPr>
          <p:cNvPr id="548" name="Google Shape;548;p35"/>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Split horizon (or poison reverse) helps us avoid length-2 loops.</a:t>
            </a:r>
            <a:endParaRPr/>
          </a:p>
          <a:p>
            <a:pPr indent="-342900" lvl="0" marL="457200" rtl="0" algn="l">
              <a:lnSpc>
                <a:spcPct val="115000"/>
              </a:lnSpc>
              <a:spcBef>
                <a:spcPts val="600"/>
              </a:spcBef>
              <a:spcAft>
                <a:spcPts val="0"/>
              </a:spcAft>
              <a:buSzPts val="1800"/>
              <a:buChar char="●"/>
            </a:pPr>
            <a:r>
              <a:rPr lang="en"/>
              <a:t>R1 forwards to R2.</a:t>
            </a:r>
            <a:endParaRPr/>
          </a:p>
          <a:p>
            <a:pPr indent="-342900" lvl="0" marL="457200" rtl="0" algn="l">
              <a:lnSpc>
                <a:spcPct val="115000"/>
              </a:lnSpc>
              <a:spcBef>
                <a:spcPts val="0"/>
              </a:spcBef>
              <a:spcAft>
                <a:spcPts val="0"/>
              </a:spcAft>
              <a:buSzPts val="1800"/>
              <a:buChar char="●"/>
            </a:pPr>
            <a:r>
              <a:rPr lang="en"/>
              <a:t>R2 forwards to R1.</a:t>
            </a:r>
            <a:endParaRPr/>
          </a:p>
          <a:p>
            <a:pPr indent="0" lvl="0" marL="0" rtl="0" algn="l">
              <a:lnSpc>
                <a:spcPct val="115000"/>
              </a:lnSpc>
              <a:spcBef>
                <a:spcPts val="600"/>
              </a:spcBef>
              <a:spcAft>
                <a:spcPts val="0"/>
              </a:spcAft>
              <a:buSzPts val="1800"/>
              <a:buNone/>
            </a:pPr>
            <a:r>
              <a:t/>
            </a:r>
            <a:endParaRPr/>
          </a:p>
          <a:p>
            <a:pPr indent="0" lvl="0" marL="0" rtl="0" algn="l">
              <a:lnSpc>
                <a:spcPct val="115000"/>
              </a:lnSpc>
              <a:spcBef>
                <a:spcPts val="600"/>
              </a:spcBef>
              <a:spcAft>
                <a:spcPts val="0"/>
              </a:spcAft>
              <a:buSzPts val="1800"/>
              <a:buNone/>
            </a:pPr>
            <a:r>
              <a:rPr lang="en"/>
              <a:t>But we can still get routing loops with 3 or more routers.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6"/>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Count to Infinity – The Problem</a:t>
            </a:r>
            <a:endParaRPr/>
          </a:p>
        </p:txBody>
      </p:sp>
      <p:sp>
        <p:nvSpPr>
          <p:cNvPr id="554" name="Google Shape;554;p36"/>
          <p:cNvSpPr txBox="1"/>
          <p:nvPr>
            <p:ph idx="1" type="body"/>
          </p:nvPr>
        </p:nvSpPr>
        <p:spPr>
          <a:xfrm>
            <a:off x="107050" y="402200"/>
            <a:ext cx="8909700" cy="10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Suppose the tables reach steady-state.</a:t>
            </a:r>
            <a:endParaRPr/>
          </a:p>
        </p:txBody>
      </p:sp>
      <p:sp>
        <p:nvSpPr>
          <p:cNvPr id="555" name="Google Shape;555;p36"/>
          <p:cNvSpPr/>
          <p:nvPr/>
        </p:nvSpPr>
        <p:spPr>
          <a:xfrm>
            <a:off x="3051363" y="3494775"/>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a:t>
            </a:r>
            <a:endParaRPr b="0" i="0" sz="1400" u="none" cap="none" strike="noStrike">
              <a:solidFill>
                <a:srgbClr val="000000"/>
              </a:solidFill>
              <a:latin typeface="Roboto"/>
              <a:ea typeface="Roboto"/>
              <a:cs typeface="Roboto"/>
              <a:sym typeface="Roboto"/>
            </a:endParaRPr>
          </a:p>
        </p:txBody>
      </p:sp>
      <p:cxnSp>
        <p:nvCxnSpPr>
          <p:cNvPr id="556" name="Google Shape;556;p36"/>
          <p:cNvCxnSpPr>
            <a:stCxn id="557" idx="1"/>
            <a:endCxn id="555" idx="6"/>
          </p:cNvCxnSpPr>
          <p:nvPr/>
        </p:nvCxnSpPr>
        <p:spPr>
          <a:xfrm rot="10800000">
            <a:off x="3336375" y="3637275"/>
            <a:ext cx="400800" cy="0"/>
          </a:xfrm>
          <a:prstGeom prst="straightConnector1">
            <a:avLst/>
          </a:prstGeom>
          <a:noFill/>
          <a:ln cap="flat" cmpd="sng" w="19050">
            <a:solidFill>
              <a:srgbClr val="000000"/>
            </a:solidFill>
            <a:prstDash val="solid"/>
            <a:round/>
            <a:headEnd len="sm" w="sm" type="none"/>
            <a:tailEnd len="sm" w="sm" type="none"/>
          </a:ln>
        </p:spPr>
      </p:cxnSp>
      <p:graphicFrame>
        <p:nvGraphicFramePr>
          <p:cNvPr id="558" name="Google Shape;558;p36"/>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Direct</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1</a:t>
                      </a:r>
                      <a:endParaRPr sz="1400" u="none" cap="none" strike="noStrike">
                        <a:latin typeface="Roboto"/>
                        <a:ea typeface="Roboto"/>
                        <a:cs typeface="Roboto"/>
                        <a:sym typeface="Roboto"/>
                      </a:endParaRPr>
                    </a:p>
                  </a:txBody>
                  <a:tcPr marT="18275" marB="18275" marR="0" marL="0" anchor="ctr"/>
                </a:tc>
              </a:tr>
            </a:tbl>
          </a:graphicData>
        </a:graphic>
      </p:graphicFrame>
      <p:graphicFrame>
        <p:nvGraphicFramePr>
          <p:cNvPr id="559" name="Google Shape;559;p36"/>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2</a:t>
                      </a:r>
                      <a:endParaRPr sz="1400" u="none" cap="none" strike="noStrike">
                        <a:latin typeface="Roboto"/>
                        <a:ea typeface="Roboto"/>
                        <a:cs typeface="Roboto"/>
                        <a:sym typeface="Roboto"/>
                      </a:endParaRPr>
                    </a:p>
                  </a:txBody>
                  <a:tcPr marT="18275" marB="18275" marR="0" marL="0" anchor="ctr"/>
                </a:tc>
              </a:tr>
            </a:tbl>
          </a:graphicData>
        </a:graphic>
      </p:graphicFrame>
      <p:graphicFrame>
        <p:nvGraphicFramePr>
          <p:cNvPr id="560" name="Google Shape;560;p36"/>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2</a:t>
                      </a:r>
                      <a:endParaRPr sz="1400" u="none" cap="none" strike="noStrike">
                        <a:latin typeface="Roboto"/>
                        <a:ea typeface="Roboto"/>
                        <a:cs typeface="Roboto"/>
                        <a:sym typeface="Roboto"/>
                      </a:endParaRPr>
                    </a:p>
                  </a:txBody>
                  <a:tcPr marT="18275" marB="18275" marR="0" marL="0" anchor="ctr"/>
                </a:tc>
              </a:tr>
            </a:tbl>
          </a:graphicData>
        </a:graphic>
      </p:graphicFrame>
      <p:sp>
        <p:nvSpPr>
          <p:cNvPr id="561" name="Google Shape;561;p36"/>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562" name="Google Shape;562;p36"/>
          <p:cNvCxnSpPr>
            <a:stCxn id="561" idx="2"/>
            <a:endCxn id="563"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563" name="Google Shape;563;p36"/>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557" name="Google Shape;557;p36"/>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564" name="Google Shape;564;p36"/>
          <p:cNvCxnSpPr>
            <a:stCxn id="561" idx="1"/>
            <a:endCxn id="557"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565" name="Google Shape;565;p36"/>
          <p:cNvCxnSpPr>
            <a:stCxn id="563" idx="1"/>
            <a:endCxn id="557"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7"/>
          <p:cNvSpPr/>
          <p:nvPr/>
        </p:nvSpPr>
        <p:spPr>
          <a:xfrm>
            <a:off x="3057875" y="2610050"/>
            <a:ext cx="1431300" cy="437100"/>
          </a:xfrm>
          <a:prstGeom prst="roundRect">
            <a:avLst>
              <a:gd fmla="val 16667" name="adj"/>
            </a:avLst>
          </a:prstGeom>
          <a:solidFill>
            <a:srgbClr val="EFEFEF"/>
          </a:solidFill>
          <a:ln cap="flat" cmpd="sng" w="9525">
            <a:solidFill>
              <a:srgbClr val="B7B7B7"/>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B7B7B7"/>
                </a:solidFill>
                <a:latin typeface="Roboto"/>
                <a:ea typeface="Roboto"/>
                <a:cs typeface="Roboto"/>
                <a:sym typeface="Roboto"/>
              </a:rPr>
              <a:t>I'm </a:t>
            </a:r>
            <a:r>
              <a:rPr b="1" i="0" lang="en" sz="1200" u="none" cap="none" strike="noStrike">
                <a:solidFill>
                  <a:srgbClr val="B7B7B7"/>
                </a:solidFill>
                <a:latin typeface="Roboto"/>
                <a:ea typeface="Roboto"/>
                <a:cs typeface="Roboto"/>
                <a:sym typeface="Roboto"/>
              </a:rPr>
              <a:t>R3</a:t>
            </a:r>
            <a:r>
              <a:rPr b="0" i="0" lang="en" sz="1200" u="none" cap="none" strike="noStrike">
                <a:solidFill>
                  <a:srgbClr val="B7B7B7"/>
                </a:solidFill>
                <a:latin typeface="Roboto"/>
                <a:ea typeface="Roboto"/>
                <a:cs typeface="Roboto"/>
                <a:sym typeface="Roboto"/>
              </a:rPr>
              <a:t>, and </a:t>
            </a:r>
            <a:r>
              <a:rPr b="1" i="0" lang="en" sz="1200" u="none" cap="none" strike="noStrike">
                <a:solidFill>
                  <a:srgbClr val="B7B7B7"/>
                </a:solidFill>
                <a:latin typeface="Roboto"/>
                <a:ea typeface="Roboto"/>
                <a:cs typeface="Roboto"/>
                <a:sym typeface="Roboto"/>
              </a:rPr>
              <a:t>A</a:t>
            </a:r>
            <a:r>
              <a:rPr b="0" i="0" lang="en" sz="1200" u="none" cap="none" strike="noStrike">
                <a:solidFill>
                  <a:srgbClr val="B7B7B7"/>
                </a:solidFill>
                <a:latin typeface="Roboto"/>
                <a:ea typeface="Roboto"/>
                <a:cs typeface="Roboto"/>
                <a:sym typeface="Roboto"/>
              </a:rPr>
              <a:t> is</a:t>
            </a:r>
            <a:br>
              <a:rPr b="0" i="0" lang="en" sz="1200" u="none" cap="none" strike="noStrike">
                <a:solidFill>
                  <a:srgbClr val="B7B7B7"/>
                </a:solidFill>
                <a:latin typeface="Roboto"/>
                <a:ea typeface="Roboto"/>
                <a:cs typeface="Roboto"/>
                <a:sym typeface="Roboto"/>
              </a:rPr>
            </a:br>
            <a:r>
              <a:rPr b="1" i="0" lang="en" sz="1200" u="none" cap="none" strike="noStrike">
                <a:solidFill>
                  <a:srgbClr val="B7B7B7"/>
                </a:solidFill>
                <a:latin typeface="Roboto"/>
                <a:ea typeface="Roboto"/>
                <a:cs typeface="Roboto"/>
                <a:sym typeface="Roboto"/>
              </a:rPr>
              <a:t>∞</a:t>
            </a:r>
            <a:r>
              <a:rPr b="0" i="0" lang="en" sz="1200" u="none" cap="none" strike="noStrike">
                <a:solidFill>
                  <a:srgbClr val="B7B7B7"/>
                </a:solidFill>
                <a:latin typeface="Roboto"/>
                <a:ea typeface="Roboto"/>
                <a:cs typeface="Roboto"/>
                <a:sym typeface="Roboto"/>
              </a:rPr>
              <a:t> away from me.</a:t>
            </a:r>
            <a:endParaRPr b="0" i="0" sz="1200" u="none" cap="none" strike="noStrike">
              <a:solidFill>
                <a:srgbClr val="B7B7B7"/>
              </a:solidFill>
              <a:latin typeface="Roboto"/>
              <a:ea typeface="Roboto"/>
              <a:cs typeface="Roboto"/>
              <a:sym typeface="Roboto"/>
            </a:endParaRPr>
          </a:p>
        </p:txBody>
      </p:sp>
      <p:cxnSp>
        <p:nvCxnSpPr>
          <p:cNvPr id="571" name="Google Shape;571;p37"/>
          <p:cNvCxnSpPr>
            <a:stCxn id="572" idx="1"/>
            <a:endCxn id="573" idx="6"/>
          </p:cNvCxnSpPr>
          <p:nvPr/>
        </p:nvCxnSpPr>
        <p:spPr>
          <a:xfrm rot="10800000">
            <a:off x="3336375" y="3637275"/>
            <a:ext cx="400800" cy="0"/>
          </a:xfrm>
          <a:prstGeom prst="straightConnector1">
            <a:avLst/>
          </a:prstGeom>
          <a:noFill/>
          <a:ln cap="flat" cmpd="sng" w="19050">
            <a:solidFill>
              <a:srgbClr val="D9D9D9"/>
            </a:solidFill>
            <a:prstDash val="dash"/>
            <a:round/>
            <a:headEnd len="sm" w="sm" type="none"/>
            <a:tailEnd len="sm" w="sm" type="none"/>
          </a:ln>
        </p:spPr>
      </p:cxnSp>
      <p:sp>
        <p:nvSpPr>
          <p:cNvPr id="574" name="Google Shape;574;p37"/>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solidFill>
                  <a:schemeClr val="accent3"/>
                </a:solidFill>
              </a:rPr>
              <a:t>Count to Infinity – The Problem</a:t>
            </a:r>
            <a:endParaRPr/>
          </a:p>
        </p:txBody>
      </p:sp>
      <p:sp>
        <p:nvSpPr>
          <p:cNvPr id="575" name="Google Shape;575;p37"/>
          <p:cNvSpPr txBox="1"/>
          <p:nvPr>
            <p:ph idx="1" type="body"/>
          </p:nvPr>
        </p:nvSpPr>
        <p:spPr>
          <a:xfrm>
            <a:off x="107050" y="402200"/>
            <a:ext cx="8909700" cy="144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Link goes down! A now unreachable.</a:t>
            </a:r>
            <a:endParaRPr/>
          </a:p>
          <a:p>
            <a:pPr indent="0" lvl="0" marL="0" rtl="0" algn="l">
              <a:lnSpc>
                <a:spcPct val="115000"/>
              </a:lnSpc>
              <a:spcBef>
                <a:spcPts val="600"/>
              </a:spcBef>
              <a:spcAft>
                <a:spcPts val="0"/>
              </a:spcAft>
              <a:buSzPts val="1800"/>
              <a:buNone/>
            </a:pPr>
            <a:r>
              <a:rPr lang="en"/>
              <a:t>R3 updates table and sends poison.</a:t>
            </a:r>
            <a:endParaRPr/>
          </a:p>
          <a:p>
            <a:pPr indent="0" lvl="0" marL="0" rtl="0" algn="l">
              <a:lnSpc>
                <a:spcPct val="115000"/>
              </a:lnSpc>
              <a:spcBef>
                <a:spcPts val="600"/>
              </a:spcBef>
              <a:spcAft>
                <a:spcPts val="0"/>
              </a:spcAft>
              <a:buSzPts val="1800"/>
              <a:buNone/>
            </a:pPr>
            <a:r>
              <a:rPr lang="en"/>
              <a:t>Poison reaches R2, but not R1!</a:t>
            </a:r>
            <a:endParaRPr/>
          </a:p>
        </p:txBody>
      </p:sp>
      <p:sp>
        <p:nvSpPr>
          <p:cNvPr id="576" name="Google Shape;576;p37"/>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577" name="Google Shape;577;p37"/>
          <p:cNvCxnSpPr>
            <a:stCxn id="576" idx="2"/>
            <a:endCxn id="578"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578" name="Google Shape;578;p37"/>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572" name="Google Shape;572;p37"/>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579" name="Google Shape;579;p37"/>
          <p:cNvCxnSpPr>
            <a:stCxn id="576" idx="1"/>
            <a:endCxn id="572"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580" name="Google Shape;580;p37"/>
          <p:cNvCxnSpPr>
            <a:stCxn id="578" idx="1"/>
            <a:endCxn id="572"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sp>
        <p:nvSpPr>
          <p:cNvPr id="573" name="Google Shape;573;p37"/>
          <p:cNvSpPr/>
          <p:nvPr/>
        </p:nvSpPr>
        <p:spPr>
          <a:xfrm>
            <a:off x="3051363" y="3494775"/>
            <a:ext cx="285000" cy="285000"/>
          </a:xfrm>
          <a:prstGeom prst="ellipse">
            <a:avLst/>
          </a:prstGeom>
          <a:solidFill>
            <a:srgbClr val="FFFFFF"/>
          </a:solidFill>
          <a:ln cap="flat" cmpd="sng" w="19050">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D9D9D9"/>
                </a:solidFill>
                <a:latin typeface="Roboto"/>
                <a:ea typeface="Roboto"/>
                <a:cs typeface="Roboto"/>
                <a:sym typeface="Roboto"/>
              </a:rPr>
              <a:t>A</a:t>
            </a:r>
            <a:endParaRPr b="0" i="0" sz="1400" u="none" cap="none" strike="noStrike">
              <a:solidFill>
                <a:srgbClr val="D9D9D9"/>
              </a:solidFill>
              <a:latin typeface="Roboto"/>
              <a:ea typeface="Roboto"/>
              <a:cs typeface="Roboto"/>
              <a:sym typeface="Roboto"/>
            </a:endParaRPr>
          </a:p>
        </p:txBody>
      </p:sp>
      <p:graphicFrame>
        <p:nvGraphicFramePr>
          <p:cNvPr id="581" name="Google Shape;581;p37"/>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Direct</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1</a:t>
                      </a:r>
                      <a:endParaRPr sz="1400" u="none" cap="none" strike="noStrike">
                        <a:latin typeface="Roboto"/>
                        <a:ea typeface="Roboto"/>
                        <a:cs typeface="Roboto"/>
                        <a:sym typeface="Roboto"/>
                      </a:endParaRPr>
                    </a:p>
                  </a:txBody>
                  <a:tcPr marT="18275" marB="18275" marR="0" marL="0" anchor="ctr"/>
                </a:tc>
              </a:tr>
            </a:tbl>
          </a:graphicData>
        </a:graphic>
      </p:graphicFrame>
      <p:graphicFrame>
        <p:nvGraphicFramePr>
          <p:cNvPr id="582" name="Google Shape;582;p37"/>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2</a:t>
                      </a:r>
                      <a:endParaRPr sz="1400" u="none" cap="none" strike="noStrike">
                        <a:latin typeface="Roboto"/>
                        <a:ea typeface="Roboto"/>
                        <a:cs typeface="Roboto"/>
                        <a:sym typeface="Roboto"/>
                      </a:endParaRPr>
                    </a:p>
                  </a:txBody>
                  <a:tcPr marT="18275" marB="18275" marR="0" marL="0" anchor="ctr"/>
                </a:tc>
              </a:tr>
            </a:tbl>
          </a:graphicData>
        </a:graphic>
      </p:graphicFrame>
      <p:graphicFrame>
        <p:nvGraphicFramePr>
          <p:cNvPr id="583" name="Google Shape;583;p37"/>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2</a:t>
                      </a:r>
                      <a:endParaRPr sz="1400" u="none" cap="none" strike="noStrike">
                        <a:latin typeface="Roboto"/>
                        <a:ea typeface="Roboto"/>
                        <a:cs typeface="Roboto"/>
                        <a:sym typeface="Roboto"/>
                      </a:endParaRPr>
                    </a:p>
                  </a:txBody>
                  <a:tcPr marT="18275" marB="18275" marR="0" marL="0" anchor="ctr"/>
                </a:tc>
              </a:tr>
            </a:tbl>
          </a:graphicData>
        </a:graphic>
      </p:graphicFrame>
      <p:graphicFrame>
        <p:nvGraphicFramePr>
          <p:cNvPr id="584" name="Google Shape;584;p37"/>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latin typeface="Roboto"/>
                          <a:ea typeface="Roboto"/>
                          <a:cs typeface="Roboto"/>
                          <a:sym typeface="Roboto"/>
                        </a:rPr>
                        <a:t>Direct</a:t>
                      </a:r>
                      <a:endParaRPr b="1" sz="12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t>
                      </a:r>
                      <a:endParaRPr b="1"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
        <p:nvSpPr>
          <p:cNvPr id="585" name="Google Shape;585;p37"/>
          <p:cNvSpPr/>
          <p:nvPr/>
        </p:nvSpPr>
        <p:spPr>
          <a:xfrm>
            <a:off x="3057875" y="4210250"/>
            <a:ext cx="1431300" cy="4371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I'm </a:t>
            </a:r>
            <a:r>
              <a:rPr b="1" i="0" lang="en" sz="1200" u="none" cap="none" strike="noStrike">
                <a:solidFill>
                  <a:srgbClr val="000000"/>
                </a:solidFill>
                <a:latin typeface="Roboto"/>
                <a:ea typeface="Roboto"/>
                <a:cs typeface="Roboto"/>
                <a:sym typeface="Roboto"/>
              </a:rPr>
              <a:t>R3</a:t>
            </a:r>
            <a:r>
              <a:rPr b="0" i="0" lang="en" sz="1200" u="none" cap="none" strike="noStrike">
                <a:solidFill>
                  <a:srgbClr val="000000"/>
                </a:solidFill>
                <a:latin typeface="Roboto"/>
                <a:ea typeface="Roboto"/>
                <a:cs typeface="Roboto"/>
                <a:sym typeface="Roboto"/>
              </a:rPr>
              <a:t>, and </a:t>
            </a:r>
            <a:r>
              <a:rPr b="1" i="0" lang="en" sz="1200" u="none" cap="none" strike="noStrike">
                <a:solidFill>
                  <a:srgbClr val="000000"/>
                </a:solidFill>
                <a:latin typeface="Roboto"/>
                <a:ea typeface="Roboto"/>
                <a:cs typeface="Roboto"/>
                <a:sym typeface="Roboto"/>
              </a:rPr>
              <a:t>A</a:t>
            </a:r>
            <a:r>
              <a:rPr b="0" i="0" lang="en" sz="1200" u="none" cap="none" strike="noStrike">
                <a:solidFill>
                  <a:srgbClr val="000000"/>
                </a:solidFill>
                <a:latin typeface="Roboto"/>
                <a:ea typeface="Roboto"/>
                <a:cs typeface="Roboto"/>
                <a:sym typeface="Roboto"/>
              </a:rPr>
              <a:t> is</a:t>
            </a:r>
            <a:br>
              <a:rPr b="0" i="0" lang="en" sz="1200" u="none" cap="none" strike="noStrike">
                <a:solidFill>
                  <a:srgbClr val="000000"/>
                </a:solidFill>
                <a:latin typeface="Roboto"/>
                <a:ea typeface="Roboto"/>
                <a:cs typeface="Roboto"/>
                <a:sym typeface="Roboto"/>
              </a:rPr>
            </a:br>
            <a:r>
              <a:rPr b="1" i="0" lang="en" sz="1200" u="none" cap="none" strike="noStrike">
                <a:solidFill>
                  <a:srgbClr val="000000"/>
                </a:solidFill>
                <a:latin typeface="Roboto"/>
                <a:ea typeface="Roboto"/>
                <a:cs typeface="Roboto"/>
                <a:sym typeface="Roboto"/>
              </a:rPr>
              <a:t>∞</a:t>
            </a:r>
            <a:r>
              <a:rPr b="0" i="0" lang="en" sz="1200" u="none" cap="none" strike="noStrike">
                <a:solidFill>
                  <a:srgbClr val="000000"/>
                </a:solidFill>
                <a:latin typeface="Roboto"/>
                <a:ea typeface="Roboto"/>
                <a:cs typeface="Roboto"/>
                <a:sym typeface="Roboto"/>
              </a:rPr>
              <a:t> away from me.</a:t>
            </a:r>
            <a:endParaRPr b="0" i="0" sz="1200" u="none" cap="none" strike="noStrike">
              <a:solidFill>
                <a:srgbClr val="000000"/>
              </a:solidFill>
              <a:latin typeface="Roboto"/>
              <a:ea typeface="Roboto"/>
              <a:cs typeface="Roboto"/>
              <a:sym typeface="Roboto"/>
            </a:endParaRPr>
          </a:p>
        </p:txBody>
      </p:sp>
      <p:cxnSp>
        <p:nvCxnSpPr>
          <p:cNvPr id="586" name="Google Shape;586;p37"/>
          <p:cNvCxnSpPr/>
          <p:nvPr/>
        </p:nvCxnSpPr>
        <p:spPr>
          <a:xfrm>
            <a:off x="4115675" y="3883550"/>
            <a:ext cx="953100" cy="550200"/>
          </a:xfrm>
          <a:prstGeom prst="straightConnector1">
            <a:avLst/>
          </a:prstGeom>
          <a:noFill/>
          <a:ln cap="flat" cmpd="sng" w="19050">
            <a:solidFill>
              <a:schemeClr val="accent2"/>
            </a:solidFill>
            <a:prstDash val="solid"/>
            <a:round/>
            <a:headEnd len="sm" w="sm" type="none"/>
            <a:tailEnd len="med" w="med" type="triangle"/>
          </a:ln>
        </p:spPr>
      </p:cxnSp>
      <p:sp>
        <p:nvSpPr>
          <p:cNvPr id="587" name="Google Shape;587;p37"/>
          <p:cNvSpPr txBox="1"/>
          <p:nvPr/>
        </p:nvSpPr>
        <p:spPr>
          <a:xfrm rot="-899921">
            <a:off x="3320851" y="2695145"/>
            <a:ext cx="905343" cy="301562"/>
          </a:xfrm>
          <a:prstGeom prst="rect">
            <a:avLst/>
          </a:prstGeom>
          <a:noFill/>
          <a:ln>
            <a:noFill/>
          </a:ln>
        </p:spPr>
        <p:txBody>
          <a:bodyPr anchorCtr="0" anchor="t" bIns="27425" lIns="27425" spcFirstLastPara="1" rIns="27425" wrap="square" tIns="27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Roboto"/>
                <a:ea typeface="Roboto"/>
                <a:cs typeface="Roboto"/>
                <a:sym typeface="Roboto"/>
              </a:rPr>
              <a:t>Dropped!</a:t>
            </a:r>
            <a:endParaRPr b="1" i="0" sz="1600" u="none" cap="none" strike="noStrike">
              <a:solidFill>
                <a:srgbClr val="000000"/>
              </a:solidFill>
              <a:latin typeface="Roboto"/>
              <a:ea typeface="Roboto"/>
              <a:cs typeface="Roboto"/>
              <a:sym typeface="Roboto"/>
            </a:endParaRPr>
          </a:p>
        </p:txBody>
      </p:sp>
      <p:cxnSp>
        <p:nvCxnSpPr>
          <p:cNvPr id="588" name="Google Shape;588;p37"/>
          <p:cNvCxnSpPr/>
          <p:nvPr/>
        </p:nvCxnSpPr>
        <p:spPr>
          <a:xfrm flipH="1" rot="10800000">
            <a:off x="4115675" y="2842818"/>
            <a:ext cx="953100" cy="550200"/>
          </a:xfrm>
          <a:prstGeom prst="straightConnector1">
            <a:avLst/>
          </a:prstGeom>
          <a:noFill/>
          <a:ln cap="flat" cmpd="sng" w="19050">
            <a:solidFill>
              <a:srgbClr val="D9D9D9"/>
            </a:solidFill>
            <a:prstDash val="solid"/>
            <a:round/>
            <a:headEnd len="sm" w="sm" type="none"/>
            <a:tailEnd len="med" w="med" type="triangle"/>
          </a:ln>
        </p:spPr>
      </p:cxnSp>
      <p:graphicFrame>
        <p:nvGraphicFramePr>
          <p:cNvPr id="589" name="Google Shape;589;p37"/>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R3</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b="1" lang="en" sz="1400" u="none" cap="none" strike="noStrike">
                          <a:solidFill>
                            <a:schemeClr val="dk1"/>
                          </a:solidFill>
                          <a:latin typeface="Roboto"/>
                          <a:ea typeface="Roboto"/>
                          <a:cs typeface="Roboto"/>
                          <a:sym typeface="Roboto"/>
                        </a:rPr>
                        <a:t>∞</a:t>
                      </a:r>
                      <a:endParaRPr b="1"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cxnSp>
        <p:nvCxnSpPr>
          <p:cNvPr id="594" name="Google Shape;594;p38"/>
          <p:cNvCxnSpPr>
            <a:stCxn id="595" idx="1"/>
            <a:endCxn id="596" idx="6"/>
          </p:cNvCxnSpPr>
          <p:nvPr/>
        </p:nvCxnSpPr>
        <p:spPr>
          <a:xfrm rot="10800000">
            <a:off x="3336375" y="3637275"/>
            <a:ext cx="400800" cy="0"/>
          </a:xfrm>
          <a:prstGeom prst="straightConnector1">
            <a:avLst/>
          </a:prstGeom>
          <a:noFill/>
          <a:ln cap="flat" cmpd="sng" w="19050">
            <a:solidFill>
              <a:srgbClr val="D9D9D9"/>
            </a:solidFill>
            <a:prstDash val="dash"/>
            <a:round/>
            <a:headEnd len="sm" w="sm" type="none"/>
            <a:tailEnd len="sm" w="sm" type="none"/>
          </a:ln>
        </p:spPr>
      </p:cxnSp>
      <p:sp>
        <p:nvSpPr>
          <p:cNvPr id="597" name="Google Shape;597;p38"/>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Count to Infinity – The Problem</a:t>
            </a:r>
            <a:endParaRPr/>
          </a:p>
        </p:txBody>
      </p:sp>
      <p:sp>
        <p:nvSpPr>
          <p:cNvPr id="598" name="Google Shape;598;p38"/>
          <p:cNvSpPr txBox="1"/>
          <p:nvPr>
            <p:ph idx="1" type="body"/>
          </p:nvPr>
        </p:nvSpPr>
        <p:spPr>
          <a:xfrm>
            <a:off x="107050" y="402200"/>
            <a:ext cx="8909700" cy="10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At this point, R3 and R2 know A is unreachable.</a:t>
            </a:r>
            <a:endParaRPr/>
          </a:p>
          <a:p>
            <a:pPr indent="0" lvl="0" marL="0" rtl="0" algn="l">
              <a:lnSpc>
                <a:spcPct val="115000"/>
              </a:lnSpc>
              <a:spcBef>
                <a:spcPts val="600"/>
              </a:spcBef>
              <a:spcAft>
                <a:spcPts val="0"/>
              </a:spcAft>
              <a:buSzPts val="1800"/>
              <a:buNone/>
            </a:pPr>
            <a:r>
              <a:rPr lang="en"/>
              <a:t>But R1 still thinks there's a path to A!</a:t>
            </a:r>
            <a:endParaRPr/>
          </a:p>
        </p:txBody>
      </p:sp>
      <p:sp>
        <p:nvSpPr>
          <p:cNvPr id="596" name="Google Shape;596;p38"/>
          <p:cNvSpPr/>
          <p:nvPr/>
        </p:nvSpPr>
        <p:spPr>
          <a:xfrm>
            <a:off x="3051363" y="3494775"/>
            <a:ext cx="285000" cy="285000"/>
          </a:xfrm>
          <a:prstGeom prst="ellipse">
            <a:avLst/>
          </a:prstGeom>
          <a:solidFill>
            <a:srgbClr val="FFFFFF"/>
          </a:solidFill>
          <a:ln cap="flat" cmpd="sng" w="19050">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D9D9D9"/>
                </a:solidFill>
                <a:latin typeface="Roboto"/>
                <a:ea typeface="Roboto"/>
                <a:cs typeface="Roboto"/>
                <a:sym typeface="Roboto"/>
              </a:rPr>
              <a:t>A</a:t>
            </a:r>
            <a:endParaRPr b="0" i="0" sz="1400" u="none" cap="none" strike="noStrike">
              <a:solidFill>
                <a:srgbClr val="D9D9D9"/>
              </a:solidFill>
              <a:latin typeface="Roboto"/>
              <a:ea typeface="Roboto"/>
              <a:cs typeface="Roboto"/>
              <a:sym typeface="Roboto"/>
            </a:endParaRPr>
          </a:p>
        </p:txBody>
      </p:sp>
      <p:sp>
        <p:nvSpPr>
          <p:cNvPr id="599" name="Google Shape;599;p38"/>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600" name="Google Shape;600;p38"/>
          <p:cNvCxnSpPr>
            <a:stCxn id="599" idx="2"/>
            <a:endCxn id="601"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601" name="Google Shape;601;p38"/>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595" name="Google Shape;595;p38"/>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602" name="Google Shape;602;p38"/>
          <p:cNvCxnSpPr>
            <a:stCxn id="599" idx="1"/>
            <a:endCxn id="595"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603" name="Google Shape;603;p38"/>
          <p:cNvCxnSpPr>
            <a:stCxn id="601" idx="1"/>
            <a:endCxn id="595"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graphicFrame>
        <p:nvGraphicFramePr>
          <p:cNvPr id="604" name="Google Shape;604;p38"/>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Direct</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605" name="Google Shape;605;p38"/>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2</a:t>
                      </a:r>
                      <a:endParaRPr sz="1400" u="none" cap="none" strike="noStrike">
                        <a:latin typeface="Roboto"/>
                        <a:ea typeface="Roboto"/>
                        <a:cs typeface="Roboto"/>
                        <a:sym typeface="Roboto"/>
                      </a:endParaRPr>
                    </a:p>
                  </a:txBody>
                  <a:tcPr marT="18275" marB="18275" marR="0" marL="0" anchor="ctr"/>
                </a:tc>
              </a:tr>
            </a:tbl>
          </a:graphicData>
        </a:graphic>
      </p:graphicFrame>
      <p:graphicFrame>
        <p:nvGraphicFramePr>
          <p:cNvPr id="606" name="Google Shape;606;p38"/>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Roboto"/>
                          <a:ea typeface="Roboto"/>
                          <a:cs typeface="Roboto"/>
                          <a:sym typeface="Roboto"/>
                        </a:rPr>
                        <a:t>∞</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cxnSp>
        <p:nvCxnSpPr>
          <p:cNvPr id="611" name="Google Shape;611;p39"/>
          <p:cNvCxnSpPr>
            <a:stCxn id="612" idx="1"/>
            <a:endCxn id="613" idx="6"/>
          </p:cNvCxnSpPr>
          <p:nvPr/>
        </p:nvCxnSpPr>
        <p:spPr>
          <a:xfrm rot="10800000">
            <a:off x="3336375" y="3637275"/>
            <a:ext cx="400800" cy="0"/>
          </a:xfrm>
          <a:prstGeom prst="straightConnector1">
            <a:avLst/>
          </a:prstGeom>
          <a:noFill/>
          <a:ln cap="flat" cmpd="sng" w="19050">
            <a:solidFill>
              <a:srgbClr val="D9D9D9"/>
            </a:solidFill>
            <a:prstDash val="dash"/>
            <a:round/>
            <a:headEnd len="sm" w="sm" type="none"/>
            <a:tailEnd len="sm" w="sm" type="none"/>
          </a:ln>
        </p:spPr>
      </p:cxnSp>
      <p:sp>
        <p:nvSpPr>
          <p:cNvPr id="614" name="Google Shape;614;p39"/>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Count to Infinity – The Problem</a:t>
            </a:r>
            <a:endParaRPr/>
          </a:p>
        </p:txBody>
      </p:sp>
      <p:sp>
        <p:nvSpPr>
          <p:cNvPr id="615" name="Google Shape;615;p39"/>
          <p:cNvSpPr txBox="1"/>
          <p:nvPr>
            <p:ph idx="1" type="body"/>
          </p:nvPr>
        </p:nvSpPr>
        <p:spPr>
          <a:xfrm>
            <a:off x="107050" y="402200"/>
            <a:ext cx="8909700" cy="10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R1 announces it can reach A.</a:t>
            </a:r>
            <a:endParaRPr/>
          </a:p>
          <a:p>
            <a:pPr indent="0" lvl="0" marL="0" rtl="0" algn="l">
              <a:lnSpc>
                <a:spcPct val="115000"/>
              </a:lnSpc>
              <a:spcBef>
                <a:spcPts val="600"/>
              </a:spcBef>
              <a:spcAft>
                <a:spcPts val="0"/>
              </a:spcAft>
              <a:buSzPts val="1800"/>
              <a:buNone/>
            </a:pPr>
            <a:r>
              <a:rPr lang="en"/>
              <a:t>Split horizon: R1's path came from R3, so don't tell R3.</a:t>
            </a:r>
            <a:endParaRPr/>
          </a:p>
        </p:txBody>
      </p:sp>
      <p:sp>
        <p:nvSpPr>
          <p:cNvPr id="613" name="Google Shape;613;p39"/>
          <p:cNvSpPr/>
          <p:nvPr/>
        </p:nvSpPr>
        <p:spPr>
          <a:xfrm>
            <a:off x="3051363" y="3494775"/>
            <a:ext cx="285000" cy="285000"/>
          </a:xfrm>
          <a:prstGeom prst="ellipse">
            <a:avLst/>
          </a:prstGeom>
          <a:solidFill>
            <a:srgbClr val="FFFFFF"/>
          </a:solidFill>
          <a:ln cap="flat" cmpd="sng" w="19050">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D9D9D9"/>
                </a:solidFill>
                <a:latin typeface="Roboto"/>
                <a:ea typeface="Roboto"/>
                <a:cs typeface="Roboto"/>
                <a:sym typeface="Roboto"/>
              </a:rPr>
              <a:t>A</a:t>
            </a:r>
            <a:endParaRPr b="0" i="0" sz="1400" u="none" cap="none" strike="noStrike">
              <a:solidFill>
                <a:srgbClr val="D9D9D9"/>
              </a:solidFill>
              <a:latin typeface="Roboto"/>
              <a:ea typeface="Roboto"/>
              <a:cs typeface="Roboto"/>
              <a:sym typeface="Roboto"/>
            </a:endParaRPr>
          </a:p>
        </p:txBody>
      </p:sp>
      <p:sp>
        <p:nvSpPr>
          <p:cNvPr id="616" name="Google Shape;616;p39"/>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617" name="Google Shape;617;p39"/>
          <p:cNvCxnSpPr>
            <a:stCxn id="616" idx="2"/>
            <a:endCxn id="618"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618" name="Google Shape;618;p39"/>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612" name="Google Shape;612;p39"/>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619" name="Google Shape;619;p39"/>
          <p:cNvCxnSpPr>
            <a:stCxn id="616" idx="1"/>
            <a:endCxn id="612"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620" name="Google Shape;620;p39"/>
          <p:cNvCxnSpPr>
            <a:stCxn id="618" idx="1"/>
            <a:endCxn id="612"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graphicFrame>
        <p:nvGraphicFramePr>
          <p:cNvPr id="621" name="Google Shape;621;p39"/>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Direct</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622" name="Google Shape;622;p39"/>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2</a:t>
                      </a:r>
                      <a:endParaRPr sz="1400" u="none" cap="none" strike="noStrike">
                        <a:latin typeface="Roboto"/>
                        <a:ea typeface="Roboto"/>
                        <a:cs typeface="Roboto"/>
                        <a:sym typeface="Roboto"/>
                      </a:endParaRPr>
                    </a:p>
                  </a:txBody>
                  <a:tcPr marT="18275" marB="18275" marR="0" marL="0" anchor="ctr"/>
                </a:tc>
              </a:tr>
            </a:tbl>
          </a:graphicData>
        </a:graphic>
      </p:graphicFrame>
      <p:graphicFrame>
        <p:nvGraphicFramePr>
          <p:cNvPr id="623" name="Google Shape;623;p39"/>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Roboto"/>
                          <a:ea typeface="Roboto"/>
                          <a:cs typeface="Roboto"/>
                          <a:sym typeface="Roboto"/>
                        </a:rPr>
                        <a:t>∞</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
        <p:nvSpPr>
          <p:cNvPr id="624" name="Google Shape;624;p39"/>
          <p:cNvSpPr/>
          <p:nvPr/>
        </p:nvSpPr>
        <p:spPr>
          <a:xfrm>
            <a:off x="5733600" y="3425350"/>
            <a:ext cx="1431300" cy="4371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I'm </a:t>
            </a:r>
            <a:r>
              <a:rPr b="1" i="0" lang="en" sz="1200" u="none" cap="none" strike="noStrike">
                <a:solidFill>
                  <a:srgbClr val="000000"/>
                </a:solidFill>
                <a:latin typeface="Roboto"/>
                <a:ea typeface="Roboto"/>
                <a:cs typeface="Roboto"/>
                <a:sym typeface="Roboto"/>
              </a:rPr>
              <a:t>R1</a:t>
            </a:r>
            <a:r>
              <a:rPr b="0" i="0" lang="en" sz="1200" u="none" cap="none" strike="noStrike">
                <a:solidFill>
                  <a:srgbClr val="000000"/>
                </a:solidFill>
                <a:latin typeface="Roboto"/>
                <a:ea typeface="Roboto"/>
                <a:cs typeface="Roboto"/>
                <a:sym typeface="Roboto"/>
              </a:rPr>
              <a:t>, and </a:t>
            </a:r>
            <a:r>
              <a:rPr b="1" i="0" lang="en" sz="1200" u="none" cap="none" strike="noStrike">
                <a:solidFill>
                  <a:srgbClr val="000000"/>
                </a:solidFill>
                <a:latin typeface="Roboto"/>
                <a:ea typeface="Roboto"/>
                <a:cs typeface="Roboto"/>
                <a:sym typeface="Roboto"/>
              </a:rPr>
              <a:t>A</a:t>
            </a:r>
            <a:r>
              <a:rPr b="0" i="0" lang="en" sz="1200" u="none" cap="none" strike="noStrike">
                <a:solidFill>
                  <a:srgbClr val="000000"/>
                </a:solidFill>
                <a:latin typeface="Roboto"/>
                <a:ea typeface="Roboto"/>
                <a:cs typeface="Roboto"/>
                <a:sym typeface="Roboto"/>
              </a:rPr>
              <a:t> is</a:t>
            </a:r>
            <a:br>
              <a:rPr b="0" i="0" lang="en" sz="1200" u="none" cap="none" strike="noStrike">
                <a:solidFill>
                  <a:srgbClr val="000000"/>
                </a:solidFill>
                <a:latin typeface="Roboto"/>
                <a:ea typeface="Roboto"/>
                <a:cs typeface="Roboto"/>
                <a:sym typeface="Roboto"/>
              </a:rPr>
            </a:br>
            <a:r>
              <a:rPr b="1" i="0" lang="en" sz="1200" u="none" cap="none" strike="noStrike">
                <a:solidFill>
                  <a:srgbClr val="000000"/>
                </a:solidFill>
                <a:latin typeface="Roboto"/>
                <a:ea typeface="Roboto"/>
                <a:cs typeface="Roboto"/>
                <a:sym typeface="Roboto"/>
              </a:rPr>
              <a:t>2</a:t>
            </a:r>
            <a:r>
              <a:rPr b="0" i="0" lang="en" sz="1200" u="none" cap="none" strike="noStrike">
                <a:solidFill>
                  <a:srgbClr val="000000"/>
                </a:solidFill>
                <a:latin typeface="Roboto"/>
                <a:ea typeface="Roboto"/>
                <a:cs typeface="Roboto"/>
                <a:sym typeface="Roboto"/>
              </a:rPr>
              <a:t> away from me.</a:t>
            </a:r>
            <a:endParaRPr b="0" i="0" sz="1200" u="none" cap="none" strike="noStrike">
              <a:solidFill>
                <a:srgbClr val="000000"/>
              </a:solidFill>
              <a:latin typeface="Roboto"/>
              <a:ea typeface="Roboto"/>
              <a:cs typeface="Roboto"/>
              <a:sym typeface="Roboto"/>
            </a:endParaRPr>
          </a:p>
        </p:txBody>
      </p:sp>
      <p:cxnSp>
        <p:nvCxnSpPr>
          <p:cNvPr id="625" name="Google Shape;625;p39"/>
          <p:cNvCxnSpPr/>
          <p:nvPr/>
        </p:nvCxnSpPr>
        <p:spPr>
          <a:xfrm>
            <a:off x="5569575" y="3172442"/>
            <a:ext cx="0" cy="922800"/>
          </a:xfrm>
          <a:prstGeom prst="straightConnector1">
            <a:avLst/>
          </a:prstGeom>
          <a:noFill/>
          <a:ln cap="flat" cmpd="sng" w="19050">
            <a:solidFill>
              <a:schemeClr val="accent2"/>
            </a:solidFill>
            <a:prstDash val="solid"/>
            <a:round/>
            <a:headEnd len="sm" w="sm" type="none"/>
            <a:tailEnd len="med" w="med" type="triangle"/>
          </a:ln>
        </p:spPr>
      </p:cxnSp>
      <p:graphicFrame>
        <p:nvGraphicFramePr>
          <p:cNvPr id="626" name="Google Shape;626;p39"/>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R1</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Roboto"/>
                          <a:ea typeface="Roboto"/>
                          <a:cs typeface="Roboto"/>
                          <a:sym typeface="Roboto"/>
                        </a:rPr>
                        <a:t>3</a:t>
                      </a:r>
                      <a:endParaRPr b="1"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cxnSp>
        <p:nvCxnSpPr>
          <p:cNvPr id="631" name="Google Shape;631;p40"/>
          <p:cNvCxnSpPr>
            <a:stCxn id="632" idx="1"/>
            <a:endCxn id="633" idx="6"/>
          </p:cNvCxnSpPr>
          <p:nvPr/>
        </p:nvCxnSpPr>
        <p:spPr>
          <a:xfrm rot="10800000">
            <a:off x="3336375" y="3637275"/>
            <a:ext cx="400800" cy="0"/>
          </a:xfrm>
          <a:prstGeom prst="straightConnector1">
            <a:avLst/>
          </a:prstGeom>
          <a:noFill/>
          <a:ln cap="flat" cmpd="sng" w="19050">
            <a:solidFill>
              <a:srgbClr val="D9D9D9"/>
            </a:solidFill>
            <a:prstDash val="dash"/>
            <a:round/>
            <a:headEnd len="sm" w="sm" type="none"/>
            <a:tailEnd len="sm" w="sm" type="none"/>
          </a:ln>
        </p:spPr>
      </p:cxnSp>
      <p:sp>
        <p:nvSpPr>
          <p:cNvPr id="634" name="Google Shape;634;p40"/>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Count to Infinity – The Problem</a:t>
            </a:r>
            <a:endParaRPr/>
          </a:p>
        </p:txBody>
      </p:sp>
      <p:sp>
        <p:nvSpPr>
          <p:cNvPr id="635" name="Google Shape;635;p40"/>
          <p:cNvSpPr txBox="1"/>
          <p:nvPr>
            <p:ph idx="1" type="body"/>
          </p:nvPr>
        </p:nvSpPr>
        <p:spPr>
          <a:xfrm>
            <a:off x="107050" y="402200"/>
            <a:ext cx="8909700" cy="10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R2 announces it can reach A.</a:t>
            </a:r>
            <a:endParaRPr/>
          </a:p>
          <a:p>
            <a:pPr indent="0" lvl="0" marL="0" rtl="0" algn="l">
              <a:lnSpc>
                <a:spcPct val="115000"/>
              </a:lnSpc>
              <a:spcBef>
                <a:spcPts val="600"/>
              </a:spcBef>
              <a:spcAft>
                <a:spcPts val="0"/>
              </a:spcAft>
              <a:buSzPts val="1800"/>
              <a:buNone/>
            </a:pPr>
            <a:r>
              <a:rPr lang="en"/>
              <a:t>Split horizon: R2's path came from R1, so don't tell R1.</a:t>
            </a:r>
            <a:endParaRPr/>
          </a:p>
        </p:txBody>
      </p:sp>
      <p:sp>
        <p:nvSpPr>
          <p:cNvPr id="633" name="Google Shape;633;p40"/>
          <p:cNvSpPr/>
          <p:nvPr/>
        </p:nvSpPr>
        <p:spPr>
          <a:xfrm>
            <a:off x="3051363" y="3494775"/>
            <a:ext cx="285000" cy="285000"/>
          </a:xfrm>
          <a:prstGeom prst="ellipse">
            <a:avLst/>
          </a:prstGeom>
          <a:solidFill>
            <a:srgbClr val="FFFFFF"/>
          </a:solidFill>
          <a:ln cap="flat" cmpd="sng" w="19050">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D9D9D9"/>
                </a:solidFill>
                <a:latin typeface="Roboto"/>
                <a:ea typeface="Roboto"/>
                <a:cs typeface="Roboto"/>
                <a:sym typeface="Roboto"/>
              </a:rPr>
              <a:t>A</a:t>
            </a:r>
            <a:endParaRPr b="0" i="0" sz="1400" u="none" cap="none" strike="noStrike">
              <a:solidFill>
                <a:srgbClr val="D9D9D9"/>
              </a:solidFill>
              <a:latin typeface="Roboto"/>
              <a:ea typeface="Roboto"/>
              <a:cs typeface="Roboto"/>
              <a:sym typeface="Roboto"/>
            </a:endParaRPr>
          </a:p>
        </p:txBody>
      </p:sp>
      <p:sp>
        <p:nvSpPr>
          <p:cNvPr id="636" name="Google Shape;636;p40"/>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637" name="Google Shape;637;p40"/>
          <p:cNvCxnSpPr>
            <a:stCxn id="636" idx="2"/>
            <a:endCxn id="638"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638" name="Google Shape;638;p40"/>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632" name="Google Shape;632;p40"/>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639" name="Google Shape;639;p40"/>
          <p:cNvCxnSpPr>
            <a:stCxn id="636" idx="1"/>
            <a:endCxn id="632"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640" name="Google Shape;640;p40"/>
          <p:cNvCxnSpPr>
            <a:stCxn id="638" idx="1"/>
            <a:endCxn id="632"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graphicFrame>
        <p:nvGraphicFramePr>
          <p:cNvPr id="641" name="Google Shape;641;p40"/>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Direct</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642" name="Google Shape;642;p40"/>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2</a:t>
                      </a:r>
                      <a:endParaRPr sz="1400" u="none" cap="none" strike="noStrike">
                        <a:latin typeface="Roboto"/>
                        <a:ea typeface="Roboto"/>
                        <a:cs typeface="Roboto"/>
                        <a:sym typeface="Roboto"/>
                      </a:endParaRPr>
                    </a:p>
                  </a:txBody>
                  <a:tcPr marT="18275" marB="18275" marR="0" marL="0" anchor="ctr"/>
                </a:tc>
              </a:tr>
            </a:tbl>
          </a:graphicData>
        </a:graphic>
      </p:graphicFrame>
      <p:graphicFrame>
        <p:nvGraphicFramePr>
          <p:cNvPr id="643" name="Google Shape;643;p40"/>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R1</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Roboto"/>
                          <a:ea typeface="Roboto"/>
                          <a:cs typeface="Roboto"/>
                          <a:sym typeface="Roboto"/>
                        </a:rPr>
                        <a:t>3</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
        <p:nvSpPr>
          <p:cNvPr id="644" name="Google Shape;644;p40"/>
          <p:cNvSpPr/>
          <p:nvPr/>
        </p:nvSpPr>
        <p:spPr>
          <a:xfrm>
            <a:off x="3057875" y="4210250"/>
            <a:ext cx="1431300" cy="4371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I'm </a:t>
            </a:r>
            <a:r>
              <a:rPr b="1" i="0" lang="en" sz="1200" u="none" cap="none" strike="noStrike">
                <a:solidFill>
                  <a:srgbClr val="000000"/>
                </a:solidFill>
                <a:latin typeface="Roboto"/>
                <a:ea typeface="Roboto"/>
                <a:cs typeface="Roboto"/>
                <a:sym typeface="Roboto"/>
              </a:rPr>
              <a:t>R2</a:t>
            </a:r>
            <a:r>
              <a:rPr b="0" i="0" lang="en" sz="1200" u="none" cap="none" strike="noStrike">
                <a:solidFill>
                  <a:srgbClr val="000000"/>
                </a:solidFill>
                <a:latin typeface="Roboto"/>
                <a:ea typeface="Roboto"/>
                <a:cs typeface="Roboto"/>
                <a:sym typeface="Roboto"/>
              </a:rPr>
              <a:t>, and </a:t>
            </a:r>
            <a:r>
              <a:rPr b="1" i="0" lang="en" sz="1200" u="none" cap="none" strike="noStrike">
                <a:solidFill>
                  <a:srgbClr val="000000"/>
                </a:solidFill>
                <a:latin typeface="Roboto"/>
                <a:ea typeface="Roboto"/>
                <a:cs typeface="Roboto"/>
                <a:sym typeface="Roboto"/>
              </a:rPr>
              <a:t>A</a:t>
            </a:r>
            <a:r>
              <a:rPr b="0" i="0" lang="en" sz="1200" u="none" cap="none" strike="noStrike">
                <a:solidFill>
                  <a:srgbClr val="000000"/>
                </a:solidFill>
                <a:latin typeface="Roboto"/>
                <a:ea typeface="Roboto"/>
                <a:cs typeface="Roboto"/>
                <a:sym typeface="Roboto"/>
              </a:rPr>
              <a:t> is</a:t>
            </a:r>
            <a:br>
              <a:rPr b="0" i="0" lang="en" sz="1200" u="none" cap="none" strike="noStrike">
                <a:solidFill>
                  <a:srgbClr val="000000"/>
                </a:solidFill>
                <a:latin typeface="Roboto"/>
                <a:ea typeface="Roboto"/>
                <a:cs typeface="Roboto"/>
                <a:sym typeface="Roboto"/>
              </a:rPr>
            </a:br>
            <a:r>
              <a:rPr b="1" i="0" lang="en" sz="1200" u="none" cap="none" strike="noStrike">
                <a:solidFill>
                  <a:srgbClr val="000000"/>
                </a:solidFill>
                <a:latin typeface="Roboto"/>
                <a:ea typeface="Roboto"/>
                <a:cs typeface="Roboto"/>
                <a:sym typeface="Roboto"/>
              </a:rPr>
              <a:t>3</a:t>
            </a:r>
            <a:r>
              <a:rPr b="0" i="0" lang="en" sz="1200" u="none" cap="none" strike="noStrike">
                <a:solidFill>
                  <a:srgbClr val="000000"/>
                </a:solidFill>
                <a:latin typeface="Roboto"/>
                <a:ea typeface="Roboto"/>
                <a:cs typeface="Roboto"/>
                <a:sym typeface="Roboto"/>
              </a:rPr>
              <a:t> away from me.</a:t>
            </a:r>
            <a:endParaRPr b="0" i="0" sz="1200" u="none" cap="none" strike="noStrike">
              <a:solidFill>
                <a:srgbClr val="000000"/>
              </a:solidFill>
              <a:latin typeface="Roboto"/>
              <a:ea typeface="Roboto"/>
              <a:cs typeface="Roboto"/>
              <a:sym typeface="Roboto"/>
            </a:endParaRPr>
          </a:p>
        </p:txBody>
      </p:sp>
      <p:cxnSp>
        <p:nvCxnSpPr>
          <p:cNvPr id="645" name="Google Shape;645;p40"/>
          <p:cNvCxnSpPr/>
          <p:nvPr/>
        </p:nvCxnSpPr>
        <p:spPr>
          <a:xfrm>
            <a:off x="4115675" y="3883550"/>
            <a:ext cx="953100" cy="550200"/>
          </a:xfrm>
          <a:prstGeom prst="straightConnector1">
            <a:avLst/>
          </a:prstGeom>
          <a:noFill/>
          <a:ln cap="flat" cmpd="sng" w="19050">
            <a:solidFill>
              <a:schemeClr val="accent2"/>
            </a:solidFill>
            <a:prstDash val="solid"/>
            <a:round/>
            <a:headEnd len="med" w="med" type="triangle"/>
            <a:tailEnd len="sm" w="sm" type="none"/>
          </a:ln>
        </p:spPr>
      </p:cxnSp>
      <p:graphicFrame>
        <p:nvGraphicFramePr>
          <p:cNvPr id="646" name="Google Shape;646;p40"/>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R2</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4</a:t>
                      </a:r>
                      <a:endParaRPr b="1"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cxnSp>
        <p:nvCxnSpPr>
          <p:cNvPr id="651" name="Google Shape;651;p41"/>
          <p:cNvCxnSpPr>
            <a:stCxn id="652" idx="1"/>
            <a:endCxn id="653" idx="6"/>
          </p:cNvCxnSpPr>
          <p:nvPr/>
        </p:nvCxnSpPr>
        <p:spPr>
          <a:xfrm rot="10800000">
            <a:off x="3336375" y="3637275"/>
            <a:ext cx="400800" cy="0"/>
          </a:xfrm>
          <a:prstGeom prst="straightConnector1">
            <a:avLst/>
          </a:prstGeom>
          <a:noFill/>
          <a:ln cap="flat" cmpd="sng" w="19050">
            <a:solidFill>
              <a:srgbClr val="D9D9D9"/>
            </a:solidFill>
            <a:prstDash val="dash"/>
            <a:round/>
            <a:headEnd len="sm" w="sm" type="none"/>
            <a:tailEnd len="sm" w="sm" type="none"/>
          </a:ln>
        </p:spPr>
      </p:cxnSp>
      <p:sp>
        <p:nvSpPr>
          <p:cNvPr id="654" name="Google Shape;654;p41"/>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Count to Infinity – The Problem</a:t>
            </a:r>
            <a:endParaRPr/>
          </a:p>
        </p:txBody>
      </p:sp>
      <p:sp>
        <p:nvSpPr>
          <p:cNvPr id="655" name="Google Shape;655;p41"/>
          <p:cNvSpPr txBox="1"/>
          <p:nvPr>
            <p:ph idx="1" type="body"/>
          </p:nvPr>
        </p:nvSpPr>
        <p:spPr>
          <a:xfrm>
            <a:off x="107050" y="402200"/>
            <a:ext cx="8909700" cy="10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R3 announces it can reach A.</a:t>
            </a:r>
            <a:endParaRPr/>
          </a:p>
          <a:p>
            <a:pPr indent="0" lvl="0" marL="0" rtl="0" algn="l">
              <a:lnSpc>
                <a:spcPct val="115000"/>
              </a:lnSpc>
              <a:spcBef>
                <a:spcPts val="600"/>
              </a:spcBef>
              <a:spcAft>
                <a:spcPts val="0"/>
              </a:spcAft>
              <a:buSzPts val="1800"/>
              <a:buNone/>
            </a:pPr>
            <a:r>
              <a:rPr lang="en"/>
              <a:t>Split horizon: R3's path came from R2, so don't tell R2.</a:t>
            </a:r>
            <a:endParaRPr/>
          </a:p>
        </p:txBody>
      </p:sp>
      <p:sp>
        <p:nvSpPr>
          <p:cNvPr id="653" name="Google Shape;653;p41"/>
          <p:cNvSpPr/>
          <p:nvPr/>
        </p:nvSpPr>
        <p:spPr>
          <a:xfrm>
            <a:off x="3051363" y="3494775"/>
            <a:ext cx="285000" cy="285000"/>
          </a:xfrm>
          <a:prstGeom prst="ellipse">
            <a:avLst/>
          </a:prstGeom>
          <a:solidFill>
            <a:srgbClr val="FFFFFF"/>
          </a:solidFill>
          <a:ln cap="flat" cmpd="sng" w="19050">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D9D9D9"/>
                </a:solidFill>
                <a:latin typeface="Roboto"/>
                <a:ea typeface="Roboto"/>
                <a:cs typeface="Roboto"/>
                <a:sym typeface="Roboto"/>
              </a:rPr>
              <a:t>A</a:t>
            </a:r>
            <a:endParaRPr b="0" i="0" sz="1400" u="none" cap="none" strike="noStrike">
              <a:solidFill>
                <a:srgbClr val="D9D9D9"/>
              </a:solidFill>
              <a:latin typeface="Roboto"/>
              <a:ea typeface="Roboto"/>
              <a:cs typeface="Roboto"/>
              <a:sym typeface="Roboto"/>
            </a:endParaRPr>
          </a:p>
        </p:txBody>
      </p:sp>
      <p:sp>
        <p:nvSpPr>
          <p:cNvPr id="656" name="Google Shape;656;p41"/>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657" name="Google Shape;657;p41"/>
          <p:cNvCxnSpPr>
            <a:stCxn id="656" idx="2"/>
            <a:endCxn id="658"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658" name="Google Shape;658;p41"/>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652" name="Google Shape;652;p41"/>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659" name="Google Shape;659;p41"/>
          <p:cNvCxnSpPr>
            <a:stCxn id="656" idx="1"/>
            <a:endCxn id="652"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660" name="Google Shape;660;p41"/>
          <p:cNvCxnSpPr>
            <a:stCxn id="658" idx="1"/>
            <a:endCxn id="652"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graphicFrame>
        <p:nvGraphicFramePr>
          <p:cNvPr id="661" name="Google Shape;661;p41"/>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R2</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4</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662" name="Google Shape;662;p41"/>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2</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663" name="Google Shape;663;p41"/>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R1</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Roboto"/>
                          <a:ea typeface="Roboto"/>
                          <a:cs typeface="Roboto"/>
                          <a:sym typeface="Roboto"/>
                        </a:rPr>
                        <a:t>3</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
        <p:nvSpPr>
          <p:cNvPr id="664" name="Google Shape;664;p41"/>
          <p:cNvSpPr/>
          <p:nvPr/>
        </p:nvSpPr>
        <p:spPr>
          <a:xfrm>
            <a:off x="3057875" y="2610050"/>
            <a:ext cx="1431300" cy="4371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I'm </a:t>
            </a:r>
            <a:r>
              <a:rPr b="1" i="0" lang="en" sz="1200" u="none" cap="none" strike="noStrike">
                <a:solidFill>
                  <a:srgbClr val="000000"/>
                </a:solidFill>
                <a:latin typeface="Roboto"/>
                <a:ea typeface="Roboto"/>
                <a:cs typeface="Roboto"/>
                <a:sym typeface="Roboto"/>
              </a:rPr>
              <a:t>R3</a:t>
            </a:r>
            <a:r>
              <a:rPr b="0" i="0" lang="en" sz="1200" u="none" cap="none" strike="noStrike">
                <a:solidFill>
                  <a:srgbClr val="000000"/>
                </a:solidFill>
                <a:latin typeface="Roboto"/>
                <a:ea typeface="Roboto"/>
                <a:cs typeface="Roboto"/>
                <a:sym typeface="Roboto"/>
              </a:rPr>
              <a:t>, and </a:t>
            </a:r>
            <a:r>
              <a:rPr b="1" i="0" lang="en" sz="1200" u="none" cap="none" strike="noStrike">
                <a:solidFill>
                  <a:srgbClr val="000000"/>
                </a:solidFill>
                <a:latin typeface="Roboto"/>
                <a:ea typeface="Roboto"/>
                <a:cs typeface="Roboto"/>
                <a:sym typeface="Roboto"/>
              </a:rPr>
              <a:t>A</a:t>
            </a:r>
            <a:r>
              <a:rPr b="0" i="0" lang="en" sz="1200" u="none" cap="none" strike="noStrike">
                <a:solidFill>
                  <a:srgbClr val="000000"/>
                </a:solidFill>
                <a:latin typeface="Roboto"/>
                <a:ea typeface="Roboto"/>
                <a:cs typeface="Roboto"/>
                <a:sym typeface="Roboto"/>
              </a:rPr>
              <a:t> is</a:t>
            </a:r>
            <a:br>
              <a:rPr b="0" i="0" lang="en" sz="1200" u="none" cap="none" strike="noStrike">
                <a:solidFill>
                  <a:srgbClr val="000000"/>
                </a:solidFill>
                <a:latin typeface="Roboto"/>
                <a:ea typeface="Roboto"/>
                <a:cs typeface="Roboto"/>
                <a:sym typeface="Roboto"/>
              </a:rPr>
            </a:br>
            <a:r>
              <a:rPr b="1" i="0" lang="en" sz="1200" u="none" cap="none" strike="noStrike">
                <a:solidFill>
                  <a:srgbClr val="000000"/>
                </a:solidFill>
                <a:latin typeface="Roboto"/>
                <a:ea typeface="Roboto"/>
                <a:cs typeface="Roboto"/>
                <a:sym typeface="Roboto"/>
              </a:rPr>
              <a:t>4</a:t>
            </a:r>
            <a:r>
              <a:rPr b="0" i="0" lang="en" sz="1200" u="none" cap="none" strike="noStrike">
                <a:solidFill>
                  <a:srgbClr val="000000"/>
                </a:solidFill>
                <a:latin typeface="Roboto"/>
                <a:ea typeface="Roboto"/>
                <a:cs typeface="Roboto"/>
                <a:sym typeface="Roboto"/>
              </a:rPr>
              <a:t> away from me.</a:t>
            </a:r>
            <a:endParaRPr b="0" i="0" sz="1200" u="none" cap="none" strike="noStrike">
              <a:solidFill>
                <a:srgbClr val="000000"/>
              </a:solidFill>
              <a:latin typeface="Roboto"/>
              <a:ea typeface="Roboto"/>
              <a:cs typeface="Roboto"/>
              <a:sym typeface="Roboto"/>
            </a:endParaRPr>
          </a:p>
        </p:txBody>
      </p:sp>
      <p:cxnSp>
        <p:nvCxnSpPr>
          <p:cNvPr id="665" name="Google Shape;665;p41"/>
          <p:cNvCxnSpPr/>
          <p:nvPr/>
        </p:nvCxnSpPr>
        <p:spPr>
          <a:xfrm flipH="1" rot="10800000">
            <a:off x="4115675" y="2831869"/>
            <a:ext cx="953100" cy="550200"/>
          </a:xfrm>
          <a:prstGeom prst="straightConnector1">
            <a:avLst/>
          </a:prstGeom>
          <a:noFill/>
          <a:ln cap="flat" cmpd="sng" w="19050">
            <a:solidFill>
              <a:schemeClr val="accent2"/>
            </a:solidFill>
            <a:prstDash val="solid"/>
            <a:round/>
            <a:headEnd len="sm" w="sm" type="none"/>
            <a:tailEnd len="med" w="med" type="triangle"/>
          </a:ln>
        </p:spPr>
      </p:cxnSp>
      <p:graphicFrame>
        <p:nvGraphicFramePr>
          <p:cNvPr id="666" name="Google Shape;666;p41"/>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R3</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5</a:t>
                      </a:r>
                      <a:endParaRPr b="1"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cxnSp>
        <p:nvCxnSpPr>
          <p:cNvPr id="671" name="Google Shape;671;p42"/>
          <p:cNvCxnSpPr>
            <a:stCxn id="672" idx="1"/>
            <a:endCxn id="673" idx="6"/>
          </p:cNvCxnSpPr>
          <p:nvPr/>
        </p:nvCxnSpPr>
        <p:spPr>
          <a:xfrm rot="10800000">
            <a:off x="3336375" y="3637275"/>
            <a:ext cx="400800" cy="0"/>
          </a:xfrm>
          <a:prstGeom prst="straightConnector1">
            <a:avLst/>
          </a:prstGeom>
          <a:noFill/>
          <a:ln cap="flat" cmpd="sng" w="19050">
            <a:solidFill>
              <a:srgbClr val="D9D9D9"/>
            </a:solidFill>
            <a:prstDash val="dash"/>
            <a:round/>
            <a:headEnd len="sm" w="sm" type="none"/>
            <a:tailEnd len="sm" w="sm" type="none"/>
          </a:ln>
        </p:spPr>
      </p:cxnSp>
      <p:sp>
        <p:nvSpPr>
          <p:cNvPr id="674" name="Google Shape;674;p42"/>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Count to Infinity – The Problem</a:t>
            </a:r>
            <a:endParaRPr/>
          </a:p>
        </p:txBody>
      </p:sp>
      <p:sp>
        <p:nvSpPr>
          <p:cNvPr id="675" name="Google Shape;675;p42"/>
          <p:cNvSpPr txBox="1"/>
          <p:nvPr>
            <p:ph idx="1" type="body"/>
          </p:nvPr>
        </p:nvSpPr>
        <p:spPr>
          <a:xfrm>
            <a:off x="107050" y="402200"/>
            <a:ext cx="8909700" cy="10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We keep advertising in a cycle, and costs keep increasing!</a:t>
            </a:r>
            <a:endParaRPr/>
          </a:p>
          <a:p>
            <a:pPr indent="0" lvl="0" marL="0" rtl="0" algn="l">
              <a:lnSpc>
                <a:spcPct val="115000"/>
              </a:lnSpc>
              <a:spcBef>
                <a:spcPts val="600"/>
              </a:spcBef>
              <a:spcAft>
                <a:spcPts val="0"/>
              </a:spcAft>
              <a:buSzPts val="1800"/>
              <a:buNone/>
            </a:pPr>
            <a:r>
              <a:rPr lang="en"/>
              <a:t>Split horizon can't save us.</a:t>
            </a:r>
            <a:endParaRPr/>
          </a:p>
        </p:txBody>
      </p:sp>
      <p:sp>
        <p:nvSpPr>
          <p:cNvPr id="673" name="Google Shape;673;p42"/>
          <p:cNvSpPr/>
          <p:nvPr/>
        </p:nvSpPr>
        <p:spPr>
          <a:xfrm>
            <a:off x="3051363" y="3494775"/>
            <a:ext cx="285000" cy="285000"/>
          </a:xfrm>
          <a:prstGeom prst="ellipse">
            <a:avLst/>
          </a:prstGeom>
          <a:solidFill>
            <a:srgbClr val="FFFFFF"/>
          </a:solidFill>
          <a:ln cap="flat" cmpd="sng" w="19050">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D9D9D9"/>
                </a:solidFill>
                <a:latin typeface="Roboto"/>
                <a:ea typeface="Roboto"/>
                <a:cs typeface="Roboto"/>
                <a:sym typeface="Roboto"/>
              </a:rPr>
              <a:t>A</a:t>
            </a:r>
            <a:endParaRPr b="0" i="0" sz="1400" u="none" cap="none" strike="noStrike">
              <a:solidFill>
                <a:srgbClr val="D9D9D9"/>
              </a:solidFill>
              <a:latin typeface="Roboto"/>
              <a:ea typeface="Roboto"/>
              <a:cs typeface="Roboto"/>
              <a:sym typeface="Roboto"/>
            </a:endParaRPr>
          </a:p>
        </p:txBody>
      </p:sp>
      <p:sp>
        <p:nvSpPr>
          <p:cNvPr id="676" name="Google Shape;676;p42"/>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677" name="Google Shape;677;p42"/>
          <p:cNvCxnSpPr>
            <a:stCxn id="676" idx="2"/>
            <a:endCxn id="678"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678" name="Google Shape;678;p42"/>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672" name="Google Shape;672;p42"/>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679" name="Google Shape;679;p42"/>
          <p:cNvCxnSpPr>
            <a:stCxn id="676" idx="1"/>
            <a:endCxn id="672"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680" name="Google Shape;680;p42"/>
          <p:cNvCxnSpPr>
            <a:stCxn id="678" idx="1"/>
            <a:endCxn id="672"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graphicFrame>
        <p:nvGraphicFramePr>
          <p:cNvPr id="681" name="Google Shape;681;p42"/>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R2</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4</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682" name="Google Shape;682;p42"/>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5</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683" name="Google Shape;683;p42"/>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R1</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Roboto"/>
                          <a:ea typeface="Roboto"/>
                          <a:cs typeface="Roboto"/>
                          <a:sym typeface="Roboto"/>
                        </a:rPr>
                        <a:t>3</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
        <p:nvSpPr>
          <p:cNvPr id="684" name="Google Shape;684;p42"/>
          <p:cNvSpPr/>
          <p:nvPr/>
        </p:nvSpPr>
        <p:spPr>
          <a:xfrm>
            <a:off x="5733600" y="3425350"/>
            <a:ext cx="1431300" cy="4371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I'm </a:t>
            </a:r>
            <a:r>
              <a:rPr b="1" i="0" lang="en" sz="1200" u="none" cap="none" strike="noStrike">
                <a:solidFill>
                  <a:srgbClr val="000000"/>
                </a:solidFill>
                <a:latin typeface="Roboto"/>
                <a:ea typeface="Roboto"/>
                <a:cs typeface="Roboto"/>
                <a:sym typeface="Roboto"/>
              </a:rPr>
              <a:t>R1</a:t>
            </a:r>
            <a:r>
              <a:rPr b="0" i="0" lang="en" sz="1200" u="none" cap="none" strike="noStrike">
                <a:solidFill>
                  <a:srgbClr val="000000"/>
                </a:solidFill>
                <a:latin typeface="Roboto"/>
                <a:ea typeface="Roboto"/>
                <a:cs typeface="Roboto"/>
                <a:sym typeface="Roboto"/>
              </a:rPr>
              <a:t>, and </a:t>
            </a:r>
            <a:r>
              <a:rPr b="1" i="0" lang="en" sz="1200" u="none" cap="none" strike="noStrike">
                <a:solidFill>
                  <a:srgbClr val="000000"/>
                </a:solidFill>
                <a:latin typeface="Roboto"/>
                <a:ea typeface="Roboto"/>
                <a:cs typeface="Roboto"/>
                <a:sym typeface="Roboto"/>
              </a:rPr>
              <a:t>A</a:t>
            </a:r>
            <a:r>
              <a:rPr b="0" i="0" lang="en" sz="1200" u="none" cap="none" strike="noStrike">
                <a:solidFill>
                  <a:srgbClr val="000000"/>
                </a:solidFill>
                <a:latin typeface="Roboto"/>
                <a:ea typeface="Roboto"/>
                <a:cs typeface="Roboto"/>
                <a:sym typeface="Roboto"/>
              </a:rPr>
              <a:t> is</a:t>
            </a:r>
            <a:br>
              <a:rPr b="0" i="0" lang="en" sz="1200" u="none" cap="none" strike="noStrike">
                <a:solidFill>
                  <a:srgbClr val="000000"/>
                </a:solidFill>
                <a:latin typeface="Roboto"/>
                <a:ea typeface="Roboto"/>
                <a:cs typeface="Roboto"/>
                <a:sym typeface="Roboto"/>
              </a:rPr>
            </a:br>
            <a:r>
              <a:rPr b="1" i="0" lang="en" sz="1200" u="none" cap="none" strike="noStrike">
                <a:solidFill>
                  <a:srgbClr val="000000"/>
                </a:solidFill>
                <a:latin typeface="Roboto"/>
                <a:ea typeface="Roboto"/>
                <a:cs typeface="Roboto"/>
                <a:sym typeface="Roboto"/>
              </a:rPr>
              <a:t>5</a:t>
            </a:r>
            <a:r>
              <a:rPr b="0" i="0" lang="en" sz="1200" u="none" cap="none" strike="noStrike">
                <a:solidFill>
                  <a:srgbClr val="000000"/>
                </a:solidFill>
                <a:latin typeface="Roboto"/>
                <a:ea typeface="Roboto"/>
                <a:cs typeface="Roboto"/>
                <a:sym typeface="Roboto"/>
              </a:rPr>
              <a:t> away from me.</a:t>
            </a:r>
            <a:endParaRPr b="0" i="0" sz="1200" u="none" cap="none" strike="noStrike">
              <a:solidFill>
                <a:srgbClr val="000000"/>
              </a:solidFill>
              <a:latin typeface="Roboto"/>
              <a:ea typeface="Roboto"/>
              <a:cs typeface="Roboto"/>
              <a:sym typeface="Roboto"/>
            </a:endParaRPr>
          </a:p>
        </p:txBody>
      </p:sp>
      <p:cxnSp>
        <p:nvCxnSpPr>
          <p:cNvPr id="685" name="Google Shape;685;p42"/>
          <p:cNvCxnSpPr/>
          <p:nvPr/>
        </p:nvCxnSpPr>
        <p:spPr>
          <a:xfrm>
            <a:off x="5569575" y="3172442"/>
            <a:ext cx="0" cy="922800"/>
          </a:xfrm>
          <a:prstGeom prst="straightConnector1">
            <a:avLst/>
          </a:prstGeom>
          <a:noFill/>
          <a:ln cap="flat" cmpd="sng" w="19050">
            <a:solidFill>
              <a:schemeClr val="accent2"/>
            </a:solidFill>
            <a:prstDash val="solid"/>
            <a:round/>
            <a:headEnd len="sm" w="sm" type="none"/>
            <a:tailEnd len="med" w="med" type="triangle"/>
          </a:ln>
        </p:spPr>
      </p:cxnSp>
      <p:graphicFrame>
        <p:nvGraphicFramePr>
          <p:cNvPr id="686" name="Google Shape;686;p42"/>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R1</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Roboto"/>
                          <a:ea typeface="Roboto"/>
                          <a:cs typeface="Roboto"/>
                          <a:sym typeface="Roboto"/>
                        </a:rPr>
                        <a:t>6</a:t>
                      </a:r>
                      <a:endParaRPr b="1"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cxnSp>
        <p:nvCxnSpPr>
          <p:cNvPr id="691" name="Google Shape;691;p43"/>
          <p:cNvCxnSpPr>
            <a:stCxn id="692" idx="1"/>
            <a:endCxn id="693" idx="6"/>
          </p:cNvCxnSpPr>
          <p:nvPr/>
        </p:nvCxnSpPr>
        <p:spPr>
          <a:xfrm rot="10800000">
            <a:off x="3336375" y="3637275"/>
            <a:ext cx="400800" cy="0"/>
          </a:xfrm>
          <a:prstGeom prst="straightConnector1">
            <a:avLst/>
          </a:prstGeom>
          <a:noFill/>
          <a:ln cap="flat" cmpd="sng" w="19050">
            <a:solidFill>
              <a:srgbClr val="D9D9D9"/>
            </a:solidFill>
            <a:prstDash val="dash"/>
            <a:round/>
            <a:headEnd len="sm" w="sm" type="none"/>
            <a:tailEnd len="sm" w="sm" type="none"/>
          </a:ln>
        </p:spPr>
      </p:cxnSp>
      <p:sp>
        <p:nvSpPr>
          <p:cNvPr id="694" name="Google Shape;694;p43"/>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Count to Infinity – The Problem</a:t>
            </a:r>
            <a:endParaRPr/>
          </a:p>
        </p:txBody>
      </p:sp>
      <p:sp>
        <p:nvSpPr>
          <p:cNvPr id="695" name="Google Shape;695;p43"/>
          <p:cNvSpPr txBox="1"/>
          <p:nvPr>
            <p:ph idx="1" type="body"/>
          </p:nvPr>
        </p:nvSpPr>
        <p:spPr>
          <a:xfrm>
            <a:off x="107050" y="402200"/>
            <a:ext cx="8909700" cy="10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We keep advertising in a cycle, and costs keep increasing!</a:t>
            </a:r>
            <a:endParaRPr/>
          </a:p>
          <a:p>
            <a:pPr indent="0" lvl="0" marL="0" rtl="0" algn="l">
              <a:lnSpc>
                <a:spcPct val="115000"/>
              </a:lnSpc>
              <a:spcBef>
                <a:spcPts val="600"/>
              </a:spcBef>
              <a:spcAft>
                <a:spcPts val="0"/>
              </a:spcAft>
              <a:buSzPts val="1800"/>
              <a:buNone/>
            </a:pPr>
            <a:r>
              <a:rPr lang="en"/>
              <a:t>Split horizon can't save us.</a:t>
            </a:r>
            <a:endParaRPr/>
          </a:p>
        </p:txBody>
      </p:sp>
      <p:sp>
        <p:nvSpPr>
          <p:cNvPr id="693" name="Google Shape;693;p43"/>
          <p:cNvSpPr/>
          <p:nvPr/>
        </p:nvSpPr>
        <p:spPr>
          <a:xfrm>
            <a:off x="3051363" y="3494775"/>
            <a:ext cx="285000" cy="285000"/>
          </a:xfrm>
          <a:prstGeom prst="ellipse">
            <a:avLst/>
          </a:prstGeom>
          <a:solidFill>
            <a:srgbClr val="FFFFFF"/>
          </a:solidFill>
          <a:ln cap="flat" cmpd="sng" w="19050">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D9D9D9"/>
                </a:solidFill>
                <a:latin typeface="Roboto"/>
                <a:ea typeface="Roboto"/>
                <a:cs typeface="Roboto"/>
                <a:sym typeface="Roboto"/>
              </a:rPr>
              <a:t>A</a:t>
            </a:r>
            <a:endParaRPr b="0" i="0" sz="1400" u="none" cap="none" strike="noStrike">
              <a:solidFill>
                <a:srgbClr val="D9D9D9"/>
              </a:solidFill>
              <a:latin typeface="Roboto"/>
              <a:ea typeface="Roboto"/>
              <a:cs typeface="Roboto"/>
              <a:sym typeface="Roboto"/>
            </a:endParaRPr>
          </a:p>
        </p:txBody>
      </p:sp>
      <p:sp>
        <p:nvSpPr>
          <p:cNvPr id="696" name="Google Shape;696;p43"/>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697" name="Google Shape;697;p43"/>
          <p:cNvCxnSpPr>
            <a:stCxn id="696" idx="2"/>
            <a:endCxn id="698"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698" name="Google Shape;698;p43"/>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692" name="Google Shape;692;p43"/>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699" name="Google Shape;699;p43"/>
          <p:cNvCxnSpPr>
            <a:stCxn id="696" idx="1"/>
            <a:endCxn id="692"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700" name="Google Shape;700;p43"/>
          <p:cNvCxnSpPr>
            <a:stCxn id="698" idx="1"/>
            <a:endCxn id="692"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graphicFrame>
        <p:nvGraphicFramePr>
          <p:cNvPr id="701" name="Google Shape;701;p43"/>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R2</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4</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702" name="Google Shape;702;p43"/>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5</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703" name="Google Shape;703;p43"/>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R1</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Roboto"/>
                          <a:ea typeface="Roboto"/>
                          <a:cs typeface="Roboto"/>
                          <a:sym typeface="Roboto"/>
                        </a:rPr>
                        <a:t>6</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
        <p:nvSpPr>
          <p:cNvPr id="704" name="Google Shape;704;p43"/>
          <p:cNvSpPr/>
          <p:nvPr/>
        </p:nvSpPr>
        <p:spPr>
          <a:xfrm>
            <a:off x="3057875" y="4210250"/>
            <a:ext cx="1431300" cy="4371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I'm </a:t>
            </a:r>
            <a:r>
              <a:rPr b="1" i="0" lang="en" sz="1200" u="none" cap="none" strike="noStrike">
                <a:solidFill>
                  <a:srgbClr val="000000"/>
                </a:solidFill>
                <a:latin typeface="Roboto"/>
                <a:ea typeface="Roboto"/>
                <a:cs typeface="Roboto"/>
                <a:sym typeface="Roboto"/>
              </a:rPr>
              <a:t>R2</a:t>
            </a:r>
            <a:r>
              <a:rPr b="0" i="0" lang="en" sz="1200" u="none" cap="none" strike="noStrike">
                <a:solidFill>
                  <a:srgbClr val="000000"/>
                </a:solidFill>
                <a:latin typeface="Roboto"/>
                <a:ea typeface="Roboto"/>
                <a:cs typeface="Roboto"/>
                <a:sym typeface="Roboto"/>
              </a:rPr>
              <a:t>, and </a:t>
            </a:r>
            <a:r>
              <a:rPr b="1" i="0" lang="en" sz="1200" u="none" cap="none" strike="noStrike">
                <a:solidFill>
                  <a:srgbClr val="000000"/>
                </a:solidFill>
                <a:latin typeface="Roboto"/>
                <a:ea typeface="Roboto"/>
                <a:cs typeface="Roboto"/>
                <a:sym typeface="Roboto"/>
              </a:rPr>
              <a:t>A</a:t>
            </a:r>
            <a:r>
              <a:rPr b="0" i="0" lang="en" sz="1200" u="none" cap="none" strike="noStrike">
                <a:solidFill>
                  <a:srgbClr val="000000"/>
                </a:solidFill>
                <a:latin typeface="Roboto"/>
                <a:ea typeface="Roboto"/>
                <a:cs typeface="Roboto"/>
                <a:sym typeface="Roboto"/>
              </a:rPr>
              <a:t> is</a:t>
            </a:r>
            <a:br>
              <a:rPr b="0" i="0" lang="en" sz="1200" u="none" cap="none" strike="noStrike">
                <a:solidFill>
                  <a:srgbClr val="000000"/>
                </a:solidFill>
                <a:latin typeface="Roboto"/>
                <a:ea typeface="Roboto"/>
                <a:cs typeface="Roboto"/>
                <a:sym typeface="Roboto"/>
              </a:rPr>
            </a:br>
            <a:r>
              <a:rPr b="1" i="0" lang="en" sz="1200" u="none" cap="none" strike="noStrike">
                <a:solidFill>
                  <a:srgbClr val="000000"/>
                </a:solidFill>
                <a:latin typeface="Roboto"/>
                <a:ea typeface="Roboto"/>
                <a:cs typeface="Roboto"/>
                <a:sym typeface="Roboto"/>
              </a:rPr>
              <a:t>6</a:t>
            </a:r>
            <a:r>
              <a:rPr b="0" i="0" lang="en" sz="1200" u="none" cap="none" strike="noStrike">
                <a:solidFill>
                  <a:srgbClr val="000000"/>
                </a:solidFill>
                <a:latin typeface="Roboto"/>
                <a:ea typeface="Roboto"/>
                <a:cs typeface="Roboto"/>
                <a:sym typeface="Roboto"/>
              </a:rPr>
              <a:t> away from me.</a:t>
            </a:r>
            <a:endParaRPr b="0" i="0" sz="1200" u="none" cap="none" strike="noStrike">
              <a:solidFill>
                <a:srgbClr val="000000"/>
              </a:solidFill>
              <a:latin typeface="Roboto"/>
              <a:ea typeface="Roboto"/>
              <a:cs typeface="Roboto"/>
              <a:sym typeface="Roboto"/>
            </a:endParaRPr>
          </a:p>
        </p:txBody>
      </p:sp>
      <p:cxnSp>
        <p:nvCxnSpPr>
          <p:cNvPr id="705" name="Google Shape;705;p43"/>
          <p:cNvCxnSpPr/>
          <p:nvPr/>
        </p:nvCxnSpPr>
        <p:spPr>
          <a:xfrm>
            <a:off x="4115675" y="3883550"/>
            <a:ext cx="953100" cy="550200"/>
          </a:xfrm>
          <a:prstGeom prst="straightConnector1">
            <a:avLst/>
          </a:prstGeom>
          <a:noFill/>
          <a:ln cap="flat" cmpd="sng" w="19050">
            <a:solidFill>
              <a:schemeClr val="accent2"/>
            </a:solidFill>
            <a:prstDash val="solid"/>
            <a:round/>
            <a:headEnd len="med" w="med" type="triangle"/>
            <a:tailEnd len="sm" w="sm" type="none"/>
          </a:ln>
        </p:spPr>
      </p:cxnSp>
      <p:graphicFrame>
        <p:nvGraphicFramePr>
          <p:cNvPr id="706" name="Google Shape;706;p43"/>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R2</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7</a:t>
                      </a:r>
                      <a:endParaRPr b="1"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cxnSp>
        <p:nvCxnSpPr>
          <p:cNvPr id="711" name="Google Shape;711;p44"/>
          <p:cNvCxnSpPr>
            <a:stCxn id="712" idx="1"/>
            <a:endCxn id="713" idx="6"/>
          </p:cNvCxnSpPr>
          <p:nvPr/>
        </p:nvCxnSpPr>
        <p:spPr>
          <a:xfrm rot="10800000">
            <a:off x="3336375" y="3637275"/>
            <a:ext cx="400800" cy="0"/>
          </a:xfrm>
          <a:prstGeom prst="straightConnector1">
            <a:avLst/>
          </a:prstGeom>
          <a:noFill/>
          <a:ln cap="flat" cmpd="sng" w="19050">
            <a:solidFill>
              <a:srgbClr val="D9D9D9"/>
            </a:solidFill>
            <a:prstDash val="dash"/>
            <a:round/>
            <a:headEnd len="sm" w="sm" type="none"/>
            <a:tailEnd len="sm" w="sm" type="none"/>
          </a:ln>
        </p:spPr>
      </p:cxnSp>
      <p:sp>
        <p:nvSpPr>
          <p:cNvPr id="714" name="Google Shape;714;p44"/>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Count to Infinity – The Problem</a:t>
            </a:r>
            <a:endParaRPr/>
          </a:p>
        </p:txBody>
      </p:sp>
      <p:sp>
        <p:nvSpPr>
          <p:cNvPr id="715" name="Google Shape;715;p44"/>
          <p:cNvSpPr txBox="1"/>
          <p:nvPr>
            <p:ph idx="1" type="body"/>
          </p:nvPr>
        </p:nvSpPr>
        <p:spPr>
          <a:xfrm>
            <a:off x="107050" y="402200"/>
            <a:ext cx="8909700" cy="10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We keep advertising in a cycle, and costs keep increasing!</a:t>
            </a:r>
            <a:endParaRPr/>
          </a:p>
          <a:p>
            <a:pPr indent="0" lvl="0" marL="0" rtl="0" algn="l">
              <a:lnSpc>
                <a:spcPct val="115000"/>
              </a:lnSpc>
              <a:spcBef>
                <a:spcPts val="600"/>
              </a:spcBef>
              <a:spcAft>
                <a:spcPts val="0"/>
              </a:spcAft>
              <a:buSzPts val="1800"/>
              <a:buNone/>
            </a:pPr>
            <a:r>
              <a:rPr lang="en"/>
              <a:t>Split horizon can't save us.</a:t>
            </a:r>
            <a:endParaRPr/>
          </a:p>
        </p:txBody>
      </p:sp>
      <p:sp>
        <p:nvSpPr>
          <p:cNvPr id="713" name="Google Shape;713;p44"/>
          <p:cNvSpPr/>
          <p:nvPr/>
        </p:nvSpPr>
        <p:spPr>
          <a:xfrm>
            <a:off x="3051363" y="3494775"/>
            <a:ext cx="285000" cy="285000"/>
          </a:xfrm>
          <a:prstGeom prst="ellipse">
            <a:avLst/>
          </a:prstGeom>
          <a:solidFill>
            <a:srgbClr val="FFFFFF"/>
          </a:solidFill>
          <a:ln cap="flat" cmpd="sng" w="19050">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D9D9D9"/>
                </a:solidFill>
                <a:latin typeface="Roboto"/>
                <a:ea typeface="Roboto"/>
                <a:cs typeface="Roboto"/>
                <a:sym typeface="Roboto"/>
              </a:rPr>
              <a:t>A</a:t>
            </a:r>
            <a:endParaRPr b="0" i="0" sz="1400" u="none" cap="none" strike="noStrike">
              <a:solidFill>
                <a:srgbClr val="D9D9D9"/>
              </a:solidFill>
              <a:latin typeface="Roboto"/>
              <a:ea typeface="Roboto"/>
              <a:cs typeface="Roboto"/>
              <a:sym typeface="Roboto"/>
            </a:endParaRPr>
          </a:p>
        </p:txBody>
      </p:sp>
      <p:sp>
        <p:nvSpPr>
          <p:cNvPr id="716" name="Google Shape;716;p44"/>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717" name="Google Shape;717;p44"/>
          <p:cNvCxnSpPr>
            <a:stCxn id="716" idx="2"/>
            <a:endCxn id="718"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718" name="Google Shape;718;p44"/>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712" name="Google Shape;712;p44"/>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719" name="Google Shape;719;p44"/>
          <p:cNvCxnSpPr>
            <a:stCxn id="716" idx="1"/>
            <a:endCxn id="712"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720" name="Google Shape;720;p44"/>
          <p:cNvCxnSpPr>
            <a:stCxn id="718" idx="1"/>
            <a:endCxn id="712"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graphicFrame>
        <p:nvGraphicFramePr>
          <p:cNvPr id="721" name="Google Shape;721;p44"/>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R2</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7</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722" name="Google Shape;722;p44"/>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5</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723" name="Google Shape;723;p44"/>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R1</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Roboto"/>
                          <a:ea typeface="Roboto"/>
                          <a:cs typeface="Roboto"/>
                          <a:sym typeface="Roboto"/>
                        </a:rPr>
                        <a:t>6</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
        <p:nvSpPr>
          <p:cNvPr id="724" name="Google Shape;724;p44"/>
          <p:cNvSpPr/>
          <p:nvPr/>
        </p:nvSpPr>
        <p:spPr>
          <a:xfrm>
            <a:off x="3057875" y="2610050"/>
            <a:ext cx="1431300" cy="4371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I'm </a:t>
            </a:r>
            <a:r>
              <a:rPr b="1" i="0" lang="en" sz="1200" u="none" cap="none" strike="noStrike">
                <a:solidFill>
                  <a:srgbClr val="000000"/>
                </a:solidFill>
                <a:latin typeface="Roboto"/>
                <a:ea typeface="Roboto"/>
                <a:cs typeface="Roboto"/>
                <a:sym typeface="Roboto"/>
              </a:rPr>
              <a:t>R3</a:t>
            </a:r>
            <a:r>
              <a:rPr b="0" i="0" lang="en" sz="1200" u="none" cap="none" strike="noStrike">
                <a:solidFill>
                  <a:srgbClr val="000000"/>
                </a:solidFill>
                <a:latin typeface="Roboto"/>
                <a:ea typeface="Roboto"/>
                <a:cs typeface="Roboto"/>
                <a:sym typeface="Roboto"/>
              </a:rPr>
              <a:t>, and </a:t>
            </a:r>
            <a:r>
              <a:rPr b="1" i="0" lang="en" sz="1200" u="none" cap="none" strike="noStrike">
                <a:solidFill>
                  <a:srgbClr val="000000"/>
                </a:solidFill>
                <a:latin typeface="Roboto"/>
                <a:ea typeface="Roboto"/>
                <a:cs typeface="Roboto"/>
                <a:sym typeface="Roboto"/>
              </a:rPr>
              <a:t>A</a:t>
            </a:r>
            <a:r>
              <a:rPr b="0" i="0" lang="en" sz="1200" u="none" cap="none" strike="noStrike">
                <a:solidFill>
                  <a:srgbClr val="000000"/>
                </a:solidFill>
                <a:latin typeface="Roboto"/>
                <a:ea typeface="Roboto"/>
                <a:cs typeface="Roboto"/>
                <a:sym typeface="Roboto"/>
              </a:rPr>
              <a:t> is</a:t>
            </a:r>
            <a:br>
              <a:rPr b="0" i="0" lang="en" sz="1200" u="none" cap="none" strike="noStrike">
                <a:solidFill>
                  <a:srgbClr val="000000"/>
                </a:solidFill>
                <a:latin typeface="Roboto"/>
                <a:ea typeface="Roboto"/>
                <a:cs typeface="Roboto"/>
                <a:sym typeface="Roboto"/>
              </a:rPr>
            </a:br>
            <a:r>
              <a:rPr b="1" i="0" lang="en" sz="1200" u="none" cap="none" strike="noStrike">
                <a:solidFill>
                  <a:srgbClr val="000000"/>
                </a:solidFill>
                <a:latin typeface="Roboto"/>
                <a:ea typeface="Roboto"/>
                <a:cs typeface="Roboto"/>
                <a:sym typeface="Roboto"/>
              </a:rPr>
              <a:t>7</a:t>
            </a:r>
            <a:r>
              <a:rPr b="0" i="0" lang="en" sz="1200" u="none" cap="none" strike="noStrike">
                <a:solidFill>
                  <a:srgbClr val="000000"/>
                </a:solidFill>
                <a:latin typeface="Roboto"/>
                <a:ea typeface="Roboto"/>
                <a:cs typeface="Roboto"/>
                <a:sym typeface="Roboto"/>
              </a:rPr>
              <a:t> away from me.</a:t>
            </a:r>
            <a:endParaRPr b="0" i="0" sz="1200" u="none" cap="none" strike="noStrike">
              <a:solidFill>
                <a:srgbClr val="000000"/>
              </a:solidFill>
              <a:latin typeface="Roboto"/>
              <a:ea typeface="Roboto"/>
              <a:cs typeface="Roboto"/>
              <a:sym typeface="Roboto"/>
            </a:endParaRPr>
          </a:p>
        </p:txBody>
      </p:sp>
      <p:cxnSp>
        <p:nvCxnSpPr>
          <p:cNvPr id="725" name="Google Shape;725;p44"/>
          <p:cNvCxnSpPr/>
          <p:nvPr/>
        </p:nvCxnSpPr>
        <p:spPr>
          <a:xfrm flipH="1" rot="10800000">
            <a:off x="4115675" y="2831869"/>
            <a:ext cx="953100" cy="550200"/>
          </a:xfrm>
          <a:prstGeom prst="straightConnector1">
            <a:avLst/>
          </a:prstGeom>
          <a:noFill/>
          <a:ln cap="flat" cmpd="sng" w="19050">
            <a:solidFill>
              <a:schemeClr val="accent2"/>
            </a:solidFill>
            <a:prstDash val="solid"/>
            <a:round/>
            <a:headEnd len="sm" w="sm" type="none"/>
            <a:tailEnd len="med" w="med" type="triangle"/>
          </a:ln>
        </p:spPr>
      </p:cxnSp>
      <p:graphicFrame>
        <p:nvGraphicFramePr>
          <p:cNvPr id="726" name="Google Shape;726;p44"/>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R3</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8</a:t>
                      </a:r>
                      <a:endParaRPr b="1"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cxnSp>
        <p:nvCxnSpPr>
          <p:cNvPr id="731" name="Google Shape;731;p45"/>
          <p:cNvCxnSpPr>
            <a:stCxn id="732" idx="1"/>
            <a:endCxn id="733" idx="6"/>
          </p:cNvCxnSpPr>
          <p:nvPr/>
        </p:nvCxnSpPr>
        <p:spPr>
          <a:xfrm rot="10800000">
            <a:off x="3336375" y="3637275"/>
            <a:ext cx="400800" cy="0"/>
          </a:xfrm>
          <a:prstGeom prst="straightConnector1">
            <a:avLst/>
          </a:prstGeom>
          <a:noFill/>
          <a:ln cap="flat" cmpd="sng" w="19050">
            <a:solidFill>
              <a:srgbClr val="D9D9D9"/>
            </a:solidFill>
            <a:prstDash val="dash"/>
            <a:round/>
            <a:headEnd len="sm" w="sm" type="none"/>
            <a:tailEnd len="sm" w="sm" type="none"/>
          </a:ln>
        </p:spPr>
      </p:cxnSp>
      <p:sp>
        <p:nvSpPr>
          <p:cNvPr id="734" name="Google Shape;734;p45"/>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Count to Infinity – The Problem</a:t>
            </a:r>
            <a:endParaRPr/>
          </a:p>
        </p:txBody>
      </p:sp>
      <p:sp>
        <p:nvSpPr>
          <p:cNvPr id="735" name="Google Shape;735;p45"/>
          <p:cNvSpPr txBox="1"/>
          <p:nvPr>
            <p:ph idx="1" type="body"/>
          </p:nvPr>
        </p:nvSpPr>
        <p:spPr>
          <a:xfrm>
            <a:off x="107050" y="402200"/>
            <a:ext cx="8909700" cy="10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We keep advertising in a cycle, and costs keep increasing!</a:t>
            </a:r>
            <a:endParaRPr/>
          </a:p>
          <a:p>
            <a:pPr indent="0" lvl="0" marL="0" rtl="0" algn="l">
              <a:lnSpc>
                <a:spcPct val="115000"/>
              </a:lnSpc>
              <a:spcBef>
                <a:spcPts val="600"/>
              </a:spcBef>
              <a:spcAft>
                <a:spcPts val="0"/>
              </a:spcAft>
              <a:buSzPts val="1800"/>
              <a:buNone/>
            </a:pPr>
            <a:r>
              <a:rPr lang="en"/>
              <a:t>Split horizon can't save us.</a:t>
            </a:r>
            <a:endParaRPr/>
          </a:p>
        </p:txBody>
      </p:sp>
      <p:sp>
        <p:nvSpPr>
          <p:cNvPr id="733" name="Google Shape;733;p45"/>
          <p:cNvSpPr/>
          <p:nvPr/>
        </p:nvSpPr>
        <p:spPr>
          <a:xfrm>
            <a:off x="3051363" y="3494775"/>
            <a:ext cx="285000" cy="285000"/>
          </a:xfrm>
          <a:prstGeom prst="ellipse">
            <a:avLst/>
          </a:prstGeom>
          <a:solidFill>
            <a:srgbClr val="FFFFFF"/>
          </a:solidFill>
          <a:ln cap="flat" cmpd="sng" w="19050">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D9D9D9"/>
                </a:solidFill>
                <a:latin typeface="Roboto"/>
                <a:ea typeface="Roboto"/>
                <a:cs typeface="Roboto"/>
                <a:sym typeface="Roboto"/>
              </a:rPr>
              <a:t>A</a:t>
            </a:r>
            <a:endParaRPr b="0" i="0" sz="1400" u="none" cap="none" strike="noStrike">
              <a:solidFill>
                <a:srgbClr val="D9D9D9"/>
              </a:solidFill>
              <a:latin typeface="Roboto"/>
              <a:ea typeface="Roboto"/>
              <a:cs typeface="Roboto"/>
              <a:sym typeface="Roboto"/>
            </a:endParaRPr>
          </a:p>
        </p:txBody>
      </p:sp>
      <p:sp>
        <p:nvSpPr>
          <p:cNvPr id="736" name="Google Shape;736;p45"/>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737" name="Google Shape;737;p45"/>
          <p:cNvCxnSpPr>
            <a:stCxn id="736" idx="2"/>
            <a:endCxn id="738"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738" name="Google Shape;738;p45"/>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732" name="Google Shape;732;p45"/>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739" name="Google Shape;739;p45"/>
          <p:cNvCxnSpPr>
            <a:stCxn id="736" idx="1"/>
            <a:endCxn id="732"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740" name="Google Shape;740;p45"/>
          <p:cNvCxnSpPr>
            <a:stCxn id="738" idx="1"/>
            <a:endCxn id="732"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graphicFrame>
        <p:nvGraphicFramePr>
          <p:cNvPr id="741" name="Google Shape;741;p45"/>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R2</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7</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742" name="Google Shape;742;p45"/>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8</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743" name="Google Shape;743;p45"/>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R1</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Roboto"/>
                          <a:ea typeface="Roboto"/>
                          <a:cs typeface="Roboto"/>
                          <a:sym typeface="Roboto"/>
                        </a:rPr>
                        <a:t>6</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
        <p:nvSpPr>
          <p:cNvPr id="744" name="Google Shape;744;p45"/>
          <p:cNvSpPr/>
          <p:nvPr/>
        </p:nvSpPr>
        <p:spPr>
          <a:xfrm>
            <a:off x="5733600" y="3425350"/>
            <a:ext cx="1431300" cy="4371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I'm </a:t>
            </a:r>
            <a:r>
              <a:rPr b="1" i="0" lang="en" sz="1200" u="none" cap="none" strike="noStrike">
                <a:solidFill>
                  <a:srgbClr val="000000"/>
                </a:solidFill>
                <a:latin typeface="Roboto"/>
                <a:ea typeface="Roboto"/>
                <a:cs typeface="Roboto"/>
                <a:sym typeface="Roboto"/>
              </a:rPr>
              <a:t>R1</a:t>
            </a:r>
            <a:r>
              <a:rPr b="0" i="0" lang="en" sz="1200" u="none" cap="none" strike="noStrike">
                <a:solidFill>
                  <a:srgbClr val="000000"/>
                </a:solidFill>
                <a:latin typeface="Roboto"/>
                <a:ea typeface="Roboto"/>
                <a:cs typeface="Roboto"/>
                <a:sym typeface="Roboto"/>
              </a:rPr>
              <a:t>, and </a:t>
            </a:r>
            <a:r>
              <a:rPr b="1" i="0" lang="en" sz="1200" u="none" cap="none" strike="noStrike">
                <a:solidFill>
                  <a:srgbClr val="000000"/>
                </a:solidFill>
                <a:latin typeface="Roboto"/>
                <a:ea typeface="Roboto"/>
                <a:cs typeface="Roboto"/>
                <a:sym typeface="Roboto"/>
              </a:rPr>
              <a:t>A</a:t>
            </a:r>
            <a:r>
              <a:rPr b="0" i="0" lang="en" sz="1200" u="none" cap="none" strike="noStrike">
                <a:solidFill>
                  <a:srgbClr val="000000"/>
                </a:solidFill>
                <a:latin typeface="Roboto"/>
                <a:ea typeface="Roboto"/>
                <a:cs typeface="Roboto"/>
                <a:sym typeface="Roboto"/>
              </a:rPr>
              <a:t> is</a:t>
            </a:r>
            <a:br>
              <a:rPr b="0" i="0" lang="en" sz="1200" u="none" cap="none" strike="noStrike">
                <a:solidFill>
                  <a:srgbClr val="000000"/>
                </a:solidFill>
                <a:latin typeface="Roboto"/>
                <a:ea typeface="Roboto"/>
                <a:cs typeface="Roboto"/>
                <a:sym typeface="Roboto"/>
              </a:rPr>
            </a:br>
            <a:r>
              <a:rPr b="1" i="0" lang="en" sz="1200" u="none" cap="none" strike="noStrike">
                <a:solidFill>
                  <a:srgbClr val="000000"/>
                </a:solidFill>
                <a:latin typeface="Roboto"/>
                <a:ea typeface="Roboto"/>
                <a:cs typeface="Roboto"/>
                <a:sym typeface="Roboto"/>
              </a:rPr>
              <a:t>8</a:t>
            </a:r>
            <a:r>
              <a:rPr b="0" i="0" lang="en" sz="1200" u="none" cap="none" strike="noStrike">
                <a:solidFill>
                  <a:srgbClr val="000000"/>
                </a:solidFill>
                <a:latin typeface="Roboto"/>
                <a:ea typeface="Roboto"/>
                <a:cs typeface="Roboto"/>
                <a:sym typeface="Roboto"/>
              </a:rPr>
              <a:t> away from me.</a:t>
            </a:r>
            <a:endParaRPr b="0" i="0" sz="1200" u="none" cap="none" strike="noStrike">
              <a:solidFill>
                <a:srgbClr val="000000"/>
              </a:solidFill>
              <a:latin typeface="Roboto"/>
              <a:ea typeface="Roboto"/>
              <a:cs typeface="Roboto"/>
              <a:sym typeface="Roboto"/>
            </a:endParaRPr>
          </a:p>
        </p:txBody>
      </p:sp>
      <p:cxnSp>
        <p:nvCxnSpPr>
          <p:cNvPr id="745" name="Google Shape;745;p45"/>
          <p:cNvCxnSpPr/>
          <p:nvPr/>
        </p:nvCxnSpPr>
        <p:spPr>
          <a:xfrm>
            <a:off x="5569575" y="3172442"/>
            <a:ext cx="0" cy="922800"/>
          </a:xfrm>
          <a:prstGeom prst="straightConnector1">
            <a:avLst/>
          </a:prstGeom>
          <a:noFill/>
          <a:ln cap="flat" cmpd="sng" w="19050">
            <a:solidFill>
              <a:schemeClr val="accent2"/>
            </a:solidFill>
            <a:prstDash val="solid"/>
            <a:round/>
            <a:headEnd len="sm" w="sm" type="none"/>
            <a:tailEnd len="med" w="med" type="triangle"/>
          </a:ln>
        </p:spPr>
      </p:cxnSp>
      <p:graphicFrame>
        <p:nvGraphicFramePr>
          <p:cNvPr id="746" name="Google Shape;746;p45"/>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R1</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dk1"/>
                          </a:solidFill>
                          <a:latin typeface="Roboto"/>
                          <a:ea typeface="Roboto"/>
                          <a:cs typeface="Roboto"/>
                          <a:sym typeface="Roboto"/>
                        </a:rPr>
                        <a:t>9</a:t>
                      </a:r>
                      <a:endParaRPr b="1"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cxnSp>
        <p:nvCxnSpPr>
          <p:cNvPr id="751" name="Google Shape;751;p46"/>
          <p:cNvCxnSpPr>
            <a:stCxn id="752" idx="1"/>
            <a:endCxn id="753" idx="6"/>
          </p:cNvCxnSpPr>
          <p:nvPr/>
        </p:nvCxnSpPr>
        <p:spPr>
          <a:xfrm rot="10800000">
            <a:off x="3336375" y="3637275"/>
            <a:ext cx="400800" cy="0"/>
          </a:xfrm>
          <a:prstGeom prst="straightConnector1">
            <a:avLst/>
          </a:prstGeom>
          <a:noFill/>
          <a:ln cap="flat" cmpd="sng" w="19050">
            <a:solidFill>
              <a:srgbClr val="D9D9D9"/>
            </a:solidFill>
            <a:prstDash val="dash"/>
            <a:round/>
            <a:headEnd len="sm" w="sm" type="none"/>
            <a:tailEnd len="sm" w="sm" type="none"/>
          </a:ln>
        </p:spPr>
      </p:cxnSp>
      <p:sp>
        <p:nvSpPr>
          <p:cNvPr id="754" name="Google Shape;754;p46"/>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Count to Infinity – The Problem</a:t>
            </a:r>
            <a:endParaRPr/>
          </a:p>
        </p:txBody>
      </p:sp>
      <p:sp>
        <p:nvSpPr>
          <p:cNvPr id="755" name="Google Shape;755;p46"/>
          <p:cNvSpPr txBox="1"/>
          <p:nvPr>
            <p:ph idx="1" type="body"/>
          </p:nvPr>
        </p:nvSpPr>
        <p:spPr>
          <a:xfrm>
            <a:off x="107050" y="402200"/>
            <a:ext cx="8909700" cy="10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We keep advertising in a cycle, and costs keep increasing!</a:t>
            </a:r>
            <a:endParaRPr/>
          </a:p>
          <a:p>
            <a:pPr indent="0" lvl="0" marL="0" rtl="0" algn="l">
              <a:lnSpc>
                <a:spcPct val="115000"/>
              </a:lnSpc>
              <a:spcBef>
                <a:spcPts val="600"/>
              </a:spcBef>
              <a:spcAft>
                <a:spcPts val="0"/>
              </a:spcAft>
              <a:buSzPts val="1800"/>
              <a:buNone/>
            </a:pPr>
            <a:r>
              <a:rPr lang="en"/>
              <a:t>Split horizon can't save us.</a:t>
            </a:r>
            <a:endParaRPr/>
          </a:p>
        </p:txBody>
      </p:sp>
      <p:sp>
        <p:nvSpPr>
          <p:cNvPr id="753" name="Google Shape;753;p46"/>
          <p:cNvSpPr/>
          <p:nvPr/>
        </p:nvSpPr>
        <p:spPr>
          <a:xfrm>
            <a:off x="3051363" y="3494775"/>
            <a:ext cx="285000" cy="285000"/>
          </a:xfrm>
          <a:prstGeom prst="ellipse">
            <a:avLst/>
          </a:prstGeom>
          <a:solidFill>
            <a:srgbClr val="FFFFFF"/>
          </a:solidFill>
          <a:ln cap="flat" cmpd="sng" w="19050">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D9D9D9"/>
                </a:solidFill>
                <a:latin typeface="Roboto"/>
                <a:ea typeface="Roboto"/>
                <a:cs typeface="Roboto"/>
                <a:sym typeface="Roboto"/>
              </a:rPr>
              <a:t>A</a:t>
            </a:r>
            <a:endParaRPr b="0" i="0" sz="1400" u="none" cap="none" strike="noStrike">
              <a:solidFill>
                <a:srgbClr val="D9D9D9"/>
              </a:solidFill>
              <a:latin typeface="Roboto"/>
              <a:ea typeface="Roboto"/>
              <a:cs typeface="Roboto"/>
              <a:sym typeface="Roboto"/>
            </a:endParaRPr>
          </a:p>
        </p:txBody>
      </p:sp>
      <p:sp>
        <p:nvSpPr>
          <p:cNvPr id="756" name="Google Shape;756;p46"/>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757" name="Google Shape;757;p46"/>
          <p:cNvCxnSpPr>
            <a:stCxn id="756" idx="2"/>
            <a:endCxn id="758"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758" name="Google Shape;758;p46"/>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752" name="Google Shape;752;p46"/>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759" name="Google Shape;759;p46"/>
          <p:cNvCxnSpPr>
            <a:stCxn id="756" idx="1"/>
            <a:endCxn id="752"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760" name="Google Shape;760;p46"/>
          <p:cNvCxnSpPr>
            <a:stCxn id="758" idx="1"/>
            <a:endCxn id="752"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graphicFrame>
        <p:nvGraphicFramePr>
          <p:cNvPr id="761" name="Google Shape;761;p46"/>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R2</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7</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762" name="Google Shape;762;p46"/>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8</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763" name="Google Shape;763;p46"/>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R1</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Roboto"/>
                          <a:ea typeface="Roboto"/>
                          <a:cs typeface="Roboto"/>
                          <a:sym typeface="Roboto"/>
                        </a:rPr>
                        <a:t>9</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
        <p:nvSpPr>
          <p:cNvPr id="764" name="Google Shape;764;p46"/>
          <p:cNvSpPr/>
          <p:nvPr/>
        </p:nvSpPr>
        <p:spPr>
          <a:xfrm>
            <a:off x="3057875" y="4210250"/>
            <a:ext cx="1431300" cy="4371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I'm </a:t>
            </a:r>
            <a:r>
              <a:rPr b="1" i="0" lang="en" sz="1200" u="none" cap="none" strike="noStrike">
                <a:solidFill>
                  <a:srgbClr val="000000"/>
                </a:solidFill>
                <a:latin typeface="Roboto"/>
                <a:ea typeface="Roboto"/>
                <a:cs typeface="Roboto"/>
                <a:sym typeface="Roboto"/>
              </a:rPr>
              <a:t>R2</a:t>
            </a:r>
            <a:r>
              <a:rPr b="0" i="0" lang="en" sz="1200" u="none" cap="none" strike="noStrike">
                <a:solidFill>
                  <a:srgbClr val="000000"/>
                </a:solidFill>
                <a:latin typeface="Roboto"/>
                <a:ea typeface="Roboto"/>
                <a:cs typeface="Roboto"/>
                <a:sym typeface="Roboto"/>
              </a:rPr>
              <a:t>, and </a:t>
            </a:r>
            <a:r>
              <a:rPr b="1" i="0" lang="en" sz="1200" u="none" cap="none" strike="noStrike">
                <a:solidFill>
                  <a:srgbClr val="000000"/>
                </a:solidFill>
                <a:latin typeface="Roboto"/>
                <a:ea typeface="Roboto"/>
                <a:cs typeface="Roboto"/>
                <a:sym typeface="Roboto"/>
              </a:rPr>
              <a:t>A</a:t>
            </a:r>
            <a:r>
              <a:rPr b="0" i="0" lang="en" sz="1200" u="none" cap="none" strike="noStrike">
                <a:solidFill>
                  <a:srgbClr val="000000"/>
                </a:solidFill>
                <a:latin typeface="Roboto"/>
                <a:ea typeface="Roboto"/>
                <a:cs typeface="Roboto"/>
                <a:sym typeface="Roboto"/>
              </a:rPr>
              <a:t> is</a:t>
            </a:r>
            <a:br>
              <a:rPr b="0" i="0" lang="en" sz="1200" u="none" cap="none" strike="noStrike">
                <a:solidFill>
                  <a:srgbClr val="000000"/>
                </a:solidFill>
                <a:latin typeface="Roboto"/>
                <a:ea typeface="Roboto"/>
                <a:cs typeface="Roboto"/>
                <a:sym typeface="Roboto"/>
              </a:rPr>
            </a:br>
            <a:r>
              <a:rPr b="1" i="0" lang="en" sz="1200" u="none" cap="none" strike="noStrike">
                <a:solidFill>
                  <a:srgbClr val="000000"/>
                </a:solidFill>
                <a:latin typeface="Roboto"/>
                <a:ea typeface="Roboto"/>
                <a:cs typeface="Roboto"/>
                <a:sym typeface="Roboto"/>
              </a:rPr>
              <a:t>9</a:t>
            </a:r>
            <a:r>
              <a:rPr b="0" i="0" lang="en" sz="1200" u="none" cap="none" strike="noStrike">
                <a:solidFill>
                  <a:srgbClr val="000000"/>
                </a:solidFill>
                <a:latin typeface="Roboto"/>
                <a:ea typeface="Roboto"/>
                <a:cs typeface="Roboto"/>
                <a:sym typeface="Roboto"/>
              </a:rPr>
              <a:t> away from me.</a:t>
            </a:r>
            <a:endParaRPr b="0" i="0" sz="1200" u="none" cap="none" strike="noStrike">
              <a:solidFill>
                <a:srgbClr val="000000"/>
              </a:solidFill>
              <a:latin typeface="Roboto"/>
              <a:ea typeface="Roboto"/>
              <a:cs typeface="Roboto"/>
              <a:sym typeface="Roboto"/>
            </a:endParaRPr>
          </a:p>
        </p:txBody>
      </p:sp>
      <p:cxnSp>
        <p:nvCxnSpPr>
          <p:cNvPr id="765" name="Google Shape;765;p46"/>
          <p:cNvCxnSpPr/>
          <p:nvPr/>
        </p:nvCxnSpPr>
        <p:spPr>
          <a:xfrm>
            <a:off x="4115675" y="3883550"/>
            <a:ext cx="953100" cy="550200"/>
          </a:xfrm>
          <a:prstGeom prst="straightConnector1">
            <a:avLst/>
          </a:prstGeom>
          <a:noFill/>
          <a:ln cap="flat" cmpd="sng" w="19050">
            <a:solidFill>
              <a:schemeClr val="accent2"/>
            </a:solidFill>
            <a:prstDash val="solid"/>
            <a:round/>
            <a:headEnd len="med" w="med" type="triangle"/>
            <a:tailEnd len="sm" w="sm" type="none"/>
          </a:ln>
        </p:spPr>
      </p:cxnSp>
      <p:graphicFrame>
        <p:nvGraphicFramePr>
          <p:cNvPr id="766" name="Google Shape;766;p46"/>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R2</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10</a:t>
                      </a:r>
                      <a:endParaRPr b="1"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cxnSp>
        <p:nvCxnSpPr>
          <p:cNvPr id="771" name="Google Shape;771;p47"/>
          <p:cNvCxnSpPr>
            <a:stCxn id="772" idx="1"/>
            <a:endCxn id="773" idx="6"/>
          </p:cNvCxnSpPr>
          <p:nvPr/>
        </p:nvCxnSpPr>
        <p:spPr>
          <a:xfrm rot="10800000">
            <a:off x="3336375" y="3637275"/>
            <a:ext cx="400800" cy="0"/>
          </a:xfrm>
          <a:prstGeom prst="straightConnector1">
            <a:avLst/>
          </a:prstGeom>
          <a:noFill/>
          <a:ln cap="flat" cmpd="sng" w="19050">
            <a:solidFill>
              <a:srgbClr val="D9D9D9"/>
            </a:solidFill>
            <a:prstDash val="dash"/>
            <a:round/>
            <a:headEnd len="sm" w="sm" type="none"/>
            <a:tailEnd len="sm" w="sm" type="none"/>
          </a:ln>
        </p:spPr>
      </p:cxnSp>
      <p:sp>
        <p:nvSpPr>
          <p:cNvPr id="774" name="Google Shape;774;p47"/>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accent3"/>
                </a:solidFill>
              </a:rPr>
              <a:t>Count to Infinity – The Problem</a:t>
            </a:r>
            <a:endParaRPr/>
          </a:p>
        </p:txBody>
      </p:sp>
      <p:sp>
        <p:nvSpPr>
          <p:cNvPr id="775" name="Google Shape;775;p47"/>
          <p:cNvSpPr txBox="1"/>
          <p:nvPr>
            <p:ph idx="1" type="body"/>
          </p:nvPr>
        </p:nvSpPr>
        <p:spPr>
          <a:xfrm>
            <a:off x="107050" y="402200"/>
            <a:ext cx="8909700" cy="10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We keep advertising in a cycle, and costs keep increasing!</a:t>
            </a:r>
            <a:endParaRPr/>
          </a:p>
          <a:p>
            <a:pPr indent="0" lvl="0" marL="0" rtl="0" algn="l">
              <a:lnSpc>
                <a:spcPct val="115000"/>
              </a:lnSpc>
              <a:spcBef>
                <a:spcPts val="600"/>
              </a:spcBef>
              <a:spcAft>
                <a:spcPts val="0"/>
              </a:spcAft>
              <a:buSzPts val="1800"/>
              <a:buNone/>
            </a:pPr>
            <a:r>
              <a:rPr lang="en"/>
              <a:t>Split horizon can't save us.</a:t>
            </a:r>
            <a:endParaRPr/>
          </a:p>
        </p:txBody>
      </p:sp>
      <p:sp>
        <p:nvSpPr>
          <p:cNvPr id="773" name="Google Shape;773;p47"/>
          <p:cNvSpPr/>
          <p:nvPr/>
        </p:nvSpPr>
        <p:spPr>
          <a:xfrm>
            <a:off x="3051363" y="3494775"/>
            <a:ext cx="285000" cy="285000"/>
          </a:xfrm>
          <a:prstGeom prst="ellipse">
            <a:avLst/>
          </a:prstGeom>
          <a:solidFill>
            <a:srgbClr val="FFFFFF"/>
          </a:solidFill>
          <a:ln cap="flat" cmpd="sng" w="19050">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D9D9D9"/>
                </a:solidFill>
                <a:latin typeface="Roboto"/>
                <a:ea typeface="Roboto"/>
                <a:cs typeface="Roboto"/>
                <a:sym typeface="Roboto"/>
              </a:rPr>
              <a:t>A</a:t>
            </a:r>
            <a:endParaRPr b="0" i="0" sz="1400" u="none" cap="none" strike="noStrike">
              <a:solidFill>
                <a:srgbClr val="D9D9D9"/>
              </a:solidFill>
              <a:latin typeface="Roboto"/>
              <a:ea typeface="Roboto"/>
              <a:cs typeface="Roboto"/>
              <a:sym typeface="Roboto"/>
            </a:endParaRPr>
          </a:p>
        </p:txBody>
      </p:sp>
      <p:sp>
        <p:nvSpPr>
          <p:cNvPr id="776" name="Google Shape;776;p47"/>
          <p:cNvSpPr/>
          <p:nvPr/>
        </p:nvSpPr>
        <p:spPr>
          <a:xfrm>
            <a:off x="5261175" y="2780457"/>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R1</a:t>
            </a:r>
            <a:endParaRPr b="0" i="0" sz="1400" u="none" cap="none" strike="noStrike">
              <a:solidFill>
                <a:srgbClr val="000000"/>
              </a:solidFill>
              <a:latin typeface="Roboto"/>
              <a:ea typeface="Roboto"/>
              <a:cs typeface="Roboto"/>
              <a:sym typeface="Roboto"/>
            </a:endParaRPr>
          </a:p>
        </p:txBody>
      </p:sp>
      <p:cxnSp>
        <p:nvCxnSpPr>
          <p:cNvPr id="777" name="Google Shape;777;p47"/>
          <p:cNvCxnSpPr>
            <a:stCxn id="776" idx="2"/>
            <a:endCxn id="778" idx="0"/>
          </p:cNvCxnSpPr>
          <p:nvPr/>
        </p:nvCxnSpPr>
        <p:spPr>
          <a:xfrm>
            <a:off x="5403675" y="3065457"/>
            <a:ext cx="0" cy="1144800"/>
          </a:xfrm>
          <a:prstGeom prst="straightConnector1">
            <a:avLst/>
          </a:prstGeom>
          <a:noFill/>
          <a:ln cap="flat" cmpd="sng" w="19050">
            <a:solidFill>
              <a:srgbClr val="000000"/>
            </a:solidFill>
            <a:prstDash val="solid"/>
            <a:round/>
            <a:headEnd len="sm" w="sm" type="none"/>
            <a:tailEnd len="sm" w="sm" type="none"/>
          </a:ln>
        </p:spPr>
      </p:cxnSp>
      <p:sp>
        <p:nvSpPr>
          <p:cNvPr id="778" name="Google Shape;778;p47"/>
          <p:cNvSpPr/>
          <p:nvPr/>
        </p:nvSpPr>
        <p:spPr>
          <a:xfrm>
            <a:off x="5261175" y="421022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R2</a:t>
            </a:r>
            <a:endParaRPr b="0" i="0" sz="1400" u="none" cap="none" strike="noStrike">
              <a:solidFill>
                <a:srgbClr val="000000"/>
              </a:solidFill>
              <a:latin typeface="Roboto"/>
              <a:ea typeface="Roboto"/>
              <a:cs typeface="Roboto"/>
              <a:sym typeface="Roboto"/>
            </a:endParaRPr>
          </a:p>
        </p:txBody>
      </p:sp>
      <p:sp>
        <p:nvSpPr>
          <p:cNvPr id="772" name="Google Shape;772;p47"/>
          <p:cNvSpPr/>
          <p:nvPr/>
        </p:nvSpPr>
        <p:spPr>
          <a:xfrm>
            <a:off x="3737175" y="34947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R3</a:t>
            </a:r>
            <a:endParaRPr b="0" i="0" sz="1400" u="none" cap="none" strike="noStrike">
              <a:solidFill>
                <a:srgbClr val="000000"/>
              </a:solidFill>
              <a:latin typeface="Roboto"/>
              <a:ea typeface="Roboto"/>
              <a:cs typeface="Roboto"/>
              <a:sym typeface="Roboto"/>
            </a:endParaRPr>
          </a:p>
        </p:txBody>
      </p:sp>
      <p:cxnSp>
        <p:nvCxnSpPr>
          <p:cNvPr id="779" name="Google Shape;779;p47"/>
          <p:cNvCxnSpPr>
            <a:stCxn id="776" idx="1"/>
            <a:endCxn id="772" idx="3"/>
          </p:cNvCxnSpPr>
          <p:nvPr/>
        </p:nvCxnSpPr>
        <p:spPr>
          <a:xfrm flipH="1">
            <a:off x="4022175" y="2922957"/>
            <a:ext cx="1239000" cy="714300"/>
          </a:xfrm>
          <a:prstGeom prst="straightConnector1">
            <a:avLst/>
          </a:prstGeom>
          <a:noFill/>
          <a:ln cap="flat" cmpd="sng" w="19050">
            <a:solidFill>
              <a:srgbClr val="000000"/>
            </a:solidFill>
            <a:prstDash val="solid"/>
            <a:round/>
            <a:headEnd len="sm" w="sm" type="none"/>
            <a:tailEnd len="sm" w="sm" type="none"/>
          </a:ln>
        </p:spPr>
      </p:cxnSp>
      <p:cxnSp>
        <p:nvCxnSpPr>
          <p:cNvPr id="780" name="Google Shape;780;p47"/>
          <p:cNvCxnSpPr>
            <a:stCxn id="778" idx="1"/>
            <a:endCxn id="772" idx="3"/>
          </p:cNvCxnSpPr>
          <p:nvPr/>
        </p:nvCxnSpPr>
        <p:spPr>
          <a:xfrm rot="10800000">
            <a:off x="4022175" y="3637229"/>
            <a:ext cx="1239000" cy="715500"/>
          </a:xfrm>
          <a:prstGeom prst="straightConnector1">
            <a:avLst/>
          </a:prstGeom>
          <a:noFill/>
          <a:ln cap="flat" cmpd="sng" w="19050">
            <a:solidFill>
              <a:srgbClr val="000000"/>
            </a:solidFill>
            <a:prstDash val="solid"/>
            <a:round/>
            <a:headEnd len="sm" w="sm" type="none"/>
            <a:tailEnd len="sm" w="sm" type="none"/>
          </a:ln>
        </p:spPr>
      </p:cxnSp>
      <p:graphicFrame>
        <p:nvGraphicFramePr>
          <p:cNvPr id="781" name="Google Shape;781;p47"/>
          <p:cNvGraphicFramePr/>
          <p:nvPr/>
        </p:nvGraphicFramePr>
        <p:xfrm>
          <a:off x="990319" y="3292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R3's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R2</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10</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782" name="Google Shape;782;p47"/>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R3</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8</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graphicFrame>
        <p:nvGraphicFramePr>
          <p:cNvPr id="783" name="Google Shape;783;p47"/>
          <p:cNvGraphicFramePr/>
          <p:nvPr/>
        </p:nvGraphicFramePr>
        <p:xfrm>
          <a:off x="6318169" y="405490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R2's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A</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Roboto"/>
                          <a:ea typeface="Roboto"/>
                          <a:cs typeface="Roboto"/>
                          <a:sym typeface="Roboto"/>
                        </a:rPr>
                        <a:t>R1</a:t>
                      </a:r>
                      <a:endParaRPr sz="14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Roboto"/>
                          <a:ea typeface="Roboto"/>
                          <a:cs typeface="Roboto"/>
                          <a:sym typeface="Roboto"/>
                        </a:rPr>
                        <a:t>9</a:t>
                      </a:r>
                      <a:endParaRPr sz="1400" u="none" cap="none" strike="noStrike">
                        <a:latin typeface="Roboto"/>
                        <a:ea typeface="Roboto"/>
                        <a:cs typeface="Roboto"/>
                        <a:sym typeface="Roboto"/>
                      </a:endParaRPr>
                    </a:p>
                  </a:txBody>
                  <a:tcPr marT="18275" marB="18275" marR="0" marL="0" anchor="ctr">
                    <a:solidFill>
                      <a:srgbClr val="FFFFFF"/>
                    </a:solidFill>
                  </a:tcPr>
                </a:tc>
              </a:tr>
            </a:tbl>
          </a:graphicData>
        </a:graphic>
      </p:graphicFrame>
      <p:sp>
        <p:nvSpPr>
          <p:cNvPr id="784" name="Google Shape;784;p47"/>
          <p:cNvSpPr/>
          <p:nvPr/>
        </p:nvSpPr>
        <p:spPr>
          <a:xfrm>
            <a:off x="3057875" y="2610050"/>
            <a:ext cx="1431300" cy="4371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I'm </a:t>
            </a:r>
            <a:r>
              <a:rPr b="1" i="0" lang="en" sz="1200" u="none" cap="none" strike="noStrike">
                <a:solidFill>
                  <a:srgbClr val="000000"/>
                </a:solidFill>
                <a:latin typeface="Roboto"/>
                <a:ea typeface="Roboto"/>
                <a:cs typeface="Roboto"/>
                <a:sym typeface="Roboto"/>
              </a:rPr>
              <a:t>R3</a:t>
            </a:r>
            <a:r>
              <a:rPr b="0" i="0" lang="en" sz="1200" u="none" cap="none" strike="noStrike">
                <a:solidFill>
                  <a:srgbClr val="000000"/>
                </a:solidFill>
                <a:latin typeface="Roboto"/>
                <a:ea typeface="Roboto"/>
                <a:cs typeface="Roboto"/>
                <a:sym typeface="Roboto"/>
              </a:rPr>
              <a:t>, and </a:t>
            </a:r>
            <a:r>
              <a:rPr b="1" i="0" lang="en" sz="1200" u="none" cap="none" strike="noStrike">
                <a:solidFill>
                  <a:srgbClr val="000000"/>
                </a:solidFill>
                <a:latin typeface="Roboto"/>
                <a:ea typeface="Roboto"/>
                <a:cs typeface="Roboto"/>
                <a:sym typeface="Roboto"/>
              </a:rPr>
              <a:t>A</a:t>
            </a:r>
            <a:r>
              <a:rPr b="0" i="0" lang="en" sz="1200" u="none" cap="none" strike="noStrike">
                <a:solidFill>
                  <a:srgbClr val="000000"/>
                </a:solidFill>
                <a:latin typeface="Roboto"/>
                <a:ea typeface="Roboto"/>
                <a:cs typeface="Roboto"/>
                <a:sym typeface="Roboto"/>
              </a:rPr>
              <a:t> is</a:t>
            </a:r>
            <a:br>
              <a:rPr b="0" i="0" lang="en" sz="1200" u="none" cap="none" strike="noStrike">
                <a:solidFill>
                  <a:srgbClr val="000000"/>
                </a:solidFill>
                <a:latin typeface="Roboto"/>
                <a:ea typeface="Roboto"/>
                <a:cs typeface="Roboto"/>
                <a:sym typeface="Roboto"/>
              </a:rPr>
            </a:br>
            <a:r>
              <a:rPr b="1" i="0" lang="en" sz="1200" u="none" cap="none" strike="noStrike">
                <a:solidFill>
                  <a:srgbClr val="000000"/>
                </a:solidFill>
                <a:latin typeface="Roboto"/>
                <a:ea typeface="Roboto"/>
                <a:cs typeface="Roboto"/>
                <a:sym typeface="Roboto"/>
              </a:rPr>
              <a:t>10</a:t>
            </a:r>
            <a:r>
              <a:rPr b="0" i="0" lang="en" sz="1200" u="none" cap="none" strike="noStrike">
                <a:solidFill>
                  <a:srgbClr val="000000"/>
                </a:solidFill>
                <a:latin typeface="Roboto"/>
                <a:ea typeface="Roboto"/>
                <a:cs typeface="Roboto"/>
                <a:sym typeface="Roboto"/>
              </a:rPr>
              <a:t> away from me.</a:t>
            </a:r>
            <a:endParaRPr b="0" i="0" sz="1200" u="none" cap="none" strike="noStrike">
              <a:solidFill>
                <a:srgbClr val="000000"/>
              </a:solidFill>
              <a:latin typeface="Roboto"/>
              <a:ea typeface="Roboto"/>
              <a:cs typeface="Roboto"/>
              <a:sym typeface="Roboto"/>
            </a:endParaRPr>
          </a:p>
        </p:txBody>
      </p:sp>
      <p:cxnSp>
        <p:nvCxnSpPr>
          <p:cNvPr id="785" name="Google Shape;785;p47"/>
          <p:cNvCxnSpPr/>
          <p:nvPr/>
        </p:nvCxnSpPr>
        <p:spPr>
          <a:xfrm flipH="1" rot="10800000">
            <a:off x="4115675" y="2831869"/>
            <a:ext cx="953100" cy="550200"/>
          </a:xfrm>
          <a:prstGeom prst="straightConnector1">
            <a:avLst/>
          </a:prstGeom>
          <a:noFill/>
          <a:ln cap="flat" cmpd="sng" w="19050">
            <a:solidFill>
              <a:schemeClr val="accent2"/>
            </a:solidFill>
            <a:prstDash val="solid"/>
            <a:round/>
            <a:headEnd len="sm" w="sm" type="none"/>
            <a:tailEnd len="med" w="med" type="triangle"/>
          </a:ln>
        </p:spPr>
      </p:cxnSp>
      <p:graphicFrame>
        <p:nvGraphicFramePr>
          <p:cNvPr id="786" name="Google Shape;786;p47"/>
          <p:cNvGraphicFramePr/>
          <p:nvPr/>
        </p:nvGraphicFramePr>
        <p:xfrm>
          <a:off x="6318169" y="2544150"/>
          <a:ext cx="3000000" cy="3000000"/>
        </p:xfrm>
        <a:graphic>
          <a:graphicData uri="http://schemas.openxmlformats.org/drawingml/2006/table">
            <a:tbl>
              <a:tblPr>
                <a:noFill/>
                <a:tableStyleId>{F0B5DC11-5EE2-4423-BDDD-F7B3A7C20352}</a:tableStyleId>
              </a:tblPr>
              <a:tblGrid>
                <a:gridCol w="544800"/>
                <a:gridCol w="497075"/>
                <a:gridCol w="793625"/>
              </a:tblGrid>
              <a:tr h="121925">
                <a:tc gridSpan="3">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R1's Table</a:t>
                      </a:r>
                      <a:endParaRPr sz="1200" u="none" cap="none" strike="noStrike">
                        <a:latin typeface="Roboto"/>
                        <a:ea typeface="Roboto"/>
                        <a:cs typeface="Roboto"/>
                        <a:sym typeface="Roboto"/>
                      </a:endParaRPr>
                    </a:p>
                  </a:txBody>
                  <a:tcPr marT="18275" marB="18275" marR="0" marL="0" anchor="ctr">
                    <a:solidFill>
                      <a:srgbClr val="FFFFFF"/>
                    </a:solidFill>
                  </a:tcPr>
                </a:tc>
                <a:tc hMerge="1"/>
                <a:tc hMerge="1"/>
              </a:tr>
              <a:tr h="1219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To:</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Via:</a:t>
                      </a:r>
                      <a:endParaRPr sz="1200" u="none" cap="none" strike="noStrike">
                        <a:latin typeface="Roboto"/>
                        <a:ea typeface="Roboto"/>
                        <a:cs typeface="Roboto"/>
                        <a:sym typeface="Roboto"/>
                      </a:endParaRPr>
                    </a:p>
                  </a:txBody>
                  <a:tcPr marT="18275" marB="18275" marR="0" marL="0" anchor="ctr">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latin typeface="Roboto"/>
                          <a:ea typeface="Roboto"/>
                          <a:cs typeface="Roboto"/>
                          <a:sym typeface="Roboto"/>
                        </a:rPr>
                        <a:t>Cost:</a:t>
                      </a:r>
                      <a:endParaRPr sz="1200" u="none" cap="none" strike="noStrike">
                        <a:latin typeface="Roboto"/>
                        <a:ea typeface="Roboto"/>
                        <a:cs typeface="Roboto"/>
                        <a:sym typeface="Roboto"/>
                      </a:endParaRPr>
                    </a:p>
                  </a:txBody>
                  <a:tcPr marT="18275" marB="18275" marR="0" marL="0" anchor="ctr">
                    <a:solidFill>
                      <a:srgbClr val="FFFFFF"/>
                    </a:solidFill>
                  </a:tcPr>
                </a:tc>
              </a:tr>
              <a:tr h="121925">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A</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R3</a:t>
                      </a:r>
                      <a:endParaRPr b="1" sz="1400" u="none" cap="none" strike="noStrike">
                        <a:latin typeface="Roboto"/>
                        <a:ea typeface="Roboto"/>
                        <a:cs typeface="Roboto"/>
                        <a:sym typeface="Roboto"/>
                      </a:endParaRPr>
                    </a:p>
                  </a:txBody>
                  <a:tcPr marT="18275" marB="18275" marR="0" marL="0" anchor="ctr">
                    <a:solidFill>
                      <a:srgbClr val="F4CC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Roboto"/>
                          <a:ea typeface="Roboto"/>
                          <a:cs typeface="Roboto"/>
                          <a:sym typeface="Roboto"/>
                        </a:rPr>
                        <a:t>11</a:t>
                      </a:r>
                      <a:endParaRPr b="1" sz="1400" u="none" cap="none" strike="noStrike">
                        <a:latin typeface="Roboto"/>
                        <a:ea typeface="Roboto"/>
                        <a:cs typeface="Roboto"/>
                        <a:sym typeface="Roboto"/>
                      </a:endParaRPr>
                    </a:p>
                  </a:txBody>
                  <a:tcPr marT="18275" marB="18275" marR="0" marL="0" anchor="ctr">
                    <a:solidFill>
                      <a:srgbClr val="F4CCCC"/>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48"/>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Count to Infinity – Solution</a:t>
            </a:r>
            <a:endParaRPr/>
          </a:p>
        </p:txBody>
      </p:sp>
      <p:sp>
        <p:nvSpPr>
          <p:cNvPr id="792" name="Google Shape;792;p48"/>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Solution: Enforce a maximum cost.</a:t>
            </a:r>
            <a:endParaRPr/>
          </a:p>
          <a:p>
            <a:pPr indent="-342900" lvl="0" marL="457200" rtl="0" algn="l">
              <a:lnSpc>
                <a:spcPct val="115000"/>
              </a:lnSpc>
              <a:spcBef>
                <a:spcPts val="600"/>
              </a:spcBef>
              <a:spcAft>
                <a:spcPts val="0"/>
              </a:spcAft>
              <a:buSzPts val="1800"/>
              <a:buChar char="●"/>
            </a:pPr>
            <a:r>
              <a:rPr lang="en"/>
              <a:t>15 is a common choice.</a:t>
            </a:r>
            <a:endParaRPr/>
          </a:p>
          <a:p>
            <a:pPr indent="-342900" lvl="0" marL="457200" rtl="0" algn="l">
              <a:lnSpc>
                <a:spcPct val="115000"/>
              </a:lnSpc>
              <a:spcBef>
                <a:spcPts val="0"/>
              </a:spcBef>
              <a:spcAft>
                <a:spcPts val="0"/>
              </a:spcAft>
              <a:buSzPts val="1800"/>
              <a:buChar char="●"/>
            </a:pPr>
            <a:r>
              <a:rPr lang="en"/>
              <a:t>All numbers ≥ 16 are considered infinity.</a:t>
            </a:r>
            <a:endParaRPr/>
          </a:p>
          <a:p>
            <a:pPr indent="0" lvl="0" marL="0" rtl="0" algn="l">
              <a:lnSpc>
                <a:spcPct val="115000"/>
              </a:lnSpc>
              <a:spcBef>
                <a:spcPts val="600"/>
              </a:spcBef>
              <a:spcAft>
                <a:spcPts val="0"/>
              </a:spcAft>
              <a:buSzPts val="1800"/>
              <a:buNone/>
            </a:pPr>
            <a:r>
              <a:t/>
            </a:r>
            <a:endParaRPr/>
          </a:p>
          <a:p>
            <a:pPr indent="0" lvl="0" marL="0" rtl="0" algn="l">
              <a:lnSpc>
                <a:spcPct val="115000"/>
              </a:lnSpc>
              <a:spcBef>
                <a:spcPts val="600"/>
              </a:spcBef>
              <a:spcAft>
                <a:spcPts val="0"/>
              </a:spcAft>
              <a:buSzPts val="1800"/>
              <a:buNone/>
            </a:pPr>
            <a:r>
              <a:rPr lang="en"/>
              <a:t>Result:</a:t>
            </a:r>
            <a:endParaRPr/>
          </a:p>
          <a:p>
            <a:pPr indent="-342900" lvl="0" marL="457200" rtl="0" algn="l">
              <a:lnSpc>
                <a:spcPct val="115000"/>
              </a:lnSpc>
              <a:spcBef>
                <a:spcPts val="600"/>
              </a:spcBef>
              <a:spcAft>
                <a:spcPts val="0"/>
              </a:spcAft>
              <a:buSzPts val="1800"/>
              <a:buChar char="●"/>
            </a:pPr>
            <a:r>
              <a:rPr lang="en"/>
              <a:t>Loop will stop when all costs reach 16.</a:t>
            </a:r>
            <a:endParaRPr/>
          </a:p>
          <a:p>
            <a:pPr indent="-342900" lvl="0" marL="457200" rtl="0" algn="l">
              <a:lnSpc>
                <a:spcPct val="115000"/>
              </a:lnSpc>
              <a:spcBef>
                <a:spcPts val="0"/>
              </a:spcBef>
              <a:spcAft>
                <a:spcPts val="0"/>
              </a:spcAft>
              <a:buSzPts val="1800"/>
              <a:buChar char="●"/>
            </a:pPr>
            <a:r>
              <a:rPr lang="en"/>
              <a:t>Busted path will expire, or get replaced by another non-infinite-cost path.</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49"/>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The Distance-Vector Algorithm So Far</a:t>
            </a:r>
            <a:endParaRPr/>
          </a:p>
        </p:txBody>
      </p:sp>
      <p:sp>
        <p:nvSpPr>
          <p:cNvPr id="798" name="Google Shape;798;p49"/>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a:t>For each destination:</a:t>
            </a:r>
            <a:endParaRPr/>
          </a:p>
          <a:p>
            <a:pPr indent="-342900" lvl="0" marL="457200" rtl="0" algn="l">
              <a:lnSpc>
                <a:spcPct val="115000"/>
              </a:lnSpc>
              <a:spcBef>
                <a:spcPts val="600"/>
              </a:spcBef>
              <a:spcAft>
                <a:spcPts val="0"/>
              </a:spcAft>
              <a:buSzPts val="1800"/>
              <a:buChar char="●"/>
            </a:pPr>
            <a:r>
              <a:rPr lang="en"/>
              <a:t>If you hear an advertisement, update table and reset TTL if:</a:t>
            </a:r>
            <a:endParaRPr/>
          </a:p>
          <a:p>
            <a:pPr indent="-342900" lvl="1" marL="914400" rtl="0" algn="l">
              <a:lnSpc>
                <a:spcPct val="115000"/>
              </a:lnSpc>
              <a:spcBef>
                <a:spcPts val="0"/>
              </a:spcBef>
              <a:spcAft>
                <a:spcPts val="0"/>
              </a:spcAft>
              <a:buSzPts val="1800"/>
              <a:buChar char="○"/>
            </a:pPr>
            <a:r>
              <a:rPr lang="en"/>
              <a:t>The destination isn't in the table.</a:t>
            </a:r>
            <a:endParaRPr/>
          </a:p>
          <a:p>
            <a:pPr indent="-342900" lvl="1" marL="914400" rtl="0" algn="l">
              <a:lnSpc>
                <a:spcPct val="115000"/>
              </a:lnSpc>
              <a:spcBef>
                <a:spcPts val="0"/>
              </a:spcBef>
              <a:spcAft>
                <a:spcPts val="0"/>
              </a:spcAft>
              <a:buSzPts val="1800"/>
              <a:buChar char="○"/>
            </a:pPr>
            <a:r>
              <a:rPr lang="en"/>
              <a:t>Advertised cost + link cost to neighbor &lt; best-known cost. </a:t>
            </a:r>
            <a:r>
              <a:rPr lang="en" sz="1400">
                <a:solidFill>
                  <a:schemeClr val="accent3"/>
                </a:solidFill>
              </a:rPr>
              <a:t>(#1)</a:t>
            </a:r>
            <a:endParaRPr sz="1400">
              <a:solidFill>
                <a:schemeClr val="accent3"/>
              </a:solidFill>
            </a:endParaRPr>
          </a:p>
          <a:p>
            <a:pPr indent="-342900" lvl="1" marL="914400" rtl="0" algn="l">
              <a:lnSpc>
                <a:spcPct val="115000"/>
              </a:lnSpc>
              <a:spcBef>
                <a:spcPts val="0"/>
              </a:spcBef>
              <a:spcAft>
                <a:spcPts val="0"/>
              </a:spcAft>
              <a:buSzPts val="1800"/>
              <a:buChar char="○"/>
            </a:pPr>
            <a:r>
              <a:rPr lang="en"/>
              <a:t>The advertisement is from current next-hop. </a:t>
            </a:r>
            <a:r>
              <a:rPr lang="en" sz="1400">
                <a:solidFill>
                  <a:schemeClr val="accent3"/>
                </a:solidFill>
              </a:rPr>
              <a:t>(#2)</a:t>
            </a:r>
            <a:br>
              <a:rPr lang="en"/>
            </a:br>
            <a:r>
              <a:rPr lang="en"/>
              <a:t>Includes poison advertisements. </a:t>
            </a:r>
            <a:r>
              <a:rPr lang="en" sz="1400">
                <a:solidFill>
                  <a:schemeClr val="accent3"/>
                </a:solidFill>
              </a:rPr>
              <a:t>(#4)</a:t>
            </a:r>
            <a:endParaRPr sz="1400">
              <a:solidFill>
                <a:schemeClr val="accent3"/>
              </a:solidFill>
            </a:endParaRPr>
          </a:p>
          <a:p>
            <a:pPr indent="-342900" lvl="0" marL="457200" rtl="0" algn="l">
              <a:lnSpc>
                <a:spcPct val="115000"/>
              </a:lnSpc>
              <a:spcBef>
                <a:spcPts val="0"/>
              </a:spcBef>
              <a:spcAft>
                <a:spcPts val="0"/>
              </a:spcAft>
              <a:buSzPts val="1800"/>
              <a:buChar char="●"/>
            </a:pPr>
            <a:r>
              <a:rPr lang="en"/>
              <a:t>Advertise to all your neighbors when the table updates, and periodically. </a:t>
            </a:r>
            <a:r>
              <a:rPr lang="en" sz="1400">
                <a:solidFill>
                  <a:schemeClr val="accent3"/>
                </a:solidFill>
              </a:rPr>
              <a:t>(#3)</a:t>
            </a:r>
            <a:endParaRPr sz="1400">
              <a:solidFill>
                <a:schemeClr val="accent3"/>
              </a:solidFill>
            </a:endParaRPr>
          </a:p>
          <a:p>
            <a:pPr indent="-342900" lvl="1" marL="914400" rtl="0" algn="l">
              <a:lnSpc>
                <a:spcPct val="115000"/>
              </a:lnSpc>
              <a:spcBef>
                <a:spcPts val="0"/>
              </a:spcBef>
              <a:spcAft>
                <a:spcPts val="0"/>
              </a:spcAft>
              <a:buClr>
                <a:srgbClr val="000000"/>
              </a:buClr>
              <a:buSzPts val="1800"/>
              <a:buChar char="○"/>
            </a:pPr>
            <a:r>
              <a:rPr lang="en">
                <a:solidFill>
                  <a:srgbClr val="000000"/>
                </a:solidFill>
              </a:rPr>
              <a:t>But don't advertise back to the next-hop. </a:t>
            </a:r>
            <a:r>
              <a:rPr lang="en" sz="1400">
                <a:solidFill>
                  <a:schemeClr val="accent3"/>
                </a:solidFill>
              </a:rPr>
              <a:t>(#5A)</a:t>
            </a:r>
            <a:endParaRPr sz="1400">
              <a:solidFill>
                <a:schemeClr val="accent3"/>
              </a:solidFill>
            </a:endParaRPr>
          </a:p>
          <a:p>
            <a:pPr indent="-342900" lvl="1" marL="914400" rtl="0" algn="l">
              <a:lnSpc>
                <a:spcPct val="115000"/>
              </a:lnSpc>
              <a:spcBef>
                <a:spcPts val="0"/>
              </a:spcBef>
              <a:spcAft>
                <a:spcPts val="0"/>
              </a:spcAft>
              <a:buClr>
                <a:srgbClr val="000000"/>
              </a:buClr>
              <a:buSzPts val="1800"/>
              <a:buChar char="○"/>
            </a:pPr>
            <a:r>
              <a:rPr lang="en">
                <a:solidFill>
                  <a:srgbClr val="000000"/>
                </a:solidFill>
              </a:rPr>
              <a:t>...Or, advertise poison back to the next-hop. </a:t>
            </a:r>
            <a:r>
              <a:rPr lang="en" sz="1400">
                <a:solidFill>
                  <a:schemeClr val="accent3"/>
                </a:solidFill>
              </a:rPr>
              <a:t>(#5B)</a:t>
            </a:r>
            <a:endParaRPr>
              <a:solidFill>
                <a:schemeClr val="accent2"/>
              </a:solidFill>
            </a:endParaRPr>
          </a:p>
          <a:p>
            <a:pPr indent="-342900" lvl="1" marL="914400" rtl="0" algn="l">
              <a:lnSpc>
                <a:spcPct val="115000"/>
              </a:lnSpc>
              <a:spcBef>
                <a:spcPts val="0"/>
              </a:spcBef>
              <a:spcAft>
                <a:spcPts val="0"/>
              </a:spcAft>
              <a:buSzPts val="1800"/>
              <a:buChar char="○"/>
            </a:pPr>
            <a:r>
              <a:rPr lang="en">
                <a:solidFill>
                  <a:schemeClr val="accent2"/>
                </a:solidFill>
              </a:rPr>
              <a:t>Any cost ≥ 16 is advertised as ∞. </a:t>
            </a:r>
            <a:r>
              <a:rPr lang="en" sz="1400">
                <a:solidFill>
                  <a:schemeClr val="accent3"/>
                </a:solidFill>
              </a:rPr>
              <a:t>(#6)</a:t>
            </a:r>
            <a:endParaRPr/>
          </a:p>
          <a:p>
            <a:pPr indent="-342900" lvl="0" marL="457200" rtl="0" algn="l">
              <a:lnSpc>
                <a:spcPct val="115000"/>
              </a:lnSpc>
              <a:spcBef>
                <a:spcPts val="0"/>
              </a:spcBef>
              <a:spcAft>
                <a:spcPts val="0"/>
              </a:spcAft>
              <a:buSzPts val="1800"/>
              <a:buChar char="●"/>
            </a:pPr>
            <a:r>
              <a:rPr lang="en"/>
              <a:t>If a table entry expires, make the entry poison and advertise it. </a:t>
            </a:r>
            <a:r>
              <a:rPr lang="en" sz="1400">
                <a:solidFill>
                  <a:schemeClr val="accent3"/>
                </a:solidFill>
              </a:rPr>
              <a:t>(#3, #4)</a:t>
            </a:r>
            <a:endParaRPr sz="1400">
              <a:solidFill>
                <a:schemeClr val="accent3"/>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50"/>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Eventful Updates</a:t>
            </a:r>
            <a:endParaRPr/>
          </a:p>
        </p:txBody>
      </p:sp>
      <p:sp>
        <p:nvSpPr>
          <p:cNvPr id="804" name="Google Shape;804;p50"/>
          <p:cNvSpPr txBox="1"/>
          <p:nvPr>
            <p:ph idx="1" type="body"/>
          </p:nvPr>
        </p:nvSpPr>
        <p:spPr>
          <a:xfrm>
            <a:off x="4812375" y="402200"/>
            <a:ext cx="4038000" cy="426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600"/>
              </a:spcBef>
              <a:spcAft>
                <a:spcPts val="0"/>
              </a:spcAft>
              <a:buSzPts val="1800"/>
              <a:buNone/>
            </a:pPr>
            <a:r>
              <a:rPr lang="en">
                <a:solidFill>
                  <a:srgbClr val="B7B7B7"/>
                </a:solidFill>
              </a:rPr>
              <a:t>Distance-Vector Correctness</a:t>
            </a:r>
            <a:endParaRPr>
              <a:solidFill>
                <a:srgbClr val="B7B7B7"/>
              </a:solidFill>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1: Bellman-Ford Updates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2: Updates From Next-Hop</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3: Resending and Expiring</a:t>
            </a:r>
            <a:endParaRPr>
              <a:solidFill>
                <a:srgbClr val="B7B7B7"/>
              </a:solidFill>
            </a:endParaRPr>
          </a:p>
          <a:p>
            <a:pPr indent="0" lvl="0" marL="0" rtl="0" algn="l">
              <a:lnSpc>
                <a:spcPct val="115000"/>
              </a:lnSpc>
              <a:spcBef>
                <a:spcPts val="600"/>
              </a:spcBef>
              <a:spcAft>
                <a:spcPts val="0"/>
              </a:spcAft>
              <a:buSzPts val="1800"/>
              <a:buNone/>
            </a:pPr>
            <a:r>
              <a:rPr b="1" lang="en">
                <a:solidFill>
                  <a:schemeClr val="accent3"/>
                </a:solidFill>
                <a:latin typeface="Roboto"/>
                <a:ea typeface="Roboto"/>
                <a:cs typeface="Roboto"/>
                <a:sym typeface="Roboto"/>
              </a:rPr>
              <a:t>Distance-Vector Enhancements</a:t>
            </a:r>
            <a:endParaRPr b="1">
              <a:solidFill>
                <a:schemeClr val="accent3"/>
              </a:solidFill>
              <a:latin typeface="Roboto"/>
              <a:ea typeface="Roboto"/>
              <a:cs typeface="Roboto"/>
              <a:sym typeface="Roboto"/>
            </a:endParaRPr>
          </a:p>
          <a:p>
            <a:pPr indent="-342900" lvl="0" marL="457200" rtl="0" algn="l">
              <a:lnSpc>
                <a:spcPct val="115000"/>
              </a:lnSpc>
              <a:spcBef>
                <a:spcPts val="600"/>
              </a:spcBef>
              <a:spcAft>
                <a:spcPts val="0"/>
              </a:spcAft>
              <a:buClr>
                <a:srgbClr val="B7B7B7"/>
              </a:buClr>
              <a:buSzPts val="1800"/>
              <a:buChar char="•"/>
            </a:pPr>
            <a:r>
              <a:rPr lang="en">
                <a:solidFill>
                  <a:srgbClr val="B7B7B7"/>
                </a:solidFill>
              </a:rPr>
              <a:t>Rule 4: Poison Expired Routes</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5A: Split Horizon</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5B: Poison Reverse</a:t>
            </a:r>
            <a:endParaRPr>
              <a:solidFill>
                <a:srgbClr val="B7B7B7"/>
              </a:solidFill>
            </a:endParaRPr>
          </a:p>
          <a:p>
            <a:pPr indent="-342900" lvl="0" marL="457200" rtl="0" algn="l">
              <a:lnSpc>
                <a:spcPct val="115000"/>
              </a:lnSpc>
              <a:spcBef>
                <a:spcPts val="0"/>
              </a:spcBef>
              <a:spcAft>
                <a:spcPts val="0"/>
              </a:spcAft>
              <a:buClr>
                <a:srgbClr val="B7B7B7"/>
              </a:buClr>
              <a:buSzPts val="1800"/>
              <a:buChar char="•"/>
            </a:pPr>
            <a:r>
              <a:rPr lang="en">
                <a:solidFill>
                  <a:srgbClr val="B7B7B7"/>
                </a:solidFill>
              </a:rPr>
              <a:t>Rule 6: Count To Infinity</a:t>
            </a:r>
            <a:endParaRPr>
              <a:solidFill>
                <a:srgbClr val="B7B7B7"/>
              </a:solidFill>
            </a:endParaRPr>
          </a:p>
          <a:p>
            <a:pPr indent="-342900" lvl="0" marL="457200" rtl="0" algn="l">
              <a:lnSpc>
                <a:spcPct val="115000"/>
              </a:lnSpc>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Eventful Updates</a:t>
            </a:r>
            <a:endParaRPr b="1">
              <a:solidFill>
                <a:schemeClr val="accent3"/>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51"/>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Eventful Updates</a:t>
            </a:r>
            <a:endParaRPr/>
          </a:p>
        </p:txBody>
      </p:sp>
      <p:sp>
        <p:nvSpPr>
          <p:cNvPr id="810" name="Google Shape;810;p51"/>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When do we send advertisements?</a:t>
            </a:r>
            <a:endParaRPr/>
          </a:p>
          <a:p>
            <a:pPr indent="-342900" lvl="0" marL="457200" rtl="0" algn="l">
              <a:lnSpc>
                <a:spcPct val="115000"/>
              </a:lnSpc>
              <a:spcBef>
                <a:spcPts val="600"/>
              </a:spcBef>
              <a:spcAft>
                <a:spcPts val="0"/>
              </a:spcAft>
              <a:buSzPts val="1800"/>
              <a:buChar char="●"/>
            </a:pPr>
            <a:r>
              <a:rPr lang="en"/>
              <a:t>When the table changes (</a:t>
            </a:r>
            <a:r>
              <a:rPr b="1" lang="en"/>
              <a:t>triggered updates</a:t>
            </a:r>
            <a:r>
              <a:rPr lang="en"/>
              <a:t>).</a:t>
            </a:r>
            <a:endParaRPr/>
          </a:p>
          <a:p>
            <a:pPr indent="-342900" lvl="1" marL="914400" rtl="0" algn="l">
              <a:lnSpc>
                <a:spcPct val="115000"/>
              </a:lnSpc>
              <a:spcBef>
                <a:spcPts val="0"/>
              </a:spcBef>
              <a:spcAft>
                <a:spcPts val="0"/>
              </a:spcAft>
              <a:buSzPts val="1800"/>
              <a:buChar char="○"/>
            </a:pPr>
            <a:r>
              <a:rPr lang="en"/>
              <a:t>When we accept a new advertisement.</a:t>
            </a:r>
            <a:endParaRPr/>
          </a:p>
          <a:p>
            <a:pPr indent="-342900" lvl="1" marL="914400" rtl="0" algn="l">
              <a:lnSpc>
                <a:spcPct val="115000"/>
              </a:lnSpc>
              <a:spcBef>
                <a:spcPts val="0"/>
              </a:spcBef>
              <a:spcAft>
                <a:spcPts val="0"/>
              </a:spcAft>
              <a:buSzPts val="1800"/>
              <a:buChar char="○"/>
            </a:pPr>
            <a:r>
              <a:rPr lang="en"/>
              <a:t>When a new link is added. </a:t>
            </a:r>
            <a:r>
              <a:rPr lang="en" sz="1400">
                <a:solidFill>
                  <a:schemeClr val="accent3"/>
                </a:solidFill>
              </a:rPr>
              <a:t>(</a:t>
            </a:r>
            <a:r>
              <a:rPr i="1" lang="en" sz="1400">
                <a:solidFill>
                  <a:schemeClr val="accent3"/>
                </a:solidFill>
              </a:rPr>
              <a:t>Add static routes and advertise them.</a:t>
            </a:r>
            <a:r>
              <a:rPr lang="en" sz="1400">
                <a:solidFill>
                  <a:schemeClr val="accent3"/>
                </a:solidFill>
              </a:rPr>
              <a:t>)</a:t>
            </a:r>
            <a:endParaRPr sz="1400">
              <a:solidFill>
                <a:schemeClr val="accent3"/>
              </a:solidFill>
            </a:endParaRPr>
          </a:p>
          <a:p>
            <a:pPr indent="-342900" lvl="1" marL="914400" rtl="0" algn="l">
              <a:lnSpc>
                <a:spcPct val="115000"/>
              </a:lnSpc>
              <a:spcBef>
                <a:spcPts val="0"/>
              </a:spcBef>
              <a:spcAft>
                <a:spcPts val="0"/>
              </a:spcAft>
              <a:buSzPts val="1800"/>
              <a:buChar char="○"/>
            </a:pPr>
            <a:r>
              <a:rPr lang="en"/>
              <a:t>When a link goes down. </a:t>
            </a:r>
            <a:r>
              <a:rPr lang="en" sz="1400">
                <a:solidFill>
                  <a:schemeClr val="accent3"/>
                </a:solidFill>
              </a:rPr>
              <a:t>(</a:t>
            </a:r>
            <a:r>
              <a:rPr i="1" lang="en" sz="1400">
                <a:solidFill>
                  <a:schemeClr val="accent3"/>
                </a:solidFill>
              </a:rPr>
              <a:t>Poison routes and advertise poison.</a:t>
            </a:r>
            <a:r>
              <a:rPr lang="en" sz="1400">
                <a:solidFill>
                  <a:schemeClr val="accent3"/>
                </a:solidFill>
              </a:rPr>
              <a:t>)</a:t>
            </a:r>
            <a:endParaRPr sz="1400">
              <a:solidFill>
                <a:schemeClr val="accent3"/>
              </a:solidFill>
            </a:endParaRPr>
          </a:p>
          <a:p>
            <a:pPr indent="-342900" lvl="0" marL="457200" rtl="0" algn="l">
              <a:lnSpc>
                <a:spcPct val="115000"/>
              </a:lnSpc>
              <a:spcBef>
                <a:spcPts val="0"/>
              </a:spcBef>
              <a:spcAft>
                <a:spcPts val="0"/>
              </a:spcAft>
              <a:buSzPts val="1800"/>
              <a:buChar char="●"/>
            </a:pPr>
            <a:r>
              <a:rPr lang="en"/>
              <a:t>Periodically (once every "advertisement interval").</a:t>
            </a:r>
            <a:endParaRPr/>
          </a:p>
          <a:p>
            <a:pPr indent="-342900" lvl="0" marL="457200" rtl="0" algn="l">
              <a:lnSpc>
                <a:spcPct val="115000"/>
              </a:lnSpc>
              <a:spcBef>
                <a:spcPts val="0"/>
              </a:spcBef>
              <a:spcAft>
                <a:spcPts val="0"/>
              </a:spcAft>
              <a:buSzPts val="1800"/>
              <a:buChar char="●"/>
            </a:pPr>
            <a:r>
              <a:rPr lang="en"/>
              <a:t>When a table entry expires.</a:t>
            </a:r>
            <a:endParaRPr/>
          </a:p>
          <a:p>
            <a:pPr indent="0" lvl="0" marL="0" rtl="0" algn="l">
              <a:lnSpc>
                <a:spcPct val="115000"/>
              </a:lnSpc>
              <a:spcBef>
                <a:spcPts val="600"/>
              </a:spcBef>
              <a:spcAft>
                <a:spcPts val="0"/>
              </a:spcAft>
              <a:buSzPts val="1800"/>
              <a:buNone/>
            </a:pPr>
            <a:r>
              <a:t/>
            </a:r>
            <a:endParaRPr/>
          </a:p>
          <a:p>
            <a:pPr indent="0" lvl="0" marL="0" rtl="0" algn="l">
              <a:lnSpc>
                <a:spcPct val="115000"/>
              </a:lnSpc>
              <a:spcBef>
                <a:spcPts val="600"/>
              </a:spcBef>
              <a:spcAft>
                <a:spcPts val="0"/>
              </a:spcAft>
              <a:buSzPts val="1800"/>
              <a:buNone/>
            </a:pPr>
            <a:r>
              <a:rPr lang="en"/>
              <a:t>Triggered updates are an optimization.</a:t>
            </a:r>
            <a:endParaRPr/>
          </a:p>
          <a:p>
            <a:pPr indent="-342900" lvl="0" marL="457200" rtl="0" algn="l">
              <a:lnSpc>
                <a:spcPct val="115000"/>
              </a:lnSpc>
              <a:spcBef>
                <a:spcPts val="600"/>
              </a:spcBef>
              <a:spcAft>
                <a:spcPts val="0"/>
              </a:spcAft>
              <a:buSzPts val="1800"/>
              <a:buChar char="●"/>
            </a:pPr>
            <a:r>
              <a:rPr lang="en"/>
              <a:t>Instead of advertising when the table changes, we could just wait for the interval. Protocol is still correct.</a:t>
            </a:r>
            <a:endParaRPr/>
          </a:p>
          <a:p>
            <a:pPr indent="-342900" lvl="0" marL="457200" rtl="0" algn="l">
              <a:lnSpc>
                <a:spcPct val="115000"/>
              </a:lnSpc>
              <a:spcBef>
                <a:spcPts val="0"/>
              </a:spcBef>
              <a:spcAft>
                <a:spcPts val="0"/>
              </a:spcAft>
              <a:buSzPts val="1800"/>
              <a:buChar char="●"/>
            </a:pPr>
            <a:r>
              <a:rPr lang="en"/>
              <a:t>Triggered updates help us converge faster.</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52"/>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Our Completed Distance-Vector Algorithm</a:t>
            </a:r>
            <a:endParaRPr/>
          </a:p>
        </p:txBody>
      </p:sp>
      <p:sp>
        <p:nvSpPr>
          <p:cNvPr id="816" name="Google Shape;816;p52"/>
          <p:cNvSpPr txBox="1"/>
          <p:nvPr>
            <p:ph idx="1" type="body"/>
          </p:nvPr>
        </p:nvSpPr>
        <p:spPr>
          <a:xfrm>
            <a:off x="107050" y="402200"/>
            <a:ext cx="8909700" cy="45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800"/>
              <a:buNone/>
            </a:pPr>
            <a:r>
              <a:rPr lang="en"/>
              <a:t>For each destination:</a:t>
            </a:r>
            <a:endParaRPr/>
          </a:p>
          <a:p>
            <a:pPr indent="-342900" lvl="0" marL="457200" rtl="0" algn="l">
              <a:lnSpc>
                <a:spcPct val="115000"/>
              </a:lnSpc>
              <a:spcBef>
                <a:spcPts val="600"/>
              </a:spcBef>
              <a:spcAft>
                <a:spcPts val="0"/>
              </a:spcAft>
              <a:buSzPts val="1800"/>
              <a:buChar char="●"/>
            </a:pPr>
            <a:r>
              <a:rPr lang="en"/>
              <a:t>If you hear an advertisement, update table and reset TTL if:</a:t>
            </a:r>
            <a:endParaRPr/>
          </a:p>
          <a:p>
            <a:pPr indent="-342900" lvl="1" marL="914400" rtl="0" algn="l">
              <a:lnSpc>
                <a:spcPct val="115000"/>
              </a:lnSpc>
              <a:spcBef>
                <a:spcPts val="0"/>
              </a:spcBef>
              <a:spcAft>
                <a:spcPts val="0"/>
              </a:spcAft>
              <a:buSzPts val="1800"/>
              <a:buChar char="○"/>
            </a:pPr>
            <a:r>
              <a:rPr lang="en"/>
              <a:t>The destination isn't in the table.</a:t>
            </a:r>
            <a:endParaRPr/>
          </a:p>
          <a:p>
            <a:pPr indent="-342900" lvl="1" marL="914400" rtl="0" algn="l">
              <a:lnSpc>
                <a:spcPct val="115000"/>
              </a:lnSpc>
              <a:spcBef>
                <a:spcPts val="0"/>
              </a:spcBef>
              <a:spcAft>
                <a:spcPts val="0"/>
              </a:spcAft>
              <a:buSzPts val="1800"/>
              <a:buChar char="○"/>
            </a:pPr>
            <a:r>
              <a:rPr lang="en"/>
              <a:t>Advertised cost + link cost to neighbor &lt; best-known cost. </a:t>
            </a:r>
            <a:r>
              <a:rPr lang="en" sz="1400">
                <a:solidFill>
                  <a:schemeClr val="accent3"/>
                </a:solidFill>
              </a:rPr>
              <a:t>(#1)</a:t>
            </a:r>
            <a:endParaRPr sz="1400">
              <a:solidFill>
                <a:schemeClr val="accent3"/>
              </a:solidFill>
            </a:endParaRPr>
          </a:p>
          <a:p>
            <a:pPr indent="-342900" lvl="1" marL="914400" rtl="0" algn="l">
              <a:lnSpc>
                <a:spcPct val="115000"/>
              </a:lnSpc>
              <a:spcBef>
                <a:spcPts val="0"/>
              </a:spcBef>
              <a:spcAft>
                <a:spcPts val="0"/>
              </a:spcAft>
              <a:buSzPts val="1800"/>
              <a:buChar char="○"/>
            </a:pPr>
            <a:r>
              <a:rPr lang="en"/>
              <a:t>The advertisement is from current next-hop. </a:t>
            </a:r>
            <a:r>
              <a:rPr lang="en" sz="1400">
                <a:solidFill>
                  <a:schemeClr val="accent3"/>
                </a:solidFill>
              </a:rPr>
              <a:t>(#2)</a:t>
            </a:r>
            <a:br>
              <a:rPr lang="en"/>
            </a:br>
            <a:r>
              <a:rPr lang="en"/>
              <a:t>Includes poison advertisements. </a:t>
            </a:r>
            <a:r>
              <a:rPr lang="en" sz="1400">
                <a:solidFill>
                  <a:schemeClr val="accent3"/>
                </a:solidFill>
              </a:rPr>
              <a:t>(#4)</a:t>
            </a:r>
            <a:endParaRPr sz="1400">
              <a:solidFill>
                <a:schemeClr val="accent3"/>
              </a:solidFill>
            </a:endParaRPr>
          </a:p>
          <a:p>
            <a:pPr indent="-342900" lvl="0" marL="457200" rtl="0" algn="l">
              <a:lnSpc>
                <a:spcPct val="115000"/>
              </a:lnSpc>
              <a:spcBef>
                <a:spcPts val="0"/>
              </a:spcBef>
              <a:spcAft>
                <a:spcPts val="0"/>
              </a:spcAft>
              <a:buSzPts val="1800"/>
              <a:buChar char="●"/>
            </a:pPr>
            <a:r>
              <a:rPr lang="en"/>
              <a:t>Advertise to all your neighbors when the table updates, and periodically. </a:t>
            </a:r>
            <a:r>
              <a:rPr lang="en" sz="1400">
                <a:solidFill>
                  <a:schemeClr val="accent3"/>
                </a:solidFill>
              </a:rPr>
              <a:t>(#3)</a:t>
            </a:r>
            <a:endParaRPr/>
          </a:p>
          <a:p>
            <a:pPr indent="-342900" lvl="1" marL="914400" rtl="0" algn="l">
              <a:lnSpc>
                <a:spcPct val="115000"/>
              </a:lnSpc>
              <a:spcBef>
                <a:spcPts val="0"/>
              </a:spcBef>
              <a:spcAft>
                <a:spcPts val="0"/>
              </a:spcAft>
              <a:buSzPts val="1800"/>
              <a:buChar char="○"/>
            </a:pPr>
            <a:r>
              <a:rPr lang="en"/>
              <a:t>But don't advertise back to the next-hop. </a:t>
            </a:r>
            <a:r>
              <a:rPr lang="en" sz="1400">
                <a:solidFill>
                  <a:schemeClr val="accent3"/>
                </a:solidFill>
              </a:rPr>
              <a:t>(#5A)</a:t>
            </a:r>
            <a:endParaRPr sz="1400">
              <a:solidFill>
                <a:schemeClr val="accent3"/>
              </a:solidFill>
            </a:endParaRPr>
          </a:p>
          <a:p>
            <a:pPr indent="-342900" lvl="1" marL="914400" rtl="0" algn="l">
              <a:lnSpc>
                <a:spcPct val="115000"/>
              </a:lnSpc>
              <a:spcBef>
                <a:spcPts val="0"/>
              </a:spcBef>
              <a:spcAft>
                <a:spcPts val="0"/>
              </a:spcAft>
              <a:buSzPts val="1800"/>
              <a:buChar char="○"/>
            </a:pPr>
            <a:r>
              <a:rPr lang="en"/>
              <a:t>...Or, advertise poison back to the next-hop. </a:t>
            </a:r>
            <a:r>
              <a:rPr lang="en" sz="1400">
                <a:solidFill>
                  <a:schemeClr val="accent3"/>
                </a:solidFill>
              </a:rPr>
              <a:t>(#5B)</a:t>
            </a:r>
            <a:endParaRPr sz="1400">
              <a:solidFill>
                <a:schemeClr val="accent3"/>
              </a:solidFill>
            </a:endParaRPr>
          </a:p>
          <a:p>
            <a:pPr indent="-342900" lvl="1" marL="914400" rtl="0" algn="l">
              <a:lnSpc>
                <a:spcPct val="115000"/>
              </a:lnSpc>
              <a:spcBef>
                <a:spcPts val="0"/>
              </a:spcBef>
              <a:spcAft>
                <a:spcPts val="0"/>
              </a:spcAft>
              <a:buSzPts val="1800"/>
              <a:buChar char="○"/>
            </a:pPr>
            <a:r>
              <a:rPr lang="en"/>
              <a:t>Any cost ≥ 16 is advertised as ∞.</a:t>
            </a:r>
            <a:r>
              <a:rPr lang="en">
                <a:solidFill>
                  <a:schemeClr val="accent2"/>
                </a:solidFill>
              </a:rPr>
              <a:t> </a:t>
            </a:r>
            <a:r>
              <a:rPr lang="en" sz="1400">
                <a:solidFill>
                  <a:schemeClr val="accent3"/>
                </a:solidFill>
              </a:rPr>
              <a:t>(#6)</a:t>
            </a:r>
            <a:endParaRPr/>
          </a:p>
          <a:p>
            <a:pPr indent="-342900" lvl="0" marL="457200" rtl="0" algn="l">
              <a:lnSpc>
                <a:spcPct val="115000"/>
              </a:lnSpc>
              <a:spcBef>
                <a:spcPts val="0"/>
              </a:spcBef>
              <a:spcAft>
                <a:spcPts val="0"/>
              </a:spcAft>
              <a:buSzPts val="1800"/>
              <a:buChar char="●"/>
            </a:pPr>
            <a:r>
              <a:rPr lang="en"/>
              <a:t>If a table entry expires, make the entry poison and advertise it. </a:t>
            </a:r>
            <a:r>
              <a:rPr lang="en" sz="1400">
                <a:solidFill>
                  <a:schemeClr val="accent3"/>
                </a:solidFill>
              </a:rPr>
              <a:t>(#3, #4)</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36aa600387d_0_0"/>
          <p:cNvSpPr txBox="1"/>
          <p:nvPr>
            <p:ph idx="1" type="body"/>
          </p:nvPr>
        </p:nvSpPr>
        <p:spPr>
          <a:xfrm>
            <a:off x="4812375" y="402200"/>
            <a:ext cx="4038000" cy="4260900"/>
          </a:xfrm>
          <a:prstGeom prst="rect">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Distance Vector</a:t>
            </a:r>
            <a:endParaRPr b="1">
              <a:solidFill>
                <a:schemeClr val="accent3"/>
              </a:solidFill>
              <a:latin typeface="Roboto"/>
              <a:ea typeface="Roboto"/>
              <a:cs typeface="Roboto"/>
              <a:sym typeface="Roboto"/>
            </a:endParaRPr>
          </a:p>
          <a:p>
            <a:pPr indent="-342900" lvl="0" marL="457200" rtl="0" algn="l">
              <a:lnSpc>
                <a:spcPct val="115000"/>
              </a:lnSpc>
              <a:spcBef>
                <a:spcPts val="600"/>
              </a:spcBef>
              <a:spcAft>
                <a:spcPts val="0"/>
              </a:spcAft>
              <a:buClr>
                <a:srgbClr val="CCCCCC"/>
              </a:buClr>
              <a:buSzPts val="1800"/>
              <a:buFont typeface="Roboto"/>
              <a:buChar char="•"/>
            </a:pPr>
            <a:r>
              <a:rPr b="1" lang="en">
                <a:solidFill>
                  <a:srgbClr val="CCCCCC"/>
                </a:solidFill>
                <a:latin typeface="Roboto"/>
                <a:ea typeface="Roboto"/>
                <a:cs typeface="Roboto"/>
                <a:sym typeface="Roboto"/>
              </a:rPr>
              <a:t>Split Horizon and Poison</a:t>
            </a:r>
            <a:endParaRPr b="1">
              <a:solidFill>
                <a:srgbClr val="CCCCCC"/>
              </a:solidFill>
              <a:latin typeface="Roboto"/>
              <a:ea typeface="Roboto"/>
              <a:cs typeface="Roboto"/>
              <a:sym typeface="Roboto"/>
            </a:endParaRPr>
          </a:p>
          <a:p>
            <a:pPr indent="-342900" lvl="0" marL="457200" rtl="0" algn="l">
              <a:lnSpc>
                <a:spcPct val="115000"/>
              </a:lnSpc>
              <a:spcBef>
                <a:spcPts val="600"/>
              </a:spcBef>
              <a:spcAft>
                <a:spcPts val="0"/>
              </a:spcAft>
              <a:buClr>
                <a:srgbClr val="CCCCCC"/>
              </a:buClr>
              <a:buSzPts val="1800"/>
              <a:buFont typeface="Roboto"/>
              <a:buChar char="•"/>
            </a:pPr>
            <a:r>
              <a:rPr b="1" lang="en">
                <a:solidFill>
                  <a:srgbClr val="CCCCCC"/>
                </a:solidFill>
                <a:latin typeface="Roboto"/>
                <a:ea typeface="Roboto"/>
                <a:cs typeface="Roboto"/>
                <a:sym typeface="Roboto"/>
              </a:rPr>
              <a:t>Count to Infinity</a:t>
            </a:r>
            <a:endParaRPr b="1">
              <a:solidFill>
                <a:srgbClr val="CCCCCC"/>
              </a:solidFill>
              <a:latin typeface="Roboto"/>
              <a:ea typeface="Roboto"/>
              <a:cs typeface="Roboto"/>
              <a:sym typeface="Roboto"/>
            </a:endParaRPr>
          </a:p>
        </p:txBody>
      </p:sp>
      <p:sp>
        <p:nvSpPr>
          <p:cNvPr id="822" name="Google Shape;822;g36aa600387d_0_0"/>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Worksheet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g36c259e05aa_0_10"/>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1: Distance Vector</a:t>
            </a:r>
            <a:endParaRPr/>
          </a:p>
        </p:txBody>
      </p:sp>
      <p:pic>
        <p:nvPicPr>
          <p:cNvPr id="828" name="Google Shape;828;g36c259e05aa_0_10" title="Screenshot 2025-07-01 at 12.04.15 AM.png"/>
          <p:cNvPicPr preferRelativeResize="0"/>
          <p:nvPr/>
        </p:nvPicPr>
        <p:blipFill>
          <a:blip r:embed="rId3">
            <a:alphaModFix/>
          </a:blip>
          <a:stretch>
            <a:fillRect/>
          </a:stretch>
        </p:blipFill>
        <p:spPr>
          <a:xfrm>
            <a:off x="1534700" y="525950"/>
            <a:ext cx="6074602" cy="444510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6c259e05aa_0_17"/>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1: Distance Vector</a:t>
            </a:r>
            <a:endParaRPr/>
          </a:p>
        </p:txBody>
      </p:sp>
      <p:pic>
        <p:nvPicPr>
          <p:cNvPr id="834" name="Google Shape;834;g36c259e05aa_0_17" title="Screenshot 2025-07-01 at 12.04.30 AM.png"/>
          <p:cNvPicPr preferRelativeResize="0"/>
          <p:nvPr/>
        </p:nvPicPr>
        <p:blipFill>
          <a:blip r:embed="rId3">
            <a:alphaModFix/>
          </a:blip>
          <a:stretch>
            <a:fillRect/>
          </a:stretch>
        </p:blipFill>
        <p:spPr>
          <a:xfrm>
            <a:off x="152400" y="546000"/>
            <a:ext cx="8839201" cy="2747532"/>
          </a:xfrm>
          <a:prstGeom prst="rect">
            <a:avLst/>
          </a:prstGeom>
          <a:noFill/>
          <a:ln>
            <a:noFill/>
          </a:ln>
        </p:spPr>
      </p:pic>
      <p:pic>
        <p:nvPicPr>
          <p:cNvPr id="835" name="Google Shape;835;g36c259e05aa_0_17" title="Screenshot 2025-07-01 at 12.04.49 AM.png"/>
          <p:cNvPicPr preferRelativeResize="0"/>
          <p:nvPr/>
        </p:nvPicPr>
        <p:blipFill>
          <a:blip r:embed="rId4">
            <a:alphaModFix/>
          </a:blip>
          <a:stretch>
            <a:fillRect/>
          </a:stretch>
        </p:blipFill>
        <p:spPr>
          <a:xfrm>
            <a:off x="593580" y="3293525"/>
            <a:ext cx="7816396" cy="559525"/>
          </a:xfrm>
          <a:prstGeom prst="rect">
            <a:avLst/>
          </a:prstGeom>
          <a:noFill/>
          <a:ln>
            <a:noFill/>
          </a:ln>
        </p:spPr>
      </p:pic>
      <p:pic>
        <p:nvPicPr>
          <p:cNvPr id="836" name="Google Shape;836;g36c259e05aa_0_17" title="Screenshot 2025-07-01 at 12.05.02 AM.png"/>
          <p:cNvPicPr preferRelativeResize="0"/>
          <p:nvPr/>
        </p:nvPicPr>
        <p:blipFill>
          <a:blip r:embed="rId5">
            <a:alphaModFix/>
          </a:blip>
          <a:stretch>
            <a:fillRect/>
          </a:stretch>
        </p:blipFill>
        <p:spPr>
          <a:xfrm>
            <a:off x="974175" y="2371250"/>
            <a:ext cx="554525" cy="243450"/>
          </a:xfrm>
          <a:prstGeom prst="rect">
            <a:avLst/>
          </a:prstGeom>
          <a:noFill/>
          <a:ln>
            <a:noFill/>
          </a:ln>
        </p:spPr>
      </p:pic>
      <p:pic>
        <p:nvPicPr>
          <p:cNvPr id="837" name="Google Shape;837;g36c259e05aa_0_17" title="Screenshot 2025-07-01 at 12.05.02 AM.png"/>
          <p:cNvPicPr preferRelativeResize="0"/>
          <p:nvPr/>
        </p:nvPicPr>
        <p:blipFill>
          <a:blip r:embed="rId5">
            <a:alphaModFix/>
          </a:blip>
          <a:stretch>
            <a:fillRect/>
          </a:stretch>
        </p:blipFill>
        <p:spPr>
          <a:xfrm>
            <a:off x="1826950" y="2371250"/>
            <a:ext cx="554525" cy="243450"/>
          </a:xfrm>
          <a:prstGeom prst="rect">
            <a:avLst/>
          </a:prstGeom>
          <a:noFill/>
          <a:ln>
            <a:noFill/>
          </a:ln>
        </p:spPr>
      </p:pic>
      <p:pic>
        <p:nvPicPr>
          <p:cNvPr id="838" name="Google Shape;838;g36c259e05aa_0_17" title="Screenshot 2025-07-01 at 12.05.02 AM.png"/>
          <p:cNvPicPr preferRelativeResize="0"/>
          <p:nvPr/>
        </p:nvPicPr>
        <p:blipFill>
          <a:blip r:embed="rId5">
            <a:alphaModFix/>
          </a:blip>
          <a:stretch>
            <a:fillRect/>
          </a:stretch>
        </p:blipFill>
        <p:spPr>
          <a:xfrm>
            <a:off x="6844550" y="2371250"/>
            <a:ext cx="554525" cy="243450"/>
          </a:xfrm>
          <a:prstGeom prst="rect">
            <a:avLst/>
          </a:prstGeom>
          <a:noFill/>
          <a:ln>
            <a:noFill/>
          </a:ln>
        </p:spPr>
      </p:pic>
      <p:pic>
        <p:nvPicPr>
          <p:cNvPr id="839" name="Google Shape;839;g36c259e05aa_0_17" title="Screenshot 2025-07-01 at 12.05.02 AM.png"/>
          <p:cNvPicPr preferRelativeResize="0"/>
          <p:nvPr/>
        </p:nvPicPr>
        <p:blipFill>
          <a:blip r:embed="rId5">
            <a:alphaModFix/>
          </a:blip>
          <a:stretch>
            <a:fillRect/>
          </a:stretch>
        </p:blipFill>
        <p:spPr>
          <a:xfrm>
            <a:off x="7744025" y="2371250"/>
            <a:ext cx="554525" cy="243450"/>
          </a:xfrm>
          <a:prstGeom prst="rect">
            <a:avLst/>
          </a:prstGeom>
          <a:noFill/>
          <a:ln>
            <a:noFill/>
          </a:ln>
        </p:spPr>
      </p:pic>
      <p:pic>
        <p:nvPicPr>
          <p:cNvPr id="840" name="Google Shape;840;g36c259e05aa_0_17" title="Screenshot 2025-07-01 at 12.05.02 AM.png"/>
          <p:cNvPicPr preferRelativeResize="0"/>
          <p:nvPr/>
        </p:nvPicPr>
        <p:blipFill>
          <a:blip r:embed="rId5">
            <a:alphaModFix/>
          </a:blip>
          <a:stretch>
            <a:fillRect/>
          </a:stretch>
        </p:blipFill>
        <p:spPr>
          <a:xfrm>
            <a:off x="799350" y="3445925"/>
            <a:ext cx="7268875" cy="243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4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pic>
        <p:nvPicPr>
          <p:cNvPr id="845" name="Google Shape;845;g36c259e05aa_0_30" title="Screenshot 2025-07-01 at 12.06.42 AM.png"/>
          <p:cNvPicPr preferRelativeResize="0"/>
          <p:nvPr/>
        </p:nvPicPr>
        <p:blipFill>
          <a:blip r:embed="rId3">
            <a:alphaModFix/>
          </a:blip>
          <a:stretch>
            <a:fillRect/>
          </a:stretch>
        </p:blipFill>
        <p:spPr>
          <a:xfrm>
            <a:off x="209300" y="583275"/>
            <a:ext cx="8697926" cy="2954575"/>
          </a:xfrm>
          <a:prstGeom prst="rect">
            <a:avLst/>
          </a:prstGeom>
          <a:noFill/>
          <a:ln>
            <a:noFill/>
          </a:ln>
        </p:spPr>
      </p:pic>
      <p:sp>
        <p:nvSpPr>
          <p:cNvPr id="846" name="Google Shape;846;g36c259e05aa_0_30"/>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1: Distance Vector</a:t>
            </a:r>
            <a:endParaRPr/>
          </a:p>
        </p:txBody>
      </p:sp>
      <p:pic>
        <p:nvPicPr>
          <p:cNvPr id="847" name="Google Shape;847;g36c259e05aa_0_30" title="Screenshot 2025-07-01 at 12.05.02 AM.png"/>
          <p:cNvPicPr preferRelativeResize="0"/>
          <p:nvPr/>
        </p:nvPicPr>
        <p:blipFill>
          <a:blip r:embed="rId4">
            <a:alphaModFix/>
          </a:blip>
          <a:stretch>
            <a:fillRect/>
          </a:stretch>
        </p:blipFill>
        <p:spPr>
          <a:xfrm>
            <a:off x="2903925" y="2705225"/>
            <a:ext cx="554525" cy="243450"/>
          </a:xfrm>
          <a:prstGeom prst="rect">
            <a:avLst/>
          </a:prstGeom>
          <a:noFill/>
          <a:ln>
            <a:noFill/>
          </a:ln>
        </p:spPr>
      </p:pic>
      <p:pic>
        <p:nvPicPr>
          <p:cNvPr id="848" name="Google Shape;848;g36c259e05aa_0_30" title="Screenshot 2025-07-01 at 12.05.02 AM.png"/>
          <p:cNvPicPr preferRelativeResize="0"/>
          <p:nvPr/>
        </p:nvPicPr>
        <p:blipFill>
          <a:blip r:embed="rId4">
            <a:alphaModFix/>
          </a:blip>
          <a:stretch>
            <a:fillRect/>
          </a:stretch>
        </p:blipFill>
        <p:spPr>
          <a:xfrm>
            <a:off x="3806175" y="2705225"/>
            <a:ext cx="554525" cy="243450"/>
          </a:xfrm>
          <a:prstGeom prst="rect">
            <a:avLst/>
          </a:prstGeom>
          <a:noFill/>
          <a:ln>
            <a:noFill/>
          </a:ln>
        </p:spPr>
      </p:pic>
      <p:pic>
        <p:nvPicPr>
          <p:cNvPr id="849" name="Google Shape;849;g36c259e05aa_0_30" title="Screenshot 2025-07-01 at 12.05.02 AM.png"/>
          <p:cNvPicPr preferRelativeResize="0"/>
          <p:nvPr/>
        </p:nvPicPr>
        <p:blipFill>
          <a:blip r:embed="rId4">
            <a:alphaModFix/>
          </a:blip>
          <a:stretch>
            <a:fillRect/>
          </a:stretch>
        </p:blipFill>
        <p:spPr>
          <a:xfrm>
            <a:off x="2903925" y="3064000"/>
            <a:ext cx="554525" cy="243450"/>
          </a:xfrm>
          <a:prstGeom prst="rect">
            <a:avLst/>
          </a:prstGeom>
          <a:noFill/>
          <a:ln>
            <a:noFill/>
          </a:ln>
        </p:spPr>
      </p:pic>
      <p:pic>
        <p:nvPicPr>
          <p:cNvPr id="850" name="Google Shape;850;g36c259e05aa_0_30" title="Screenshot 2025-07-01 at 12.05.02 AM.png"/>
          <p:cNvPicPr preferRelativeResize="0"/>
          <p:nvPr/>
        </p:nvPicPr>
        <p:blipFill>
          <a:blip r:embed="rId4">
            <a:alphaModFix/>
          </a:blip>
          <a:stretch>
            <a:fillRect/>
          </a:stretch>
        </p:blipFill>
        <p:spPr>
          <a:xfrm>
            <a:off x="3806175" y="3064000"/>
            <a:ext cx="554525" cy="243450"/>
          </a:xfrm>
          <a:prstGeom prst="rect">
            <a:avLst/>
          </a:prstGeom>
          <a:noFill/>
          <a:ln>
            <a:noFill/>
          </a:ln>
        </p:spPr>
      </p:pic>
      <p:pic>
        <p:nvPicPr>
          <p:cNvPr id="851" name="Google Shape;851;g36c259e05aa_0_30" title="Screenshot 2025-07-01 at 12.05.02 AM.png"/>
          <p:cNvPicPr preferRelativeResize="0"/>
          <p:nvPr/>
        </p:nvPicPr>
        <p:blipFill>
          <a:blip r:embed="rId4">
            <a:alphaModFix/>
          </a:blip>
          <a:stretch>
            <a:fillRect/>
          </a:stretch>
        </p:blipFill>
        <p:spPr>
          <a:xfrm>
            <a:off x="4762625" y="2705225"/>
            <a:ext cx="554525" cy="243450"/>
          </a:xfrm>
          <a:prstGeom prst="rect">
            <a:avLst/>
          </a:prstGeom>
          <a:noFill/>
          <a:ln>
            <a:noFill/>
          </a:ln>
        </p:spPr>
      </p:pic>
      <p:pic>
        <p:nvPicPr>
          <p:cNvPr id="852" name="Google Shape;852;g36c259e05aa_0_30" title="Screenshot 2025-07-01 at 12.05.02 AM.png"/>
          <p:cNvPicPr preferRelativeResize="0"/>
          <p:nvPr/>
        </p:nvPicPr>
        <p:blipFill>
          <a:blip r:embed="rId4">
            <a:alphaModFix/>
          </a:blip>
          <a:stretch>
            <a:fillRect/>
          </a:stretch>
        </p:blipFill>
        <p:spPr>
          <a:xfrm>
            <a:off x="5719075" y="2705225"/>
            <a:ext cx="554525" cy="243450"/>
          </a:xfrm>
          <a:prstGeom prst="rect">
            <a:avLst/>
          </a:prstGeom>
          <a:noFill/>
          <a:ln>
            <a:noFill/>
          </a:ln>
        </p:spPr>
      </p:pic>
      <p:pic>
        <p:nvPicPr>
          <p:cNvPr id="853" name="Google Shape;853;g36c259e05aa_0_30" title="Screenshot 2025-07-01 at 12.05.02 AM.png"/>
          <p:cNvPicPr preferRelativeResize="0"/>
          <p:nvPr/>
        </p:nvPicPr>
        <p:blipFill>
          <a:blip r:embed="rId4">
            <a:alphaModFix/>
          </a:blip>
          <a:stretch>
            <a:fillRect/>
          </a:stretch>
        </p:blipFill>
        <p:spPr>
          <a:xfrm>
            <a:off x="6646825" y="3064000"/>
            <a:ext cx="554525" cy="243450"/>
          </a:xfrm>
          <a:prstGeom prst="rect">
            <a:avLst/>
          </a:prstGeom>
          <a:noFill/>
          <a:ln>
            <a:noFill/>
          </a:ln>
        </p:spPr>
      </p:pic>
      <p:pic>
        <p:nvPicPr>
          <p:cNvPr id="854" name="Google Shape;854;g36c259e05aa_0_30" title="Screenshot 2025-07-01 at 12.05.02 AM.png"/>
          <p:cNvPicPr preferRelativeResize="0"/>
          <p:nvPr/>
        </p:nvPicPr>
        <p:blipFill>
          <a:blip r:embed="rId4">
            <a:alphaModFix/>
          </a:blip>
          <a:stretch>
            <a:fillRect/>
          </a:stretch>
        </p:blipFill>
        <p:spPr>
          <a:xfrm>
            <a:off x="7541450" y="3064000"/>
            <a:ext cx="554525" cy="243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4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4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5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5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5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5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pic>
        <p:nvPicPr>
          <p:cNvPr id="859" name="Google Shape;859;g36c259e05aa_0_42" title="Screenshot 2025-07-01 at 12.06.42 AM.png"/>
          <p:cNvPicPr preferRelativeResize="0"/>
          <p:nvPr/>
        </p:nvPicPr>
        <p:blipFill>
          <a:blip r:embed="rId3">
            <a:alphaModFix/>
          </a:blip>
          <a:stretch>
            <a:fillRect/>
          </a:stretch>
        </p:blipFill>
        <p:spPr>
          <a:xfrm>
            <a:off x="147450" y="528650"/>
            <a:ext cx="8785950" cy="2984475"/>
          </a:xfrm>
          <a:prstGeom prst="rect">
            <a:avLst/>
          </a:prstGeom>
          <a:noFill/>
          <a:ln>
            <a:noFill/>
          </a:ln>
        </p:spPr>
      </p:pic>
      <p:sp>
        <p:nvSpPr>
          <p:cNvPr id="860" name="Google Shape;860;g36c259e05aa_0_42"/>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1: Distance Vector</a:t>
            </a:r>
            <a:endParaRPr/>
          </a:p>
        </p:txBody>
      </p:sp>
      <p:pic>
        <p:nvPicPr>
          <p:cNvPr id="861" name="Google Shape;861;g36c259e05aa_0_42" title="Screenshot 2025-07-01 at 12.05.02 AM.png"/>
          <p:cNvPicPr preferRelativeResize="0"/>
          <p:nvPr/>
        </p:nvPicPr>
        <p:blipFill>
          <a:blip r:embed="rId4">
            <a:alphaModFix/>
          </a:blip>
          <a:stretch>
            <a:fillRect/>
          </a:stretch>
        </p:blipFill>
        <p:spPr>
          <a:xfrm>
            <a:off x="2866825" y="2680500"/>
            <a:ext cx="554525" cy="243450"/>
          </a:xfrm>
          <a:prstGeom prst="rect">
            <a:avLst/>
          </a:prstGeom>
          <a:noFill/>
          <a:ln>
            <a:noFill/>
          </a:ln>
        </p:spPr>
      </p:pic>
      <p:pic>
        <p:nvPicPr>
          <p:cNvPr id="862" name="Google Shape;862;g36c259e05aa_0_42" title="Screenshot 2025-07-01 at 12.05.02 AM.png"/>
          <p:cNvPicPr preferRelativeResize="0"/>
          <p:nvPr/>
        </p:nvPicPr>
        <p:blipFill>
          <a:blip r:embed="rId4">
            <a:alphaModFix/>
          </a:blip>
          <a:stretch>
            <a:fillRect/>
          </a:stretch>
        </p:blipFill>
        <p:spPr>
          <a:xfrm>
            <a:off x="3744325" y="2680500"/>
            <a:ext cx="554525" cy="243450"/>
          </a:xfrm>
          <a:prstGeom prst="rect">
            <a:avLst/>
          </a:prstGeom>
          <a:noFill/>
          <a:ln>
            <a:noFill/>
          </a:ln>
        </p:spPr>
      </p:pic>
      <p:pic>
        <p:nvPicPr>
          <p:cNvPr id="863" name="Google Shape;863;g36c259e05aa_0_42" title="Screenshot 2025-07-01 at 12.05.02 AM.png"/>
          <p:cNvPicPr preferRelativeResize="0"/>
          <p:nvPr/>
        </p:nvPicPr>
        <p:blipFill>
          <a:blip r:embed="rId4">
            <a:alphaModFix/>
          </a:blip>
          <a:stretch>
            <a:fillRect/>
          </a:stretch>
        </p:blipFill>
        <p:spPr>
          <a:xfrm>
            <a:off x="2866825" y="3051600"/>
            <a:ext cx="554525" cy="243450"/>
          </a:xfrm>
          <a:prstGeom prst="rect">
            <a:avLst/>
          </a:prstGeom>
          <a:noFill/>
          <a:ln>
            <a:noFill/>
          </a:ln>
        </p:spPr>
      </p:pic>
      <p:pic>
        <p:nvPicPr>
          <p:cNvPr id="864" name="Google Shape;864;g36c259e05aa_0_42" title="Screenshot 2025-07-01 at 12.05.02 AM.png"/>
          <p:cNvPicPr preferRelativeResize="0"/>
          <p:nvPr/>
        </p:nvPicPr>
        <p:blipFill>
          <a:blip r:embed="rId4">
            <a:alphaModFix/>
          </a:blip>
          <a:stretch>
            <a:fillRect/>
          </a:stretch>
        </p:blipFill>
        <p:spPr>
          <a:xfrm>
            <a:off x="3744325" y="3051600"/>
            <a:ext cx="554525" cy="243450"/>
          </a:xfrm>
          <a:prstGeom prst="rect">
            <a:avLst/>
          </a:prstGeom>
          <a:noFill/>
          <a:ln>
            <a:noFill/>
          </a:ln>
        </p:spPr>
      </p:pic>
      <p:pic>
        <p:nvPicPr>
          <p:cNvPr id="865" name="Google Shape;865;g36c259e05aa_0_42" title="Screenshot 2025-07-01 at 12.05.02 AM.png"/>
          <p:cNvPicPr preferRelativeResize="0"/>
          <p:nvPr/>
        </p:nvPicPr>
        <p:blipFill>
          <a:blip r:embed="rId4">
            <a:alphaModFix/>
          </a:blip>
          <a:stretch>
            <a:fillRect/>
          </a:stretch>
        </p:blipFill>
        <p:spPr>
          <a:xfrm>
            <a:off x="4762625" y="2680500"/>
            <a:ext cx="554525" cy="243450"/>
          </a:xfrm>
          <a:prstGeom prst="rect">
            <a:avLst/>
          </a:prstGeom>
          <a:noFill/>
          <a:ln>
            <a:noFill/>
          </a:ln>
        </p:spPr>
      </p:pic>
      <p:pic>
        <p:nvPicPr>
          <p:cNvPr id="866" name="Google Shape;866;g36c259e05aa_0_42" title="Screenshot 2025-07-01 at 12.05.02 AM.png"/>
          <p:cNvPicPr preferRelativeResize="0"/>
          <p:nvPr/>
        </p:nvPicPr>
        <p:blipFill>
          <a:blip r:embed="rId4">
            <a:alphaModFix/>
          </a:blip>
          <a:stretch>
            <a:fillRect/>
          </a:stretch>
        </p:blipFill>
        <p:spPr>
          <a:xfrm>
            <a:off x="5669600" y="2680500"/>
            <a:ext cx="554525" cy="243450"/>
          </a:xfrm>
          <a:prstGeom prst="rect">
            <a:avLst/>
          </a:prstGeom>
          <a:noFill/>
          <a:ln>
            <a:noFill/>
          </a:ln>
        </p:spPr>
      </p:pic>
      <p:pic>
        <p:nvPicPr>
          <p:cNvPr id="867" name="Google Shape;867;g36c259e05aa_0_42" title="Screenshot 2025-07-01 at 12.05.02 AM.png"/>
          <p:cNvPicPr preferRelativeResize="0"/>
          <p:nvPr/>
        </p:nvPicPr>
        <p:blipFill>
          <a:blip r:embed="rId4">
            <a:alphaModFix/>
          </a:blip>
          <a:stretch>
            <a:fillRect/>
          </a:stretch>
        </p:blipFill>
        <p:spPr>
          <a:xfrm>
            <a:off x="6683950" y="3051600"/>
            <a:ext cx="554525" cy="243450"/>
          </a:xfrm>
          <a:prstGeom prst="rect">
            <a:avLst/>
          </a:prstGeom>
          <a:noFill/>
          <a:ln>
            <a:noFill/>
          </a:ln>
        </p:spPr>
      </p:pic>
      <p:pic>
        <p:nvPicPr>
          <p:cNvPr id="868" name="Google Shape;868;g36c259e05aa_0_42" title="Screenshot 2025-07-01 at 12.05.02 AM.png"/>
          <p:cNvPicPr preferRelativeResize="0"/>
          <p:nvPr/>
        </p:nvPicPr>
        <p:blipFill>
          <a:blip r:embed="rId4">
            <a:alphaModFix/>
          </a:blip>
          <a:stretch>
            <a:fillRect/>
          </a:stretch>
        </p:blipFill>
        <p:spPr>
          <a:xfrm>
            <a:off x="7615675" y="3051600"/>
            <a:ext cx="554525" cy="243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6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6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6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6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6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pic>
        <p:nvPicPr>
          <p:cNvPr id="873" name="Google Shape;873;g36c259e05aa_0_54" title="Screenshot 2025-07-01 at 12.06.52 AM.png"/>
          <p:cNvPicPr preferRelativeResize="0"/>
          <p:nvPr/>
        </p:nvPicPr>
        <p:blipFill>
          <a:blip r:embed="rId3">
            <a:alphaModFix/>
          </a:blip>
          <a:stretch>
            <a:fillRect/>
          </a:stretch>
        </p:blipFill>
        <p:spPr>
          <a:xfrm>
            <a:off x="262650" y="522025"/>
            <a:ext cx="8342265" cy="2795475"/>
          </a:xfrm>
          <a:prstGeom prst="rect">
            <a:avLst/>
          </a:prstGeom>
          <a:noFill/>
          <a:ln>
            <a:noFill/>
          </a:ln>
        </p:spPr>
      </p:pic>
      <p:sp>
        <p:nvSpPr>
          <p:cNvPr id="874" name="Google Shape;874;g36c259e05aa_0_54"/>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1: Distance Vector</a:t>
            </a:r>
            <a:endParaRPr/>
          </a:p>
        </p:txBody>
      </p:sp>
      <p:pic>
        <p:nvPicPr>
          <p:cNvPr id="875" name="Google Shape;875;g36c259e05aa_0_54" title="Screenshot 2025-07-01 at 12.05.02 AM.png"/>
          <p:cNvPicPr preferRelativeResize="0"/>
          <p:nvPr/>
        </p:nvPicPr>
        <p:blipFill>
          <a:blip r:embed="rId4">
            <a:alphaModFix/>
          </a:blip>
          <a:stretch>
            <a:fillRect/>
          </a:stretch>
        </p:blipFill>
        <p:spPr>
          <a:xfrm>
            <a:off x="974175" y="2927900"/>
            <a:ext cx="554525" cy="243450"/>
          </a:xfrm>
          <a:prstGeom prst="rect">
            <a:avLst/>
          </a:prstGeom>
          <a:noFill/>
          <a:ln>
            <a:noFill/>
          </a:ln>
        </p:spPr>
      </p:pic>
      <p:pic>
        <p:nvPicPr>
          <p:cNvPr id="876" name="Google Shape;876;g36c259e05aa_0_54" title="Screenshot 2025-07-01 at 12.05.02 AM.png"/>
          <p:cNvPicPr preferRelativeResize="0"/>
          <p:nvPr/>
        </p:nvPicPr>
        <p:blipFill>
          <a:blip r:embed="rId4">
            <a:alphaModFix/>
          </a:blip>
          <a:stretch>
            <a:fillRect/>
          </a:stretch>
        </p:blipFill>
        <p:spPr>
          <a:xfrm>
            <a:off x="1839325" y="2927900"/>
            <a:ext cx="554525" cy="243450"/>
          </a:xfrm>
          <a:prstGeom prst="rect">
            <a:avLst/>
          </a:prstGeom>
          <a:noFill/>
          <a:ln>
            <a:noFill/>
          </a:ln>
        </p:spPr>
      </p:pic>
      <p:pic>
        <p:nvPicPr>
          <p:cNvPr id="877" name="Google Shape;877;g36c259e05aa_0_54" title="Screenshot 2025-07-01 at 12.05.02 AM.png"/>
          <p:cNvPicPr preferRelativeResize="0"/>
          <p:nvPr/>
        </p:nvPicPr>
        <p:blipFill>
          <a:blip r:embed="rId4">
            <a:alphaModFix/>
          </a:blip>
          <a:stretch>
            <a:fillRect/>
          </a:stretch>
        </p:blipFill>
        <p:spPr>
          <a:xfrm>
            <a:off x="4679775" y="2927900"/>
            <a:ext cx="554525" cy="243450"/>
          </a:xfrm>
          <a:prstGeom prst="rect">
            <a:avLst/>
          </a:prstGeom>
          <a:noFill/>
          <a:ln>
            <a:noFill/>
          </a:ln>
        </p:spPr>
      </p:pic>
      <p:pic>
        <p:nvPicPr>
          <p:cNvPr id="878" name="Google Shape;878;g36c259e05aa_0_54" title="Screenshot 2025-07-01 at 12.05.02 AM.png"/>
          <p:cNvPicPr preferRelativeResize="0"/>
          <p:nvPr/>
        </p:nvPicPr>
        <p:blipFill>
          <a:blip r:embed="rId4">
            <a:alphaModFix/>
          </a:blip>
          <a:stretch>
            <a:fillRect/>
          </a:stretch>
        </p:blipFill>
        <p:spPr>
          <a:xfrm>
            <a:off x="5542150" y="2927900"/>
            <a:ext cx="554525" cy="243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7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7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7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pic>
        <p:nvPicPr>
          <p:cNvPr id="883" name="Google Shape;883;g36c259e05aa_0_66" title="Screenshot 2025-07-01 at 12.07.01 AM.png"/>
          <p:cNvPicPr preferRelativeResize="0"/>
          <p:nvPr/>
        </p:nvPicPr>
        <p:blipFill>
          <a:blip r:embed="rId3">
            <a:alphaModFix/>
          </a:blip>
          <a:stretch>
            <a:fillRect/>
          </a:stretch>
        </p:blipFill>
        <p:spPr>
          <a:xfrm>
            <a:off x="492569" y="533650"/>
            <a:ext cx="8158876" cy="4263548"/>
          </a:xfrm>
          <a:prstGeom prst="rect">
            <a:avLst/>
          </a:prstGeom>
          <a:noFill/>
          <a:ln>
            <a:noFill/>
          </a:ln>
        </p:spPr>
      </p:pic>
      <p:sp>
        <p:nvSpPr>
          <p:cNvPr id="884" name="Google Shape;884;g36c259e05aa_0_66"/>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1: Distance Vector</a:t>
            </a:r>
            <a:endParaRPr/>
          </a:p>
        </p:txBody>
      </p:sp>
      <p:pic>
        <p:nvPicPr>
          <p:cNvPr id="885" name="Google Shape;885;g36c259e05aa_0_66" title="Screenshot 2025-07-01 at 12.04.49 AM.png"/>
          <p:cNvPicPr preferRelativeResize="0"/>
          <p:nvPr/>
        </p:nvPicPr>
        <p:blipFill>
          <a:blip r:embed="rId4">
            <a:alphaModFix/>
          </a:blip>
          <a:stretch>
            <a:fillRect/>
          </a:stretch>
        </p:blipFill>
        <p:spPr>
          <a:xfrm>
            <a:off x="663805" y="4072825"/>
            <a:ext cx="7816396" cy="559525"/>
          </a:xfrm>
          <a:prstGeom prst="rect">
            <a:avLst/>
          </a:prstGeom>
          <a:noFill/>
          <a:ln>
            <a:noFill/>
          </a:ln>
        </p:spPr>
      </p:pic>
      <p:pic>
        <p:nvPicPr>
          <p:cNvPr id="886" name="Google Shape;886;g36c259e05aa_0_66" title="Screenshot 2025-07-01 at 12.05.02 AM.png"/>
          <p:cNvPicPr preferRelativeResize="0"/>
          <p:nvPr/>
        </p:nvPicPr>
        <p:blipFill>
          <a:blip r:embed="rId5">
            <a:alphaModFix/>
          </a:blip>
          <a:stretch>
            <a:fillRect/>
          </a:stretch>
        </p:blipFill>
        <p:spPr>
          <a:xfrm>
            <a:off x="2965750" y="3261900"/>
            <a:ext cx="554525" cy="243450"/>
          </a:xfrm>
          <a:prstGeom prst="rect">
            <a:avLst/>
          </a:prstGeom>
          <a:noFill/>
          <a:ln>
            <a:noFill/>
          </a:ln>
        </p:spPr>
      </p:pic>
      <p:pic>
        <p:nvPicPr>
          <p:cNvPr id="887" name="Google Shape;887;g36c259e05aa_0_66" title="Screenshot 2025-07-01 at 12.05.02 AM.png"/>
          <p:cNvPicPr preferRelativeResize="0"/>
          <p:nvPr/>
        </p:nvPicPr>
        <p:blipFill>
          <a:blip r:embed="rId5">
            <a:alphaModFix/>
          </a:blip>
          <a:stretch>
            <a:fillRect/>
          </a:stretch>
        </p:blipFill>
        <p:spPr>
          <a:xfrm>
            <a:off x="3781425" y="3261900"/>
            <a:ext cx="554525" cy="243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8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8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pic>
        <p:nvPicPr>
          <p:cNvPr id="892" name="Google Shape;892;g36c259e05aa_0_78" title="Screenshot 2025-07-01 at 12.07.11 AM.png"/>
          <p:cNvPicPr preferRelativeResize="0"/>
          <p:nvPr/>
        </p:nvPicPr>
        <p:blipFill>
          <a:blip r:embed="rId3">
            <a:alphaModFix/>
          </a:blip>
          <a:stretch>
            <a:fillRect/>
          </a:stretch>
        </p:blipFill>
        <p:spPr>
          <a:xfrm>
            <a:off x="140075" y="567475"/>
            <a:ext cx="8768600" cy="3342550"/>
          </a:xfrm>
          <a:prstGeom prst="rect">
            <a:avLst/>
          </a:prstGeom>
          <a:noFill/>
          <a:ln>
            <a:noFill/>
          </a:ln>
        </p:spPr>
      </p:pic>
      <p:sp>
        <p:nvSpPr>
          <p:cNvPr id="893" name="Google Shape;893;g36c259e05aa_0_78"/>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1: Distance Vector</a:t>
            </a:r>
            <a:endParaRPr/>
          </a:p>
        </p:txBody>
      </p:sp>
      <p:pic>
        <p:nvPicPr>
          <p:cNvPr id="894" name="Google Shape;894;g36c259e05aa_0_78" title="Screenshot 2025-07-01 at 12.05.02 AM.png"/>
          <p:cNvPicPr preferRelativeResize="0"/>
          <p:nvPr/>
        </p:nvPicPr>
        <p:blipFill>
          <a:blip r:embed="rId4">
            <a:alphaModFix/>
          </a:blip>
          <a:stretch>
            <a:fillRect/>
          </a:stretch>
        </p:blipFill>
        <p:spPr>
          <a:xfrm>
            <a:off x="937575" y="3062275"/>
            <a:ext cx="554525" cy="243450"/>
          </a:xfrm>
          <a:prstGeom prst="rect">
            <a:avLst/>
          </a:prstGeom>
          <a:noFill/>
          <a:ln>
            <a:noFill/>
          </a:ln>
        </p:spPr>
      </p:pic>
      <p:pic>
        <p:nvPicPr>
          <p:cNvPr id="895" name="Google Shape;895;g36c259e05aa_0_78" title="Screenshot 2025-07-01 at 12.05.02 AM.png"/>
          <p:cNvPicPr preferRelativeResize="0"/>
          <p:nvPr/>
        </p:nvPicPr>
        <p:blipFill>
          <a:blip r:embed="rId4">
            <a:alphaModFix/>
          </a:blip>
          <a:stretch>
            <a:fillRect/>
          </a:stretch>
        </p:blipFill>
        <p:spPr>
          <a:xfrm>
            <a:off x="1789575" y="3062275"/>
            <a:ext cx="554525" cy="243450"/>
          </a:xfrm>
          <a:prstGeom prst="rect">
            <a:avLst/>
          </a:prstGeom>
          <a:noFill/>
          <a:ln>
            <a:noFill/>
          </a:ln>
        </p:spPr>
      </p:pic>
      <p:pic>
        <p:nvPicPr>
          <p:cNvPr id="896" name="Google Shape;896;g36c259e05aa_0_78" title="Screenshot 2025-07-01 at 12.05.02 AM.png"/>
          <p:cNvPicPr preferRelativeResize="0"/>
          <p:nvPr/>
        </p:nvPicPr>
        <p:blipFill>
          <a:blip r:embed="rId4">
            <a:alphaModFix/>
          </a:blip>
          <a:stretch>
            <a:fillRect/>
          </a:stretch>
        </p:blipFill>
        <p:spPr>
          <a:xfrm>
            <a:off x="6583075" y="3062275"/>
            <a:ext cx="554525" cy="243450"/>
          </a:xfrm>
          <a:prstGeom prst="rect">
            <a:avLst/>
          </a:prstGeom>
          <a:noFill/>
          <a:ln>
            <a:noFill/>
          </a:ln>
        </p:spPr>
      </p:pic>
      <p:pic>
        <p:nvPicPr>
          <p:cNvPr id="897" name="Google Shape;897;g36c259e05aa_0_78" title="Screenshot 2025-07-01 at 12.05.02 AM.png"/>
          <p:cNvPicPr preferRelativeResize="0"/>
          <p:nvPr/>
        </p:nvPicPr>
        <p:blipFill>
          <a:blip r:embed="rId4">
            <a:alphaModFix/>
          </a:blip>
          <a:stretch>
            <a:fillRect/>
          </a:stretch>
        </p:blipFill>
        <p:spPr>
          <a:xfrm>
            <a:off x="7473225" y="3062275"/>
            <a:ext cx="554525" cy="243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9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9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9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pic>
        <p:nvPicPr>
          <p:cNvPr id="902" name="Google Shape;902;g36c259e05aa_0_90" title="Screenshot 2025-07-01 at 12.07.19 AM.png"/>
          <p:cNvPicPr preferRelativeResize="0"/>
          <p:nvPr/>
        </p:nvPicPr>
        <p:blipFill>
          <a:blip r:embed="rId3">
            <a:alphaModFix/>
          </a:blip>
          <a:stretch>
            <a:fillRect/>
          </a:stretch>
        </p:blipFill>
        <p:spPr>
          <a:xfrm>
            <a:off x="165600" y="546000"/>
            <a:ext cx="8672355" cy="2747525"/>
          </a:xfrm>
          <a:prstGeom prst="rect">
            <a:avLst/>
          </a:prstGeom>
          <a:noFill/>
          <a:ln>
            <a:noFill/>
          </a:ln>
        </p:spPr>
      </p:pic>
      <p:sp>
        <p:nvSpPr>
          <p:cNvPr id="903" name="Google Shape;903;g36c259e05aa_0_90"/>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1: Distance Vector</a:t>
            </a:r>
            <a:endParaRPr/>
          </a:p>
        </p:txBody>
      </p:sp>
      <p:pic>
        <p:nvPicPr>
          <p:cNvPr id="904" name="Google Shape;904;g36c259e05aa_0_90" title="Screenshot 2025-07-01 at 12.05.02 AM.png"/>
          <p:cNvPicPr preferRelativeResize="0"/>
          <p:nvPr/>
        </p:nvPicPr>
        <p:blipFill>
          <a:blip r:embed="rId4">
            <a:alphaModFix/>
          </a:blip>
          <a:stretch>
            <a:fillRect/>
          </a:stretch>
        </p:blipFill>
        <p:spPr>
          <a:xfrm>
            <a:off x="677950" y="1951825"/>
            <a:ext cx="7847850" cy="1437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0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g36c259e05aa_0_0"/>
          <p:cNvSpPr txBox="1"/>
          <p:nvPr>
            <p:ph idx="1" type="body"/>
          </p:nvPr>
        </p:nvSpPr>
        <p:spPr>
          <a:xfrm>
            <a:off x="4812375" y="402200"/>
            <a:ext cx="4038000" cy="4260900"/>
          </a:xfrm>
          <a:prstGeom prst="rect">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600"/>
              </a:spcBef>
              <a:spcAft>
                <a:spcPts val="0"/>
              </a:spcAft>
              <a:buClr>
                <a:srgbClr val="CCCCCC"/>
              </a:buClr>
              <a:buSzPts val="1800"/>
              <a:buFont typeface="Roboto"/>
              <a:buChar char="•"/>
            </a:pPr>
            <a:r>
              <a:rPr b="1" lang="en">
                <a:solidFill>
                  <a:srgbClr val="CCCCCC"/>
                </a:solidFill>
                <a:latin typeface="Roboto"/>
                <a:ea typeface="Roboto"/>
                <a:cs typeface="Roboto"/>
                <a:sym typeface="Roboto"/>
              </a:rPr>
              <a:t>Distance Vector</a:t>
            </a:r>
            <a:endParaRPr b="1">
              <a:solidFill>
                <a:srgbClr val="CCCCCC"/>
              </a:solidFill>
              <a:latin typeface="Roboto"/>
              <a:ea typeface="Roboto"/>
              <a:cs typeface="Roboto"/>
              <a:sym typeface="Roboto"/>
            </a:endParaRPr>
          </a:p>
          <a:p>
            <a:pPr indent="-342900" lvl="0" marL="457200" rtl="0" algn="l">
              <a:lnSpc>
                <a:spcPct val="115000"/>
              </a:lnSpc>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Split Horizon and Poison</a:t>
            </a:r>
            <a:endParaRPr b="1">
              <a:solidFill>
                <a:schemeClr val="accent3"/>
              </a:solidFill>
              <a:latin typeface="Roboto"/>
              <a:ea typeface="Roboto"/>
              <a:cs typeface="Roboto"/>
              <a:sym typeface="Roboto"/>
            </a:endParaRPr>
          </a:p>
          <a:p>
            <a:pPr indent="-342900" lvl="0" marL="457200" rtl="0" algn="l">
              <a:lnSpc>
                <a:spcPct val="115000"/>
              </a:lnSpc>
              <a:spcBef>
                <a:spcPts val="600"/>
              </a:spcBef>
              <a:spcAft>
                <a:spcPts val="0"/>
              </a:spcAft>
              <a:buClr>
                <a:srgbClr val="CCCCCC"/>
              </a:buClr>
              <a:buSzPts val="1800"/>
              <a:buFont typeface="Roboto"/>
              <a:buChar char="•"/>
            </a:pPr>
            <a:r>
              <a:rPr b="1" lang="en">
                <a:solidFill>
                  <a:srgbClr val="CCCCCC"/>
                </a:solidFill>
                <a:latin typeface="Roboto"/>
                <a:ea typeface="Roboto"/>
                <a:cs typeface="Roboto"/>
                <a:sym typeface="Roboto"/>
              </a:rPr>
              <a:t>Count to Infinity</a:t>
            </a:r>
            <a:endParaRPr b="1">
              <a:solidFill>
                <a:srgbClr val="CCCCCC"/>
              </a:solidFill>
              <a:latin typeface="Roboto"/>
              <a:ea typeface="Roboto"/>
              <a:cs typeface="Roboto"/>
              <a:sym typeface="Roboto"/>
            </a:endParaRPr>
          </a:p>
        </p:txBody>
      </p:sp>
      <p:sp>
        <p:nvSpPr>
          <p:cNvPr id="910" name="Google Shape;910;g36c259e05aa_0_0"/>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Worksheet</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pic>
        <p:nvPicPr>
          <p:cNvPr id="915" name="Google Shape;915;g36c259e05aa_0_119" title="Screenshot 2025-07-01 at 12.12.57 AM.png"/>
          <p:cNvPicPr preferRelativeResize="0"/>
          <p:nvPr/>
        </p:nvPicPr>
        <p:blipFill rotWithShape="1">
          <a:blip r:embed="rId3">
            <a:alphaModFix/>
          </a:blip>
          <a:srcRect b="0" l="4084" r="4331" t="0"/>
          <a:stretch/>
        </p:blipFill>
        <p:spPr>
          <a:xfrm>
            <a:off x="1305808" y="590500"/>
            <a:ext cx="6472176" cy="3310615"/>
          </a:xfrm>
          <a:prstGeom prst="rect">
            <a:avLst/>
          </a:prstGeom>
          <a:noFill/>
          <a:ln>
            <a:noFill/>
          </a:ln>
        </p:spPr>
      </p:pic>
      <p:sp>
        <p:nvSpPr>
          <p:cNvPr id="916" name="Google Shape;916;g36c259e05aa_0_119"/>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600"/>
              <a:buNone/>
            </a:pPr>
            <a:r>
              <a:rPr lang="en">
                <a:solidFill>
                  <a:schemeClr val="accent3"/>
                </a:solidFill>
              </a:rPr>
              <a:t>Question 2: Split Horizon and Poison</a:t>
            </a:r>
            <a:endParaRPr/>
          </a:p>
        </p:txBody>
      </p:sp>
      <p:pic>
        <p:nvPicPr>
          <p:cNvPr id="917" name="Google Shape;917;g36c259e05aa_0_119" title="Screenshot 2025-07-01 at 12.05.02 AM.png"/>
          <p:cNvPicPr preferRelativeResize="0"/>
          <p:nvPr/>
        </p:nvPicPr>
        <p:blipFill>
          <a:blip r:embed="rId4">
            <a:alphaModFix/>
          </a:blip>
          <a:stretch>
            <a:fillRect/>
          </a:stretch>
        </p:blipFill>
        <p:spPr>
          <a:xfrm>
            <a:off x="1305800" y="3240050"/>
            <a:ext cx="7847850" cy="477550"/>
          </a:xfrm>
          <a:prstGeom prst="rect">
            <a:avLst/>
          </a:prstGeom>
          <a:noFill/>
          <a:ln>
            <a:noFill/>
          </a:ln>
        </p:spPr>
      </p:pic>
      <p:pic>
        <p:nvPicPr>
          <p:cNvPr id="918" name="Google Shape;918;g36c259e05aa_0_119" title="Screenshot 2025-07-01 at 12.13.28 AM.png"/>
          <p:cNvPicPr preferRelativeResize="0"/>
          <p:nvPr/>
        </p:nvPicPr>
        <p:blipFill>
          <a:blip r:embed="rId5">
            <a:alphaModFix/>
          </a:blip>
          <a:stretch>
            <a:fillRect/>
          </a:stretch>
        </p:blipFill>
        <p:spPr>
          <a:xfrm>
            <a:off x="1149825" y="3610270"/>
            <a:ext cx="6844350" cy="1216805"/>
          </a:xfrm>
          <a:prstGeom prst="rect">
            <a:avLst/>
          </a:prstGeom>
          <a:noFill/>
          <a:ln>
            <a:noFill/>
          </a:ln>
        </p:spPr>
      </p:pic>
      <p:pic>
        <p:nvPicPr>
          <p:cNvPr id="919" name="Google Shape;919;g36c259e05aa_0_119" title="Screenshot 2025-07-01 at 12.05.02 AM.png"/>
          <p:cNvPicPr preferRelativeResize="0"/>
          <p:nvPr/>
        </p:nvPicPr>
        <p:blipFill>
          <a:blip r:embed="rId4">
            <a:alphaModFix/>
          </a:blip>
          <a:stretch>
            <a:fillRect/>
          </a:stretch>
        </p:blipFill>
        <p:spPr>
          <a:xfrm>
            <a:off x="1028900" y="4505925"/>
            <a:ext cx="7847850" cy="477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1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g36c259e05aa_0_110"/>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2: Split Horizon and Poison</a:t>
            </a:r>
            <a:endParaRPr/>
          </a:p>
        </p:txBody>
      </p:sp>
      <p:pic>
        <p:nvPicPr>
          <p:cNvPr id="925" name="Google Shape;925;g36c259e05aa_0_110" title="Screenshot 2025-07-01 at 12.14.05 AM.png"/>
          <p:cNvPicPr preferRelativeResize="0"/>
          <p:nvPr/>
        </p:nvPicPr>
        <p:blipFill>
          <a:blip r:embed="rId3">
            <a:alphaModFix/>
          </a:blip>
          <a:stretch>
            <a:fillRect/>
          </a:stretch>
        </p:blipFill>
        <p:spPr>
          <a:xfrm>
            <a:off x="262949" y="515350"/>
            <a:ext cx="8430299" cy="4149400"/>
          </a:xfrm>
          <a:prstGeom prst="rect">
            <a:avLst/>
          </a:prstGeom>
          <a:noFill/>
          <a:ln>
            <a:noFill/>
          </a:ln>
        </p:spPr>
      </p:pic>
      <p:pic>
        <p:nvPicPr>
          <p:cNvPr id="926" name="Google Shape;926;g36c259e05aa_0_110" title="Screenshot 2025-07-01 at 12.05.02 AM.png"/>
          <p:cNvPicPr preferRelativeResize="0"/>
          <p:nvPr/>
        </p:nvPicPr>
        <p:blipFill>
          <a:blip r:embed="rId4">
            <a:alphaModFix/>
          </a:blip>
          <a:stretch>
            <a:fillRect/>
          </a:stretch>
        </p:blipFill>
        <p:spPr>
          <a:xfrm>
            <a:off x="554175" y="1517375"/>
            <a:ext cx="7847850" cy="723000"/>
          </a:xfrm>
          <a:prstGeom prst="rect">
            <a:avLst/>
          </a:prstGeom>
          <a:noFill/>
          <a:ln>
            <a:noFill/>
          </a:ln>
        </p:spPr>
      </p:pic>
      <p:pic>
        <p:nvPicPr>
          <p:cNvPr id="927" name="Google Shape;927;g36c259e05aa_0_110" title="Screenshot 2025-07-01 at 12.05.02 AM.png"/>
          <p:cNvPicPr preferRelativeResize="0"/>
          <p:nvPr/>
        </p:nvPicPr>
        <p:blipFill>
          <a:blip r:embed="rId4">
            <a:alphaModFix/>
          </a:blip>
          <a:stretch>
            <a:fillRect/>
          </a:stretch>
        </p:blipFill>
        <p:spPr>
          <a:xfrm>
            <a:off x="648075" y="3078400"/>
            <a:ext cx="7847850" cy="150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6c259e05aa_0_5"/>
          <p:cNvSpPr txBox="1"/>
          <p:nvPr>
            <p:ph idx="1" type="body"/>
          </p:nvPr>
        </p:nvSpPr>
        <p:spPr>
          <a:xfrm>
            <a:off x="4812375" y="402200"/>
            <a:ext cx="4038000" cy="4260900"/>
          </a:xfrm>
          <a:prstGeom prst="rect">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600"/>
              </a:spcBef>
              <a:spcAft>
                <a:spcPts val="0"/>
              </a:spcAft>
              <a:buClr>
                <a:srgbClr val="CCCCCC"/>
              </a:buClr>
              <a:buSzPts val="1800"/>
              <a:buFont typeface="Roboto"/>
              <a:buChar char="•"/>
            </a:pPr>
            <a:r>
              <a:rPr b="1" lang="en">
                <a:solidFill>
                  <a:srgbClr val="CCCCCC"/>
                </a:solidFill>
                <a:latin typeface="Roboto"/>
                <a:ea typeface="Roboto"/>
                <a:cs typeface="Roboto"/>
                <a:sym typeface="Roboto"/>
              </a:rPr>
              <a:t>Distance Vector</a:t>
            </a:r>
            <a:endParaRPr b="1">
              <a:solidFill>
                <a:srgbClr val="CCCCCC"/>
              </a:solidFill>
              <a:latin typeface="Roboto"/>
              <a:ea typeface="Roboto"/>
              <a:cs typeface="Roboto"/>
              <a:sym typeface="Roboto"/>
            </a:endParaRPr>
          </a:p>
          <a:p>
            <a:pPr indent="-342900" lvl="0" marL="457200" rtl="0" algn="l">
              <a:lnSpc>
                <a:spcPct val="115000"/>
              </a:lnSpc>
              <a:spcBef>
                <a:spcPts val="600"/>
              </a:spcBef>
              <a:spcAft>
                <a:spcPts val="0"/>
              </a:spcAft>
              <a:buClr>
                <a:srgbClr val="CCCCCC"/>
              </a:buClr>
              <a:buSzPts val="1800"/>
              <a:buFont typeface="Roboto"/>
              <a:buChar char="•"/>
            </a:pPr>
            <a:r>
              <a:rPr b="1" lang="en">
                <a:solidFill>
                  <a:srgbClr val="CCCCCC"/>
                </a:solidFill>
                <a:latin typeface="Roboto"/>
                <a:ea typeface="Roboto"/>
                <a:cs typeface="Roboto"/>
                <a:sym typeface="Roboto"/>
              </a:rPr>
              <a:t>Split Horizon and Poison</a:t>
            </a:r>
            <a:endParaRPr b="1">
              <a:solidFill>
                <a:srgbClr val="CCCCCC"/>
              </a:solidFill>
              <a:latin typeface="Roboto"/>
              <a:ea typeface="Roboto"/>
              <a:cs typeface="Roboto"/>
              <a:sym typeface="Roboto"/>
            </a:endParaRPr>
          </a:p>
          <a:p>
            <a:pPr indent="-342900" lvl="0" marL="457200" rtl="0" algn="l">
              <a:lnSpc>
                <a:spcPct val="115000"/>
              </a:lnSpc>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Count to Infinity</a:t>
            </a:r>
            <a:endParaRPr b="1">
              <a:solidFill>
                <a:schemeClr val="accent3"/>
              </a:solidFill>
              <a:latin typeface="Roboto"/>
              <a:ea typeface="Roboto"/>
              <a:cs typeface="Roboto"/>
              <a:sym typeface="Roboto"/>
            </a:endParaRPr>
          </a:p>
        </p:txBody>
      </p:sp>
      <p:sp>
        <p:nvSpPr>
          <p:cNvPr id="933" name="Google Shape;933;g36c259e05aa_0_5"/>
          <p:cNvSpPr txBox="1"/>
          <p:nvPr>
            <p:ph type="title"/>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Worksheet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g36c259e05aa_0_129"/>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3: Count to Infinity</a:t>
            </a:r>
            <a:endParaRPr/>
          </a:p>
        </p:txBody>
      </p:sp>
      <p:pic>
        <p:nvPicPr>
          <p:cNvPr id="939" name="Google Shape;939;g36c259e05aa_0_129" title="Screenshot 2025-07-01 at 12.16.38 AM.png"/>
          <p:cNvPicPr preferRelativeResize="0"/>
          <p:nvPr/>
        </p:nvPicPr>
        <p:blipFill>
          <a:blip r:embed="rId3">
            <a:alphaModFix/>
          </a:blip>
          <a:stretch>
            <a:fillRect/>
          </a:stretch>
        </p:blipFill>
        <p:spPr>
          <a:xfrm>
            <a:off x="152400" y="546000"/>
            <a:ext cx="8839199" cy="3430137"/>
          </a:xfrm>
          <a:prstGeom prst="rect">
            <a:avLst/>
          </a:prstGeom>
          <a:noFill/>
          <a:ln>
            <a:noFill/>
          </a:ln>
        </p:spPr>
      </p:pic>
      <p:pic>
        <p:nvPicPr>
          <p:cNvPr id="940" name="Google Shape;940;g36c259e05aa_0_129" title="Screenshot 2025-07-01 at 12.18.56 AM.png"/>
          <p:cNvPicPr preferRelativeResize="0"/>
          <p:nvPr/>
        </p:nvPicPr>
        <p:blipFill>
          <a:blip r:embed="rId4">
            <a:alphaModFix/>
          </a:blip>
          <a:stretch>
            <a:fillRect/>
          </a:stretch>
        </p:blipFill>
        <p:spPr>
          <a:xfrm>
            <a:off x="1366301" y="3217900"/>
            <a:ext cx="546500" cy="215725"/>
          </a:xfrm>
          <a:prstGeom prst="rect">
            <a:avLst/>
          </a:prstGeom>
          <a:noFill/>
          <a:ln>
            <a:noFill/>
          </a:ln>
        </p:spPr>
      </p:pic>
      <p:pic>
        <p:nvPicPr>
          <p:cNvPr id="941" name="Google Shape;941;g36c259e05aa_0_129" title="Screenshot 2025-07-01 at 12.18.56 AM.png"/>
          <p:cNvPicPr preferRelativeResize="0"/>
          <p:nvPr/>
        </p:nvPicPr>
        <p:blipFill>
          <a:blip r:embed="rId4">
            <a:alphaModFix/>
          </a:blip>
          <a:stretch>
            <a:fillRect/>
          </a:stretch>
        </p:blipFill>
        <p:spPr>
          <a:xfrm>
            <a:off x="2188026" y="3217900"/>
            <a:ext cx="546500" cy="215725"/>
          </a:xfrm>
          <a:prstGeom prst="rect">
            <a:avLst/>
          </a:prstGeom>
          <a:noFill/>
          <a:ln>
            <a:noFill/>
          </a:ln>
        </p:spPr>
      </p:pic>
      <p:pic>
        <p:nvPicPr>
          <p:cNvPr id="942" name="Google Shape;942;g36c259e05aa_0_129" title="Screenshot 2025-07-01 at 12.18.56 AM.png"/>
          <p:cNvPicPr preferRelativeResize="0"/>
          <p:nvPr/>
        </p:nvPicPr>
        <p:blipFill>
          <a:blip r:embed="rId4">
            <a:alphaModFix/>
          </a:blip>
          <a:stretch>
            <a:fillRect/>
          </a:stretch>
        </p:blipFill>
        <p:spPr>
          <a:xfrm>
            <a:off x="3820676" y="2881175"/>
            <a:ext cx="546500" cy="215725"/>
          </a:xfrm>
          <a:prstGeom prst="rect">
            <a:avLst/>
          </a:prstGeom>
          <a:noFill/>
          <a:ln>
            <a:noFill/>
          </a:ln>
        </p:spPr>
      </p:pic>
      <p:pic>
        <p:nvPicPr>
          <p:cNvPr id="943" name="Google Shape;943;g36c259e05aa_0_129" title="Screenshot 2025-07-01 at 12.18.56 AM.png"/>
          <p:cNvPicPr preferRelativeResize="0"/>
          <p:nvPr/>
        </p:nvPicPr>
        <p:blipFill>
          <a:blip r:embed="rId4">
            <a:alphaModFix/>
          </a:blip>
          <a:stretch>
            <a:fillRect/>
          </a:stretch>
        </p:blipFill>
        <p:spPr>
          <a:xfrm>
            <a:off x="4693901" y="2881175"/>
            <a:ext cx="546500" cy="215725"/>
          </a:xfrm>
          <a:prstGeom prst="rect">
            <a:avLst/>
          </a:prstGeom>
          <a:noFill/>
          <a:ln>
            <a:noFill/>
          </a:ln>
        </p:spPr>
      </p:pic>
      <p:pic>
        <p:nvPicPr>
          <p:cNvPr id="944" name="Google Shape;944;g36c259e05aa_0_129" title="Screenshot 2025-07-01 at 12.18.56 AM.png"/>
          <p:cNvPicPr preferRelativeResize="0"/>
          <p:nvPr/>
        </p:nvPicPr>
        <p:blipFill>
          <a:blip r:embed="rId4">
            <a:alphaModFix/>
          </a:blip>
          <a:stretch>
            <a:fillRect/>
          </a:stretch>
        </p:blipFill>
        <p:spPr>
          <a:xfrm>
            <a:off x="3820676" y="3217900"/>
            <a:ext cx="546500" cy="215725"/>
          </a:xfrm>
          <a:prstGeom prst="rect">
            <a:avLst/>
          </a:prstGeom>
          <a:noFill/>
          <a:ln>
            <a:noFill/>
          </a:ln>
        </p:spPr>
      </p:pic>
      <p:pic>
        <p:nvPicPr>
          <p:cNvPr id="945" name="Google Shape;945;g36c259e05aa_0_129" title="Screenshot 2025-07-01 at 12.18.56 AM.png"/>
          <p:cNvPicPr preferRelativeResize="0"/>
          <p:nvPr/>
        </p:nvPicPr>
        <p:blipFill>
          <a:blip r:embed="rId4">
            <a:alphaModFix/>
          </a:blip>
          <a:stretch>
            <a:fillRect/>
          </a:stretch>
        </p:blipFill>
        <p:spPr>
          <a:xfrm>
            <a:off x="4629526" y="3217900"/>
            <a:ext cx="546500" cy="215725"/>
          </a:xfrm>
          <a:prstGeom prst="rect">
            <a:avLst/>
          </a:prstGeom>
          <a:noFill/>
          <a:ln>
            <a:noFill/>
          </a:ln>
        </p:spPr>
      </p:pic>
      <p:pic>
        <p:nvPicPr>
          <p:cNvPr id="946" name="Google Shape;946;g36c259e05aa_0_129" title="Screenshot 2025-07-01 at 12.18.56 AM.png"/>
          <p:cNvPicPr preferRelativeResize="0"/>
          <p:nvPr/>
        </p:nvPicPr>
        <p:blipFill>
          <a:blip r:embed="rId4">
            <a:alphaModFix/>
          </a:blip>
          <a:stretch>
            <a:fillRect/>
          </a:stretch>
        </p:blipFill>
        <p:spPr>
          <a:xfrm>
            <a:off x="6275051" y="3217900"/>
            <a:ext cx="546500" cy="215725"/>
          </a:xfrm>
          <a:prstGeom prst="rect">
            <a:avLst/>
          </a:prstGeom>
          <a:noFill/>
          <a:ln>
            <a:noFill/>
          </a:ln>
        </p:spPr>
      </p:pic>
      <p:pic>
        <p:nvPicPr>
          <p:cNvPr id="947" name="Google Shape;947;g36c259e05aa_0_129" title="Screenshot 2025-07-01 at 12.18.56 AM.png"/>
          <p:cNvPicPr preferRelativeResize="0"/>
          <p:nvPr/>
        </p:nvPicPr>
        <p:blipFill>
          <a:blip r:embed="rId4">
            <a:alphaModFix/>
          </a:blip>
          <a:stretch>
            <a:fillRect/>
          </a:stretch>
        </p:blipFill>
        <p:spPr>
          <a:xfrm>
            <a:off x="7071026" y="3217900"/>
            <a:ext cx="546500" cy="215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6c259e05aa_0_137"/>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3: Count to Infinity</a:t>
            </a:r>
            <a:endParaRPr/>
          </a:p>
        </p:txBody>
      </p:sp>
      <p:pic>
        <p:nvPicPr>
          <p:cNvPr id="953" name="Google Shape;953;g36c259e05aa_0_137" title="Screenshot 2025-07-01 at 12.16.46 AM.png"/>
          <p:cNvPicPr preferRelativeResize="0"/>
          <p:nvPr/>
        </p:nvPicPr>
        <p:blipFill>
          <a:blip r:embed="rId3">
            <a:alphaModFix/>
          </a:blip>
          <a:stretch>
            <a:fillRect/>
          </a:stretch>
        </p:blipFill>
        <p:spPr>
          <a:xfrm>
            <a:off x="572875" y="637675"/>
            <a:ext cx="8107125" cy="864575"/>
          </a:xfrm>
          <a:prstGeom prst="rect">
            <a:avLst/>
          </a:prstGeom>
          <a:noFill/>
          <a:ln>
            <a:noFill/>
          </a:ln>
        </p:spPr>
      </p:pic>
      <p:pic>
        <p:nvPicPr>
          <p:cNvPr id="954" name="Google Shape;954;g36c259e05aa_0_137" title="Screenshot 2025-07-01 at 12.16.54 AM.png"/>
          <p:cNvPicPr preferRelativeResize="0"/>
          <p:nvPr/>
        </p:nvPicPr>
        <p:blipFill>
          <a:blip r:embed="rId4">
            <a:alphaModFix/>
          </a:blip>
          <a:stretch>
            <a:fillRect/>
          </a:stretch>
        </p:blipFill>
        <p:spPr>
          <a:xfrm>
            <a:off x="464000" y="1185825"/>
            <a:ext cx="7014806" cy="3957675"/>
          </a:xfrm>
          <a:prstGeom prst="rect">
            <a:avLst/>
          </a:prstGeom>
          <a:noFill/>
          <a:ln>
            <a:noFill/>
          </a:ln>
        </p:spPr>
      </p:pic>
      <p:pic>
        <p:nvPicPr>
          <p:cNvPr id="955" name="Google Shape;955;g36c259e05aa_0_137" title="Screenshot 2025-07-01 at 12.18.56 AM.png"/>
          <p:cNvPicPr preferRelativeResize="0"/>
          <p:nvPr/>
        </p:nvPicPr>
        <p:blipFill>
          <a:blip r:embed="rId5">
            <a:alphaModFix/>
          </a:blip>
          <a:stretch>
            <a:fillRect/>
          </a:stretch>
        </p:blipFill>
        <p:spPr>
          <a:xfrm>
            <a:off x="2910876" y="1904975"/>
            <a:ext cx="268425" cy="215725"/>
          </a:xfrm>
          <a:prstGeom prst="rect">
            <a:avLst/>
          </a:prstGeom>
          <a:noFill/>
          <a:ln>
            <a:noFill/>
          </a:ln>
        </p:spPr>
      </p:pic>
      <p:pic>
        <p:nvPicPr>
          <p:cNvPr id="956" name="Google Shape;956;g36c259e05aa_0_137" title="Screenshot 2025-07-01 at 12.18.56 AM.png"/>
          <p:cNvPicPr preferRelativeResize="0"/>
          <p:nvPr/>
        </p:nvPicPr>
        <p:blipFill>
          <a:blip r:embed="rId5">
            <a:alphaModFix/>
          </a:blip>
          <a:stretch>
            <a:fillRect/>
          </a:stretch>
        </p:blipFill>
        <p:spPr>
          <a:xfrm>
            <a:off x="3338026" y="1904975"/>
            <a:ext cx="268425" cy="215725"/>
          </a:xfrm>
          <a:prstGeom prst="rect">
            <a:avLst/>
          </a:prstGeom>
          <a:noFill/>
          <a:ln>
            <a:noFill/>
          </a:ln>
        </p:spPr>
      </p:pic>
      <p:pic>
        <p:nvPicPr>
          <p:cNvPr id="957" name="Google Shape;957;g36c259e05aa_0_137" title="Screenshot 2025-07-01 at 12.18.56 AM.png"/>
          <p:cNvPicPr preferRelativeResize="0"/>
          <p:nvPr/>
        </p:nvPicPr>
        <p:blipFill>
          <a:blip r:embed="rId5">
            <a:alphaModFix/>
          </a:blip>
          <a:stretch>
            <a:fillRect/>
          </a:stretch>
        </p:blipFill>
        <p:spPr>
          <a:xfrm>
            <a:off x="4186475" y="1904975"/>
            <a:ext cx="385525" cy="215725"/>
          </a:xfrm>
          <a:prstGeom prst="rect">
            <a:avLst/>
          </a:prstGeom>
          <a:noFill/>
          <a:ln>
            <a:noFill/>
          </a:ln>
        </p:spPr>
      </p:pic>
      <p:pic>
        <p:nvPicPr>
          <p:cNvPr id="958" name="Google Shape;958;g36c259e05aa_0_137" title="Screenshot 2025-07-01 at 12.18.56 AM.png"/>
          <p:cNvPicPr preferRelativeResize="0"/>
          <p:nvPr/>
        </p:nvPicPr>
        <p:blipFill>
          <a:blip r:embed="rId5">
            <a:alphaModFix/>
          </a:blip>
          <a:stretch>
            <a:fillRect/>
          </a:stretch>
        </p:blipFill>
        <p:spPr>
          <a:xfrm>
            <a:off x="2910876" y="2185600"/>
            <a:ext cx="268425" cy="215725"/>
          </a:xfrm>
          <a:prstGeom prst="rect">
            <a:avLst/>
          </a:prstGeom>
          <a:noFill/>
          <a:ln>
            <a:noFill/>
          </a:ln>
        </p:spPr>
      </p:pic>
      <p:pic>
        <p:nvPicPr>
          <p:cNvPr id="959" name="Google Shape;959;g36c259e05aa_0_137" title="Screenshot 2025-07-01 at 12.18.56 AM.png"/>
          <p:cNvPicPr preferRelativeResize="0"/>
          <p:nvPr/>
        </p:nvPicPr>
        <p:blipFill>
          <a:blip r:embed="rId5">
            <a:alphaModFix/>
          </a:blip>
          <a:stretch>
            <a:fillRect/>
          </a:stretch>
        </p:blipFill>
        <p:spPr>
          <a:xfrm>
            <a:off x="3338026" y="2185600"/>
            <a:ext cx="268425" cy="215725"/>
          </a:xfrm>
          <a:prstGeom prst="rect">
            <a:avLst/>
          </a:prstGeom>
          <a:noFill/>
          <a:ln>
            <a:noFill/>
          </a:ln>
        </p:spPr>
      </p:pic>
      <p:pic>
        <p:nvPicPr>
          <p:cNvPr id="960" name="Google Shape;960;g36c259e05aa_0_137" title="Screenshot 2025-07-01 at 12.18.56 AM.png"/>
          <p:cNvPicPr preferRelativeResize="0"/>
          <p:nvPr/>
        </p:nvPicPr>
        <p:blipFill>
          <a:blip r:embed="rId5">
            <a:alphaModFix/>
          </a:blip>
          <a:stretch>
            <a:fillRect/>
          </a:stretch>
        </p:blipFill>
        <p:spPr>
          <a:xfrm>
            <a:off x="4186475" y="2185600"/>
            <a:ext cx="385525" cy="215725"/>
          </a:xfrm>
          <a:prstGeom prst="rect">
            <a:avLst/>
          </a:prstGeom>
          <a:noFill/>
          <a:ln>
            <a:noFill/>
          </a:ln>
        </p:spPr>
      </p:pic>
      <p:pic>
        <p:nvPicPr>
          <p:cNvPr id="961" name="Google Shape;961;g36c259e05aa_0_137" title="Screenshot 2025-07-01 at 12.18.56 AM.png"/>
          <p:cNvPicPr preferRelativeResize="0"/>
          <p:nvPr/>
        </p:nvPicPr>
        <p:blipFill>
          <a:blip r:embed="rId5">
            <a:alphaModFix/>
          </a:blip>
          <a:stretch>
            <a:fillRect/>
          </a:stretch>
        </p:blipFill>
        <p:spPr>
          <a:xfrm>
            <a:off x="2910876" y="2448600"/>
            <a:ext cx="268425" cy="215725"/>
          </a:xfrm>
          <a:prstGeom prst="rect">
            <a:avLst/>
          </a:prstGeom>
          <a:noFill/>
          <a:ln>
            <a:noFill/>
          </a:ln>
        </p:spPr>
      </p:pic>
      <p:pic>
        <p:nvPicPr>
          <p:cNvPr id="962" name="Google Shape;962;g36c259e05aa_0_137" title="Screenshot 2025-07-01 at 12.18.56 AM.png"/>
          <p:cNvPicPr preferRelativeResize="0"/>
          <p:nvPr/>
        </p:nvPicPr>
        <p:blipFill>
          <a:blip r:embed="rId5">
            <a:alphaModFix/>
          </a:blip>
          <a:stretch>
            <a:fillRect/>
          </a:stretch>
        </p:blipFill>
        <p:spPr>
          <a:xfrm>
            <a:off x="3338026" y="2448600"/>
            <a:ext cx="268425" cy="215725"/>
          </a:xfrm>
          <a:prstGeom prst="rect">
            <a:avLst/>
          </a:prstGeom>
          <a:noFill/>
          <a:ln>
            <a:noFill/>
          </a:ln>
        </p:spPr>
      </p:pic>
      <p:pic>
        <p:nvPicPr>
          <p:cNvPr id="963" name="Google Shape;963;g36c259e05aa_0_137" title="Screenshot 2025-07-01 at 12.18.56 AM.png"/>
          <p:cNvPicPr preferRelativeResize="0"/>
          <p:nvPr/>
        </p:nvPicPr>
        <p:blipFill>
          <a:blip r:embed="rId5">
            <a:alphaModFix/>
          </a:blip>
          <a:stretch>
            <a:fillRect/>
          </a:stretch>
        </p:blipFill>
        <p:spPr>
          <a:xfrm>
            <a:off x="4186475" y="2448600"/>
            <a:ext cx="385525" cy="215725"/>
          </a:xfrm>
          <a:prstGeom prst="rect">
            <a:avLst/>
          </a:prstGeom>
          <a:noFill/>
          <a:ln>
            <a:noFill/>
          </a:ln>
        </p:spPr>
      </p:pic>
      <p:pic>
        <p:nvPicPr>
          <p:cNvPr id="964" name="Google Shape;964;g36c259e05aa_0_137" title="Screenshot 2025-07-01 at 12.18.56 AM.png"/>
          <p:cNvPicPr preferRelativeResize="0"/>
          <p:nvPr/>
        </p:nvPicPr>
        <p:blipFill>
          <a:blip r:embed="rId5">
            <a:alphaModFix/>
          </a:blip>
          <a:stretch>
            <a:fillRect/>
          </a:stretch>
        </p:blipFill>
        <p:spPr>
          <a:xfrm>
            <a:off x="2910876" y="3689575"/>
            <a:ext cx="268425" cy="215725"/>
          </a:xfrm>
          <a:prstGeom prst="rect">
            <a:avLst/>
          </a:prstGeom>
          <a:noFill/>
          <a:ln>
            <a:noFill/>
          </a:ln>
        </p:spPr>
      </p:pic>
      <p:pic>
        <p:nvPicPr>
          <p:cNvPr id="965" name="Google Shape;965;g36c259e05aa_0_137" title="Screenshot 2025-07-01 at 12.18.56 AM.png"/>
          <p:cNvPicPr preferRelativeResize="0"/>
          <p:nvPr/>
        </p:nvPicPr>
        <p:blipFill>
          <a:blip r:embed="rId5">
            <a:alphaModFix/>
          </a:blip>
          <a:stretch>
            <a:fillRect/>
          </a:stretch>
        </p:blipFill>
        <p:spPr>
          <a:xfrm>
            <a:off x="3338026" y="3689575"/>
            <a:ext cx="268425" cy="215725"/>
          </a:xfrm>
          <a:prstGeom prst="rect">
            <a:avLst/>
          </a:prstGeom>
          <a:noFill/>
          <a:ln>
            <a:noFill/>
          </a:ln>
        </p:spPr>
      </p:pic>
      <p:pic>
        <p:nvPicPr>
          <p:cNvPr id="966" name="Google Shape;966;g36c259e05aa_0_137" title="Screenshot 2025-07-01 at 12.18.56 AM.png"/>
          <p:cNvPicPr preferRelativeResize="0"/>
          <p:nvPr/>
        </p:nvPicPr>
        <p:blipFill>
          <a:blip r:embed="rId5">
            <a:alphaModFix/>
          </a:blip>
          <a:stretch>
            <a:fillRect/>
          </a:stretch>
        </p:blipFill>
        <p:spPr>
          <a:xfrm>
            <a:off x="4186475" y="3689575"/>
            <a:ext cx="385525" cy="215725"/>
          </a:xfrm>
          <a:prstGeom prst="rect">
            <a:avLst/>
          </a:prstGeom>
          <a:noFill/>
          <a:ln>
            <a:noFill/>
          </a:ln>
        </p:spPr>
      </p:pic>
      <p:pic>
        <p:nvPicPr>
          <p:cNvPr id="967" name="Google Shape;967;g36c259e05aa_0_137" title="Screenshot 2025-07-01 at 12.18.56 AM.png"/>
          <p:cNvPicPr preferRelativeResize="0"/>
          <p:nvPr/>
        </p:nvPicPr>
        <p:blipFill>
          <a:blip r:embed="rId5">
            <a:alphaModFix/>
          </a:blip>
          <a:stretch>
            <a:fillRect/>
          </a:stretch>
        </p:blipFill>
        <p:spPr>
          <a:xfrm>
            <a:off x="2910876" y="3962925"/>
            <a:ext cx="268425" cy="215725"/>
          </a:xfrm>
          <a:prstGeom prst="rect">
            <a:avLst/>
          </a:prstGeom>
          <a:noFill/>
          <a:ln>
            <a:noFill/>
          </a:ln>
        </p:spPr>
      </p:pic>
      <p:pic>
        <p:nvPicPr>
          <p:cNvPr id="968" name="Google Shape;968;g36c259e05aa_0_137" title="Screenshot 2025-07-01 at 12.18.56 AM.png"/>
          <p:cNvPicPr preferRelativeResize="0"/>
          <p:nvPr/>
        </p:nvPicPr>
        <p:blipFill>
          <a:blip r:embed="rId5">
            <a:alphaModFix/>
          </a:blip>
          <a:stretch>
            <a:fillRect/>
          </a:stretch>
        </p:blipFill>
        <p:spPr>
          <a:xfrm>
            <a:off x="3338026" y="3962925"/>
            <a:ext cx="268425" cy="215725"/>
          </a:xfrm>
          <a:prstGeom prst="rect">
            <a:avLst/>
          </a:prstGeom>
          <a:noFill/>
          <a:ln>
            <a:noFill/>
          </a:ln>
        </p:spPr>
      </p:pic>
      <p:pic>
        <p:nvPicPr>
          <p:cNvPr id="969" name="Google Shape;969;g36c259e05aa_0_137" title="Screenshot 2025-07-01 at 12.18.56 AM.png"/>
          <p:cNvPicPr preferRelativeResize="0"/>
          <p:nvPr/>
        </p:nvPicPr>
        <p:blipFill>
          <a:blip r:embed="rId5">
            <a:alphaModFix/>
          </a:blip>
          <a:stretch>
            <a:fillRect/>
          </a:stretch>
        </p:blipFill>
        <p:spPr>
          <a:xfrm>
            <a:off x="4186475" y="3962925"/>
            <a:ext cx="385525" cy="215725"/>
          </a:xfrm>
          <a:prstGeom prst="rect">
            <a:avLst/>
          </a:prstGeom>
          <a:noFill/>
          <a:ln>
            <a:noFill/>
          </a:ln>
        </p:spPr>
      </p:pic>
      <p:pic>
        <p:nvPicPr>
          <p:cNvPr id="970" name="Google Shape;970;g36c259e05aa_0_137" title="Screenshot 2025-07-01 at 12.18.56 AM.png"/>
          <p:cNvPicPr preferRelativeResize="0"/>
          <p:nvPr/>
        </p:nvPicPr>
        <p:blipFill>
          <a:blip r:embed="rId5">
            <a:alphaModFix/>
          </a:blip>
          <a:stretch>
            <a:fillRect/>
          </a:stretch>
        </p:blipFill>
        <p:spPr>
          <a:xfrm>
            <a:off x="2910876" y="4236275"/>
            <a:ext cx="268425" cy="215725"/>
          </a:xfrm>
          <a:prstGeom prst="rect">
            <a:avLst/>
          </a:prstGeom>
          <a:noFill/>
          <a:ln>
            <a:noFill/>
          </a:ln>
        </p:spPr>
      </p:pic>
      <p:pic>
        <p:nvPicPr>
          <p:cNvPr id="971" name="Google Shape;971;g36c259e05aa_0_137" title="Screenshot 2025-07-01 at 12.18.56 AM.png"/>
          <p:cNvPicPr preferRelativeResize="0"/>
          <p:nvPr/>
        </p:nvPicPr>
        <p:blipFill>
          <a:blip r:embed="rId5">
            <a:alphaModFix/>
          </a:blip>
          <a:stretch>
            <a:fillRect/>
          </a:stretch>
        </p:blipFill>
        <p:spPr>
          <a:xfrm>
            <a:off x="3338026" y="4236275"/>
            <a:ext cx="268425" cy="215725"/>
          </a:xfrm>
          <a:prstGeom prst="rect">
            <a:avLst/>
          </a:prstGeom>
          <a:noFill/>
          <a:ln>
            <a:noFill/>
          </a:ln>
        </p:spPr>
      </p:pic>
      <p:pic>
        <p:nvPicPr>
          <p:cNvPr id="972" name="Google Shape;972;g36c259e05aa_0_137" title="Screenshot 2025-07-01 at 12.18.56 AM.png"/>
          <p:cNvPicPr preferRelativeResize="0"/>
          <p:nvPr/>
        </p:nvPicPr>
        <p:blipFill>
          <a:blip r:embed="rId5">
            <a:alphaModFix/>
          </a:blip>
          <a:stretch>
            <a:fillRect/>
          </a:stretch>
        </p:blipFill>
        <p:spPr>
          <a:xfrm>
            <a:off x="4186475" y="4236275"/>
            <a:ext cx="385525" cy="215725"/>
          </a:xfrm>
          <a:prstGeom prst="rect">
            <a:avLst/>
          </a:prstGeom>
          <a:noFill/>
          <a:ln>
            <a:noFill/>
          </a:ln>
        </p:spPr>
      </p:pic>
      <p:pic>
        <p:nvPicPr>
          <p:cNvPr id="973" name="Google Shape;973;g36c259e05aa_0_137" title="Screenshot 2025-07-01 at 12.18.56 AM.png"/>
          <p:cNvPicPr preferRelativeResize="0"/>
          <p:nvPr/>
        </p:nvPicPr>
        <p:blipFill>
          <a:blip r:embed="rId5">
            <a:alphaModFix/>
          </a:blip>
          <a:stretch>
            <a:fillRect/>
          </a:stretch>
        </p:blipFill>
        <p:spPr>
          <a:xfrm>
            <a:off x="2910876" y="4509625"/>
            <a:ext cx="268425" cy="215725"/>
          </a:xfrm>
          <a:prstGeom prst="rect">
            <a:avLst/>
          </a:prstGeom>
          <a:noFill/>
          <a:ln>
            <a:noFill/>
          </a:ln>
        </p:spPr>
      </p:pic>
      <p:pic>
        <p:nvPicPr>
          <p:cNvPr id="974" name="Google Shape;974;g36c259e05aa_0_137" title="Screenshot 2025-07-01 at 12.18.56 AM.png"/>
          <p:cNvPicPr preferRelativeResize="0"/>
          <p:nvPr/>
        </p:nvPicPr>
        <p:blipFill>
          <a:blip r:embed="rId5">
            <a:alphaModFix/>
          </a:blip>
          <a:stretch>
            <a:fillRect/>
          </a:stretch>
        </p:blipFill>
        <p:spPr>
          <a:xfrm>
            <a:off x="3338026" y="4509625"/>
            <a:ext cx="268425" cy="215725"/>
          </a:xfrm>
          <a:prstGeom prst="rect">
            <a:avLst/>
          </a:prstGeom>
          <a:noFill/>
          <a:ln>
            <a:noFill/>
          </a:ln>
        </p:spPr>
      </p:pic>
      <p:pic>
        <p:nvPicPr>
          <p:cNvPr id="975" name="Google Shape;975;g36c259e05aa_0_137" title="Screenshot 2025-07-01 at 12.18.56 AM.png"/>
          <p:cNvPicPr preferRelativeResize="0"/>
          <p:nvPr/>
        </p:nvPicPr>
        <p:blipFill>
          <a:blip r:embed="rId5">
            <a:alphaModFix/>
          </a:blip>
          <a:stretch>
            <a:fillRect/>
          </a:stretch>
        </p:blipFill>
        <p:spPr>
          <a:xfrm>
            <a:off x="4186475" y="4509625"/>
            <a:ext cx="385525" cy="215725"/>
          </a:xfrm>
          <a:prstGeom prst="rect">
            <a:avLst/>
          </a:prstGeom>
          <a:noFill/>
          <a:ln>
            <a:noFill/>
          </a:ln>
        </p:spPr>
      </p:pic>
      <p:pic>
        <p:nvPicPr>
          <p:cNvPr id="976" name="Google Shape;976;g36c259e05aa_0_137" title="Screenshot 2025-07-01 at 12.18.56 AM.png"/>
          <p:cNvPicPr preferRelativeResize="0"/>
          <p:nvPr/>
        </p:nvPicPr>
        <p:blipFill>
          <a:blip r:embed="rId5">
            <a:alphaModFix/>
          </a:blip>
          <a:stretch>
            <a:fillRect/>
          </a:stretch>
        </p:blipFill>
        <p:spPr>
          <a:xfrm>
            <a:off x="944653" y="4896375"/>
            <a:ext cx="3704450" cy="215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5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5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5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5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6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6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6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6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6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6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g36c259e05aa_0_144"/>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3: Count to Infinity</a:t>
            </a:r>
            <a:endParaRPr/>
          </a:p>
        </p:txBody>
      </p:sp>
      <p:pic>
        <p:nvPicPr>
          <p:cNvPr id="982" name="Google Shape;982;g36c259e05aa_0_144" title="Screenshot 2025-07-01 at 12.17.42 AM.png"/>
          <p:cNvPicPr preferRelativeResize="0"/>
          <p:nvPr/>
        </p:nvPicPr>
        <p:blipFill>
          <a:blip r:embed="rId3">
            <a:alphaModFix/>
          </a:blip>
          <a:stretch>
            <a:fillRect/>
          </a:stretch>
        </p:blipFill>
        <p:spPr>
          <a:xfrm>
            <a:off x="1322388" y="532045"/>
            <a:ext cx="6499224" cy="4132842"/>
          </a:xfrm>
          <a:prstGeom prst="rect">
            <a:avLst/>
          </a:prstGeom>
          <a:noFill/>
          <a:ln>
            <a:noFill/>
          </a:ln>
        </p:spPr>
      </p:pic>
      <p:pic>
        <p:nvPicPr>
          <p:cNvPr id="983" name="Google Shape;983;g36c259e05aa_0_144" title="Screenshot 2025-07-01 at 12.17.53 AM.png"/>
          <p:cNvPicPr preferRelativeResize="0"/>
          <p:nvPr/>
        </p:nvPicPr>
        <p:blipFill>
          <a:blip r:embed="rId4">
            <a:alphaModFix/>
          </a:blip>
          <a:stretch>
            <a:fillRect/>
          </a:stretch>
        </p:blipFill>
        <p:spPr>
          <a:xfrm>
            <a:off x="1573513" y="4584050"/>
            <a:ext cx="5996974" cy="468850"/>
          </a:xfrm>
          <a:prstGeom prst="rect">
            <a:avLst/>
          </a:prstGeom>
          <a:noFill/>
          <a:ln>
            <a:noFill/>
          </a:ln>
        </p:spPr>
      </p:pic>
      <p:pic>
        <p:nvPicPr>
          <p:cNvPr id="984" name="Google Shape;984;g36c259e05aa_0_144" title="Screenshot 2025-07-01 at 12.18.56 AM.png"/>
          <p:cNvPicPr preferRelativeResize="0"/>
          <p:nvPr/>
        </p:nvPicPr>
        <p:blipFill>
          <a:blip r:embed="rId5">
            <a:alphaModFix/>
          </a:blip>
          <a:stretch>
            <a:fillRect/>
          </a:stretch>
        </p:blipFill>
        <p:spPr>
          <a:xfrm>
            <a:off x="2227975" y="1841500"/>
            <a:ext cx="268425" cy="153325"/>
          </a:xfrm>
          <a:prstGeom prst="rect">
            <a:avLst/>
          </a:prstGeom>
          <a:noFill/>
          <a:ln>
            <a:noFill/>
          </a:ln>
        </p:spPr>
      </p:pic>
      <p:pic>
        <p:nvPicPr>
          <p:cNvPr id="985" name="Google Shape;985;g36c259e05aa_0_144" title="Screenshot 2025-07-01 at 12.18.56 AM.png"/>
          <p:cNvPicPr preferRelativeResize="0"/>
          <p:nvPr/>
        </p:nvPicPr>
        <p:blipFill>
          <a:blip r:embed="rId5">
            <a:alphaModFix/>
          </a:blip>
          <a:stretch>
            <a:fillRect/>
          </a:stretch>
        </p:blipFill>
        <p:spPr>
          <a:xfrm>
            <a:off x="2831225" y="1841500"/>
            <a:ext cx="362825" cy="153325"/>
          </a:xfrm>
          <a:prstGeom prst="rect">
            <a:avLst/>
          </a:prstGeom>
          <a:noFill/>
          <a:ln>
            <a:noFill/>
          </a:ln>
        </p:spPr>
      </p:pic>
      <p:pic>
        <p:nvPicPr>
          <p:cNvPr id="986" name="Google Shape;986;g36c259e05aa_0_144" title="Screenshot 2025-07-01 at 12.18.56 AM.png"/>
          <p:cNvPicPr preferRelativeResize="0"/>
          <p:nvPr/>
        </p:nvPicPr>
        <p:blipFill>
          <a:blip r:embed="rId5">
            <a:alphaModFix/>
          </a:blip>
          <a:stretch>
            <a:fillRect/>
          </a:stretch>
        </p:blipFill>
        <p:spPr>
          <a:xfrm>
            <a:off x="4031375" y="1568450"/>
            <a:ext cx="362825" cy="153325"/>
          </a:xfrm>
          <a:prstGeom prst="rect">
            <a:avLst/>
          </a:prstGeom>
          <a:noFill/>
          <a:ln>
            <a:noFill/>
          </a:ln>
        </p:spPr>
      </p:pic>
      <p:pic>
        <p:nvPicPr>
          <p:cNvPr id="987" name="Google Shape;987;g36c259e05aa_0_144" title="Screenshot 2025-07-01 at 12.18.56 AM.png"/>
          <p:cNvPicPr preferRelativeResize="0"/>
          <p:nvPr/>
        </p:nvPicPr>
        <p:blipFill>
          <a:blip r:embed="rId5">
            <a:alphaModFix/>
          </a:blip>
          <a:stretch>
            <a:fillRect/>
          </a:stretch>
        </p:blipFill>
        <p:spPr>
          <a:xfrm>
            <a:off x="4031375" y="1841500"/>
            <a:ext cx="362825" cy="153325"/>
          </a:xfrm>
          <a:prstGeom prst="rect">
            <a:avLst/>
          </a:prstGeom>
          <a:noFill/>
          <a:ln>
            <a:noFill/>
          </a:ln>
        </p:spPr>
      </p:pic>
      <p:pic>
        <p:nvPicPr>
          <p:cNvPr id="988" name="Google Shape;988;g36c259e05aa_0_144" title="Screenshot 2025-07-01 at 12.18.56 AM.png"/>
          <p:cNvPicPr preferRelativeResize="0"/>
          <p:nvPr/>
        </p:nvPicPr>
        <p:blipFill>
          <a:blip r:embed="rId5">
            <a:alphaModFix/>
          </a:blip>
          <a:stretch>
            <a:fillRect/>
          </a:stretch>
        </p:blipFill>
        <p:spPr>
          <a:xfrm>
            <a:off x="4691775" y="1841500"/>
            <a:ext cx="362825" cy="153325"/>
          </a:xfrm>
          <a:prstGeom prst="rect">
            <a:avLst/>
          </a:prstGeom>
          <a:noFill/>
          <a:ln>
            <a:noFill/>
          </a:ln>
        </p:spPr>
      </p:pic>
      <p:pic>
        <p:nvPicPr>
          <p:cNvPr id="989" name="Google Shape;989;g36c259e05aa_0_144" title="Screenshot 2025-07-01 at 12.18.56 AM.png"/>
          <p:cNvPicPr preferRelativeResize="0"/>
          <p:nvPr/>
        </p:nvPicPr>
        <p:blipFill>
          <a:blip r:embed="rId5">
            <a:alphaModFix/>
          </a:blip>
          <a:stretch>
            <a:fillRect/>
          </a:stretch>
        </p:blipFill>
        <p:spPr>
          <a:xfrm>
            <a:off x="4691775" y="1568450"/>
            <a:ext cx="362825" cy="153325"/>
          </a:xfrm>
          <a:prstGeom prst="rect">
            <a:avLst/>
          </a:prstGeom>
          <a:noFill/>
          <a:ln>
            <a:noFill/>
          </a:ln>
        </p:spPr>
      </p:pic>
      <p:pic>
        <p:nvPicPr>
          <p:cNvPr id="990" name="Google Shape;990;g36c259e05aa_0_144" title="Screenshot 2025-07-01 at 12.18.56 AM.png"/>
          <p:cNvPicPr preferRelativeResize="0"/>
          <p:nvPr/>
        </p:nvPicPr>
        <p:blipFill>
          <a:blip r:embed="rId5">
            <a:alphaModFix/>
          </a:blip>
          <a:stretch>
            <a:fillRect/>
          </a:stretch>
        </p:blipFill>
        <p:spPr>
          <a:xfrm>
            <a:off x="2227975" y="3663950"/>
            <a:ext cx="362825" cy="153325"/>
          </a:xfrm>
          <a:prstGeom prst="rect">
            <a:avLst/>
          </a:prstGeom>
          <a:noFill/>
          <a:ln>
            <a:noFill/>
          </a:ln>
        </p:spPr>
      </p:pic>
      <p:pic>
        <p:nvPicPr>
          <p:cNvPr id="991" name="Google Shape;991;g36c259e05aa_0_144" title="Screenshot 2025-07-01 at 12.18.56 AM.png"/>
          <p:cNvPicPr preferRelativeResize="0"/>
          <p:nvPr/>
        </p:nvPicPr>
        <p:blipFill>
          <a:blip r:embed="rId5">
            <a:alphaModFix/>
          </a:blip>
          <a:stretch>
            <a:fillRect/>
          </a:stretch>
        </p:blipFill>
        <p:spPr>
          <a:xfrm>
            <a:off x="2831225" y="3663950"/>
            <a:ext cx="362825" cy="153325"/>
          </a:xfrm>
          <a:prstGeom prst="rect">
            <a:avLst/>
          </a:prstGeom>
          <a:noFill/>
          <a:ln>
            <a:noFill/>
          </a:ln>
        </p:spPr>
      </p:pic>
      <p:pic>
        <p:nvPicPr>
          <p:cNvPr id="992" name="Google Shape;992;g36c259e05aa_0_144" title="Screenshot 2025-07-01 at 12.18.56 AM.png"/>
          <p:cNvPicPr preferRelativeResize="0"/>
          <p:nvPr/>
        </p:nvPicPr>
        <p:blipFill>
          <a:blip r:embed="rId5">
            <a:alphaModFix/>
          </a:blip>
          <a:stretch>
            <a:fillRect/>
          </a:stretch>
        </p:blipFill>
        <p:spPr>
          <a:xfrm>
            <a:off x="4031375" y="3409950"/>
            <a:ext cx="362825" cy="153325"/>
          </a:xfrm>
          <a:prstGeom prst="rect">
            <a:avLst/>
          </a:prstGeom>
          <a:noFill/>
          <a:ln>
            <a:noFill/>
          </a:ln>
        </p:spPr>
      </p:pic>
      <p:pic>
        <p:nvPicPr>
          <p:cNvPr id="993" name="Google Shape;993;g36c259e05aa_0_144" title="Screenshot 2025-07-01 at 12.18.56 AM.png"/>
          <p:cNvPicPr preferRelativeResize="0"/>
          <p:nvPr/>
        </p:nvPicPr>
        <p:blipFill>
          <a:blip r:embed="rId5">
            <a:alphaModFix/>
          </a:blip>
          <a:stretch>
            <a:fillRect/>
          </a:stretch>
        </p:blipFill>
        <p:spPr>
          <a:xfrm>
            <a:off x="4031375" y="3663950"/>
            <a:ext cx="362825" cy="153325"/>
          </a:xfrm>
          <a:prstGeom prst="rect">
            <a:avLst/>
          </a:prstGeom>
          <a:noFill/>
          <a:ln>
            <a:noFill/>
          </a:ln>
        </p:spPr>
      </p:pic>
      <p:pic>
        <p:nvPicPr>
          <p:cNvPr id="994" name="Google Shape;994;g36c259e05aa_0_144" title="Screenshot 2025-07-01 at 12.18.56 AM.png"/>
          <p:cNvPicPr preferRelativeResize="0"/>
          <p:nvPr/>
        </p:nvPicPr>
        <p:blipFill>
          <a:blip r:embed="rId5">
            <a:alphaModFix/>
          </a:blip>
          <a:stretch>
            <a:fillRect/>
          </a:stretch>
        </p:blipFill>
        <p:spPr>
          <a:xfrm>
            <a:off x="4691775" y="3409950"/>
            <a:ext cx="362825" cy="153325"/>
          </a:xfrm>
          <a:prstGeom prst="rect">
            <a:avLst/>
          </a:prstGeom>
          <a:noFill/>
          <a:ln>
            <a:noFill/>
          </a:ln>
        </p:spPr>
      </p:pic>
      <p:pic>
        <p:nvPicPr>
          <p:cNvPr id="995" name="Google Shape;995;g36c259e05aa_0_144" title="Screenshot 2025-07-01 at 12.18.56 AM.png"/>
          <p:cNvPicPr preferRelativeResize="0"/>
          <p:nvPr/>
        </p:nvPicPr>
        <p:blipFill>
          <a:blip r:embed="rId5">
            <a:alphaModFix/>
          </a:blip>
          <a:stretch>
            <a:fillRect/>
          </a:stretch>
        </p:blipFill>
        <p:spPr>
          <a:xfrm>
            <a:off x="4691775" y="3663950"/>
            <a:ext cx="362825" cy="153325"/>
          </a:xfrm>
          <a:prstGeom prst="rect">
            <a:avLst/>
          </a:prstGeom>
          <a:noFill/>
          <a:ln>
            <a:noFill/>
          </a:ln>
        </p:spPr>
      </p:pic>
      <p:pic>
        <p:nvPicPr>
          <p:cNvPr id="996" name="Google Shape;996;g36c259e05aa_0_144" title="Screenshot 2025-07-01 at 12.18.56 AM.png"/>
          <p:cNvPicPr preferRelativeResize="0"/>
          <p:nvPr/>
        </p:nvPicPr>
        <p:blipFill>
          <a:blip r:embed="rId5">
            <a:alphaModFix/>
          </a:blip>
          <a:stretch>
            <a:fillRect/>
          </a:stretch>
        </p:blipFill>
        <p:spPr>
          <a:xfrm>
            <a:off x="1745625" y="4621675"/>
            <a:ext cx="5652750" cy="39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9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9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9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g36c259e05aa_0_152"/>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3: Count to Infinity</a:t>
            </a:r>
            <a:endParaRPr/>
          </a:p>
        </p:txBody>
      </p:sp>
      <p:pic>
        <p:nvPicPr>
          <p:cNvPr id="1002" name="Google Shape;1002;g36c259e05aa_0_152" title="Screenshot 2025-07-01 at 12.18.31 AM.png"/>
          <p:cNvPicPr preferRelativeResize="0"/>
          <p:nvPr/>
        </p:nvPicPr>
        <p:blipFill>
          <a:blip r:embed="rId3">
            <a:alphaModFix/>
          </a:blip>
          <a:stretch>
            <a:fillRect/>
          </a:stretch>
        </p:blipFill>
        <p:spPr>
          <a:xfrm>
            <a:off x="986288" y="518800"/>
            <a:ext cx="7171428" cy="4445100"/>
          </a:xfrm>
          <a:prstGeom prst="rect">
            <a:avLst/>
          </a:prstGeom>
          <a:noFill/>
          <a:ln>
            <a:noFill/>
          </a:ln>
        </p:spPr>
      </p:pic>
      <p:pic>
        <p:nvPicPr>
          <p:cNvPr id="1003" name="Google Shape;1003;g36c259e05aa_0_152" title="Screenshot 2025-07-01 at 12.18.56 AM.png"/>
          <p:cNvPicPr preferRelativeResize="0"/>
          <p:nvPr/>
        </p:nvPicPr>
        <p:blipFill>
          <a:blip r:embed="rId4">
            <a:alphaModFix/>
          </a:blip>
          <a:stretch>
            <a:fillRect/>
          </a:stretch>
        </p:blipFill>
        <p:spPr>
          <a:xfrm>
            <a:off x="3506325" y="1778850"/>
            <a:ext cx="268425" cy="153325"/>
          </a:xfrm>
          <a:prstGeom prst="rect">
            <a:avLst/>
          </a:prstGeom>
          <a:noFill/>
          <a:ln>
            <a:noFill/>
          </a:ln>
        </p:spPr>
      </p:pic>
      <p:pic>
        <p:nvPicPr>
          <p:cNvPr id="1004" name="Google Shape;1004;g36c259e05aa_0_152" title="Screenshot 2025-07-01 at 12.18.56 AM.png"/>
          <p:cNvPicPr preferRelativeResize="0"/>
          <p:nvPr/>
        </p:nvPicPr>
        <p:blipFill>
          <a:blip r:embed="rId4">
            <a:alphaModFix/>
          </a:blip>
          <a:stretch>
            <a:fillRect/>
          </a:stretch>
        </p:blipFill>
        <p:spPr>
          <a:xfrm>
            <a:off x="3506325" y="2050325"/>
            <a:ext cx="268425" cy="153325"/>
          </a:xfrm>
          <a:prstGeom prst="rect">
            <a:avLst/>
          </a:prstGeom>
          <a:noFill/>
          <a:ln>
            <a:noFill/>
          </a:ln>
        </p:spPr>
      </p:pic>
      <p:pic>
        <p:nvPicPr>
          <p:cNvPr id="1005" name="Google Shape;1005;g36c259e05aa_0_152" title="Screenshot 2025-07-01 at 12.18.56 AM.png"/>
          <p:cNvPicPr preferRelativeResize="0"/>
          <p:nvPr/>
        </p:nvPicPr>
        <p:blipFill>
          <a:blip r:embed="rId4">
            <a:alphaModFix/>
          </a:blip>
          <a:stretch>
            <a:fillRect/>
          </a:stretch>
        </p:blipFill>
        <p:spPr>
          <a:xfrm>
            <a:off x="3946975" y="1778850"/>
            <a:ext cx="182600" cy="153325"/>
          </a:xfrm>
          <a:prstGeom prst="rect">
            <a:avLst/>
          </a:prstGeom>
          <a:noFill/>
          <a:ln>
            <a:noFill/>
          </a:ln>
        </p:spPr>
      </p:pic>
      <p:pic>
        <p:nvPicPr>
          <p:cNvPr id="1006" name="Google Shape;1006;g36c259e05aa_0_152" title="Screenshot 2025-07-01 at 12.18.56 AM.png"/>
          <p:cNvPicPr preferRelativeResize="0"/>
          <p:nvPr/>
        </p:nvPicPr>
        <p:blipFill>
          <a:blip r:embed="rId4">
            <a:alphaModFix/>
          </a:blip>
          <a:stretch>
            <a:fillRect/>
          </a:stretch>
        </p:blipFill>
        <p:spPr>
          <a:xfrm>
            <a:off x="3946975" y="2050325"/>
            <a:ext cx="182600" cy="153325"/>
          </a:xfrm>
          <a:prstGeom prst="rect">
            <a:avLst/>
          </a:prstGeom>
          <a:noFill/>
          <a:ln>
            <a:noFill/>
          </a:ln>
        </p:spPr>
      </p:pic>
      <p:pic>
        <p:nvPicPr>
          <p:cNvPr id="1007" name="Google Shape;1007;g36c259e05aa_0_152" title="Screenshot 2025-07-01 at 12.18.56 AM.png"/>
          <p:cNvPicPr preferRelativeResize="0"/>
          <p:nvPr/>
        </p:nvPicPr>
        <p:blipFill>
          <a:blip r:embed="rId4">
            <a:alphaModFix/>
          </a:blip>
          <a:stretch>
            <a:fillRect/>
          </a:stretch>
        </p:blipFill>
        <p:spPr>
          <a:xfrm>
            <a:off x="4788700" y="1807950"/>
            <a:ext cx="388423" cy="153325"/>
          </a:xfrm>
          <a:prstGeom prst="rect">
            <a:avLst/>
          </a:prstGeom>
          <a:noFill/>
          <a:ln>
            <a:noFill/>
          </a:ln>
        </p:spPr>
      </p:pic>
      <p:pic>
        <p:nvPicPr>
          <p:cNvPr id="1008" name="Google Shape;1008;g36c259e05aa_0_152" title="Screenshot 2025-07-01 at 12.18.56 AM.png"/>
          <p:cNvPicPr preferRelativeResize="0"/>
          <p:nvPr/>
        </p:nvPicPr>
        <p:blipFill>
          <a:blip r:embed="rId4">
            <a:alphaModFix/>
          </a:blip>
          <a:stretch>
            <a:fillRect/>
          </a:stretch>
        </p:blipFill>
        <p:spPr>
          <a:xfrm>
            <a:off x="4788700" y="2079400"/>
            <a:ext cx="388423" cy="153325"/>
          </a:xfrm>
          <a:prstGeom prst="rect">
            <a:avLst/>
          </a:prstGeom>
          <a:noFill/>
          <a:ln>
            <a:noFill/>
          </a:ln>
        </p:spPr>
      </p:pic>
      <p:pic>
        <p:nvPicPr>
          <p:cNvPr id="1009" name="Google Shape;1009;g36c259e05aa_0_152" title="Screenshot 2025-07-01 at 12.18.56 AM.png"/>
          <p:cNvPicPr preferRelativeResize="0"/>
          <p:nvPr/>
        </p:nvPicPr>
        <p:blipFill>
          <a:blip r:embed="rId4">
            <a:alphaModFix/>
          </a:blip>
          <a:stretch>
            <a:fillRect/>
          </a:stretch>
        </p:blipFill>
        <p:spPr>
          <a:xfrm>
            <a:off x="4788700" y="3842275"/>
            <a:ext cx="388423" cy="153325"/>
          </a:xfrm>
          <a:prstGeom prst="rect">
            <a:avLst/>
          </a:prstGeom>
          <a:noFill/>
          <a:ln>
            <a:noFill/>
          </a:ln>
        </p:spPr>
      </p:pic>
      <p:pic>
        <p:nvPicPr>
          <p:cNvPr id="1010" name="Google Shape;1010;g36c259e05aa_0_152" title="Screenshot 2025-07-01 at 12.18.56 AM.png"/>
          <p:cNvPicPr preferRelativeResize="0"/>
          <p:nvPr/>
        </p:nvPicPr>
        <p:blipFill>
          <a:blip r:embed="rId4">
            <a:alphaModFix/>
          </a:blip>
          <a:stretch>
            <a:fillRect/>
          </a:stretch>
        </p:blipFill>
        <p:spPr>
          <a:xfrm>
            <a:off x="4788700" y="4120000"/>
            <a:ext cx="388423" cy="153325"/>
          </a:xfrm>
          <a:prstGeom prst="rect">
            <a:avLst/>
          </a:prstGeom>
          <a:noFill/>
          <a:ln>
            <a:noFill/>
          </a:ln>
        </p:spPr>
      </p:pic>
      <p:pic>
        <p:nvPicPr>
          <p:cNvPr id="1011" name="Google Shape;1011;g36c259e05aa_0_152" title="Screenshot 2025-07-01 at 12.18.56 AM.png"/>
          <p:cNvPicPr preferRelativeResize="0"/>
          <p:nvPr/>
        </p:nvPicPr>
        <p:blipFill>
          <a:blip r:embed="rId4">
            <a:alphaModFix/>
          </a:blip>
          <a:stretch>
            <a:fillRect/>
          </a:stretch>
        </p:blipFill>
        <p:spPr>
          <a:xfrm>
            <a:off x="3946975" y="3842275"/>
            <a:ext cx="182600" cy="153325"/>
          </a:xfrm>
          <a:prstGeom prst="rect">
            <a:avLst/>
          </a:prstGeom>
          <a:noFill/>
          <a:ln>
            <a:noFill/>
          </a:ln>
        </p:spPr>
      </p:pic>
      <p:pic>
        <p:nvPicPr>
          <p:cNvPr id="1012" name="Google Shape;1012;g36c259e05aa_0_152" title="Screenshot 2025-07-01 at 12.18.56 AM.png"/>
          <p:cNvPicPr preferRelativeResize="0"/>
          <p:nvPr/>
        </p:nvPicPr>
        <p:blipFill>
          <a:blip r:embed="rId4">
            <a:alphaModFix/>
          </a:blip>
          <a:stretch>
            <a:fillRect/>
          </a:stretch>
        </p:blipFill>
        <p:spPr>
          <a:xfrm>
            <a:off x="3946975" y="4120000"/>
            <a:ext cx="182600" cy="153325"/>
          </a:xfrm>
          <a:prstGeom prst="rect">
            <a:avLst/>
          </a:prstGeom>
          <a:noFill/>
          <a:ln>
            <a:noFill/>
          </a:ln>
        </p:spPr>
      </p:pic>
      <p:pic>
        <p:nvPicPr>
          <p:cNvPr id="1013" name="Google Shape;1013;g36c259e05aa_0_152" title="Screenshot 2025-07-01 at 12.18.56 AM.png"/>
          <p:cNvPicPr preferRelativeResize="0"/>
          <p:nvPr/>
        </p:nvPicPr>
        <p:blipFill>
          <a:blip r:embed="rId4">
            <a:alphaModFix/>
          </a:blip>
          <a:stretch>
            <a:fillRect/>
          </a:stretch>
        </p:blipFill>
        <p:spPr>
          <a:xfrm>
            <a:off x="3549238" y="3842275"/>
            <a:ext cx="182600" cy="153325"/>
          </a:xfrm>
          <a:prstGeom prst="rect">
            <a:avLst/>
          </a:prstGeom>
          <a:noFill/>
          <a:ln>
            <a:noFill/>
          </a:ln>
        </p:spPr>
      </p:pic>
      <p:pic>
        <p:nvPicPr>
          <p:cNvPr id="1014" name="Google Shape;1014;g36c259e05aa_0_152" title="Screenshot 2025-07-01 at 12.18.56 AM.png"/>
          <p:cNvPicPr preferRelativeResize="0"/>
          <p:nvPr/>
        </p:nvPicPr>
        <p:blipFill>
          <a:blip r:embed="rId4">
            <a:alphaModFix/>
          </a:blip>
          <a:stretch>
            <a:fillRect/>
          </a:stretch>
        </p:blipFill>
        <p:spPr>
          <a:xfrm>
            <a:off x="3549238" y="4120000"/>
            <a:ext cx="182600" cy="153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0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0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0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0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0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1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1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0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1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1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1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g36c259e05aa_0_159"/>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Question 3: Count to Infinity</a:t>
            </a:r>
            <a:endParaRPr/>
          </a:p>
        </p:txBody>
      </p:sp>
      <p:pic>
        <p:nvPicPr>
          <p:cNvPr id="1020" name="Google Shape;1020;g36c259e05aa_0_159" title="Screenshot 2025-07-01 at 12.18.46 AM.png"/>
          <p:cNvPicPr preferRelativeResize="0"/>
          <p:nvPr/>
        </p:nvPicPr>
        <p:blipFill>
          <a:blip r:embed="rId3">
            <a:alphaModFix/>
          </a:blip>
          <a:stretch>
            <a:fillRect/>
          </a:stretch>
        </p:blipFill>
        <p:spPr>
          <a:xfrm>
            <a:off x="152400" y="546000"/>
            <a:ext cx="8839199" cy="3496327"/>
          </a:xfrm>
          <a:prstGeom prst="rect">
            <a:avLst/>
          </a:prstGeom>
          <a:noFill/>
          <a:ln>
            <a:noFill/>
          </a:ln>
        </p:spPr>
      </p:pic>
      <p:pic>
        <p:nvPicPr>
          <p:cNvPr id="1021" name="Google Shape;1021;g36c259e05aa_0_159" title="Screenshot 2025-07-01 at 12.18.56 AM.png"/>
          <p:cNvPicPr preferRelativeResize="0"/>
          <p:nvPr/>
        </p:nvPicPr>
        <p:blipFill>
          <a:blip r:embed="rId4">
            <a:alphaModFix/>
          </a:blip>
          <a:stretch>
            <a:fillRect/>
          </a:stretch>
        </p:blipFill>
        <p:spPr>
          <a:xfrm>
            <a:off x="1423750" y="2384250"/>
            <a:ext cx="268425" cy="153325"/>
          </a:xfrm>
          <a:prstGeom prst="rect">
            <a:avLst/>
          </a:prstGeom>
          <a:noFill/>
          <a:ln>
            <a:noFill/>
          </a:ln>
        </p:spPr>
      </p:pic>
      <p:pic>
        <p:nvPicPr>
          <p:cNvPr id="1022" name="Google Shape;1022;g36c259e05aa_0_159" title="Screenshot 2025-07-01 at 12.18.56 AM.png"/>
          <p:cNvPicPr preferRelativeResize="0"/>
          <p:nvPr/>
        </p:nvPicPr>
        <p:blipFill>
          <a:blip r:embed="rId4">
            <a:alphaModFix/>
          </a:blip>
          <a:stretch>
            <a:fillRect/>
          </a:stretch>
        </p:blipFill>
        <p:spPr>
          <a:xfrm>
            <a:off x="2246125" y="2384250"/>
            <a:ext cx="441850" cy="153325"/>
          </a:xfrm>
          <a:prstGeom prst="rect">
            <a:avLst/>
          </a:prstGeom>
          <a:noFill/>
          <a:ln>
            <a:noFill/>
          </a:ln>
        </p:spPr>
      </p:pic>
      <p:pic>
        <p:nvPicPr>
          <p:cNvPr id="1023" name="Google Shape;1023;g36c259e05aa_0_159" title="Screenshot 2025-07-01 at 12.18.56 AM.png"/>
          <p:cNvPicPr preferRelativeResize="0"/>
          <p:nvPr/>
        </p:nvPicPr>
        <p:blipFill>
          <a:blip r:embed="rId4">
            <a:alphaModFix/>
          </a:blip>
          <a:stretch>
            <a:fillRect/>
          </a:stretch>
        </p:blipFill>
        <p:spPr>
          <a:xfrm>
            <a:off x="3939888" y="2028100"/>
            <a:ext cx="268425" cy="153325"/>
          </a:xfrm>
          <a:prstGeom prst="rect">
            <a:avLst/>
          </a:prstGeom>
          <a:noFill/>
          <a:ln>
            <a:noFill/>
          </a:ln>
        </p:spPr>
      </p:pic>
      <p:pic>
        <p:nvPicPr>
          <p:cNvPr id="1024" name="Google Shape;1024;g36c259e05aa_0_159" title="Screenshot 2025-07-01 at 12.18.56 AM.png"/>
          <p:cNvPicPr preferRelativeResize="0"/>
          <p:nvPr/>
        </p:nvPicPr>
        <p:blipFill>
          <a:blip r:embed="rId4">
            <a:alphaModFix/>
          </a:blip>
          <a:stretch>
            <a:fillRect/>
          </a:stretch>
        </p:blipFill>
        <p:spPr>
          <a:xfrm>
            <a:off x="4762263" y="2028100"/>
            <a:ext cx="441850" cy="174415"/>
          </a:xfrm>
          <a:prstGeom prst="rect">
            <a:avLst/>
          </a:prstGeom>
          <a:noFill/>
          <a:ln>
            <a:noFill/>
          </a:ln>
        </p:spPr>
      </p:pic>
      <p:pic>
        <p:nvPicPr>
          <p:cNvPr id="1025" name="Google Shape;1025;g36c259e05aa_0_159" title="Screenshot 2025-07-01 at 12.18.56 AM.png"/>
          <p:cNvPicPr preferRelativeResize="0"/>
          <p:nvPr/>
        </p:nvPicPr>
        <p:blipFill>
          <a:blip r:embed="rId4">
            <a:alphaModFix/>
          </a:blip>
          <a:stretch>
            <a:fillRect/>
          </a:stretch>
        </p:blipFill>
        <p:spPr>
          <a:xfrm>
            <a:off x="858875" y="3563175"/>
            <a:ext cx="5583300" cy="267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2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2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36a8da6ef7b_1_192"/>
          <p:cNvSpPr txBox="1"/>
          <p:nvPr>
            <p:ph type="title"/>
          </p:nvPr>
        </p:nvSpPr>
        <p:spPr>
          <a:xfrm>
            <a:off x="645900" y="155175"/>
            <a:ext cx="7852200" cy="861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Questions?</a:t>
            </a:r>
            <a:endParaRPr/>
          </a:p>
        </p:txBody>
      </p:sp>
      <p:sp>
        <p:nvSpPr>
          <p:cNvPr id="1031" name="Google Shape;1031;g36a8da6ef7b_1_192"/>
          <p:cNvSpPr txBox="1"/>
          <p:nvPr/>
        </p:nvSpPr>
        <p:spPr>
          <a:xfrm>
            <a:off x="1971825" y="1134400"/>
            <a:ext cx="527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Feedback Form: </a:t>
            </a:r>
            <a:r>
              <a:rPr b="0" i="1" lang="en" sz="1400" u="none" cap="none" strike="noStrike">
                <a:solidFill>
                  <a:srgbClr val="000000"/>
                </a:solidFill>
                <a:latin typeface="Roboto"/>
                <a:ea typeface="Roboto"/>
                <a:cs typeface="Roboto"/>
                <a:sym typeface="Roboto"/>
              </a:rPr>
              <a:t>https://tinyurl.com/cs168-su25-disc-feedback</a:t>
            </a:r>
            <a:endParaRPr b="0" i="1" sz="1400" u="none" cap="none" strike="noStrike">
              <a:solidFill>
                <a:srgbClr val="000000"/>
              </a:solidFill>
              <a:latin typeface="Roboto"/>
              <a:ea typeface="Roboto"/>
              <a:cs typeface="Roboto"/>
              <a:sym typeface="Roboto"/>
            </a:endParaRPr>
          </a:p>
        </p:txBody>
      </p:sp>
      <p:pic>
        <p:nvPicPr>
          <p:cNvPr id="1032" name="Google Shape;1032;g36a8da6ef7b_1_192" title="Screenshot 2025-06-23 at 10.48.58 AM.png"/>
          <p:cNvPicPr preferRelativeResize="0"/>
          <p:nvPr/>
        </p:nvPicPr>
        <p:blipFill rotWithShape="1">
          <a:blip r:embed="rId3">
            <a:alphaModFix/>
          </a:blip>
          <a:srcRect b="0" l="0" r="0" t="0"/>
          <a:stretch/>
        </p:blipFill>
        <p:spPr>
          <a:xfrm>
            <a:off x="3248025" y="1652825"/>
            <a:ext cx="2647950" cy="2647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