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y="5143500" cx="9144000"/>
  <p:notesSz cx="6858000" cy="9144000"/>
  <p:embeddedFontLst>
    <p:embeddedFont>
      <p:font typeface="Roboto Medium"/>
      <p:regular r:id="rId72"/>
      <p:bold r:id="rId73"/>
      <p:italic r:id="rId74"/>
      <p:boldItalic r:id="rId75"/>
    </p:embeddedFont>
    <p:embeddedFont>
      <p:font typeface="Roboto"/>
      <p:regular r:id="rId76"/>
      <p:bold r:id="rId77"/>
      <p:italic r:id="rId78"/>
      <p:boldItalic r:id="rId79"/>
    </p:embeddedFont>
    <p:embeddedFont>
      <p:font typeface="Roboto Light"/>
      <p:regular r:id="rId80"/>
      <p:bold r:id="rId81"/>
      <p:italic r:id="rId82"/>
      <p:boldItalic r:id="rId8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D169EF6-78FC-4BE4-A2AE-F1F574726245}">
  <a:tblStyle styleId="{1D169EF6-78FC-4BE4-A2AE-F1F5747262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3" Type="http://schemas.openxmlformats.org/officeDocument/2006/relationships/font" Target="fonts/RobotoLight-boldItalic.fntdata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font" Target="fonts/RobotoLight-regular.fntdata"/><Relationship Id="rId82" Type="http://schemas.openxmlformats.org/officeDocument/2006/relationships/font" Target="fonts/RobotoLight-italic.fntdata"/><Relationship Id="rId81" Type="http://schemas.openxmlformats.org/officeDocument/2006/relationships/font" Target="fonts/Roboto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RobotoMedium-bold.fntdata"/><Relationship Id="rId72" Type="http://schemas.openxmlformats.org/officeDocument/2006/relationships/font" Target="fonts/RobotoMedium-regular.fntdata"/><Relationship Id="rId31" Type="http://schemas.openxmlformats.org/officeDocument/2006/relationships/slide" Target="slides/slide25.xml"/><Relationship Id="rId75" Type="http://schemas.openxmlformats.org/officeDocument/2006/relationships/font" Target="fonts/RobotoMedium-boldItalic.fntdata"/><Relationship Id="rId30" Type="http://schemas.openxmlformats.org/officeDocument/2006/relationships/slide" Target="slides/slide24.xml"/><Relationship Id="rId74" Type="http://schemas.openxmlformats.org/officeDocument/2006/relationships/font" Target="fonts/RobotoMedium-italic.fntdata"/><Relationship Id="rId33" Type="http://schemas.openxmlformats.org/officeDocument/2006/relationships/slide" Target="slides/slide27.xml"/><Relationship Id="rId77" Type="http://schemas.openxmlformats.org/officeDocument/2006/relationships/font" Target="fonts/Roboto-bold.fntdata"/><Relationship Id="rId32" Type="http://schemas.openxmlformats.org/officeDocument/2006/relationships/slide" Target="slides/slide26.xml"/><Relationship Id="rId76" Type="http://schemas.openxmlformats.org/officeDocument/2006/relationships/font" Target="fonts/Roboto-regular.fntdata"/><Relationship Id="rId35" Type="http://schemas.openxmlformats.org/officeDocument/2006/relationships/slide" Target="slides/slide29.xml"/><Relationship Id="rId79" Type="http://schemas.openxmlformats.org/officeDocument/2006/relationships/font" Target="fonts/Roboto-boldItalic.fntdata"/><Relationship Id="rId34" Type="http://schemas.openxmlformats.org/officeDocument/2006/relationships/slide" Target="slides/slide28.xml"/><Relationship Id="rId78" Type="http://schemas.openxmlformats.org/officeDocument/2006/relationships/font" Target="fonts/Roboto-italic.fntdata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commons.wikimedia.org/wiki/File:Jon_Postel_(full_frame).jp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9db0c453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9db0c453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9db0c4538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e9db0c45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today it's all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interdomain routing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9db0c4538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9db0c4538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the network of networks that we've been talking about and so far we've used algorithms like dist vector and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state to compute routes within the network so our distance Vector protocol was able to find all of the routes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this network that's great but we haven't talked about how to do inter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domain routing and that's going to be today's Focus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9db0c4538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e9db0c4538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finding the paths between the networks and then next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0:54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we'll talk about how we combine in domain and in domain to think about what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routers are actually doing but for today we're going to ignore what's going on inside of these circles and we'll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tra this big circle as one unit and we'll think about how all of these networks find paths between each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e9db0c4538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e9db0c4538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that big circle it has a name people call it an autonomous system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refers to one or more local networks under a single administrative control so what that means is within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Circle it could be one local network using some layer 2 technology 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could actually be multiple local networks using different layer 2 Technologies but the important thing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are all operated by the same real life organization so for example UC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Berkeley might have an autonomous system with two networks one for visitors and one for students and that's fine but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purposes of today mostly we'll just think of these as the big circle and what's inside is some routers some hosts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 don't really care what's inside side also each autonomous system has a unique number UC see Berkeley has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 that's actually a pretty low number I guess it reflects the fact that UC Berkeley was one of the 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institutions to be connected to the internet that's why we have such a low number so you have bragging rights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are here at UC Berkeley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a1868c9a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ea1868c9a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each of these circles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represents an autonomous system we can now call this an as graph and means it's a bunch of as's and we draw links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them and we don't care about the individual hosts inside of these circles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 time we'll bring them back today we don't care each node is an as and what's happening inside the node is not our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concern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e9db0c4538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e9db0c4538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https://commons.wikimedia.org/wiki/File:Jon_Postel_(full_frame).jpg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so one question is where do the asn’s come from if you decide to create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network you need a new autonomous system number who gives it to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early internet it was one one guy that guy and if you wanted an autonomous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system you would call this guy up and he would give you a number and he would maintain the list of all the numbers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course this is not sustainable especially because he passed away so instead we use an organization called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 and if you want a new autonomous system you call up this organization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give you a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e9db0c4538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e9db0c4538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many autonomous systems you don't have to memorize this but you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it's quite a lot we're getting pretty close to 100,000 which makes it even more impressive that Berkeley was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number 25 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e9db0c4538_0_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e9db0c4538_0_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in terms of where it is where these autonomous systems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located it seems like there's quite a few in the United States and for some reason Brazil is number two although 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don't really know why but uh go Brazil and all the other countries falling off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from there don't have to memorize this but some useful trivia about autonomous systems in case you care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3:59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we can classify autonomous systems into one of two types there is a stub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e9db0c4538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e9db0c4538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 classify autonomous systems into one of two types there is a stub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autonomous system and these only send and receive packets on behalf of the users inside that system so you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of these like the end hosts if you comparing to intra domain routing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remember how end hosts they didn't forward packets for other people they just sent and rece received their 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so you can think of stub as's as doing the same thing they only send and receive their own packets for the hosts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inside of their Network and they're not responsible for forwarding packets between other as's so for example UC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Berkeley is not an internet company we do not forward packets for other people across the world our responsibility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only to send and receive packets for our students or the people in our Network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most as's in real life are stub as's they're not responsible for forwarding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and they only send and receive their own packets by contrast the other type of as is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Transit as these do forward packets on behalf of other as's and you can think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these kind of like the routers in the intra domain model so remember that routers were responsible for forwarding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between other hosts that's what a Transit as does now one difference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the transit as and the router in the intro domain model is that Transit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asist still might have hosts inside of them that want to to send and receive packets so so not only do they forward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on behalf of other as's but they also send and receive packets for their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own hosts and examples of Transit as's might be companies whose responsibility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has to do with the internet so for example AT&amp;T is an internet company they offer internet service to other people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that's why they're a Transit as or Verizon is another example some Transit as's are very large and they span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whole world others are limited to just a small region and that's totally fine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the purposes of our class we'll classify all the as's into one of these two types but do note that especially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nowadays the difference between these two is starting to get a little bit blurry and there are some as's that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hard to classify as one of these two so for example these big tech companies like Google and Amazon it's a little bit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unclear which of these two as's they fall into you could say they're stub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they're sending and receiving traffic for their users but maybe they're also Transit as because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offer internet services to other users these companies are just so big and they do so many different things that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not really clear where they fall into for our class we won't worry about them we'll just think about stub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6:48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9db0c4538_0_61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e9db0c4538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one thing that makes autonomous systems different from everything we've seen so far maybe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you've seen so far in other computer science courses is the fact that they are businesses and the fact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they are businesses means that we also have to think about how they make money this is probably not something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had to think about when you were programming in data structures or you were thinking about how a computer worked it wasn't really about 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it was about making the computer work and making the code do what you want but today we have to think about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as's making money so that makes this protocol I think quite different from other ones you've seen before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9db0c4538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e9db0c4538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the way that routing works all depends on business relationships it all comes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7:56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money and in particular if two parents of as's or of one pair of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as's are related to each other they have to have a relationship in business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terms so if two as's have a link between each other we have to specify what kind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link it is the link could either be a customer provider link and what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is one of the as's is a customer the other one is a provider the customer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paying the provider and in exchange the provider is offering service it's saying I will forward your packets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and I will receive packets and forward them to you but in exchange you must pay me money so some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as graph look like that there are also relationships called puring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relationships and in this case the two as's are still connected bya link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neither side pays the other instead they sign a contract with each other in real life as a business and the contract says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8:57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don't have to pay each other but in exchange I'll forward you some traffic and you need to forward me roughly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same amount of traffic and that's what aing relationship looks like in real life those contracts can get complicated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this is how we'll simplify for this class so these are the two types of relationships that a pair of as's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if they have a link between them we have to specify who pays whom or if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a peering relationship that they don't pay each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e9db0c4538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e9db0c4538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 can draw them in a graph the way that we're going to draw them is we're going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draw arrows from the provider to the customer so for example this picture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saying that c is the customer and it is paying a for service and in exchange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agreeing to forward packets on behalf of C so if C wants to send packets to someone else it can forward the packet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9:53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a A can forward the packet along to its destination and if anyone has packets to send to C they can send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to a and a will send them along to C so a is forwarding C's traffic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exchange C must pay a and the arrows always point from provider to customer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always have a hard time remembering the direction but it's provider to customer and if we ever draw a line with two dots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 either end that would be a puring relationship so this says that A and B are peers they don't pay each other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can exchange traffic between between each other if they so desire now one common confusion when people see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as business graphs for the first time is they think that the arrows represent packets being sent that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wrong you don't want to think about packets in that way Ju Just because I draw an arrow from C to F it doesn't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 that packets can only go in One Direction in fact packets can get sent from F to C or from C to F so the Arrow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10:56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 not say anything about where you send the packets it only says that f is the customer and C is the provider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got to remember when you stare at these graphs don't think about the arrows in terms of packets being sent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can get sent along the link in both directions just like in any other routing protocol we've seen all of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links are bidirectional the graph is just to show the business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we were talking about you got to be careful this one always trips people up so now that we've seen this graph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e9db0c4538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e9db0c4538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identify which as's are the stub ones and which ones are the transit ones I think these three are the stub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 have no outgoing arrows to anyone else this means they are not providing service to other people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e9db0c4538_0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e9db0c4538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e9db0c4538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e9db0c4538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one property of an as graph because of these business relationships is that it is a cyclic that means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has no Cycles if an as graph has a cycle it means that you are somehow paying yourself for service which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about it doesn't really make sense here for example B would be paying a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a would be paying C and then C would be paying B it doesn't really make sense for money to go back to yourself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we would say this is an invalid as graph it'd be weird if you paid someone else for service and then they paid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13:59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service that's kind of weird that being said cycles of peering relationships are okay so it's okay if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 and C are all peers but you cannot have directed Cycles like this where you're paying yourself money and giving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yourself service that doesn't really work 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e9db0c4538_0_7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e9db0c4538_0_7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if you draw the as graphs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way that we've been drawing them you can actually draw a high Archy and what that means is you can rearrange all the notes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that all the arrows Point down now you don't have to draw the as graphs like this you can draw them in any shape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you want like I could take F and I could drag it up here that's totally fine but if you draw it in this nice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14:39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where all the arrows Point down there are some nice properties of the resulting hierarchy one property is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service flows down so higher nodes provide service to lower nodes we can see for example a provides service to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then C provides service to F that's nice and you can also see that money flows up so for example f is paying 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C in exchange pays a so you don't have to draw as graphs like this but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do you get a nice hierarchy and it's nice to look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e9db0c4538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e9db0c4538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tier one as those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bosses at the very top of the hierarchy so in this picture A and 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were the Tier 1 as's here A B and C are the tier one as s's you know they're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top because they have no incoming edges there's nobody above them if there was someone above and another incoming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Edge they would not be tier one but because they're at the very top and there are no more edges pointing at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they are a tier one as this means they have no providers they're not paying anyone else for service they are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original source of the service if you're a tier one as you have to have a peering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15:56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relationship with all the other tier one as's so for example here A B and C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must have all the pairwise peering relationships that are possible so A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 must be Pierce B and C must be Pierce A and C must also be Pierce if there was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fourth tier one as like d you would have to connect D to c b and a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puring relationships for reasons that we will see soon but it's important that all the tier one as's are connected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each other because this guarantees that the as graph is is connected if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stare at the hierarchy it's not quite a tree because trees have a single distinct root and there is no single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distinct route here so the way that we guarantee that everything is connected is we have everyone at the top connected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each other so there isn't one distinct roote but because everyone at the top layer is connected to each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helps us guarantee that the whole internet is connected as long as you 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16:56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trace your money up to a tier onea s the Tier 1 as should be connected to everyone else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e9db0c4538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e9db0c4538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looked them up some of them are apparently official Tier 1 as's some of them kind of border between Tier 1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tier two again once you get into real life businesses the definitions get a little bit fuzzy but for our class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won't think that far we'll just think that there are roughly 20 tier one as's and they're actually split across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continents which makes sense because we want internet all across the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 that are tier one as's some in Europe some in Asia and all the other uh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continents too and these companies usually own a lot of Internet infrastructure so you probably recognize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few of these names these are the people who own all of those undersea cables and other links that span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17:53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whole world and help us get connection across the whole internet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18:00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e9db0c4538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e9db0c4538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e9db0c4538_0_86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2e9db0c4538_0_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e9db0c4538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e9db0c4538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19:57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next there's a couple Challen challenges that we need to think about as we're designing this routing scheme one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scalability so as mentioned earlier we need to make sure that this routing scales to the entire internet we saw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already that there are close to a 100,000 as's and that number is growing and in order to route to 100,000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different as's Each of which probably has tons of hosts we need to use hierarchical IP addressing like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talked about last time and this will allow us to have a single entry that says something like everybody in Europe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that way well that's much easier than writing out every single entry for every single host in Europe you can have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single entry that says everybody in Europe with an IP address that starts with these bits just send it that way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it summarizes millions of hosts in a single entry so that's something we're going to have to use in order to scale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routing scheme up and these two properties that come next are a bit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20:55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newer they're probably things you haven't seen before but they're important now that we're considering as's as businesses in real life 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something you probably don't want to do is reveal all of your secrets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businesses have secrets and it's probably good to protect them so one thing that we need here that wasn't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case in intad domain rounding is privacy the asss should not have to announce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unnecessary information to its neighbors or anyone else outside of the as so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 an as should not have to tell everyone who it's paying for Internet service that could be private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information maybe as a company you don't want to tell people who you're paying to service your internet so you shouldn't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have to reveal that as part of this routing protocol and there's also other information we'll see in general we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be careful not to reveal information to other as's if it's potentially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21:53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sensitive that being said there is some leakage that we can't get away with and there is some work done to try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reverse engineer some secret information based on the routing protocol so it's not perfect but we'll do our best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hide sensitive information when possible even if sometimes we're not able to hide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single thing or we leak a little bit of information by accident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little bit different is autonomy and this means that as's should be able to choose their own policies based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business goals so each as should be able to decide what routes it likes better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what routes it doesn't like now this is very different from something like the distance Vector protocol or the link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State protocol where everyone agreed that the goal was to minimize cost everyone agreed you agreed I agreed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the routers agreed that minimizing cost was the best thing to do but now that we have autonomy as's might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22:54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like least cost maybe they want something a little bit more expensive because they prefer it for some reason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 have to support other goals that asss might have so we need scalability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we need these two new goals of privacy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23:11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autonomy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e9db0c4538_0_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e9db0c4538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so what does policy-based routing mean as mentioned earlier as's have to be able to choose the policies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23:18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they like and they should be able to choose their favorite paths whatever that means for them so in intra domain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routing inside of a network we set that a valid path was one that had no loops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23:32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no dead ends so that's going to be the same every business out there does not want Loops does not want dead ends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23:39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that we can be pretty sure of because if you have a loop you're not sending the packet so we still agree that everyone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23:45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doesn't want a loop everyone doesn't want the dead end that's okay now the difference is what makes the path good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23:52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in domain everyone agreed it was least cost in interdomain routing we 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23:58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looking in instead for paths that respect every as's preference so if you prefer something and I prefer something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24:04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we should use that path even if it's not the least cost path and we'll also see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24:10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cases where the preferences actually are in conflict and what to do in those cases but in summary we have to respect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24:17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every as's preferences even if those preferences don't lead to least cost paths and that's going to create 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24:24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extra challenge for us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e9db0c4538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e9db0c4538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what is a policy it turns out just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anything can be a policy for an as and the protocol will Design supports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about any policy you can think of so here are a bunch of examples some policies Define you carrying traffic 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a Transit as you have to forward other people's traffic and you can Define policies like I really don't like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number 2046 I just don't like them so I refuse to forward their traffic sorry if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24:57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traffic I refuse to forward it you cannot use me as a route if the traffic is coming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as246 so that's an example of a policy that has to do with forwarding traffic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there can also be policies that Define how your traffic is handled so this is not you forwarding other people's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traffic this is you sending and receiving your own traffic you can say when I send packets if you have a choice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as 10 and 14 please use 10 because I like 10 better for what reason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not our problem as's can choose their own preferences or you can say please don't use 54 unless there are no other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Alternatives then use 54 and there's all sorts of different exotic policies you can come up with you can invent any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policy you like you could say on weekdays use 12 on weekends use 13 you can do whatever you want but ultimately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our protocol has to respect whatever policy these as's could possibly think of and that's going to make routing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25:56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little bit more challenging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e9db0c4538_0_14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e9db0c4538_0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most as's follow a pretty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standard set of rules that we'll call the ga Rexford rules it's not guaranteed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26:49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most of them do this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e9db0c4538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e9db0c4538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 in theory you can do whatever you want you like 12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26:55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on weekdays 13 on weekends that's great but in real life there are some standard conventions that most people follow and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27:02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they're based on two properties that I think almost every business can agree on so no matter what business you're in 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27:07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think every business in the world could agree that making money is good and I also think that every business in the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27:14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world could agree you should not do work for free you should get paid if you're doing work so that's what these two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e9db0c4538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e9db0c4538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result we can try and think about routing in the context of these two real world business goals they're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general but that means that most as's will follow these rules so what am I talking about when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 make money well in the distance Vector protocol we said the shortest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is best if you have a cost five path and a cost four path pick the cost four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27:58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however with the G Rexford rules the goal is no longer the shortest path the goal is to make money so you want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 that gives you the most money possible and in particular if you have a choice of paths the best one is to use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path where your next hop is a customer because that means when you send traffic to them they pay you for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you like that now if you don't have a customer as one of your options and here by options we mean there's 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different paths you can accept which one do you want want to accept if one of them is a customer pick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 will pay you if none of them are a customer try to find a peer because at least the peer doesn't pay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but you don't have to pay them so it's free and if there's no customer and no peer you're stuck with the provider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you have to pay them so before you can think about cost you first think about making money and the way you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is if a bunch of different people send you advertisements for routes you should accept the one from the customer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28:57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there is one otherwise except one from AER and if none of those exist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settle for the provider who you have to pay so this is what it might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e9db0c4538_0_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e9db0c4538_0_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look like here's you your s and you receive advertisements from three different as's a sends you 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 saying I can reach autonomous system D and B also sends an advertisement saying I can also reach 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C also sends an advertisement saying I can reach D so you receive three different options for how to reach D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as the goxer rulle say it doesn't matter what the cost of these links are you decide based on money first so I look 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well if I use this link I have to pay for it I don't want to do that if I use this link I don't make any money but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I use this link I send the packet to a customer who pays me I like that so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29:51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choose this advertisement and accept to forward packets via C so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2e9db0c4538_0_10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2e9db0c4538_0_1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that link goes down suddenly this link doesn't exist anymore you no longer have a customer so you should instead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the pier because that's free and this one costs you money and it's the worst so we go customer first then peer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30:15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then provider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e9db0c4538_0_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2e9db0c4538_0_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in distance Vector protocols everyone participated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when you receive an advertisement you forward it to everyone because you're happy to be on any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you're the shortest path for someone else that's great you should join and be part of the path so in distance Vector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protocols there was no restriction on participating in routes if you were a router you could be on any route however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that money is a concern you're no longer going to agree to participate in any route that's out there in particular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31:59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only participate in routes if you make money and this reflects the other goal we talked about which is to not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32:06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work for free if you want to make money you don't want to do work for free so do not participate in routes where you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being forced to work and you're not getting paid now how do you check if you get paid you look at the route that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are along so look to your left look to your right look at your two Neighbors on the path and check if one of them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32:26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paying you if one of them as a customer you're getting paid this is a path you're willing to participate in but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look to your left and you look to your right and neither of them is a customer you are not getting paid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either doing work for free or even worse you're paying to do work we don't want to do that so we will not participate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route and that means that we will not send an advertisement claiming that we can be part of this route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e9db0c4538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e9db0c4538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let's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see what this looks like in practice there's a lot of different cases we'll just run through them all one by one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32:58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here's the first case your B you look to your left it's a customer you look to your right it's a customer it's a great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day you're going to be paid from both sides this is amazing you are definitely going to participate in this path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at least one of your neighbors is a customer now one important thing to note again is that this is an as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33:19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arrows don't represent the packets being sent the packets are being forwarded from A to B to C according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slide they could also be forwarded from C to B to a the arrows have nothing to do with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33:32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packets being sent they have to do with money flowing from A to B so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case you're making money on both sides you will participate in this route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e9db0c4538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e9db0c4538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about this route you'll participate as well because you look to your left you're not making money but you look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right and you are making money so this is a route that you will participate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e9db0c4538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e9db0c4538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this one's kind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33:56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strange you look to your right there's a customer that will pay you and you look to your left and there's a provider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34:02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pay so at first glance you might say I don't know if I want to participate in this because I'm 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but then I'm paying some of it to a but you should still participate in this and the reason why is because if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don't participate in this how do you give service to C remember that c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paying you for service and if you refuse routes like this you are refusing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 packets up the hierarchy to the tier one as's to reach other destinations so you could reject these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but you'd be a very bad provider because you are not accepting routes that offer connectivity to far away places and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just can't reach a bunch of the internet so this route is important to accept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this is how you offer service to your customers It Is by accepting routes toward your providers who then send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34:54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 to other far away places so at first glance you might be tempted to not participate but you have to participate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give your customer 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e9db0c4538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e9db0c4538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now let's look at the cases where we don't accept here's a case where you don't accept to your left is a peer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 right is a pier there no good nobody is sending you money there is no point in participating in this path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that means is that peers don't provide Transit between other peers so a packet will not hop across a big chain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35:54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peers because all of the peers along the chain will will refuse to participate they'll say I'm not making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I will not do this for you for free so that's a property has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consequence of this picture peers do not forward packets between other peers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they don't make money here's another case where you don't make money you look to your right it's a provider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 you have to pay you look to your that was your left you look to your right it's a peer and they're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sending you any money either so once again you don't participate nobody is making you money it's no good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e9db0c4538_0_1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e9db0c4538_0_1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what this means is that if you receive packets or send packets along appearing link what can you conclude about this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other side it must be a customer so something useful to conclude here is if you receive a packet from aing link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means that one of the sides is a peer the other side must be a customer because someone has to pay you money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peer isn't paying you so this other side must be a customer to pay you that's what these words say it's a small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36:57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consequence of the way that we've designed this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e9db0c4538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e9db0c4538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final one is where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both sides are providers now this is terrible because you have to pay the left side to participate and you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pay the right side to participate you would simply never do this so B will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in this path and a consequence of this is that routes are valy free that will be defined more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concretely later but intuitively what that means is if you draw paths through the graph the paths will never dip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37:28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then turn around and go back up because if your path ever goes down and then back up in the hierarchy you're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37:34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forcing someone to pay both sides and they would never do so so this is another path that no one would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in because it doesn't make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37:46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e9db0c4538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e9db0c4538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e9db0c4538_0_1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e9db0c4538_0_1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 looks at both of its neighbors and says yes I get paid by one of them namely D so I will participate C also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39:47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says yes I get paid by E so I will participate and a it's lucky day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39:52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won't get paid by both sides so it will also participate therefore this is a valid route everyone will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40:00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e9db0c4538_0_1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e9db0c4538_0_1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[changelog] 3/3/25: swapped orders for slides 39 and 40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e9db0c4538_0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e9db0c4538_0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2e9db0c4538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2e9db0c4538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e9db0c4538_0_1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e9db0c4538_0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if you put all these properties together there is a useful property you can derive which is that all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have a single Peak this is a consequence of all the things we've talked about previously and if you take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everything we've said about participating in routes and you summarize it it would look something like this well it's not a new property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42:29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it's a derivation of things we've already talked about and every path that you could possibly draw in the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42:35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hierarchy that everyone agrees to participate in they will all take a form like this you'll start somewhere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you'll first start climbing up so there's zero or more uphill links so you start at a and you climb up going from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customers to Providers and that also means money is Flowing upwards and then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42:56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eventually once you get to the peak you can Traverse zero peering links that's okay or you can Traverse a single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peering link that's it why can you not Traverse multiple peering links because if you're staying up here and there 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43:09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long Plateau a chain of peers well then all the intermediate peers would refuse to participate so that's not possible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2e9db0c4538_0_1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2e9db0c4538_0_1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well there's a useful proof that G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47:38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Rexford came up with so what they noticed is that all of the as's tend to follow these set of rules that have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with making money and they were able to construct a proof based on these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properties so here are the assumptions and the proof we say if all three of these statements are true then we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47:57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two nice properties so what are the statements the prerequisites for this proof are as follows number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starting from any as and climbing up the hierarchy must lead to a tier one 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that's something we talked about earlier it is true in the modern internet now you could build some weird as graph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obey that but in the modern as graph on the internet it is true that wherever you start if you climb up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end up at a tier one as that's fact number one fact number two the as graph has no Cycles again this is true in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modern internet you could certainly create a weird alternate universe internet where this is not true but 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48:36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modern internet the as graph has no Cycles you cannot pay yourself assumption number three is that everyone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follows the rules that we just talked about you only participate in paths if you get paid and when you have a choice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48:49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of paths you choose the most profitable one so we need all three of these things to be true and if they are true gow 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48:56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Rexford wrote a whole paper look up their names and you'll find it and the paper says if these three things 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49:01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true you get these two nice properties one property is that the entire as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49:07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is connected any two as's in the graph can communicate and in particular they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communicate on a path that everyone agrees to participate in so you get something called reachability very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49:20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roughly intuitively this is not the proof but you can try to connect this to the single Peak path that we talked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49:27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about if you build the as hierarchy the way that we've been talking about and everyone follows the gal Rexford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49:33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always draw a graph like this in the as graph between any pair of as's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49:39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doesn't matter where a and F are in the as graph you can always draw a path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49:44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climbs up to the Tier 1 as hops over to a different Tier 1 as and goes back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the destination so you get a property called reachability any two as's can talk to each other along a path that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49:58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makes everybody happy that's nice this is why the internet actually works and we don't say you can't reach Asia it's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because of this property right here and the other nice property is Convergence that means all the asss agree on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50:11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paths so if you think of them as having forwarding tables which is not something we've talked about yet but if they had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50:17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imaginary forwarding tables those forwarding tables would be consistent so everyone agrees on the path that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being taken and that's something we'll dive into more next time but that's the proof it says if the as graph is built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way we talked about it don't do weird things like have cycles and if everyone follows the rules then we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50:37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reachability and convergence now one minor note about this proof is it only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50:42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guarantees these properties in steady state so if the network topology and the policy stay the same forever you do 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these properties but if something changes like a new as appears it might take some time for everyone to recp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50:56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compute the paths and reconverge on something but eventually it will converge as long as everyone continues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follow these rules and this also means that if you break any of these three assumptions you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lose this proof so if any as goes out there and says actually I love losing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51:14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money well suddenly you can't guarantee these properties because they are not following the rules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e9db0c4538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e9db0c4538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to summarize the first part of today we talked about autonomous systems that reflect business relationships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between as's and we said that those business relationships impact what route you choose that is when you receive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51:48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advertisements which one do you like and also what routes are acceptable which means when you're asked to participate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51:55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a route do you agree or not and we saw that scalability autonomy and privacy were important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52:05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considerations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2e9db0c4538_0_14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2e9db0c4538_0_1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e9db0c4538_0_1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e9db0c4538_0_1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e9db0c4538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e9db0c4538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2e9db0c4538_0_1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2e9db0c4538_0_1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e9db0c4538_0_1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e9db0c4538_0_1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Changelog: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[3/5/25] changed “customer &gt; provider &gt; peer” to</a:t>
            </a:r>
            <a:r>
              <a:rPr lang="en">
                <a:solidFill>
                  <a:schemeClr val="dk1"/>
                </a:solidFill>
              </a:rPr>
              <a:t> “customer &gt; peer &gt; provider”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you receive multiple advertisements which one do you pick you pick the one from the customer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if there is one otherwise pick the one from the peer otherwise pick the one from the provider it's something you've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1:01:28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already seen and if you want to compare it to distance Vector distance Vector said pick the shortest one we now say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1:01:35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pick the one that makes you the most money this is an import decision that's just a fancy word for accepting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1:01:42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advertisements so this is something you've already seen and yeah you've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1:01:47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already seen it now something to note by the way is that the import decision determines how you forward packets that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1:01:55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might sound a little bit confusing I think it's less confusing than it sounds it basically says when you accept 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1:02:01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advertisement that determines where you're forwarding packets that makes sense if you receive advertisements from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 b and c and you choose C that is you import C that means you're forwarding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1:02:13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packets to see because you chose their advertisement now what about exporting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1:02:19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one's a little bit trickier so this is where we have to think about whether we participate in a route because we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1:02:26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should only export a route and tell all of our neighbors if the route makes 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1:02:31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money and we agree to participate so now we're going to link up the idea of participation into an actual policy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e9db0c4538_0_1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e9db0c4538_0_1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okay so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1:02:45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difference here is that in distance Vector protocols everyone participated in anything nobody said I refuse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1:02:51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participate everyone agreed to participate in any path and that was reflected in the fact that you advertise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1:02:58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routes to all of your neighbors you tell everyone anyone can send packets to me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will participate in whatever route you like if you want to send packets that's great I participate if you want to send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1:03:09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packets that's great I will also participate the distance Vector was very nice it let everyone participate by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1:03:16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contrast in bgp you will not let everyone participate you will only 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1:03:21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people participate if it makes you money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e9db0c4538_0_1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e9db0c4538_0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2e9db0c4538_0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2e9db0c4538_0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2e9db0c4538_0_1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2e9db0c4538_0_1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e9db0c4538_0_1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e9db0c4538_0_1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e9db0c4538_0_1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e9db0c4538_0_1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e9db0c4538_0_1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e9db0c4538_0_1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e9db0c4538_0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e9db0c4538_0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e9db0c4538_0_170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e9db0c4538_0_1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now there are two more changes we need and we will have arrived at a pretty nice bgp protocol so once we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fix these two things we're all done for today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e9db0c4538_0_1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e9db0c4538_0_1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2e9db0c4538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4" name="Google Shape;1104;g2e9db0c4538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 remember that things have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 be scalable this has to support the entire internet and reachability 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1:10:57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thousands and thousands of as's and so you cannot have a table with a 100,000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1:11:03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entries it's just too big to maintain and store so instead all of the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1:11:08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forwarding tables are going to be a they can be aggregated so what that means 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if you ever have a lot of prefixes with the same next toop you should aggregate them all into a longer prefix right here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1:11:23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ed46e63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ed46e63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e9db0c4538_0_1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e9db0c4538_0_1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e9db0c4538_0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e9db0c4538_0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e9db0c4538_0_1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1" name="Google Shape;1151;g2e9db0c4538_0_1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2ea0879c207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Google Shape;1162;g2ea0879c207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Summer 2025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Inter-Domain Routing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8 (Routing 5)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/>
          <p:nvPr/>
        </p:nvSpPr>
        <p:spPr>
          <a:xfrm>
            <a:off x="5278830" y="308750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4"/>
          <p:cNvSpPr/>
          <p:nvPr/>
        </p:nvSpPr>
        <p:spPr>
          <a:xfrm>
            <a:off x="6751641" y="308750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4"/>
          <p:cNvSpPr/>
          <p:nvPr/>
        </p:nvSpPr>
        <p:spPr>
          <a:xfrm>
            <a:off x="4741423" y="1195601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4"/>
          <p:cNvSpPr/>
          <p:nvPr/>
        </p:nvSpPr>
        <p:spPr>
          <a:xfrm>
            <a:off x="6158001" y="1195601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24"/>
          <p:cNvSpPr/>
          <p:nvPr/>
        </p:nvSpPr>
        <p:spPr>
          <a:xfrm>
            <a:off x="7323345" y="1195631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" name="Google Shape;151;p24"/>
          <p:cNvSpPr/>
          <p:nvPr/>
        </p:nvSpPr>
        <p:spPr>
          <a:xfrm>
            <a:off x="4741423" y="2003000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5876556" y="2003000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7323345" y="2003030"/>
            <a:ext cx="777300" cy="4434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" name="Google Shape;154;p24"/>
          <p:cNvCxnSpPr>
            <a:stCxn id="146" idx="4"/>
            <a:endCxn id="148" idx="0"/>
          </p:cNvCxnSpPr>
          <p:nvPr/>
        </p:nvCxnSpPr>
        <p:spPr>
          <a:xfrm flipH="1">
            <a:off x="5130180" y="752150"/>
            <a:ext cx="537300" cy="4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4"/>
          <p:cNvCxnSpPr>
            <a:stCxn id="146" idx="4"/>
            <a:endCxn id="149" idx="0"/>
          </p:cNvCxnSpPr>
          <p:nvPr/>
        </p:nvCxnSpPr>
        <p:spPr>
          <a:xfrm>
            <a:off x="5667480" y="752150"/>
            <a:ext cx="879300" cy="4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24"/>
          <p:cNvCxnSpPr>
            <a:stCxn id="148" idx="4"/>
            <a:endCxn id="151" idx="0"/>
          </p:cNvCxnSpPr>
          <p:nvPr/>
        </p:nvCxnSpPr>
        <p:spPr>
          <a:xfrm>
            <a:off x="5130073" y="1639001"/>
            <a:ext cx="0" cy="36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24"/>
          <p:cNvCxnSpPr>
            <a:stCxn id="148" idx="5"/>
            <a:endCxn id="152" idx="1"/>
          </p:cNvCxnSpPr>
          <p:nvPr/>
        </p:nvCxnSpPr>
        <p:spPr>
          <a:xfrm>
            <a:off x="5404890" y="1574066"/>
            <a:ext cx="585600" cy="493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4"/>
          <p:cNvCxnSpPr>
            <a:stCxn id="149" idx="4"/>
            <a:endCxn id="152" idx="0"/>
          </p:cNvCxnSpPr>
          <p:nvPr/>
        </p:nvCxnSpPr>
        <p:spPr>
          <a:xfrm flipH="1">
            <a:off x="6265251" y="1639001"/>
            <a:ext cx="281400" cy="36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4"/>
          <p:cNvCxnSpPr>
            <a:stCxn id="150" idx="4"/>
            <a:endCxn id="153" idx="0"/>
          </p:cNvCxnSpPr>
          <p:nvPr/>
        </p:nvCxnSpPr>
        <p:spPr>
          <a:xfrm>
            <a:off x="7711995" y="1639031"/>
            <a:ext cx="0" cy="363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4"/>
          <p:cNvCxnSpPr>
            <a:stCxn id="149" idx="6"/>
            <a:endCxn id="150" idx="2"/>
          </p:cNvCxnSpPr>
          <p:nvPr/>
        </p:nvCxnSpPr>
        <p:spPr>
          <a:xfrm>
            <a:off x="6935301" y="1417301"/>
            <a:ext cx="387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61" name="Google Shape;161;p24"/>
          <p:cNvCxnSpPr>
            <a:stCxn id="147" idx="4"/>
            <a:endCxn id="150" idx="0"/>
          </p:cNvCxnSpPr>
          <p:nvPr/>
        </p:nvCxnSpPr>
        <p:spPr>
          <a:xfrm>
            <a:off x="7140291" y="752150"/>
            <a:ext cx="571800" cy="443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What are ASes?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67" name="Google Shape;167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Systems</a:t>
            </a:r>
            <a:endParaRPr/>
          </a:p>
        </p:txBody>
      </p:sp>
      <p:sp>
        <p:nvSpPr>
          <p:cNvPr id="168" name="Google Shape;168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8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/>
          <p:nvPr/>
        </p:nvSpPr>
        <p:spPr>
          <a:xfrm>
            <a:off x="3846013" y="1510025"/>
            <a:ext cx="1571400" cy="1716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26"/>
          <p:cNvSpPr/>
          <p:nvPr/>
        </p:nvSpPr>
        <p:spPr>
          <a:xfrm>
            <a:off x="3514750" y="3452075"/>
            <a:ext cx="2141400" cy="1361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6426350" y="1531026"/>
            <a:ext cx="2218800" cy="33588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6"/>
          <p:cNvSpPr/>
          <p:nvPr/>
        </p:nvSpPr>
        <p:spPr>
          <a:xfrm>
            <a:off x="285742" y="2059850"/>
            <a:ext cx="2487600" cy="2542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Intra-Domain vs. Inter-Domain Routing</a:t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1415675" y="36032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6"/>
          <p:cNvSpPr/>
          <p:nvPr/>
        </p:nvSpPr>
        <p:spPr>
          <a:xfrm>
            <a:off x="1415675" y="28959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6"/>
          <p:cNvSpPr/>
          <p:nvPr/>
        </p:nvSpPr>
        <p:spPr>
          <a:xfrm>
            <a:off x="2393963" y="3188450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/>
          <p:nvPr/>
        </p:nvSpPr>
        <p:spPr>
          <a:xfrm>
            <a:off x="1049888" y="23370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6"/>
          <p:cNvSpPr/>
          <p:nvPr/>
        </p:nvSpPr>
        <p:spPr>
          <a:xfrm>
            <a:off x="1781463" y="23370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6"/>
          <p:cNvSpPr/>
          <p:nvPr/>
        </p:nvSpPr>
        <p:spPr>
          <a:xfrm>
            <a:off x="702163" y="3309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6"/>
          <p:cNvSpPr/>
          <p:nvPr/>
        </p:nvSpPr>
        <p:spPr>
          <a:xfrm>
            <a:off x="702163" y="38970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" name="Google Shape;185;p26"/>
          <p:cNvCxnSpPr>
            <a:stCxn id="181" idx="5"/>
            <a:endCxn id="179" idx="0"/>
          </p:cNvCxnSpPr>
          <p:nvPr/>
        </p:nvCxnSpPr>
        <p:spPr>
          <a:xfrm>
            <a:off x="1293150" y="2580338"/>
            <a:ext cx="264900" cy="31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6"/>
          <p:cNvCxnSpPr>
            <a:stCxn id="179" idx="0"/>
            <a:endCxn id="182" idx="3"/>
          </p:cNvCxnSpPr>
          <p:nvPr/>
        </p:nvCxnSpPr>
        <p:spPr>
          <a:xfrm flipH="1" rot="10800000">
            <a:off x="1558175" y="2580350"/>
            <a:ext cx="264900" cy="31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6"/>
          <p:cNvCxnSpPr>
            <a:stCxn id="178" idx="1"/>
            <a:endCxn id="183" idx="6"/>
          </p:cNvCxnSpPr>
          <p:nvPr/>
        </p:nvCxnSpPr>
        <p:spPr>
          <a:xfrm rot="10800000">
            <a:off x="987275" y="3452075"/>
            <a:ext cx="428400" cy="29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6"/>
          <p:cNvCxnSpPr>
            <a:stCxn id="178" idx="1"/>
            <a:endCxn id="184" idx="6"/>
          </p:cNvCxnSpPr>
          <p:nvPr/>
        </p:nvCxnSpPr>
        <p:spPr>
          <a:xfrm flipH="1">
            <a:off x="987275" y="3745775"/>
            <a:ext cx="428400" cy="293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6"/>
          <p:cNvCxnSpPr>
            <a:stCxn id="178" idx="3"/>
            <a:endCxn id="180" idx="1"/>
          </p:cNvCxnSpPr>
          <p:nvPr/>
        </p:nvCxnSpPr>
        <p:spPr>
          <a:xfrm flipH="1" rot="10800000">
            <a:off x="1700675" y="3330875"/>
            <a:ext cx="693300" cy="414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26"/>
          <p:cNvCxnSpPr>
            <a:stCxn id="179" idx="2"/>
            <a:endCxn id="178" idx="0"/>
          </p:cNvCxnSpPr>
          <p:nvPr/>
        </p:nvCxnSpPr>
        <p:spPr>
          <a:xfrm>
            <a:off x="1558175" y="3180950"/>
            <a:ext cx="0" cy="42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6"/>
          <p:cNvSpPr/>
          <p:nvPr/>
        </p:nvSpPr>
        <p:spPr>
          <a:xfrm>
            <a:off x="5102525" y="217371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6"/>
          <p:cNvSpPr/>
          <p:nvPr/>
        </p:nvSpPr>
        <p:spPr>
          <a:xfrm>
            <a:off x="4367825" y="21737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4465250" y="16169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4" name="Google Shape;194;p26"/>
          <p:cNvCxnSpPr>
            <a:stCxn id="191" idx="0"/>
            <a:endCxn id="193" idx="5"/>
          </p:cNvCxnSpPr>
          <p:nvPr/>
        </p:nvCxnSpPr>
        <p:spPr>
          <a:xfrm rot="10800000">
            <a:off x="4708625" y="1860213"/>
            <a:ext cx="536400" cy="31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>
            <a:stCxn id="191" idx="1"/>
            <a:endCxn id="192" idx="6"/>
          </p:cNvCxnSpPr>
          <p:nvPr/>
        </p:nvCxnSpPr>
        <p:spPr>
          <a:xfrm rot="10800000">
            <a:off x="4652825" y="2316213"/>
            <a:ext cx="44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6"/>
          <p:cNvSpPr/>
          <p:nvPr/>
        </p:nvSpPr>
        <p:spPr>
          <a:xfrm>
            <a:off x="4225225" y="27865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97" name="Google Shape;197;p26"/>
          <p:cNvCxnSpPr>
            <a:stCxn id="191" idx="2"/>
            <a:endCxn id="196" idx="0"/>
          </p:cNvCxnSpPr>
          <p:nvPr/>
        </p:nvCxnSpPr>
        <p:spPr>
          <a:xfrm flipH="1">
            <a:off x="4367825" y="2458713"/>
            <a:ext cx="877200" cy="32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6"/>
          <p:cNvSpPr/>
          <p:nvPr/>
        </p:nvSpPr>
        <p:spPr>
          <a:xfrm>
            <a:off x="3778688" y="3713213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6"/>
          <p:cNvSpPr/>
          <p:nvPr/>
        </p:nvSpPr>
        <p:spPr>
          <a:xfrm>
            <a:off x="5102525" y="371328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3778688" y="423928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1" name="Google Shape;201;p26"/>
          <p:cNvCxnSpPr>
            <a:stCxn id="200" idx="0"/>
            <a:endCxn id="198" idx="2"/>
          </p:cNvCxnSpPr>
          <p:nvPr/>
        </p:nvCxnSpPr>
        <p:spPr>
          <a:xfrm rot="10800000">
            <a:off x="3921188" y="3998086"/>
            <a:ext cx="0" cy="241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6"/>
          <p:cNvCxnSpPr>
            <a:stCxn id="198" idx="3"/>
            <a:endCxn id="199" idx="1"/>
          </p:cNvCxnSpPr>
          <p:nvPr/>
        </p:nvCxnSpPr>
        <p:spPr>
          <a:xfrm>
            <a:off x="4063688" y="3855713"/>
            <a:ext cx="103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6"/>
          <p:cNvSpPr/>
          <p:nvPr/>
        </p:nvSpPr>
        <p:spPr>
          <a:xfrm>
            <a:off x="5102525" y="423921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4" name="Google Shape;204;p26"/>
          <p:cNvCxnSpPr>
            <a:stCxn id="203" idx="0"/>
            <a:endCxn id="199" idx="2"/>
          </p:cNvCxnSpPr>
          <p:nvPr/>
        </p:nvCxnSpPr>
        <p:spPr>
          <a:xfrm rot="10800000">
            <a:off x="5245025" y="3998311"/>
            <a:ext cx="0" cy="24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6"/>
          <p:cNvSpPr/>
          <p:nvPr/>
        </p:nvSpPr>
        <p:spPr>
          <a:xfrm>
            <a:off x="6473363" y="339582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26"/>
          <p:cNvSpPr/>
          <p:nvPr/>
        </p:nvSpPr>
        <p:spPr>
          <a:xfrm>
            <a:off x="6622700" y="22953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7433075" y="298687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6"/>
          <p:cNvSpPr/>
          <p:nvPr/>
        </p:nvSpPr>
        <p:spPr>
          <a:xfrm>
            <a:off x="7438875" y="3631339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26"/>
          <p:cNvSpPr/>
          <p:nvPr/>
        </p:nvSpPr>
        <p:spPr>
          <a:xfrm>
            <a:off x="7438875" y="22953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0" name="Google Shape;210;p26"/>
          <p:cNvCxnSpPr>
            <a:stCxn id="206" idx="3"/>
            <a:endCxn id="209" idx="2"/>
          </p:cNvCxnSpPr>
          <p:nvPr/>
        </p:nvCxnSpPr>
        <p:spPr>
          <a:xfrm>
            <a:off x="6907700" y="2437839"/>
            <a:ext cx="531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6"/>
          <p:cNvSpPr/>
          <p:nvPr/>
        </p:nvSpPr>
        <p:spPr>
          <a:xfrm>
            <a:off x="7067275" y="42795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7798850" y="427951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3" name="Google Shape;213;p26"/>
          <p:cNvCxnSpPr>
            <a:stCxn id="212" idx="1"/>
            <a:endCxn id="208" idx="2"/>
          </p:cNvCxnSpPr>
          <p:nvPr/>
        </p:nvCxnSpPr>
        <p:spPr>
          <a:xfrm rot="10800000">
            <a:off x="7581387" y="3916251"/>
            <a:ext cx="259200" cy="40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6"/>
          <p:cNvCxnSpPr>
            <a:stCxn id="211" idx="7"/>
            <a:endCxn id="208" idx="2"/>
          </p:cNvCxnSpPr>
          <p:nvPr/>
        </p:nvCxnSpPr>
        <p:spPr>
          <a:xfrm flipH="1" rot="10800000">
            <a:off x="7310538" y="3916251"/>
            <a:ext cx="270900" cy="40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6"/>
          <p:cNvCxnSpPr>
            <a:stCxn id="207" idx="0"/>
            <a:endCxn id="206" idx="3"/>
          </p:cNvCxnSpPr>
          <p:nvPr/>
        </p:nvCxnSpPr>
        <p:spPr>
          <a:xfrm rot="10800000">
            <a:off x="6907775" y="2437876"/>
            <a:ext cx="667800" cy="549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6"/>
          <p:cNvCxnSpPr>
            <a:stCxn id="207" idx="1"/>
            <a:endCxn id="205" idx="3"/>
          </p:cNvCxnSpPr>
          <p:nvPr/>
        </p:nvCxnSpPr>
        <p:spPr>
          <a:xfrm flipH="1">
            <a:off x="6758375" y="3129376"/>
            <a:ext cx="674700" cy="4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6"/>
          <p:cNvCxnSpPr>
            <a:stCxn id="207" idx="2"/>
            <a:endCxn id="208" idx="0"/>
          </p:cNvCxnSpPr>
          <p:nvPr/>
        </p:nvCxnSpPr>
        <p:spPr>
          <a:xfrm>
            <a:off x="7575575" y="3271876"/>
            <a:ext cx="5700" cy="359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6"/>
          <p:cNvSpPr/>
          <p:nvPr/>
        </p:nvSpPr>
        <p:spPr>
          <a:xfrm>
            <a:off x="8154500" y="2986864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9" name="Google Shape;219;p26"/>
          <p:cNvCxnSpPr>
            <a:stCxn id="207" idx="3"/>
            <a:endCxn id="218" idx="2"/>
          </p:cNvCxnSpPr>
          <p:nvPr/>
        </p:nvCxnSpPr>
        <p:spPr>
          <a:xfrm>
            <a:off x="7718075" y="3129376"/>
            <a:ext cx="436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6"/>
          <p:cNvCxnSpPr>
            <a:stCxn id="180" idx="3"/>
            <a:endCxn id="198" idx="1"/>
          </p:cNvCxnSpPr>
          <p:nvPr/>
        </p:nvCxnSpPr>
        <p:spPr>
          <a:xfrm>
            <a:off x="2678963" y="3330950"/>
            <a:ext cx="1099800" cy="524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26"/>
          <p:cNvCxnSpPr>
            <a:stCxn id="180" idx="3"/>
            <a:endCxn id="196" idx="1"/>
          </p:cNvCxnSpPr>
          <p:nvPr/>
        </p:nvCxnSpPr>
        <p:spPr>
          <a:xfrm flipH="1" rot="10800000">
            <a:off x="2678963" y="2928950"/>
            <a:ext cx="1546200" cy="40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26"/>
          <p:cNvCxnSpPr>
            <a:stCxn id="191" idx="3"/>
            <a:endCxn id="206" idx="1"/>
          </p:cNvCxnSpPr>
          <p:nvPr/>
        </p:nvCxnSpPr>
        <p:spPr>
          <a:xfrm>
            <a:off x="5387525" y="2316213"/>
            <a:ext cx="1235100" cy="12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" name="Google Shape;223;p26"/>
          <p:cNvCxnSpPr>
            <a:stCxn id="199" idx="3"/>
            <a:endCxn id="205" idx="1"/>
          </p:cNvCxnSpPr>
          <p:nvPr/>
        </p:nvCxnSpPr>
        <p:spPr>
          <a:xfrm flipH="1" rot="10800000">
            <a:off x="5387525" y="3538388"/>
            <a:ext cx="1085700" cy="317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6"/>
          <p:cNvSpPr/>
          <p:nvPr/>
        </p:nvSpPr>
        <p:spPr>
          <a:xfrm>
            <a:off x="7438875" y="1761939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5" name="Google Shape;225;p26"/>
          <p:cNvCxnSpPr>
            <a:stCxn id="206" idx="3"/>
            <a:endCxn id="224" idx="3"/>
          </p:cNvCxnSpPr>
          <p:nvPr/>
        </p:nvCxnSpPr>
        <p:spPr>
          <a:xfrm flipH="1" rot="10800000">
            <a:off x="6907700" y="2005239"/>
            <a:ext cx="573000" cy="43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6"/>
          <p:cNvSpPr txBox="1"/>
          <p:nvPr>
            <p:ph idx="1" type="body"/>
          </p:nvPr>
        </p:nvSpPr>
        <p:spPr>
          <a:xfrm>
            <a:off x="107050" y="402200"/>
            <a:ext cx="8909700" cy="10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Recall: The Internet is a network of networks.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used intra-domain routing to compute routes inside each network.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/>
          <p:nvPr/>
        </p:nvSpPr>
        <p:spPr>
          <a:xfrm>
            <a:off x="3514750" y="3452075"/>
            <a:ext cx="2141400" cy="1361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27"/>
          <p:cNvSpPr/>
          <p:nvPr/>
        </p:nvSpPr>
        <p:spPr>
          <a:xfrm>
            <a:off x="6426350" y="1531026"/>
            <a:ext cx="2218800" cy="33588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27"/>
          <p:cNvSpPr/>
          <p:nvPr/>
        </p:nvSpPr>
        <p:spPr>
          <a:xfrm>
            <a:off x="285742" y="2059850"/>
            <a:ext cx="2487600" cy="2542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2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Intra-Domain vs. Inter-Domain Routing</a:t>
            </a:r>
            <a:endParaRPr/>
          </a:p>
        </p:txBody>
      </p:sp>
      <p:sp>
        <p:nvSpPr>
          <p:cNvPr id="235" name="Google Shape;235;p27"/>
          <p:cNvSpPr/>
          <p:nvPr/>
        </p:nvSpPr>
        <p:spPr>
          <a:xfrm>
            <a:off x="1415675" y="3603275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27"/>
          <p:cNvSpPr/>
          <p:nvPr/>
        </p:nvSpPr>
        <p:spPr>
          <a:xfrm>
            <a:off x="1415675" y="2895950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27"/>
          <p:cNvSpPr/>
          <p:nvPr/>
        </p:nvSpPr>
        <p:spPr>
          <a:xfrm>
            <a:off x="2393963" y="3188450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27"/>
          <p:cNvSpPr/>
          <p:nvPr/>
        </p:nvSpPr>
        <p:spPr>
          <a:xfrm>
            <a:off x="1049888" y="23370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27"/>
          <p:cNvSpPr/>
          <p:nvPr/>
        </p:nvSpPr>
        <p:spPr>
          <a:xfrm>
            <a:off x="1781463" y="23370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702163" y="33094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702163" y="38970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2" name="Google Shape;242;p27"/>
          <p:cNvCxnSpPr>
            <a:stCxn id="238" idx="5"/>
            <a:endCxn id="236" idx="0"/>
          </p:cNvCxnSpPr>
          <p:nvPr/>
        </p:nvCxnSpPr>
        <p:spPr>
          <a:xfrm>
            <a:off x="1293150" y="2580338"/>
            <a:ext cx="264900" cy="315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7"/>
          <p:cNvCxnSpPr>
            <a:stCxn id="236" idx="0"/>
            <a:endCxn id="239" idx="3"/>
          </p:cNvCxnSpPr>
          <p:nvPr/>
        </p:nvCxnSpPr>
        <p:spPr>
          <a:xfrm flipH="1" rot="10800000">
            <a:off x="1558175" y="2580350"/>
            <a:ext cx="264900" cy="315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7"/>
          <p:cNvCxnSpPr>
            <a:stCxn id="235" idx="1"/>
            <a:endCxn id="240" idx="6"/>
          </p:cNvCxnSpPr>
          <p:nvPr/>
        </p:nvCxnSpPr>
        <p:spPr>
          <a:xfrm rot="10800000">
            <a:off x="987275" y="3452075"/>
            <a:ext cx="428400" cy="293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7"/>
          <p:cNvCxnSpPr>
            <a:stCxn id="235" idx="1"/>
            <a:endCxn id="241" idx="6"/>
          </p:cNvCxnSpPr>
          <p:nvPr/>
        </p:nvCxnSpPr>
        <p:spPr>
          <a:xfrm flipH="1">
            <a:off x="987275" y="3745775"/>
            <a:ext cx="428400" cy="293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7"/>
          <p:cNvCxnSpPr>
            <a:stCxn id="235" idx="3"/>
            <a:endCxn id="237" idx="1"/>
          </p:cNvCxnSpPr>
          <p:nvPr/>
        </p:nvCxnSpPr>
        <p:spPr>
          <a:xfrm flipH="1" rot="10800000">
            <a:off x="1700675" y="3330875"/>
            <a:ext cx="693300" cy="41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7"/>
          <p:cNvCxnSpPr>
            <a:stCxn id="236" idx="2"/>
            <a:endCxn id="235" idx="0"/>
          </p:cNvCxnSpPr>
          <p:nvPr/>
        </p:nvCxnSpPr>
        <p:spPr>
          <a:xfrm>
            <a:off x="1558175" y="3180950"/>
            <a:ext cx="0" cy="422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" name="Google Shape;248;p27"/>
          <p:cNvSpPr/>
          <p:nvPr/>
        </p:nvSpPr>
        <p:spPr>
          <a:xfrm>
            <a:off x="3778688" y="3713213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5102525" y="3713288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3778688" y="4239286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1" name="Google Shape;251;p27"/>
          <p:cNvCxnSpPr>
            <a:stCxn id="250" idx="0"/>
            <a:endCxn id="248" idx="2"/>
          </p:cNvCxnSpPr>
          <p:nvPr/>
        </p:nvCxnSpPr>
        <p:spPr>
          <a:xfrm rot="10800000">
            <a:off x="3921188" y="3998086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7"/>
          <p:cNvCxnSpPr>
            <a:stCxn id="248" idx="3"/>
            <a:endCxn id="249" idx="1"/>
          </p:cNvCxnSpPr>
          <p:nvPr/>
        </p:nvCxnSpPr>
        <p:spPr>
          <a:xfrm>
            <a:off x="4063688" y="3855713"/>
            <a:ext cx="10389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7"/>
          <p:cNvSpPr/>
          <p:nvPr/>
        </p:nvSpPr>
        <p:spPr>
          <a:xfrm>
            <a:off x="5102525" y="4239211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4" name="Google Shape;254;p27"/>
          <p:cNvCxnSpPr>
            <a:stCxn id="253" idx="0"/>
            <a:endCxn id="249" idx="2"/>
          </p:cNvCxnSpPr>
          <p:nvPr/>
        </p:nvCxnSpPr>
        <p:spPr>
          <a:xfrm rot="10800000">
            <a:off x="5245025" y="3998311"/>
            <a:ext cx="0" cy="240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27"/>
          <p:cNvSpPr/>
          <p:nvPr/>
        </p:nvSpPr>
        <p:spPr>
          <a:xfrm>
            <a:off x="6473363" y="3395826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6622700" y="2295339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7433075" y="2986876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7438875" y="3631339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7438875" y="2295339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0" name="Google Shape;260;p27"/>
          <p:cNvCxnSpPr>
            <a:stCxn id="256" idx="3"/>
            <a:endCxn id="259" idx="2"/>
          </p:cNvCxnSpPr>
          <p:nvPr/>
        </p:nvCxnSpPr>
        <p:spPr>
          <a:xfrm>
            <a:off x="6907700" y="2437839"/>
            <a:ext cx="531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" name="Google Shape;261;p27"/>
          <p:cNvSpPr/>
          <p:nvPr/>
        </p:nvSpPr>
        <p:spPr>
          <a:xfrm>
            <a:off x="7067275" y="4279514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7798850" y="4279514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3" name="Google Shape;263;p27"/>
          <p:cNvCxnSpPr>
            <a:stCxn id="262" idx="1"/>
            <a:endCxn id="258" idx="2"/>
          </p:cNvCxnSpPr>
          <p:nvPr/>
        </p:nvCxnSpPr>
        <p:spPr>
          <a:xfrm rot="10800000">
            <a:off x="7581387" y="3916251"/>
            <a:ext cx="259200" cy="405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27"/>
          <p:cNvCxnSpPr>
            <a:stCxn id="261" idx="7"/>
            <a:endCxn id="258" idx="2"/>
          </p:cNvCxnSpPr>
          <p:nvPr/>
        </p:nvCxnSpPr>
        <p:spPr>
          <a:xfrm flipH="1" rot="10800000">
            <a:off x="7310538" y="3916251"/>
            <a:ext cx="270900" cy="405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7"/>
          <p:cNvCxnSpPr>
            <a:stCxn id="257" idx="0"/>
            <a:endCxn id="256" idx="3"/>
          </p:cNvCxnSpPr>
          <p:nvPr/>
        </p:nvCxnSpPr>
        <p:spPr>
          <a:xfrm rot="10800000">
            <a:off x="6907775" y="2437876"/>
            <a:ext cx="667800" cy="54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7"/>
          <p:cNvCxnSpPr>
            <a:stCxn id="257" idx="1"/>
            <a:endCxn id="255" idx="3"/>
          </p:cNvCxnSpPr>
          <p:nvPr/>
        </p:nvCxnSpPr>
        <p:spPr>
          <a:xfrm flipH="1">
            <a:off x="6758375" y="3129376"/>
            <a:ext cx="674700" cy="40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7"/>
          <p:cNvCxnSpPr>
            <a:stCxn id="257" idx="2"/>
            <a:endCxn id="258" idx="0"/>
          </p:cNvCxnSpPr>
          <p:nvPr/>
        </p:nvCxnSpPr>
        <p:spPr>
          <a:xfrm>
            <a:off x="7575575" y="3271876"/>
            <a:ext cx="5700" cy="359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27"/>
          <p:cNvSpPr/>
          <p:nvPr/>
        </p:nvSpPr>
        <p:spPr>
          <a:xfrm>
            <a:off x="8154500" y="2986864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27"/>
          <p:cNvCxnSpPr>
            <a:stCxn id="257" idx="3"/>
            <a:endCxn id="268" idx="2"/>
          </p:cNvCxnSpPr>
          <p:nvPr/>
        </p:nvCxnSpPr>
        <p:spPr>
          <a:xfrm>
            <a:off x="7718075" y="3129376"/>
            <a:ext cx="436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27"/>
          <p:cNvCxnSpPr>
            <a:stCxn id="237" idx="3"/>
            <a:endCxn id="248" idx="1"/>
          </p:cNvCxnSpPr>
          <p:nvPr/>
        </p:nvCxnSpPr>
        <p:spPr>
          <a:xfrm>
            <a:off x="2678963" y="3330950"/>
            <a:ext cx="1099800" cy="52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27"/>
          <p:cNvCxnSpPr>
            <a:stCxn id="249" idx="3"/>
            <a:endCxn id="255" idx="1"/>
          </p:cNvCxnSpPr>
          <p:nvPr/>
        </p:nvCxnSpPr>
        <p:spPr>
          <a:xfrm flipH="1" rot="10800000">
            <a:off x="5387525" y="3538388"/>
            <a:ext cx="1085700" cy="31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" name="Google Shape;272;p27"/>
          <p:cNvSpPr/>
          <p:nvPr/>
        </p:nvSpPr>
        <p:spPr>
          <a:xfrm>
            <a:off x="7438875" y="1761939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27"/>
          <p:cNvCxnSpPr>
            <a:stCxn id="256" idx="3"/>
            <a:endCxn id="272" idx="3"/>
          </p:cNvCxnSpPr>
          <p:nvPr/>
        </p:nvCxnSpPr>
        <p:spPr>
          <a:xfrm flipH="1" rot="10800000">
            <a:off x="6907700" y="2005239"/>
            <a:ext cx="573000" cy="43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27"/>
          <p:cNvSpPr/>
          <p:nvPr/>
        </p:nvSpPr>
        <p:spPr>
          <a:xfrm>
            <a:off x="3846013" y="1510025"/>
            <a:ext cx="1571400" cy="1716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27"/>
          <p:cNvSpPr/>
          <p:nvPr/>
        </p:nvSpPr>
        <p:spPr>
          <a:xfrm>
            <a:off x="5102525" y="2173713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4367825" y="2173713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27"/>
          <p:cNvSpPr/>
          <p:nvPr/>
        </p:nvSpPr>
        <p:spPr>
          <a:xfrm>
            <a:off x="4465250" y="1616938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8" name="Google Shape;278;p27"/>
          <p:cNvCxnSpPr>
            <a:stCxn id="275" idx="0"/>
            <a:endCxn id="277" idx="5"/>
          </p:cNvCxnSpPr>
          <p:nvPr/>
        </p:nvCxnSpPr>
        <p:spPr>
          <a:xfrm rot="10800000">
            <a:off x="4708625" y="1860213"/>
            <a:ext cx="536400" cy="31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" name="Google Shape;279;p27"/>
          <p:cNvCxnSpPr>
            <a:stCxn id="275" idx="1"/>
            <a:endCxn id="276" idx="6"/>
          </p:cNvCxnSpPr>
          <p:nvPr/>
        </p:nvCxnSpPr>
        <p:spPr>
          <a:xfrm rot="10800000">
            <a:off x="4652825" y="2316213"/>
            <a:ext cx="4497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7"/>
          <p:cNvSpPr/>
          <p:nvPr/>
        </p:nvSpPr>
        <p:spPr>
          <a:xfrm>
            <a:off x="4225225" y="2786525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1" name="Google Shape;281;p27"/>
          <p:cNvCxnSpPr>
            <a:stCxn id="275" idx="2"/>
            <a:endCxn id="280" idx="0"/>
          </p:cNvCxnSpPr>
          <p:nvPr/>
        </p:nvCxnSpPr>
        <p:spPr>
          <a:xfrm flipH="1">
            <a:off x="4367825" y="2458713"/>
            <a:ext cx="877200" cy="32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7"/>
          <p:cNvCxnSpPr>
            <a:endCxn id="280" idx="1"/>
          </p:cNvCxnSpPr>
          <p:nvPr/>
        </p:nvCxnSpPr>
        <p:spPr>
          <a:xfrm flipH="1" rot="10800000">
            <a:off x="2679025" y="2929025"/>
            <a:ext cx="1546200" cy="40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7"/>
          <p:cNvCxnSpPr>
            <a:stCxn id="275" idx="3"/>
          </p:cNvCxnSpPr>
          <p:nvPr/>
        </p:nvCxnSpPr>
        <p:spPr>
          <a:xfrm>
            <a:off x="5387525" y="2316213"/>
            <a:ext cx="1235100" cy="12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7"/>
          <p:cNvSpPr txBox="1"/>
          <p:nvPr>
            <p:ph idx="1" type="body"/>
          </p:nvPr>
        </p:nvSpPr>
        <p:spPr>
          <a:xfrm>
            <a:off x="107050" y="402200"/>
            <a:ext cx="89097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Today's focus is inter-domain routing: finding paths between networks.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bring back the individual routers next time.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Systems</a:t>
            </a:r>
            <a:endParaRPr/>
          </a:p>
        </p:txBody>
      </p:sp>
      <p:sp>
        <p:nvSpPr>
          <p:cNvPr id="290" name="Google Shape;290;p2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Autonomous System (AS)</a:t>
            </a:r>
            <a:r>
              <a:rPr lang="en"/>
              <a:t>: One or more local networks, all under a single administrative control.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UC Berkeley's AS might contain both CalVisitor and eduroam.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Sometimes informally called "domains."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AS is assigned a unique AS number (ASN).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UC Berkeley is ASN 25.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>
            <a:off x="3514750" y="3452075"/>
            <a:ext cx="2141400" cy="13614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6426350" y="1531026"/>
            <a:ext cx="2218800" cy="33588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285742" y="2059850"/>
            <a:ext cx="2487600" cy="25422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AS Graph</a:t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1415675" y="3603275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1415675" y="2895950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29"/>
          <p:cNvSpPr/>
          <p:nvPr/>
        </p:nvSpPr>
        <p:spPr>
          <a:xfrm>
            <a:off x="2393963" y="3188450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29"/>
          <p:cNvSpPr/>
          <p:nvPr/>
        </p:nvSpPr>
        <p:spPr>
          <a:xfrm>
            <a:off x="1049888" y="23370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1781463" y="23370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702163" y="33094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29"/>
          <p:cNvSpPr/>
          <p:nvPr/>
        </p:nvSpPr>
        <p:spPr>
          <a:xfrm>
            <a:off x="702163" y="3897075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6" name="Google Shape;306;p29"/>
          <p:cNvCxnSpPr>
            <a:stCxn id="302" idx="5"/>
            <a:endCxn id="300" idx="0"/>
          </p:cNvCxnSpPr>
          <p:nvPr/>
        </p:nvCxnSpPr>
        <p:spPr>
          <a:xfrm>
            <a:off x="1293150" y="2580338"/>
            <a:ext cx="264900" cy="315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9"/>
          <p:cNvCxnSpPr>
            <a:stCxn id="300" idx="0"/>
            <a:endCxn id="303" idx="3"/>
          </p:cNvCxnSpPr>
          <p:nvPr/>
        </p:nvCxnSpPr>
        <p:spPr>
          <a:xfrm flipH="1" rot="10800000">
            <a:off x="1558175" y="2580350"/>
            <a:ext cx="264900" cy="315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9"/>
          <p:cNvCxnSpPr>
            <a:stCxn id="299" idx="1"/>
            <a:endCxn id="304" idx="6"/>
          </p:cNvCxnSpPr>
          <p:nvPr/>
        </p:nvCxnSpPr>
        <p:spPr>
          <a:xfrm rot="10800000">
            <a:off x="987275" y="3452075"/>
            <a:ext cx="428400" cy="293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9"/>
          <p:cNvCxnSpPr>
            <a:stCxn id="299" idx="1"/>
            <a:endCxn id="305" idx="6"/>
          </p:cNvCxnSpPr>
          <p:nvPr/>
        </p:nvCxnSpPr>
        <p:spPr>
          <a:xfrm flipH="1">
            <a:off x="987275" y="3745775"/>
            <a:ext cx="428400" cy="2937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9"/>
          <p:cNvCxnSpPr>
            <a:stCxn id="299" idx="3"/>
            <a:endCxn id="301" idx="1"/>
          </p:cNvCxnSpPr>
          <p:nvPr/>
        </p:nvCxnSpPr>
        <p:spPr>
          <a:xfrm flipH="1" rot="10800000">
            <a:off x="1700675" y="3330875"/>
            <a:ext cx="693300" cy="41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9"/>
          <p:cNvCxnSpPr>
            <a:stCxn id="300" idx="2"/>
            <a:endCxn id="299" idx="0"/>
          </p:cNvCxnSpPr>
          <p:nvPr/>
        </p:nvCxnSpPr>
        <p:spPr>
          <a:xfrm>
            <a:off x="1558175" y="3180950"/>
            <a:ext cx="0" cy="422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29"/>
          <p:cNvSpPr/>
          <p:nvPr/>
        </p:nvSpPr>
        <p:spPr>
          <a:xfrm>
            <a:off x="3778688" y="3713213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29"/>
          <p:cNvSpPr/>
          <p:nvPr/>
        </p:nvSpPr>
        <p:spPr>
          <a:xfrm>
            <a:off x="5102525" y="3713288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29"/>
          <p:cNvSpPr/>
          <p:nvPr/>
        </p:nvSpPr>
        <p:spPr>
          <a:xfrm>
            <a:off x="3778688" y="4239286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5" name="Google Shape;315;p29"/>
          <p:cNvCxnSpPr>
            <a:stCxn id="314" idx="0"/>
            <a:endCxn id="312" idx="2"/>
          </p:cNvCxnSpPr>
          <p:nvPr/>
        </p:nvCxnSpPr>
        <p:spPr>
          <a:xfrm rot="10800000">
            <a:off x="3921188" y="3998086"/>
            <a:ext cx="0" cy="241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" name="Google Shape;316;p29"/>
          <p:cNvCxnSpPr>
            <a:stCxn id="312" idx="3"/>
            <a:endCxn id="313" idx="1"/>
          </p:cNvCxnSpPr>
          <p:nvPr/>
        </p:nvCxnSpPr>
        <p:spPr>
          <a:xfrm>
            <a:off x="4063688" y="3855713"/>
            <a:ext cx="10389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29"/>
          <p:cNvSpPr/>
          <p:nvPr/>
        </p:nvSpPr>
        <p:spPr>
          <a:xfrm>
            <a:off x="5102525" y="4239211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8" name="Google Shape;318;p29"/>
          <p:cNvCxnSpPr>
            <a:stCxn id="317" idx="0"/>
            <a:endCxn id="313" idx="2"/>
          </p:cNvCxnSpPr>
          <p:nvPr/>
        </p:nvCxnSpPr>
        <p:spPr>
          <a:xfrm rot="10800000">
            <a:off x="5245025" y="3998311"/>
            <a:ext cx="0" cy="240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/>
          <p:nvPr/>
        </p:nvSpPr>
        <p:spPr>
          <a:xfrm>
            <a:off x="6473363" y="3395826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0" name="Google Shape;320;p29"/>
          <p:cNvSpPr/>
          <p:nvPr/>
        </p:nvSpPr>
        <p:spPr>
          <a:xfrm>
            <a:off x="6622700" y="2295339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1" name="Google Shape;321;p29"/>
          <p:cNvSpPr/>
          <p:nvPr/>
        </p:nvSpPr>
        <p:spPr>
          <a:xfrm>
            <a:off x="7433075" y="2986876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2" name="Google Shape;322;p29"/>
          <p:cNvSpPr/>
          <p:nvPr/>
        </p:nvSpPr>
        <p:spPr>
          <a:xfrm>
            <a:off x="7438875" y="3631339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29"/>
          <p:cNvSpPr/>
          <p:nvPr/>
        </p:nvSpPr>
        <p:spPr>
          <a:xfrm>
            <a:off x="7438875" y="2295339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4" name="Google Shape;324;p29"/>
          <p:cNvCxnSpPr>
            <a:stCxn id="320" idx="3"/>
            <a:endCxn id="323" idx="2"/>
          </p:cNvCxnSpPr>
          <p:nvPr/>
        </p:nvCxnSpPr>
        <p:spPr>
          <a:xfrm>
            <a:off x="6907700" y="2437839"/>
            <a:ext cx="5313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29"/>
          <p:cNvSpPr/>
          <p:nvPr/>
        </p:nvSpPr>
        <p:spPr>
          <a:xfrm>
            <a:off x="7067275" y="4279514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29"/>
          <p:cNvSpPr/>
          <p:nvPr/>
        </p:nvSpPr>
        <p:spPr>
          <a:xfrm>
            <a:off x="7798850" y="4279514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29"/>
          <p:cNvCxnSpPr>
            <a:stCxn id="326" idx="1"/>
            <a:endCxn id="322" idx="2"/>
          </p:cNvCxnSpPr>
          <p:nvPr/>
        </p:nvCxnSpPr>
        <p:spPr>
          <a:xfrm rot="10800000">
            <a:off x="7581387" y="3916251"/>
            <a:ext cx="259200" cy="405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9"/>
          <p:cNvCxnSpPr>
            <a:stCxn id="325" idx="7"/>
            <a:endCxn id="322" idx="2"/>
          </p:cNvCxnSpPr>
          <p:nvPr/>
        </p:nvCxnSpPr>
        <p:spPr>
          <a:xfrm flipH="1" rot="10800000">
            <a:off x="7310538" y="3916251"/>
            <a:ext cx="270900" cy="405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9"/>
          <p:cNvCxnSpPr>
            <a:stCxn id="321" idx="0"/>
            <a:endCxn id="320" idx="3"/>
          </p:cNvCxnSpPr>
          <p:nvPr/>
        </p:nvCxnSpPr>
        <p:spPr>
          <a:xfrm rot="10800000">
            <a:off x="6907775" y="2437876"/>
            <a:ext cx="667800" cy="5490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29"/>
          <p:cNvCxnSpPr>
            <a:stCxn id="321" idx="1"/>
            <a:endCxn id="319" idx="3"/>
          </p:cNvCxnSpPr>
          <p:nvPr/>
        </p:nvCxnSpPr>
        <p:spPr>
          <a:xfrm flipH="1">
            <a:off x="6758375" y="3129376"/>
            <a:ext cx="674700" cy="408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29"/>
          <p:cNvCxnSpPr>
            <a:stCxn id="321" idx="2"/>
            <a:endCxn id="322" idx="0"/>
          </p:cNvCxnSpPr>
          <p:nvPr/>
        </p:nvCxnSpPr>
        <p:spPr>
          <a:xfrm>
            <a:off x="7575575" y="3271876"/>
            <a:ext cx="5700" cy="359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" name="Google Shape;332;p29"/>
          <p:cNvSpPr/>
          <p:nvPr/>
        </p:nvSpPr>
        <p:spPr>
          <a:xfrm>
            <a:off x="8154500" y="2986864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29"/>
          <p:cNvCxnSpPr>
            <a:stCxn id="321" idx="3"/>
            <a:endCxn id="332" idx="2"/>
          </p:cNvCxnSpPr>
          <p:nvPr/>
        </p:nvCxnSpPr>
        <p:spPr>
          <a:xfrm>
            <a:off x="7718075" y="3129376"/>
            <a:ext cx="4365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29"/>
          <p:cNvCxnSpPr>
            <a:stCxn id="301" idx="3"/>
            <a:endCxn id="312" idx="1"/>
          </p:cNvCxnSpPr>
          <p:nvPr/>
        </p:nvCxnSpPr>
        <p:spPr>
          <a:xfrm>
            <a:off x="2678963" y="3330950"/>
            <a:ext cx="1099800" cy="52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29"/>
          <p:cNvCxnSpPr>
            <a:stCxn id="313" idx="3"/>
            <a:endCxn id="319" idx="1"/>
          </p:cNvCxnSpPr>
          <p:nvPr/>
        </p:nvCxnSpPr>
        <p:spPr>
          <a:xfrm flipH="1" rot="10800000">
            <a:off x="5387525" y="3538388"/>
            <a:ext cx="1085700" cy="31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29"/>
          <p:cNvSpPr/>
          <p:nvPr/>
        </p:nvSpPr>
        <p:spPr>
          <a:xfrm>
            <a:off x="7438875" y="1761939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7" name="Google Shape;337;p29"/>
          <p:cNvCxnSpPr>
            <a:stCxn id="320" idx="3"/>
            <a:endCxn id="336" idx="3"/>
          </p:cNvCxnSpPr>
          <p:nvPr/>
        </p:nvCxnSpPr>
        <p:spPr>
          <a:xfrm flipH="1" rot="10800000">
            <a:off x="6907700" y="2005239"/>
            <a:ext cx="573000" cy="4326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29"/>
          <p:cNvSpPr/>
          <p:nvPr/>
        </p:nvSpPr>
        <p:spPr>
          <a:xfrm>
            <a:off x="3846013" y="1510025"/>
            <a:ext cx="1571400" cy="1716300"/>
          </a:xfrm>
          <a:prstGeom prst="ellipse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5102525" y="2173713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4367825" y="2173713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29"/>
          <p:cNvSpPr/>
          <p:nvPr/>
        </p:nvSpPr>
        <p:spPr>
          <a:xfrm>
            <a:off x="4465250" y="1616938"/>
            <a:ext cx="285000" cy="285000"/>
          </a:xfrm>
          <a:prstGeom prst="ellipse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2" name="Google Shape;342;p29"/>
          <p:cNvCxnSpPr>
            <a:stCxn id="339" idx="0"/>
            <a:endCxn id="341" idx="5"/>
          </p:cNvCxnSpPr>
          <p:nvPr/>
        </p:nvCxnSpPr>
        <p:spPr>
          <a:xfrm rot="10800000">
            <a:off x="4708625" y="1860213"/>
            <a:ext cx="536400" cy="313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9"/>
          <p:cNvCxnSpPr>
            <a:stCxn id="339" idx="1"/>
            <a:endCxn id="340" idx="6"/>
          </p:cNvCxnSpPr>
          <p:nvPr/>
        </p:nvCxnSpPr>
        <p:spPr>
          <a:xfrm rot="10800000">
            <a:off x="4652825" y="2316213"/>
            <a:ext cx="4497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29"/>
          <p:cNvSpPr/>
          <p:nvPr/>
        </p:nvSpPr>
        <p:spPr>
          <a:xfrm>
            <a:off x="4225225" y="2786525"/>
            <a:ext cx="285000" cy="285000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5" name="Google Shape;345;p29"/>
          <p:cNvCxnSpPr>
            <a:stCxn id="339" idx="2"/>
            <a:endCxn id="344" idx="0"/>
          </p:cNvCxnSpPr>
          <p:nvPr/>
        </p:nvCxnSpPr>
        <p:spPr>
          <a:xfrm flipH="1">
            <a:off x="4367825" y="2458713"/>
            <a:ext cx="877200" cy="327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9"/>
          <p:cNvCxnSpPr>
            <a:endCxn id="344" idx="1"/>
          </p:cNvCxnSpPr>
          <p:nvPr/>
        </p:nvCxnSpPr>
        <p:spPr>
          <a:xfrm flipH="1" rot="10800000">
            <a:off x="2679025" y="2929025"/>
            <a:ext cx="1546200" cy="40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9"/>
          <p:cNvCxnSpPr>
            <a:stCxn id="339" idx="3"/>
          </p:cNvCxnSpPr>
          <p:nvPr/>
        </p:nvCxnSpPr>
        <p:spPr>
          <a:xfrm>
            <a:off x="5387525" y="2316213"/>
            <a:ext cx="1235100" cy="121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29"/>
          <p:cNvSpPr txBox="1"/>
          <p:nvPr>
            <p:ph idx="1" type="body"/>
          </p:nvPr>
        </p:nvSpPr>
        <p:spPr>
          <a:xfrm>
            <a:off x="107050" y="402200"/>
            <a:ext cx="89097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/>
              <a:t>Inter-domain topology</a:t>
            </a:r>
            <a:r>
              <a:rPr lang="en"/>
              <a:t> (or </a:t>
            </a:r>
            <a:r>
              <a:rPr b="1" lang="en"/>
              <a:t>AS graph</a:t>
            </a:r>
            <a:r>
              <a:rPr lang="en"/>
              <a:t>): A graph of ASes, with the individual routers and hosts abstracted away. Each node is an 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Brief History of Autonomous Systems</a:t>
            </a:r>
            <a:endParaRPr/>
          </a:p>
        </p:txBody>
      </p:sp>
      <p:sp>
        <p:nvSpPr>
          <p:cNvPr id="354" name="Google Shape;354;p3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Who assigns new ASNs?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early days: Some guy.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Today: Internet Assigned Numbers Authority (IANA).</a:t>
            </a:r>
            <a:endParaRPr/>
          </a:p>
        </p:txBody>
      </p:sp>
      <p:pic>
        <p:nvPicPr>
          <p:cNvPr id="355" name="Google Shape;3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8269" y="2061750"/>
            <a:ext cx="3867475" cy="23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 txBox="1"/>
          <p:nvPr/>
        </p:nvSpPr>
        <p:spPr>
          <a:xfrm>
            <a:off x="2638275" y="4430575"/>
            <a:ext cx="386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Jon Postel (1943–1998)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Brief History of Autonomous Systems</a:t>
            </a:r>
            <a:endParaRPr/>
          </a:p>
        </p:txBody>
      </p:sp>
      <p:sp>
        <p:nvSpPr>
          <p:cNvPr id="362" name="Google Shape;362;p3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Number of ASes increases over time: Over 90,000 today!</a:t>
            </a:r>
            <a:endParaRPr/>
          </a:p>
        </p:txBody>
      </p:sp>
      <p:pic>
        <p:nvPicPr>
          <p:cNvPr id="363" name="Google Shape;36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250" y="1048050"/>
            <a:ext cx="4973300" cy="393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Brief History of Autonomous Systems</a:t>
            </a:r>
            <a:endParaRPr/>
          </a:p>
        </p:txBody>
      </p:sp>
      <p:sp>
        <p:nvSpPr>
          <p:cNvPr id="369" name="Google Shape;369;p3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ASes by country: USA has the most, followed by Brazil.</a:t>
            </a:r>
            <a:endParaRPr/>
          </a:p>
        </p:txBody>
      </p:sp>
      <p:pic>
        <p:nvPicPr>
          <p:cNvPr id="370" name="Google Shape;3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4488" y="923975"/>
            <a:ext cx="5874825" cy="400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Autonomous Systems</a:t>
            </a:r>
            <a:endParaRPr/>
          </a:p>
        </p:txBody>
      </p:sp>
      <p:sp>
        <p:nvSpPr>
          <p:cNvPr id="376" name="Google Shape;376;p33"/>
          <p:cNvSpPr txBox="1"/>
          <p:nvPr>
            <p:ph idx="2" type="body"/>
          </p:nvPr>
        </p:nvSpPr>
        <p:spPr>
          <a:xfrm>
            <a:off x="95425" y="402200"/>
            <a:ext cx="418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Stub AS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 Only sends/receives packets on behalf of hosts inside the 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Similar to end hosts in intra-domain model.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Does not forward packets between other ASes.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Examples: UC Berkeley, local bank.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Most ASes are this type.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7" name="Google Shape;377;p33"/>
          <p:cNvSpPr txBox="1"/>
          <p:nvPr>
            <p:ph idx="1" type="body"/>
          </p:nvPr>
        </p:nvSpPr>
        <p:spPr>
          <a:xfrm>
            <a:off x="4647750" y="402200"/>
            <a:ext cx="433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Transit AS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 Forwards packets on behalf of other ASes.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Similar to routers in intra-domain model.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still send/receive packets for hosts inside the AS.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Examples: AT&amp;T, Verizon.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Can vary in scale (global, regional).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33"/>
          <p:cNvSpPr txBox="1"/>
          <p:nvPr>
            <p:ph idx="2" type="body"/>
          </p:nvPr>
        </p:nvSpPr>
        <p:spPr>
          <a:xfrm>
            <a:off x="161125" y="4228825"/>
            <a:ext cx="5155800" cy="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Note: Some modern ASes (e.g. Google, Amazon) blur the line between stub and transit, but we won't worry about them.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Autonomous Systems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Business Relationships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384" name="Google Shape;384;p3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Relationships</a:t>
            </a:r>
            <a:endParaRPr/>
          </a:p>
        </p:txBody>
      </p:sp>
      <p:sp>
        <p:nvSpPr>
          <p:cNvPr id="385" name="Google Shape;385;p3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8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Relationships</a:t>
            </a:r>
            <a:endParaRPr/>
          </a:p>
        </p:txBody>
      </p:sp>
      <p:sp>
        <p:nvSpPr>
          <p:cNvPr id="391" name="Google Shape;391;p3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Inter-domain topology is shaped between business relationships between ASes.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Two different ways for a pair of ASes to be related: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Customer-provider</a:t>
            </a:r>
            <a:r>
              <a:rPr lang="en"/>
              <a:t> relationship: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customer pays the provider.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exchange, the provider offers to forward traffic to/from the customer.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Peering</a:t>
            </a:r>
            <a:r>
              <a:rPr lang="en"/>
              <a:t> relationship: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Peers don't pay each other.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Peers exchange roughly equal traffic.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Graph with Business Relationships</a:t>
            </a:r>
            <a:endParaRPr/>
          </a:p>
        </p:txBody>
      </p:sp>
      <p:sp>
        <p:nvSpPr>
          <p:cNvPr id="397" name="Google Shape;397;p3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Representing business relationships in the AS graph: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Provider                     Customer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                    Peer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arrows do not represent direction of packets (e.g. F can send packets to C).</a:t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>
            <a:off x="3146663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36"/>
          <p:cNvSpPr/>
          <p:nvPr/>
        </p:nvSpPr>
        <p:spPr>
          <a:xfrm>
            <a:off x="4984638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36"/>
          <p:cNvSpPr/>
          <p:nvPr/>
        </p:nvSpPr>
        <p:spPr>
          <a:xfrm>
            <a:off x="24760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36"/>
          <p:cNvSpPr/>
          <p:nvPr/>
        </p:nvSpPr>
        <p:spPr>
          <a:xfrm>
            <a:off x="42438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36"/>
          <p:cNvSpPr/>
          <p:nvPr/>
        </p:nvSpPr>
        <p:spPr>
          <a:xfrm>
            <a:off x="5698088" y="337201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6"/>
          <p:cNvSpPr/>
          <p:nvPr/>
        </p:nvSpPr>
        <p:spPr>
          <a:xfrm>
            <a:off x="2476013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6"/>
          <p:cNvSpPr/>
          <p:nvPr/>
        </p:nvSpPr>
        <p:spPr>
          <a:xfrm>
            <a:off x="3892588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6"/>
          <p:cNvSpPr/>
          <p:nvPr/>
        </p:nvSpPr>
        <p:spPr>
          <a:xfrm>
            <a:off x="5698088" y="43795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6" name="Google Shape;406;p36"/>
          <p:cNvCxnSpPr>
            <a:stCxn id="398" idx="4"/>
            <a:endCxn id="400" idx="0"/>
          </p:cNvCxnSpPr>
          <p:nvPr/>
        </p:nvCxnSpPr>
        <p:spPr>
          <a:xfrm flipH="1">
            <a:off x="2960813" y="2818450"/>
            <a:ext cx="6708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6"/>
          <p:cNvCxnSpPr>
            <a:stCxn id="398" idx="4"/>
            <a:endCxn id="401" idx="0"/>
          </p:cNvCxnSpPr>
          <p:nvPr/>
        </p:nvCxnSpPr>
        <p:spPr>
          <a:xfrm>
            <a:off x="3631613" y="2818450"/>
            <a:ext cx="10971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6"/>
          <p:cNvCxnSpPr>
            <a:stCxn id="398" idx="6"/>
            <a:endCxn id="399" idx="2"/>
          </p:cNvCxnSpPr>
          <p:nvPr/>
        </p:nvCxnSpPr>
        <p:spPr>
          <a:xfrm>
            <a:off x="4116563" y="2541850"/>
            <a:ext cx="86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09" name="Google Shape;409;p36"/>
          <p:cNvCxnSpPr>
            <a:stCxn id="400" idx="4"/>
            <a:endCxn id="403" idx="0"/>
          </p:cNvCxnSpPr>
          <p:nvPr/>
        </p:nvCxnSpPr>
        <p:spPr>
          <a:xfrm>
            <a:off x="2960963" y="3925175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6"/>
          <p:cNvCxnSpPr>
            <a:stCxn id="400" idx="5"/>
            <a:endCxn id="404" idx="1"/>
          </p:cNvCxnSpPr>
          <p:nvPr/>
        </p:nvCxnSpPr>
        <p:spPr>
          <a:xfrm>
            <a:off x="3303874" y="3844161"/>
            <a:ext cx="730800" cy="61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6"/>
          <p:cNvCxnSpPr>
            <a:stCxn id="401" idx="4"/>
            <a:endCxn id="404" idx="0"/>
          </p:cNvCxnSpPr>
          <p:nvPr/>
        </p:nvCxnSpPr>
        <p:spPr>
          <a:xfrm flipH="1">
            <a:off x="4377463" y="3925175"/>
            <a:ext cx="35130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36"/>
          <p:cNvCxnSpPr>
            <a:stCxn id="402" idx="4"/>
            <a:endCxn id="405" idx="0"/>
          </p:cNvCxnSpPr>
          <p:nvPr/>
        </p:nvCxnSpPr>
        <p:spPr>
          <a:xfrm>
            <a:off x="6183038" y="3925213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36"/>
          <p:cNvCxnSpPr>
            <a:stCxn id="401" idx="6"/>
            <a:endCxn id="402" idx="2"/>
          </p:cNvCxnSpPr>
          <p:nvPr/>
        </p:nvCxnSpPr>
        <p:spPr>
          <a:xfrm>
            <a:off x="5213713" y="3648575"/>
            <a:ext cx="484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14" name="Google Shape;414;p36"/>
          <p:cNvCxnSpPr/>
          <p:nvPr/>
        </p:nvCxnSpPr>
        <p:spPr>
          <a:xfrm>
            <a:off x="1576763" y="1100100"/>
            <a:ext cx="10500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5" name="Google Shape;415;p36"/>
          <p:cNvCxnSpPr/>
          <p:nvPr/>
        </p:nvCxnSpPr>
        <p:spPr>
          <a:xfrm>
            <a:off x="1266513" y="1430025"/>
            <a:ext cx="86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16" name="Google Shape;416;p36"/>
          <p:cNvCxnSpPr>
            <a:stCxn id="399" idx="4"/>
            <a:endCxn id="402" idx="0"/>
          </p:cNvCxnSpPr>
          <p:nvPr/>
        </p:nvCxnSpPr>
        <p:spPr>
          <a:xfrm>
            <a:off x="5469588" y="2818450"/>
            <a:ext cx="7134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Graph with Business Relationships</a:t>
            </a:r>
            <a:endParaRPr/>
          </a:p>
        </p:txBody>
      </p:sp>
      <p:sp>
        <p:nvSpPr>
          <p:cNvPr id="422" name="Google Shape;422;p3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Stub ASes in this graph: F, G, 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 outgoing edges: Not providing service to anybody.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Incoming edge(s) shows who they're buying service from.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7"/>
          <p:cNvSpPr/>
          <p:nvPr/>
        </p:nvSpPr>
        <p:spPr>
          <a:xfrm>
            <a:off x="3146663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4984638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37"/>
          <p:cNvSpPr/>
          <p:nvPr/>
        </p:nvSpPr>
        <p:spPr>
          <a:xfrm>
            <a:off x="24760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42438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5698088" y="337201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37"/>
          <p:cNvSpPr/>
          <p:nvPr/>
        </p:nvSpPr>
        <p:spPr>
          <a:xfrm>
            <a:off x="2476013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3892588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5698088" y="43795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1" name="Google Shape;431;p37"/>
          <p:cNvCxnSpPr>
            <a:stCxn id="423" idx="4"/>
            <a:endCxn id="425" idx="0"/>
          </p:cNvCxnSpPr>
          <p:nvPr/>
        </p:nvCxnSpPr>
        <p:spPr>
          <a:xfrm flipH="1">
            <a:off x="2960813" y="2818450"/>
            <a:ext cx="670800" cy="55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2" name="Google Shape;432;p37"/>
          <p:cNvCxnSpPr>
            <a:stCxn id="423" idx="4"/>
            <a:endCxn id="426" idx="0"/>
          </p:cNvCxnSpPr>
          <p:nvPr/>
        </p:nvCxnSpPr>
        <p:spPr>
          <a:xfrm>
            <a:off x="3631613" y="2818450"/>
            <a:ext cx="1097100" cy="55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3" name="Google Shape;433;p37"/>
          <p:cNvCxnSpPr>
            <a:stCxn id="423" idx="6"/>
            <a:endCxn id="424" idx="2"/>
          </p:cNvCxnSpPr>
          <p:nvPr/>
        </p:nvCxnSpPr>
        <p:spPr>
          <a:xfrm>
            <a:off x="4116563" y="2541850"/>
            <a:ext cx="8682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34" name="Google Shape;434;p37"/>
          <p:cNvCxnSpPr>
            <a:stCxn id="425" idx="4"/>
            <a:endCxn id="428" idx="0"/>
          </p:cNvCxnSpPr>
          <p:nvPr/>
        </p:nvCxnSpPr>
        <p:spPr>
          <a:xfrm>
            <a:off x="2960963" y="3925175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5" name="Google Shape;435;p37"/>
          <p:cNvCxnSpPr>
            <a:stCxn id="425" idx="5"/>
            <a:endCxn id="429" idx="1"/>
          </p:cNvCxnSpPr>
          <p:nvPr/>
        </p:nvCxnSpPr>
        <p:spPr>
          <a:xfrm>
            <a:off x="3303874" y="3844161"/>
            <a:ext cx="730800" cy="61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6" name="Google Shape;436;p37"/>
          <p:cNvCxnSpPr>
            <a:stCxn id="426" idx="4"/>
            <a:endCxn id="429" idx="0"/>
          </p:cNvCxnSpPr>
          <p:nvPr/>
        </p:nvCxnSpPr>
        <p:spPr>
          <a:xfrm flipH="1">
            <a:off x="4377463" y="3925175"/>
            <a:ext cx="35130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7" name="Google Shape;437;p37"/>
          <p:cNvCxnSpPr>
            <a:stCxn id="427" idx="4"/>
            <a:endCxn id="430" idx="0"/>
          </p:cNvCxnSpPr>
          <p:nvPr/>
        </p:nvCxnSpPr>
        <p:spPr>
          <a:xfrm>
            <a:off x="6183038" y="3925213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38" name="Google Shape;438;p37"/>
          <p:cNvCxnSpPr>
            <a:stCxn id="426" idx="6"/>
            <a:endCxn id="427" idx="2"/>
          </p:cNvCxnSpPr>
          <p:nvPr/>
        </p:nvCxnSpPr>
        <p:spPr>
          <a:xfrm>
            <a:off x="5213713" y="3648575"/>
            <a:ext cx="4845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39" name="Google Shape;439;p37"/>
          <p:cNvCxnSpPr>
            <a:stCxn id="424" idx="4"/>
            <a:endCxn id="427" idx="0"/>
          </p:cNvCxnSpPr>
          <p:nvPr/>
        </p:nvCxnSpPr>
        <p:spPr>
          <a:xfrm>
            <a:off x="5469588" y="2818450"/>
            <a:ext cx="713400" cy="55350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Graph with Business Relationships</a:t>
            </a:r>
            <a:endParaRPr/>
          </a:p>
        </p:txBody>
      </p:sp>
      <p:sp>
        <p:nvSpPr>
          <p:cNvPr id="445" name="Google Shape;445;p3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Transit </a:t>
            </a:r>
            <a:r>
              <a:rPr lang="en"/>
              <a:t>ASes in this graph: A, B, C, D, 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Outgoing edges indicate they're providing service to somebody.</a:t>
            </a:r>
            <a:endParaRPr/>
          </a:p>
        </p:txBody>
      </p:sp>
      <p:sp>
        <p:nvSpPr>
          <p:cNvPr id="446" name="Google Shape;446;p38"/>
          <p:cNvSpPr/>
          <p:nvPr/>
        </p:nvSpPr>
        <p:spPr>
          <a:xfrm>
            <a:off x="3146663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38"/>
          <p:cNvSpPr/>
          <p:nvPr/>
        </p:nvSpPr>
        <p:spPr>
          <a:xfrm>
            <a:off x="4984638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38"/>
          <p:cNvSpPr/>
          <p:nvPr/>
        </p:nvSpPr>
        <p:spPr>
          <a:xfrm>
            <a:off x="24760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38"/>
          <p:cNvSpPr/>
          <p:nvPr/>
        </p:nvSpPr>
        <p:spPr>
          <a:xfrm>
            <a:off x="42438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38"/>
          <p:cNvSpPr/>
          <p:nvPr/>
        </p:nvSpPr>
        <p:spPr>
          <a:xfrm>
            <a:off x="5698088" y="337201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38"/>
          <p:cNvSpPr/>
          <p:nvPr/>
        </p:nvSpPr>
        <p:spPr>
          <a:xfrm>
            <a:off x="2476013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3892588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5698088" y="43795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4" name="Google Shape;454;p38"/>
          <p:cNvCxnSpPr>
            <a:stCxn id="446" idx="4"/>
            <a:endCxn id="448" idx="0"/>
          </p:cNvCxnSpPr>
          <p:nvPr/>
        </p:nvCxnSpPr>
        <p:spPr>
          <a:xfrm flipH="1">
            <a:off x="2960813" y="2818450"/>
            <a:ext cx="6708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5" name="Google Shape;455;p38"/>
          <p:cNvCxnSpPr>
            <a:stCxn id="446" idx="4"/>
            <a:endCxn id="449" idx="0"/>
          </p:cNvCxnSpPr>
          <p:nvPr/>
        </p:nvCxnSpPr>
        <p:spPr>
          <a:xfrm>
            <a:off x="3631613" y="2818450"/>
            <a:ext cx="10971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38"/>
          <p:cNvCxnSpPr>
            <a:stCxn id="446" idx="6"/>
            <a:endCxn id="447" idx="2"/>
          </p:cNvCxnSpPr>
          <p:nvPr/>
        </p:nvCxnSpPr>
        <p:spPr>
          <a:xfrm>
            <a:off x="4116563" y="2541850"/>
            <a:ext cx="8682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57" name="Google Shape;457;p38"/>
          <p:cNvCxnSpPr>
            <a:stCxn id="448" idx="4"/>
            <a:endCxn id="451" idx="0"/>
          </p:cNvCxnSpPr>
          <p:nvPr/>
        </p:nvCxnSpPr>
        <p:spPr>
          <a:xfrm>
            <a:off x="2960963" y="3925175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8" name="Google Shape;458;p38"/>
          <p:cNvCxnSpPr>
            <a:stCxn id="448" idx="5"/>
            <a:endCxn id="452" idx="1"/>
          </p:cNvCxnSpPr>
          <p:nvPr/>
        </p:nvCxnSpPr>
        <p:spPr>
          <a:xfrm>
            <a:off x="3303874" y="3844161"/>
            <a:ext cx="730800" cy="61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9" name="Google Shape;459;p38"/>
          <p:cNvCxnSpPr>
            <a:stCxn id="449" idx="4"/>
            <a:endCxn id="452" idx="0"/>
          </p:cNvCxnSpPr>
          <p:nvPr/>
        </p:nvCxnSpPr>
        <p:spPr>
          <a:xfrm flipH="1">
            <a:off x="4377463" y="3925175"/>
            <a:ext cx="35130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0" name="Google Shape;460;p38"/>
          <p:cNvCxnSpPr>
            <a:stCxn id="450" idx="4"/>
            <a:endCxn id="453" idx="0"/>
          </p:cNvCxnSpPr>
          <p:nvPr/>
        </p:nvCxnSpPr>
        <p:spPr>
          <a:xfrm>
            <a:off x="6183038" y="3925213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1" name="Google Shape;461;p38"/>
          <p:cNvCxnSpPr>
            <a:stCxn id="449" idx="6"/>
            <a:endCxn id="450" idx="2"/>
          </p:cNvCxnSpPr>
          <p:nvPr/>
        </p:nvCxnSpPr>
        <p:spPr>
          <a:xfrm>
            <a:off x="5213713" y="3648575"/>
            <a:ext cx="484500" cy="0"/>
          </a:xfrm>
          <a:prstGeom prst="straightConnector1">
            <a:avLst/>
          </a:prstGeom>
          <a:noFill/>
          <a:ln cap="flat" cmpd="sng" w="28575">
            <a:solidFill>
              <a:srgbClr val="D9D9D9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62" name="Google Shape;462;p38"/>
          <p:cNvCxnSpPr>
            <a:stCxn id="447" idx="4"/>
            <a:endCxn id="450" idx="0"/>
          </p:cNvCxnSpPr>
          <p:nvPr/>
        </p:nvCxnSpPr>
        <p:spPr>
          <a:xfrm>
            <a:off x="5469588" y="2818450"/>
            <a:ext cx="7134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Graph is Acyclic</a:t>
            </a:r>
            <a:endParaRPr/>
          </a:p>
        </p:txBody>
      </p:sp>
      <p:sp>
        <p:nvSpPr>
          <p:cNvPr id="468" name="Google Shape;468;p3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AS graph has no cycles.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cycle means you're paying yourself, which doesn't make sense.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cycle of peering relationships is okay.</a:t>
            </a:r>
            <a:endParaRPr/>
          </a:p>
        </p:txBody>
      </p:sp>
      <p:sp>
        <p:nvSpPr>
          <p:cNvPr id="469" name="Google Shape;469;p39"/>
          <p:cNvSpPr/>
          <p:nvPr/>
        </p:nvSpPr>
        <p:spPr>
          <a:xfrm>
            <a:off x="2290413" y="25072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1484763" y="36135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3095988" y="36135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39"/>
          <p:cNvCxnSpPr>
            <a:stCxn id="469" idx="3"/>
            <a:endCxn id="470" idx="0"/>
          </p:cNvCxnSpPr>
          <p:nvPr/>
        </p:nvCxnSpPr>
        <p:spPr>
          <a:xfrm flipH="1">
            <a:off x="1969851" y="2979386"/>
            <a:ext cx="462600" cy="63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39"/>
          <p:cNvCxnSpPr>
            <a:stCxn id="471" idx="0"/>
            <a:endCxn id="469" idx="5"/>
          </p:cNvCxnSpPr>
          <p:nvPr/>
        </p:nvCxnSpPr>
        <p:spPr>
          <a:xfrm rot="10800000">
            <a:off x="3118338" y="2979375"/>
            <a:ext cx="462600" cy="634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4" name="Google Shape;474;p39"/>
          <p:cNvCxnSpPr>
            <a:stCxn id="475" idx="0"/>
            <a:endCxn id="476" idx="3"/>
          </p:cNvCxnSpPr>
          <p:nvPr/>
        </p:nvCxnSpPr>
        <p:spPr>
          <a:xfrm flipH="1" rot="10800000">
            <a:off x="5542838" y="2938863"/>
            <a:ext cx="462600" cy="63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77" name="Google Shape;477;p39"/>
          <p:cNvCxnSpPr>
            <a:stCxn id="470" idx="6"/>
            <a:endCxn id="471" idx="2"/>
          </p:cNvCxnSpPr>
          <p:nvPr/>
        </p:nvCxnSpPr>
        <p:spPr>
          <a:xfrm>
            <a:off x="2454663" y="3890175"/>
            <a:ext cx="641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6" name="Google Shape;476;p39"/>
          <p:cNvSpPr/>
          <p:nvPr/>
        </p:nvSpPr>
        <p:spPr>
          <a:xfrm>
            <a:off x="5863538" y="24666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5057888" y="357306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6669113" y="357306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" name="Google Shape;479;p39"/>
          <p:cNvCxnSpPr>
            <a:stCxn id="478" idx="0"/>
            <a:endCxn id="476" idx="5"/>
          </p:cNvCxnSpPr>
          <p:nvPr/>
        </p:nvCxnSpPr>
        <p:spPr>
          <a:xfrm rot="10800000">
            <a:off x="6691463" y="2938863"/>
            <a:ext cx="462600" cy="634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480" name="Google Shape;480;p39"/>
          <p:cNvCxnSpPr>
            <a:stCxn id="478" idx="2"/>
            <a:endCxn id="475" idx="6"/>
          </p:cNvCxnSpPr>
          <p:nvPr/>
        </p:nvCxnSpPr>
        <p:spPr>
          <a:xfrm rot="10800000">
            <a:off x="6027713" y="3849663"/>
            <a:ext cx="641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481" name="Google Shape;481;p39"/>
          <p:cNvSpPr txBox="1"/>
          <p:nvPr>
            <p:ph idx="1" type="body"/>
          </p:nvPr>
        </p:nvSpPr>
        <p:spPr>
          <a:xfrm>
            <a:off x="1484775" y="4305025"/>
            <a:ext cx="25812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Invalid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2" name="Google Shape;482;p39"/>
          <p:cNvSpPr txBox="1"/>
          <p:nvPr>
            <p:ph idx="1" type="body"/>
          </p:nvPr>
        </p:nvSpPr>
        <p:spPr>
          <a:xfrm>
            <a:off x="5057825" y="4305025"/>
            <a:ext cx="2581200" cy="6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Valid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Provider Hierarchy</a:t>
            </a:r>
            <a:endParaRPr/>
          </a:p>
        </p:txBody>
      </p:sp>
      <p:sp>
        <p:nvSpPr>
          <p:cNvPr id="488" name="Google Shape;488;p4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AS graph forms a hierarchy (all arrows point down).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 flows down: Higher nodes provide service to lower nodes.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Money flows up: Lower nodes pay money to higher nodes.</a:t>
            </a:r>
            <a:endParaRPr/>
          </a:p>
        </p:txBody>
      </p:sp>
      <p:sp>
        <p:nvSpPr>
          <p:cNvPr id="489" name="Google Shape;489;p40"/>
          <p:cNvSpPr/>
          <p:nvPr/>
        </p:nvSpPr>
        <p:spPr>
          <a:xfrm>
            <a:off x="3146663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4984638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40"/>
          <p:cNvSpPr/>
          <p:nvPr/>
        </p:nvSpPr>
        <p:spPr>
          <a:xfrm>
            <a:off x="24760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40"/>
          <p:cNvSpPr/>
          <p:nvPr/>
        </p:nvSpPr>
        <p:spPr>
          <a:xfrm>
            <a:off x="42438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40"/>
          <p:cNvSpPr/>
          <p:nvPr/>
        </p:nvSpPr>
        <p:spPr>
          <a:xfrm>
            <a:off x="5698088" y="337201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40"/>
          <p:cNvSpPr/>
          <p:nvPr/>
        </p:nvSpPr>
        <p:spPr>
          <a:xfrm>
            <a:off x="2476013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3892588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6" name="Google Shape;496;p40"/>
          <p:cNvSpPr/>
          <p:nvPr/>
        </p:nvSpPr>
        <p:spPr>
          <a:xfrm>
            <a:off x="5698088" y="43795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7" name="Google Shape;497;p40"/>
          <p:cNvCxnSpPr>
            <a:stCxn id="489" idx="4"/>
            <a:endCxn id="491" idx="0"/>
          </p:cNvCxnSpPr>
          <p:nvPr/>
        </p:nvCxnSpPr>
        <p:spPr>
          <a:xfrm flipH="1">
            <a:off x="2960813" y="2818450"/>
            <a:ext cx="6708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8" name="Google Shape;498;p40"/>
          <p:cNvCxnSpPr>
            <a:stCxn id="489" idx="4"/>
            <a:endCxn id="492" idx="0"/>
          </p:cNvCxnSpPr>
          <p:nvPr/>
        </p:nvCxnSpPr>
        <p:spPr>
          <a:xfrm>
            <a:off x="3631613" y="2818450"/>
            <a:ext cx="10971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9" name="Google Shape;499;p40"/>
          <p:cNvCxnSpPr>
            <a:stCxn id="489" idx="6"/>
            <a:endCxn id="490" idx="2"/>
          </p:cNvCxnSpPr>
          <p:nvPr/>
        </p:nvCxnSpPr>
        <p:spPr>
          <a:xfrm>
            <a:off x="4116563" y="2541850"/>
            <a:ext cx="86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00" name="Google Shape;500;p40"/>
          <p:cNvCxnSpPr>
            <a:stCxn id="491" idx="4"/>
            <a:endCxn id="494" idx="0"/>
          </p:cNvCxnSpPr>
          <p:nvPr/>
        </p:nvCxnSpPr>
        <p:spPr>
          <a:xfrm>
            <a:off x="2960963" y="3925175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1" name="Google Shape;501;p40"/>
          <p:cNvCxnSpPr>
            <a:stCxn id="491" idx="5"/>
            <a:endCxn id="495" idx="1"/>
          </p:cNvCxnSpPr>
          <p:nvPr/>
        </p:nvCxnSpPr>
        <p:spPr>
          <a:xfrm>
            <a:off x="3303874" y="3844161"/>
            <a:ext cx="730800" cy="61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40"/>
          <p:cNvCxnSpPr>
            <a:stCxn id="492" idx="4"/>
            <a:endCxn id="495" idx="0"/>
          </p:cNvCxnSpPr>
          <p:nvPr/>
        </p:nvCxnSpPr>
        <p:spPr>
          <a:xfrm flipH="1">
            <a:off x="4377463" y="3925175"/>
            <a:ext cx="35130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3" name="Google Shape;503;p40"/>
          <p:cNvCxnSpPr>
            <a:stCxn id="493" idx="4"/>
            <a:endCxn id="496" idx="0"/>
          </p:cNvCxnSpPr>
          <p:nvPr/>
        </p:nvCxnSpPr>
        <p:spPr>
          <a:xfrm>
            <a:off x="6183038" y="3925213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4" name="Google Shape;504;p40"/>
          <p:cNvCxnSpPr>
            <a:stCxn id="492" idx="6"/>
            <a:endCxn id="493" idx="2"/>
          </p:cNvCxnSpPr>
          <p:nvPr/>
        </p:nvCxnSpPr>
        <p:spPr>
          <a:xfrm>
            <a:off x="5213713" y="3648575"/>
            <a:ext cx="484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05" name="Google Shape;505;p40"/>
          <p:cNvCxnSpPr>
            <a:stCxn id="490" idx="4"/>
            <a:endCxn id="493" idx="0"/>
          </p:cNvCxnSpPr>
          <p:nvPr/>
        </p:nvCxnSpPr>
        <p:spPr>
          <a:xfrm>
            <a:off x="5469588" y="2818450"/>
            <a:ext cx="7134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Tier 1 ASes</a:t>
            </a:r>
            <a:endParaRPr/>
          </a:p>
        </p:txBody>
      </p:sp>
      <p:sp>
        <p:nvSpPr>
          <p:cNvPr id="511" name="Google Shape;511;p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Tier 1 ASes</a:t>
            </a:r>
            <a:r>
              <a:rPr lang="en"/>
              <a:t>: ASes at the top of the hierarchy.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Tier 1 AS: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no providers (no incoming edges).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 a peering relationship with every other Tier 1 AS.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This helps ensure the AS graph is connected (no disconnected components).</a:t>
            </a:r>
            <a:endParaRPr/>
          </a:p>
        </p:txBody>
      </p:sp>
      <p:sp>
        <p:nvSpPr>
          <p:cNvPr id="512" name="Google Shape;512;p41"/>
          <p:cNvSpPr/>
          <p:nvPr/>
        </p:nvSpPr>
        <p:spPr>
          <a:xfrm>
            <a:off x="2409488" y="33756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4247463" y="33756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4" name="Google Shape;514;p41"/>
          <p:cNvCxnSpPr>
            <a:stCxn id="512" idx="4"/>
          </p:cNvCxnSpPr>
          <p:nvPr/>
        </p:nvCxnSpPr>
        <p:spPr>
          <a:xfrm flipH="1">
            <a:off x="2088638" y="3928850"/>
            <a:ext cx="805800" cy="803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5" name="Google Shape;515;p41"/>
          <p:cNvCxnSpPr>
            <a:stCxn id="512" idx="4"/>
          </p:cNvCxnSpPr>
          <p:nvPr/>
        </p:nvCxnSpPr>
        <p:spPr>
          <a:xfrm>
            <a:off x="2894438" y="3928850"/>
            <a:ext cx="830100" cy="85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16" name="Google Shape;516;p41"/>
          <p:cNvCxnSpPr>
            <a:stCxn id="512" idx="6"/>
            <a:endCxn id="513" idx="2"/>
          </p:cNvCxnSpPr>
          <p:nvPr/>
        </p:nvCxnSpPr>
        <p:spPr>
          <a:xfrm>
            <a:off x="3379388" y="3652250"/>
            <a:ext cx="86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17" name="Google Shape;517;p41"/>
          <p:cNvCxnSpPr>
            <a:stCxn id="513" idx="4"/>
          </p:cNvCxnSpPr>
          <p:nvPr/>
        </p:nvCxnSpPr>
        <p:spPr>
          <a:xfrm>
            <a:off x="4732413" y="3928850"/>
            <a:ext cx="479400" cy="902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8" name="Google Shape;518;p41"/>
          <p:cNvSpPr/>
          <p:nvPr/>
        </p:nvSpPr>
        <p:spPr>
          <a:xfrm>
            <a:off x="6085438" y="33756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19" name="Google Shape;519;p41"/>
          <p:cNvCxnSpPr>
            <a:stCxn id="513" idx="4"/>
          </p:cNvCxnSpPr>
          <p:nvPr/>
        </p:nvCxnSpPr>
        <p:spPr>
          <a:xfrm flipH="1">
            <a:off x="4270113" y="3928850"/>
            <a:ext cx="462300" cy="85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0" name="Google Shape;520;p41"/>
          <p:cNvCxnSpPr>
            <a:stCxn id="512" idx="4"/>
          </p:cNvCxnSpPr>
          <p:nvPr/>
        </p:nvCxnSpPr>
        <p:spPr>
          <a:xfrm>
            <a:off x="2894438" y="3928850"/>
            <a:ext cx="0" cy="84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1" name="Google Shape;521;p41"/>
          <p:cNvCxnSpPr>
            <a:stCxn id="518" idx="4"/>
          </p:cNvCxnSpPr>
          <p:nvPr/>
        </p:nvCxnSpPr>
        <p:spPr>
          <a:xfrm>
            <a:off x="6570388" y="3928850"/>
            <a:ext cx="479400" cy="902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2" name="Google Shape;522;p41"/>
          <p:cNvCxnSpPr>
            <a:stCxn id="518" idx="4"/>
          </p:cNvCxnSpPr>
          <p:nvPr/>
        </p:nvCxnSpPr>
        <p:spPr>
          <a:xfrm flipH="1">
            <a:off x="6108088" y="3928850"/>
            <a:ext cx="462300" cy="852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23" name="Google Shape;523;p41"/>
          <p:cNvCxnSpPr>
            <a:stCxn id="513" idx="6"/>
            <a:endCxn id="518" idx="2"/>
          </p:cNvCxnSpPr>
          <p:nvPr/>
        </p:nvCxnSpPr>
        <p:spPr>
          <a:xfrm>
            <a:off x="5217363" y="3652250"/>
            <a:ext cx="86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24" name="Google Shape;524;p41"/>
          <p:cNvCxnSpPr>
            <a:stCxn id="512" idx="0"/>
          </p:cNvCxnSpPr>
          <p:nvPr/>
        </p:nvCxnSpPr>
        <p:spPr>
          <a:xfrm rot="10800000">
            <a:off x="2894438" y="2996750"/>
            <a:ext cx="0" cy="37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525" name="Google Shape;525;p41"/>
          <p:cNvCxnSpPr>
            <a:stCxn id="518" idx="0"/>
          </p:cNvCxnSpPr>
          <p:nvPr/>
        </p:nvCxnSpPr>
        <p:spPr>
          <a:xfrm rot="10800000">
            <a:off x="6570388" y="2996750"/>
            <a:ext cx="0" cy="378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526" name="Google Shape;526;p41"/>
          <p:cNvCxnSpPr/>
          <p:nvPr/>
        </p:nvCxnSpPr>
        <p:spPr>
          <a:xfrm>
            <a:off x="2908191" y="3010696"/>
            <a:ext cx="3676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Tier 1 ASes</a:t>
            </a:r>
            <a:endParaRPr/>
          </a:p>
        </p:txBody>
      </p:sp>
      <p:sp>
        <p:nvSpPr>
          <p:cNvPr id="532" name="Google Shape;532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Tier 1 ASes</a:t>
            </a:r>
            <a:r>
              <a:rPr lang="en"/>
              <a:t>: ASes at the top of the hierarchy.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~20 Tier 1 ASes in real life.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USA: AT&amp;T, Verizon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Europe: Telecom Italia, France Telecom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Asia: NTT Communications (Japan)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These companies usually own infrastructure spanning the whole world.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 of AS Graphs</a:t>
            </a:r>
            <a:endParaRPr/>
          </a:p>
        </p:txBody>
      </p:sp>
      <p:sp>
        <p:nvSpPr>
          <p:cNvPr id="538" name="Google Shape;538;p4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 non-Tier 1 AS has at least one provider (incoming edge).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Starting at any AS and walking up the graph will eventually lead to a Tier 1 AS.</a:t>
            </a:r>
            <a:endParaRPr/>
          </a:p>
        </p:txBody>
      </p:sp>
      <p:sp>
        <p:nvSpPr>
          <p:cNvPr id="539" name="Google Shape;539;p43"/>
          <p:cNvSpPr/>
          <p:nvPr/>
        </p:nvSpPr>
        <p:spPr>
          <a:xfrm>
            <a:off x="3146663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43"/>
          <p:cNvSpPr/>
          <p:nvPr/>
        </p:nvSpPr>
        <p:spPr>
          <a:xfrm>
            <a:off x="4984638" y="22652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43"/>
          <p:cNvSpPr/>
          <p:nvPr/>
        </p:nvSpPr>
        <p:spPr>
          <a:xfrm>
            <a:off x="24760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43"/>
          <p:cNvSpPr/>
          <p:nvPr/>
        </p:nvSpPr>
        <p:spPr>
          <a:xfrm>
            <a:off x="4243813" y="33719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43"/>
          <p:cNvSpPr/>
          <p:nvPr/>
        </p:nvSpPr>
        <p:spPr>
          <a:xfrm>
            <a:off x="5698088" y="337201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43"/>
          <p:cNvSpPr/>
          <p:nvPr/>
        </p:nvSpPr>
        <p:spPr>
          <a:xfrm>
            <a:off x="2476013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43"/>
          <p:cNvSpPr/>
          <p:nvPr/>
        </p:nvSpPr>
        <p:spPr>
          <a:xfrm>
            <a:off x="3892588" y="43795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G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43"/>
          <p:cNvSpPr/>
          <p:nvPr/>
        </p:nvSpPr>
        <p:spPr>
          <a:xfrm>
            <a:off x="5698088" y="43795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H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7" name="Google Shape;547;p43"/>
          <p:cNvCxnSpPr>
            <a:stCxn id="539" idx="4"/>
            <a:endCxn id="541" idx="0"/>
          </p:cNvCxnSpPr>
          <p:nvPr/>
        </p:nvCxnSpPr>
        <p:spPr>
          <a:xfrm flipH="1">
            <a:off x="2960813" y="2818450"/>
            <a:ext cx="6708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8" name="Google Shape;548;p43"/>
          <p:cNvCxnSpPr>
            <a:stCxn id="539" idx="4"/>
            <a:endCxn id="542" idx="0"/>
          </p:cNvCxnSpPr>
          <p:nvPr/>
        </p:nvCxnSpPr>
        <p:spPr>
          <a:xfrm>
            <a:off x="3631613" y="2818450"/>
            <a:ext cx="10971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43"/>
          <p:cNvCxnSpPr>
            <a:stCxn id="539" idx="6"/>
            <a:endCxn id="540" idx="2"/>
          </p:cNvCxnSpPr>
          <p:nvPr/>
        </p:nvCxnSpPr>
        <p:spPr>
          <a:xfrm>
            <a:off x="4116563" y="2541850"/>
            <a:ext cx="868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50" name="Google Shape;550;p43"/>
          <p:cNvCxnSpPr>
            <a:stCxn id="541" idx="4"/>
            <a:endCxn id="544" idx="0"/>
          </p:cNvCxnSpPr>
          <p:nvPr/>
        </p:nvCxnSpPr>
        <p:spPr>
          <a:xfrm>
            <a:off x="2960963" y="3925175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43"/>
          <p:cNvCxnSpPr>
            <a:stCxn id="541" idx="5"/>
            <a:endCxn id="545" idx="1"/>
          </p:cNvCxnSpPr>
          <p:nvPr/>
        </p:nvCxnSpPr>
        <p:spPr>
          <a:xfrm>
            <a:off x="3303874" y="3844161"/>
            <a:ext cx="730800" cy="616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43"/>
          <p:cNvCxnSpPr>
            <a:stCxn id="542" idx="4"/>
            <a:endCxn id="545" idx="0"/>
          </p:cNvCxnSpPr>
          <p:nvPr/>
        </p:nvCxnSpPr>
        <p:spPr>
          <a:xfrm flipH="1">
            <a:off x="4377463" y="3925175"/>
            <a:ext cx="35130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3" name="Google Shape;553;p43"/>
          <p:cNvCxnSpPr>
            <a:stCxn id="543" idx="4"/>
            <a:endCxn id="546" idx="0"/>
          </p:cNvCxnSpPr>
          <p:nvPr/>
        </p:nvCxnSpPr>
        <p:spPr>
          <a:xfrm>
            <a:off x="6183038" y="3925213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4" name="Google Shape;554;p43"/>
          <p:cNvCxnSpPr>
            <a:stCxn id="542" idx="6"/>
            <a:endCxn id="543" idx="2"/>
          </p:cNvCxnSpPr>
          <p:nvPr/>
        </p:nvCxnSpPr>
        <p:spPr>
          <a:xfrm>
            <a:off x="5213713" y="3648575"/>
            <a:ext cx="484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555" name="Google Shape;555;p43"/>
          <p:cNvCxnSpPr>
            <a:stCxn id="540" idx="4"/>
            <a:endCxn id="543" idx="0"/>
          </p:cNvCxnSpPr>
          <p:nvPr/>
        </p:nvCxnSpPr>
        <p:spPr>
          <a:xfrm>
            <a:off x="5469588" y="2818450"/>
            <a:ext cx="713400" cy="553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4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Goals of Inter-Domain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Policy-Based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61" name="Google Shape;561;p44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Goals of Inter-Domain Routing:</a:t>
            </a:r>
            <a:br>
              <a:rPr lang="en" sz="2800"/>
            </a:br>
            <a:r>
              <a:rPr lang="en" sz="2800"/>
              <a:t>Policy-Based Routing</a:t>
            </a:r>
            <a:endParaRPr sz="2800"/>
          </a:p>
        </p:txBody>
      </p:sp>
      <p:sp>
        <p:nvSpPr>
          <p:cNvPr id="562" name="Google Shape;562;p44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8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 of Inter-Domain Routing</a:t>
            </a:r>
            <a:endParaRPr/>
          </a:p>
        </p:txBody>
      </p:sp>
      <p:sp>
        <p:nvSpPr>
          <p:cNvPr id="568" name="Google Shape;568;p4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Scalability: Routing must scale to the entire Internet.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Solution: Hierarchical IP addressing.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Privacy: ASes don't want to explicitly announce sensitive information.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shouldn't have to tell everybody who my provider 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Companies might not want to reveal information to rivals.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"Explicitly" - Some minor leakage is inevitable.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Autonomy: ASes want the freedom to choose their own policies.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Policy is usually based on business goals.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</a:t>
            </a:r>
            <a:endParaRPr/>
          </a:p>
        </p:txBody>
      </p:sp>
      <p:sp>
        <p:nvSpPr>
          <p:cNvPr id="574" name="Google Shape;574;p4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Autonomy: ASes want the freedom to choose their own </a:t>
            </a:r>
            <a:r>
              <a:rPr b="1" lang="en"/>
              <a:t>policies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 our routing goals: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 paths: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Intra-domain definition: No loops, no dead ends.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Inter-domain definition: Same.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Good paths: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Intra-domain definition: Least-cost paths.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Inter-domain definitions: Paths that respect every AS's policies.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</a:t>
            </a:r>
            <a:endParaRPr/>
          </a:p>
        </p:txBody>
      </p:sp>
      <p:sp>
        <p:nvSpPr>
          <p:cNvPr id="580" name="Google Shape;580;p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Autonomy: ASes want the freedom to choose their own </a:t>
            </a:r>
            <a:r>
              <a:rPr b="1" lang="en"/>
              <a:t>policies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Examples of policies: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 how I will handle traffic from others: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don't want to carry AS#2046's </a:t>
            </a:r>
            <a:r>
              <a:rPr lang="en"/>
              <a:t>traffic through my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Defines how others should handle my traffic: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prefer if my traffic was carried by AS#10 instead of AS#4.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Don't send my traffic through AS#54 unless absolutely necessary.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creative policies: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prefer AS#12 on weekdays, and AS#13 on weekends.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have to find paths that respect every AS's policies.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Goals of Inter-Domain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Gao-Rexford Rules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BGP (Border Gateway Protocol)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86" name="Google Shape;586;p4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</a:t>
            </a:r>
            <a:endParaRPr/>
          </a:p>
        </p:txBody>
      </p:sp>
      <p:sp>
        <p:nvSpPr>
          <p:cNvPr id="587" name="Google Shape;587;p4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8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</a:t>
            </a:r>
            <a:endParaRPr/>
          </a:p>
        </p:txBody>
      </p:sp>
      <p:sp>
        <p:nvSpPr>
          <p:cNvPr id="593" name="Google Shape;593;p4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theory, ASes can set any weird policy they want.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practice, most ASes follow standard conventions: </a:t>
            </a:r>
            <a:r>
              <a:rPr b="1" lang="en"/>
              <a:t>Gao-Rexford Rules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conventions reflect real-world business practices: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Making money is good.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do work for free.</a:t>
            </a:r>
            <a:endParaRPr/>
          </a:p>
        </p:txBody>
      </p:sp>
      <p:pic>
        <p:nvPicPr>
          <p:cNvPr id="594" name="Google Shape;59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324" y="3026125"/>
            <a:ext cx="1400576" cy="15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4100" y="3037119"/>
            <a:ext cx="1559554" cy="1539661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49"/>
          <p:cNvSpPr txBox="1"/>
          <p:nvPr/>
        </p:nvSpPr>
        <p:spPr>
          <a:xfrm>
            <a:off x="1002600" y="4587775"/>
            <a:ext cx="71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Lixin Gao and Jennifer Rexford surveyed various ASes to come up with these rules.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Rules: Choosing Routes</a:t>
            </a:r>
            <a:endParaRPr/>
          </a:p>
        </p:txBody>
      </p:sp>
      <p:sp>
        <p:nvSpPr>
          <p:cNvPr id="602" name="Google Shape;602;p5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protocol: Prefer the </a:t>
            </a:r>
            <a:r>
              <a:rPr i="1" lang="en"/>
              <a:t>shortest</a:t>
            </a:r>
            <a:r>
              <a:rPr lang="en"/>
              <a:t> path.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rules: Prefer the </a:t>
            </a:r>
            <a:r>
              <a:rPr i="1" lang="en"/>
              <a:t>most </a:t>
            </a:r>
            <a:r>
              <a:rPr i="1" lang="en"/>
              <a:t>profitable</a:t>
            </a:r>
            <a:r>
              <a:rPr lang="en"/>
              <a:t> path.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Best: Path where the next hop is a customer. (They pay me.)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Less good: Path where the next hop is a peer. (I don't make money.)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Worst: Path where the next hop is a provider. (I have to pay.)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Reflects real-world business practice: Making money is good.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Rules: Choosing Routes</a:t>
            </a:r>
            <a:endParaRPr/>
          </a:p>
        </p:txBody>
      </p:sp>
      <p:sp>
        <p:nvSpPr>
          <p:cNvPr id="608" name="Google Shape;608;p5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rules: If I'm offered multiple paths, pick the </a:t>
            </a:r>
            <a:r>
              <a:rPr i="1" lang="en"/>
              <a:t>most profitable</a:t>
            </a:r>
            <a:r>
              <a:rPr lang="en"/>
              <a:t> one.</a:t>
            </a:r>
            <a:endParaRPr/>
          </a:p>
        </p:txBody>
      </p:sp>
      <p:sp>
        <p:nvSpPr>
          <p:cNvPr id="609" name="Google Shape;609;p51"/>
          <p:cNvSpPr/>
          <p:nvPr/>
        </p:nvSpPr>
        <p:spPr>
          <a:xfrm>
            <a:off x="3009863" y="28243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0" name="Google Shape;610;p51"/>
          <p:cNvCxnSpPr>
            <a:stCxn id="609" idx="6"/>
            <a:endCxn id="611" idx="2"/>
          </p:cNvCxnSpPr>
          <p:nvPr/>
        </p:nvCxnSpPr>
        <p:spPr>
          <a:xfrm>
            <a:off x="3979763" y="3100950"/>
            <a:ext cx="125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612" name="Google Shape;612;p51"/>
          <p:cNvCxnSpPr>
            <a:stCxn id="613" idx="2"/>
            <a:endCxn id="609" idx="7"/>
          </p:cNvCxnSpPr>
          <p:nvPr/>
        </p:nvCxnSpPr>
        <p:spPr>
          <a:xfrm flipH="1">
            <a:off x="3837617" y="1741300"/>
            <a:ext cx="1474800" cy="1164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51"/>
          <p:cNvCxnSpPr>
            <a:stCxn id="609" idx="5"/>
            <a:endCxn id="615" idx="2"/>
          </p:cNvCxnSpPr>
          <p:nvPr/>
        </p:nvCxnSpPr>
        <p:spPr>
          <a:xfrm>
            <a:off x="3837724" y="3296536"/>
            <a:ext cx="1474800" cy="1164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51"/>
          <p:cNvSpPr/>
          <p:nvPr/>
        </p:nvSpPr>
        <p:spPr>
          <a:xfrm>
            <a:off x="5312417" y="146470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51"/>
          <p:cNvSpPr/>
          <p:nvPr/>
        </p:nvSpPr>
        <p:spPr>
          <a:xfrm>
            <a:off x="5231575" y="282435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51"/>
          <p:cNvSpPr/>
          <p:nvPr/>
        </p:nvSpPr>
        <p:spPr>
          <a:xfrm>
            <a:off x="5312428" y="418400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51"/>
          <p:cNvSpPr/>
          <p:nvPr/>
        </p:nvSpPr>
        <p:spPr>
          <a:xfrm>
            <a:off x="447925" y="2224250"/>
            <a:ext cx="2292900" cy="886500"/>
          </a:xfrm>
          <a:prstGeom prst="wedgeRoundRectCallout">
            <a:avLst>
              <a:gd fmla="val 61891" name="adj1"/>
              <a:gd fmla="val 36639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prefer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the path via C, because C will pay me to forward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51"/>
          <p:cNvSpPr/>
          <p:nvPr/>
        </p:nvSpPr>
        <p:spPr>
          <a:xfrm>
            <a:off x="7976588" y="28243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8" name="Google Shape;618;p51"/>
          <p:cNvCxnSpPr>
            <a:stCxn id="617" idx="0"/>
            <a:endCxn id="613" idx="6"/>
          </p:cNvCxnSpPr>
          <p:nvPr/>
        </p:nvCxnSpPr>
        <p:spPr>
          <a:xfrm rot="10800000">
            <a:off x="7138538" y="1741350"/>
            <a:ext cx="1323000" cy="108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51"/>
          <p:cNvCxnSpPr>
            <a:stCxn id="617" idx="2"/>
            <a:endCxn id="611" idx="6"/>
          </p:cNvCxnSpPr>
          <p:nvPr/>
        </p:nvCxnSpPr>
        <p:spPr>
          <a:xfrm rot="10800000">
            <a:off x="7057688" y="3100950"/>
            <a:ext cx="918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51"/>
          <p:cNvCxnSpPr>
            <a:stCxn id="617" idx="4"/>
            <a:endCxn id="615" idx="6"/>
          </p:cNvCxnSpPr>
          <p:nvPr/>
        </p:nvCxnSpPr>
        <p:spPr>
          <a:xfrm flipH="1">
            <a:off x="7138538" y="3377550"/>
            <a:ext cx="1323000" cy="108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Rules: Choosing Routes</a:t>
            </a:r>
            <a:endParaRPr/>
          </a:p>
        </p:txBody>
      </p:sp>
      <p:sp>
        <p:nvSpPr>
          <p:cNvPr id="626" name="Google Shape;626;p5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rules: If I'm offered multiple paths, pick the </a:t>
            </a:r>
            <a:r>
              <a:rPr i="1" lang="en"/>
              <a:t>most profitable</a:t>
            </a:r>
            <a:r>
              <a:rPr lang="en"/>
              <a:t> one.</a:t>
            </a:r>
            <a:endParaRPr/>
          </a:p>
        </p:txBody>
      </p:sp>
      <p:sp>
        <p:nvSpPr>
          <p:cNvPr id="627" name="Google Shape;627;p52"/>
          <p:cNvSpPr/>
          <p:nvPr/>
        </p:nvSpPr>
        <p:spPr>
          <a:xfrm>
            <a:off x="3009863" y="28243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8" name="Google Shape;628;p52"/>
          <p:cNvCxnSpPr>
            <a:stCxn id="627" idx="6"/>
            <a:endCxn id="629" idx="2"/>
          </p:cNvCxnSpPr>
          <p:nvPr/>
        </p:nvCxnSpPr>
        <p:spPr>
          <a:xfrm>
            <a:off x="3979763" y="3100950"/>
            <a:ext cx="1251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630" name="Google Shape;630;p52"/>
          <p:cNvCxnSpPr>
            <a:stCxn id="631" idx="2"/>
            <a:endCxn id="627" idx="7"/>
          </p:cNvCxnSpPr>
          <p:nvPr/>
        </p:nvCxnSpPr>
        <p:spPr>
          <a:xfrm flipH="1">
            <a:off x="3837617" y="1741300"/>
            <a:ext cx="1474800" cy="1164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1" name="Google Shape;631;p52"/>
          <p:cNvSpPr/>
          <p:nvPr/>
        </p:nvSpPr>
        <p:spPr>
          <a:xfrm>
            <a:off x="5312417" y="146470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9" name="Google Shape;629;p52"/>
          <p:cNvSpPr/>
          <p:nvPr/>
        </p:nvSpPr>
        <p:spPr>
          <a:xfrm>
            <a:off x="5231575" y="282435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5312428" y="418400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447925" y="2224250"/>
            <a:ext cx="2292900" cy="886500"/>
          </a:xfrm>
          <a:prstGeom prst="wedgeRoundRectCallout">
            <a:avLst>
              <a:gd fmla="val 61891" name="adj1"/>
              <a:gd fmla="val 36639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prefer the path via B. I don't make money, but at least I don't have to pay.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52"/>
          <p:cNvSpPr/>
          <p:nvPr/>
        </p:nvSpPr>
        <p:spPr>
          <a:xfrm>
            <a:off x="7976588" y="28243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35" name="Google Shape;635;p52"/>
          <p:cNvCxnSpPr>
            <a:stCxn id="634" idx="0"/>
            <a:endCxn id="631" idx="6"/>
          </p:cNvCxnSpPr>
          <p:nvPr/>
        </p:nvCxnSpPr>
        <p:spPr>
          <a:xfrm rot="10800000">
            <a:off x="7138538" y="1741350"/>
            <a:ext cx="1323000" cy="108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6" name="Google Shape;636;p52"/>
          <p:cNvCxnSpPr>
            <a:stCxn id="634" idx="2"/>
            <a:endCxn id="629" idx="6"/>
          </p:cNvCxnSpPr>
          <p:nvPr/>
        </p:nvCxnSpPr>
        <p:spPr>
          <a:xfrm rot="10800000">
            <a:off x="7057688" y="3100950"/>
            <a:ext cx="918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52"/>
          <p:cNvCxnSpPr>
            <a:stCxn id="634" idx="4"/>
            <a:endCxn id="632" idx="6"/>
          </p:cNvCxnSpPr>
          <p:nvPr/>
        </p:nvCxnSpPr>
        <p:spPr>
          <a:xfrm flipH="1">
            <a:off x="7138538" y="3377550"/>
            <a:ext cx="1323000" cy="1083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Gao-Rexford Rules: Participating in Routes</a:t>
            </a:r>
            <a:endParaRPr/>
          </a:p>
        </p:txBody>
      </p:sp>
      <p:sp>
        <p:nvSpPr>
          <p:cNvPr id="643" name="Google Shape;643;p5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protocol: I am okay with participating in any route.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"Participating": Being one of the routers forwarding packets along a path.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rules: I will only participate in routes where I get paid.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Reflects real-world business relationship: Don't do work for free.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to check if I get paid: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at my two neighbors along the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get paid if and only if one of my neighbors is a customer.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649" name="Google Shape;649;p54"/>
          <p:cNvSpPr txBox="1"/>
          <p:nvPr>
            <p:ph idx="1" type="body"/>
          </p:nvPr>
        </p:nvSpPr>
        <p:spPr>
          <a:xfrm>
            <a:off x="107050" y="402200"/>
            <a:ext cx="89097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</p:txBody>
      </p:sp>
      <p:sp>
        <p:nvSpPr>
          <p:cNvPr id="650" name="Google Shape;650;p54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1" name="Google Shape;651;p54"/>
          <p:cNvCxnSpPr>
            <a:stCxn id="650" idx="5"/>
            <a:endCxn id="652" idx="2"/>
          </p:cNvCxnSpPr>
          <p:nvPr/>
        </p:nvCxnSpPr>
        <p:spPr>
          <a:xfrm>
            <a:off x="4381499" y="3678459"/>
            <a:ext cx="1019700" cy="56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3" name="Google Shape;653;p54"/>
          <p:cNvCxnSpPr>
            <a:stCxn id="654" idx="6"/>
            <a:endCxn id="650" idx="3"/>
          </p:cNvCxnSpPr>
          <p:nvPr/>
        </p:nvCxnSpPr>
        <p:spPr>
          <a:xfrm flipH="1" rot="10800000">
            <a:off x="2675975" y="3678473"/>
            <a:ext cx="1019700" cy="566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52" name="Google Shape;652;p54"/>
          <p:cNvSpPr/>
          <p:nvPr/>
        </p:nvSpPr>
        <p:spPr>
          <a:xfrm>
            <a:off x="5401225" y="3968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54"/>
          <p:cNvSpPr/>
          <p:nvPr/>
        </p:nvSpPr>
        <p:spPr>
          <a:xfrm>
            <a:off x="849875" y="3968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54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54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54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fmla="val -35223" name="adj1"/>
              <a:gd fmla="val 68878" name="adj2"/>
              <a:gd fmla="val 0" name="adj3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 and C are both paying me. I'm gonna be rich!!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8" name="Google Shape;658;p54"/>
          <p:cNvCxnSpPr/>
          <p:nvPr/>
        </p:nvCxnSpPr>
        <p:spPr>
          <a:xfrm>
            <a:off x="368150" y="4244875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54"/>
          <p:cNvCxnSpPr>
            <a:stCxn id="652" idx="6"/>
          </p:cNvCxnSpPr>
          <p:nvPr/>
        </p:nvCxnSpPr>
        <p:spPr>
          <a:xfrm>
            <a:off x="7227325" y="4244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0" name="Google Shape;660;p54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6AA84F"/>
                </a:solidFill>
              </a:rPr>
              <a:t>✓</a:t>
            </a:r>
            <a:endParaRPr sz="4000">
              <a:solidFill>
                <a:srgbClr val="6AA84F"/>
              </a:solidFill>
            </a:endParaRPr>
          </a:p>
        </p:txBody>
      </p:sp>
      <p:sp>
        <p:nvSpPr>
          <p:cNvPr id="661" name="Google Shape;661;p54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 agrees to participate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667" name="Google Shape;667;p55"/>
          <p:cNvSpPr txBox="1"/>
          <p:nvPr>
            <p:ph idx="1" type="body"/>
          </p:nvPr>
        </p:nvSpPr>
        <p:spPr>
          <a:xfrm>
            <a:off x="107050" y="402200"/>
            <a:ext cx="8909700" cy="5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9" name="Google Shape;669;p55"/>
          <p:cNvCxnSpPr>
            <a:stCxn id="668" idx="5"/>
            <a:endCxn id="670" idx="2"/>
          </p:cNvCxnSpPr>
          <p:nvPr/>
        </p:nvCxnSpPr>
        <p:spPr>
          <a:xfrm>
            <a:off x="4381499" y="3678459"/>
            <a:ext cx="1019700" cy="56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1" name="Google Shape;671;p55"/>
          <p:cNvCxnSpPr>
            <a:stCxn id="672" idx="6"/>
            <a:endCxn id="668" idx="2"/>
          </p:cNvCxnSpPr>
          <p:nvPr/>
        </p:nvCxnSpPr>
        <p:spPr>
          <a:xfrm>
            <a:off x="2675975" y="3482873"/>
            <a:ext cx="877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670" name="Google Shape;670;p55"/>
          <p:cNvSpPr/>
          <p:nvPr/>
        </p:nvSpPr>
        <p:spPr>
          <a:xfrm>
            <a:off x="5401225" y="3968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55"/>
          <p:cNvSpPr/>
          <p:nvPr/>
        </p:nvSpPr>
        <p:spPr>
          <a:xfrm>
            <a:off x="849875" y="3206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3" name="Google Shape;673;p55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55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55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fmla="val -35223" name="adj1"/>
              <a:gd fmla="val 68878" name="adj2"/>
              <a:gd fmla="val 0" name="adj3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A is not paying me, but at least C is 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paying</a:t>
            </a: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me.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6" name="Google Shape;676;p55"/>
          <p:cNvCxnSpPr>
            <a:endCxn id="672" idx="2"/>
          </p:cNvCxnSpPr>
          <p:nvPr/>
        </p:nvCxnSpPr>
        <p:spPr>
          <a:xfrm>
            <a:off x="368075" y="3482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55"/>
          <p:cNvCxnSpPr>
            <a:stCxn id="670" idx="6"/>
          </p:cNvCxnSpPr>
          <p:nvPr/>
        </p:nvCxnSpPr>
        <p:spPr>
          <a:xfrm>
            <a:off x="7227325" y="4244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78" name="Google Shape;678;p55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6AA84F"/>
                </a:solidFill>
              </a:rPr>
              <a:t>✓</a:t>
            </a:r>
            <a:endParaRPr sz="4000">
              <a:solidFill>
                <a:srgbClr val="6AA84F"/>
              </a:solidFill>
            </a:endParaRPr>
          </a:p>
        </p:txBody>
      </p:sp>
      <p:sp>
        <p:nvSpPr>
          <p:cNvPr id="679" name="Google Shape;679;p55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 agrees to participate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685" name="Google Shape;685;p56"/>
          <p:cNvSpPr txBox="1"/>
          <p:nvPr>
            <p:ph idx="1" type="body"/>
          </p:nvPr>
        </p:nvSpPr>
        <p:spPr>
          <a:xfrm>
            <a:off x="107050" y="402200"/>
            <a:ext cx="8909700" cy="24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this scenario</a:t>
            </a:r>
            <a:r>
              <a:rPr lang="en"/>
              <a:t>: I get paid by C, but I have to pay 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should still participate because this is how I offer service to my customers.</a:t>
            </a:r>
            <a:endParaRPr/>
          </a:p>
        </p:txBody>
      </p:sp>
      <p:sp>
        <p:nvSpPr>
          <p:cNvPr id="686" name="Google Shape;686;p56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7" name="Google Shape;687;p56"/>
          <p:cNvCxnSpPr>
            <a:stCxn id="686" idx="5"/>
            <a:endCxn id="688" idx="2"/>
          </p:cNvCxnSpPr>
          <p:nvPr/>
        </p:nvCxnSpPr>
        <p:spPr>
          <a:xfrm>
            <a:off x="4381499" y="3678459"/>
            <a:ext cx="1019700" cy="56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9" name="Google Shape;689;p56"/>
          <p:cNvCxnSpPr>
            <a:stCxn id="690" idx="6"/>
            <a:endCxn id="686" idx="1"/>
          </p:cNvCxnSpPr>
          <p:nvPr/>
        </p:nvCxnSpPr>
        <p:spPr>
          <a:xfrm>
            <a:off x="2675975" y="2720873"/>
            <a:ext cx="1019700" cy="566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8" name="Google Shape;688;p56"/>
          <p:cNvSpPr/>
          <p:nvPr/>
        </p:nvSpPr>
        <p:spPr>
          <a:xfrm>
            <a:off x="5401225" y="3968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56"/>
          <p:cNvSpPr/>
          <p:nvPr/>
        </p:nvSpPr>
        <p:spPr>
          <a:xfrm>
            <a:off x="849875" y="2444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1" name="Google Shape;691;p56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2" name="Google Shape;692;p56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56"/>
          <p:cNvSpPr/>
          <p:nvPr/>
        </p:nvSpPr>
        <p:spPr>
          <a:xfrm>
            <a:off x="3804925" y="2367450"/>
            <a:ext cx="3110400" cy="659400"/>
          </a:xfrm>
          <a:prstGeom prst="wedgeRoundRectCallout">
            <a:avLst>
              <a:gd fmla="val -35223" name="adj1"/>
              <a:gd fmla="val 68878" name="adj2"/>
              <a:gd fmla="val 0" name="adj3"/>
            </a:avLst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I'm getting paid by C. I might have to send some of it to A but that's okay.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4" name="Google Shape;694;p56"/>
          <p:cNvCxnSpPr>
            <a:endCxn id="690" idx="2"/>
          </p:cNvCxnSpPr>
          <p:nvPr/>
        </p:nvCxnSpPr>
        <p:spPr>
          <a:xfrm>
            <a:off x="368075" y="2720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5" name="Google Shape;695;p56"/>
          <p:cNvCxnSpPr>
            <a:stCxn id="688" idx="6"/>
          </p:cNvCxnSpPr>
          <p:nvPr/>
        </p:nvCxnSpPr>
        <p:spPr>
          <a:xfrm>
            <a:off x="7227325" y="4244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6" name="Google Shape;696;p56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6AA84F"/>
                </a:solidFill>
              </a:rPr>
              <a:t>✓</a:t>
            </a:r>
            <a:endParaRPr sz="4000">
              <a:solidFill>
                <a:srgbClr val="6AA84F"/>
              </a:solidFill>
            </a:endParaRPr>
          </a:p>
        </p:txBody>
      </p:sp>
      <p:sp>
        <p:nvSpPr>
          <p:cNvPr id="697" name="Google Shape;697;p56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 agrees to participate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703" name="Google Shape;703;p57"/>
          <p:cNvSpPr txBox="1"/>
          <p:nvPr>
            <p:ph idx="1" type="body"/>
          </p:nvPr>
        </p:nvSpPr>
        <p:spPr>
          <a:xfrm>
            <a:off x="107050" y="402200"/>
            <a:ext cx="89097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Peers do not provide transit between other peers.</a:t>
            </a:r>
            <a:endParaRPr/>
          </a:p>
        </p:txBody>
      </p:sp>
      <p:sp>
        <p:nvSpPr>
          <p:cNvPr id="704" name="Google Shape;704;p57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05" name="Google Shape;705;p57"/>
          <p:cNvCxnSpPr>
            <a:stCxn id="704" idx="6"/>
            <a:endCxn id="706" idx="2"/>
          </p:cNvCxnSpPr>
          <p:nvPr/>
        </p:nvCxnSpPr>
        <p:spPr>
          <a:xfrm>
            <a:off x="4523538" y="3482873"/>
            <a:ext cx="877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707" name="Google Shape;707;p57"/>
          <p:cNvCxnSpPr>
            <a:stCxn id="708" idx="6"/>
            <a:endCxn id="704" idx="2"/>
          </p:cNvCxnSpPr>
          <p:nvPr/>
        </p:nvCxnSpPr>
        <p:spPr>
          <a:xfrm>
            <a:off x="2675975" y="3482873"/>
            <a:ext cx="877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706" name="Google Shape;706;p57"/>
          <p:cNvSpPr/>
          <p:nvPr/>
        </p:nvSpPr>
        <p:spPr>
          <a:xfrm>
            <a:off x="5401225" y="3206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57"/>
          <p:cNvSpPr/>
          <p:nvPr/>
        </p:nvSpPr>
        <p:spPr>
          <a:xfrm>
            <a:off x="849875" y="3206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57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fmla="val -35223" name="adj1"/>
              <a:gd fmla="val 68878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Nobody is paying me to do this. I won't participate.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0" name="Google Shape;710;p57"/>
          <p:cNvCxnSpPr/>
          <p:nvPr/>
        </p:nvCxnSpPr>
        <p:spPr>
          <a:xfrm>
            <a:off x="368150" y="3482875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11" name="Google Shape;711;p57"/>
          <p:cNvCxnSpPr>
            <a:stCxn id="706" idx="6"/>
          </p:cNvCxnSpPr>
          <p:nvPr/>
        </p:nvCxnSpPr>
        <p:spPr>
          <a:xfrm>
            <a:off x="7227325" y="3482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2" name="Google Shape;712;p57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solidFill>
                  <a:schemeClr val="accent2"/>
                </a:solidFill>
              </a:rPr>
              <a:t>✗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713" name="Google Shape;713;p57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refuses to participate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4" name="Google Shape;714;p57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5" name="Google Shape;715;p57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721" name="Google Shape;721;p58"/>
          <p:cNvSpPr txBox="1"/>
          <p:nvPr>
            <p:ph idx="1" type="body"/>
          </p:nvPr>
        </p:nvSpPr>
        <p:spPr>
          <a:xfrm>
            <a:off x="107050" y="402200"/>
            <a:ext cx="8909700" cy="14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one of my neighbors is a peer, the other neighbor must be a customer.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AS only carries traffic to/from its own customers over a peering link.</a:t>
            </a:r>
            <a:endParaRPr/>
          </a:p>
        </p:txBody>
      </p:sp>
      <p:sp>
        <p:nvSpPr>
          <p:cNvPr id="722" name="Google Shape;722;p58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3" name="Google Shape;723;p58"/>
          <p:cNvCxnSpPr>
            <a:stCxn id="722" idx="6"/>
            <a:endCxn id="724" idx="2"/>
          </p:cNvCxnSpPr>
          <p:nvPr/>
        </p:nvCxnSpPr>
        <p:spPr>
          <a:xfrm>
            <a:off x="4523538" y="3482873"/>
            <a:ext cx="877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725" name="Google Shape;725;p58"/>
          <p:cNvCxnSpPr>
            <a:stCxn id="726" idx="6"/>
            <a:endCxn id="722" idx="1"/>
          </p:cNvCxnSpPr>
          <p:nvPr/>
        </p:nvCxnSpPr>
        <p:spPr>
          <a:xfrm>
            <a:off x="2675975" y="2720873"/>
            <a:ext cx="1019700" cy="566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4" name="Google Shape;724;p58"/>
          <p:cNvSpPr/>
          <p:nvPr/>
        </p:nvSpPr>
        <p:spPr>
          <a:xfrm>
            <a:off x="5401225" y="3206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p58"/>
          <p:cNvSpPr/>
          <p:nvPr/>
        </p:nvSpPr>
        <p:spPr>
          <a:xfrm>
            <a:off x="849875" y="2444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7" name="Google Shape;727;p58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8" name="Google Shape;728;p58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58"/>
          <p:cNvSpPr/>
          <p:nvPr/>
        </p:nvSpPr>
        <p:spPr>
          <a:xfrm>
            <a:off x="3804925" y="2367443"/>
            <a:ext cx="2354400" cy="659400"/>
          </a:xfrm>
          <a:prstGeom prst="wedgeRoundRectCallout">
            <a:avLst>
              <a:gd fmla="val -35223" name="adj1"/>
              <a:gd fmla="val 68878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have to pay A, and I am not paid by C. No thanks.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58"/>
          <p:cNvCxnSpPr>
            <a:endCxn id="726" idx="2"/>
          </p:cNvCxnSpPr>
          <p:nvPr/>
        </p:nvCxnSpPr>
        <p:spPr>
          <a:xfrm>
            <a:off x="368075" y="2720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58"/>
          <p:cNvCxnSpPr>
            <a:stCxn id="724" idx="6"/>
          </p:cNvCxnSpPr>
          <p:nvPr/>
        </p:nvCxnSpPr>
        <p:spPr>
          <a:xfrm>
            <a:off x="7227325" y="3482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32" name="Google Shape;732;p58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2"/>
                </a:solidFill>
              </a:rPr>
              <a:t>✗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733" name="Google Shape;733;p58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refuses to participate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Gao-Rexford Rules: Participating in Routes</a:t>
            </a:r>
            <a:endParaRPr/>
          </a:p>
        </p:txBody>
      </p:sp>
      <p:sp>
        <p:nvSpPr>
          <p:cNvPr id="739" name="Google Shape;739;p59"/>
          <p:cNvSpPr txBox="1"/>
          <p:nvPr>
            <p:ph idx="1" type="body"/>
          </p:nvPr>
        </p:nvSpPr>
        <p:spPr>
          <a:xfrm>
            <a:off x="107050" y="402200"/>
            <a:ext cx="8909700" cy="14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 get paid and participate if and only if at least one of my neighbors is a customer.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Routes are </a:t>
            </a:r>
            <a:r>
              <a:rPr b="1" lang="en"/>
              <a:t>valley-free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Travelling downhill, and turning around and going back uphill is not allowed.</a:t>
            </a:r>
            <a:endParaRPr/>
          </a:p>
        </p:txBody>
      </p:sp>
      <p:sp>
        <p:nvSpPr>
          <p:cNvPr id="740" name="Google Shape;740;p59"/>
          <p:cNvSpPr/>
          <p:nvPr/>
        </p:nvSpPr>
        <p:spPr>
          <a:xfrm>
            <a:off x="3553638" y="320627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1" name="Google Shape;741;p59"/>
          <p:cNvCxnSpPr>
            <a:stCxn id="740" idx="6"/>
            <a:endCxn id="742" idx="2"/>
          </p:cNvCxnSpPr>
          <p:nvPr/>
        </p:nvCxnSpPr>
        <p:spPr>
          <a:xfrm flipH="1" rot="10800000">
            <a:off x="4523538" y="2720873"/>
            <a:ext cx="87780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43" name="Google Shape;743;p59"/>
          <p:cNvCxnSpPr>
            <a:stCxn id="744" idx="6"/>
            <a:endCxn id="740" idx="2"/>
          </p:cNvCxnSpPr>
          <p:nvPr/>
        </p:nvCxnSpPr>
        <p:spPr>
          <a:xfrm>
            <a:off x="2675975" y="2720873"/>
            <a:ext cx="877800" cy="7620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2" name="Google Shape;742;p59"/>
          <p:cNvSpPr/>
          <p:nvPr/>
        </p:nvSpPr>
        <p:spPr>
          <a:xfrm>
            <a:off x="5401225" y="2444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59"/>
          <p:cNvSpPr/>
          <p:nvPr/>
        </p:nvSpPr>
        <p:spPr>
          <a:xfrm>
            <a:off x="849875" y="2444273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5" name="Google Shape;745;p59"/>
          <p:cNvCxnSpPr/>
          <p:nvPr/>
        </p:nvCxnSpPr>
        <p:spPr>
          <a:xfrm>
            <a:off x="1040625" y="4662625"/>
            <a:ext cx="6221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6" name="Google Shape;746;p59"/>
          <p:cNvSpPr txBox="1"/>
          <p:nvPr/>
        </p:nvSpPr>
        <p:spPr>
          <a:xfrm>
            <a:off x="1040625" y="4681275"/>
            <a:ext cx="62217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7" name="Google Shape;747;p59"/>
          <p:cNvSpPr/>
          <p:nvPr/>
        </p:nvSpPr>
        <p:spPr>
          <a:xfrm>
            <a:off x="716700" y="3573575"/>
            <a:ext cx="2583300" cy="659400"/>
          </a:xfrm>
          <a:prstGeom prst="wedgeRoundRectCallout">
            <a:avLst>
              <a:gd fmla="val 61178" name="adj1"/>
              <a:gd fmla="val -37822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have to pay both A and C. Only a fool would participate.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8" name="Google Shape;748;p59"/>
          <p:cNvCxnSpPr>
            <a:endCxn id="744" idx="2"/>
          </p:cNvCxnSpPr>
          <p:nvPr/>
        </p:nvCxnSpPr>
        <p:spPr>
          <a:xfrm>
            <a:off x="368075" y="2720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59"/>
          <p:cNvCxnSpPr>
            <a:stCxn id="742" idx="6"/>
          </p:cNvCxnSpPr>
          <p:nvPr/>
        </p:nvCxnSpPr>
        <p:spPr>
          <a:xfrm>
            <a:off x="7227325" y="2720873"/>
            <a:ext cx="481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50" name="Google Shape;750;p59"/>
          <p:cNvSpPr txBox="1"/>
          <p:nvPr/>
        </p:nvSpPr>
        <p:spPr>
          <a:xfrm>
            <a:off x="7922625" y="2795400"/>
            <a:ext cx="969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2"/>
                </a:solidFill>
              </a:rPr>
              <a:t>✗</a:t>
            </a:r>
            <a:endParaRPr sz="4000">
              <a:solidFill>
                <a:schemeClr val="accent2"/>
              </a:solidFill>
            </a:endParaRPr>
          </a:p>
        </p:txBody>
      </p:sp>
      <p:sp>
        <p:nvSpPr>
          <p:cNvPr id="751" name="Google Shape;751;p59"/>
          <p:cNvSpPr txBox="1"/>
          <p:nvPr/>
        </p:nvSpPr>
        <p:spPr>
          <a:xfrm>
            <a:off x="7922625" y="3324175"/>
            <a:ext cx="9699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 refuses to participate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757" name="Google Shape;757;p60"/>
          <p:cNvSpPr txBox="1"/>
          <p:nvPr>
            <p:ph idx="1" type="body"/>
          </p:nvPr>
        </p:nvSpPr>
        <p:spPr>
          <a:xfrm>
            <a:off x="107050" y="402200"/>
            <a:ext cx="89097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 and E want to exchange traffic along this path.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(A, B, C) agree to participate?</a:t>
            </a:r>
            <a:endParaRPr/>
          </a:p>
        </p:txBody>
      </p:sp>
      <p:sp>
        <p:nvSpPr>
          <p:cNvPr id="758" name="Google Shape;758;p60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60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0" name="Google Shape;760;p60"/>
          <p:cNvCxnSpPr>
            <a:stCxn id="758" idx="3"/>
            <a:endCxn id="759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1" name="Google Shape;761;p60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2" name="Google Shape;762;p60"/>
          <p:cNvCxnSpPr>
            <a:stCxn id="758" idx="5"/>
            <a:endCxn id="761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3" name="Google Shape;763;p60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60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5" name="Google Shape;765;p60"/>
          <p:cNvCxnSpPr>
            <a:stCxn id="759" idx="4"/>
            <a:endCxn id="763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60"/>
          <p:cNvCxnSpPr>
            <a:stCxn id="761" idx="4"/>
            <a:endCxn id="764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7" name="Google Shape;767;p60"/>
          <p:cNvSpPr/>
          <p:nvPr/>
        </p:nvSpPr>
        <p:spPr>
          <a:xfrm>
            <a:off x="3790007" y="2742617"/>
            <a:ext cx="1143925" cy="1745250"/>
          </a:xfrm>
          <a:custGeom>
            <a:rect b="b" l="l" r="r" t="t"/>
            <a:pathLst>
              <a:path extrusionOk="0" h="69810" w="45757">
                <a:moveTo>
                  <a:pt x="800" y="69810"/>
                </a:moveTo>
                <a:cubicBezTo>
                  <a:pt x="927" y="63206"/>
                  <a:pt x="-1422" y="41807"/>
                  <a:pt x="1562" y="30186"/>
                </a:cubicBezTo>
                <a:cubicBezTo>
                  <a:pt x="4547" y="18566"/>
                  <a:pt x="12103" y="-611"/>
                  <a:pt x="18707" y="87"/>
                </a:cubicBezTo>
                <a:cubicBezTo>
                  <a:pt x="25311" y="786"/>
                  <a:pt x="36678" y="22884"/>
                  <a:pt x="41186" y="34377"/>
                </a:cubicBezTo>
                <a:cubicBezTo>
                  <a:pt x="45695" y="45871"/>
                  <a:pt x="44996" y="63270"/>
                  <a:pt x="45758" y="69048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773" name="Google Shape;773;p61"/>
          <p:cNvSpPr txBox="1"/>
          <p:nvPr>
            <p:ph idx="1" type="body"/>
          </p:nvPr>
        </p:nvSpPr>
        <p:spPr>
          <a:xfrm>
            <a:off x="107050" y="402200"/>
            <a:ext cx="8909700" cy="1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 and E want to exchange traffic along this path.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(A, B, C) agree to participate?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Yes, each transit AS has an adjacent customer.</a:t>
            </a:r>
            <a:endParaRPr/>
          </a:p>
        </p:txBody>
      </p:sp>
      <p:sp>
        <p:nvSpPr>
          <p:cNvPr id="774" name="Google Shape;774;p61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1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6" name="Google Shape;776;p61"/>
          <p:cNvCxnSpPr>
            <a:stCxn id="774" idx="3"/>
            <a:endCxn id="775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7" name="Google Shape;777;p61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78" name="Google Shape;778;p61"/>
          <p:cNvCxnSpPr>
            <a:stCxn id="774" idx="5"/>
            <a:endCxn id="777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61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0" name="Google Shape;780;p61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81" name="Google Shape;781;p61"/>
          <p:cNvCxnSpPr>
            <a:stCxn id="775" idx="4"/>
            <a:endCxn id="779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2" name="Google Shape;782;p61"/>
          <p:cNvCxnSpPr>
            <a:stCxn id="777" idx="4"/>
            <a:endCxn id="780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3" name="Google Shape;783;p61"/>
          <p:cNvSpPr/>
          <p:nvPr/>
        </p:nvSpPr>
        <p:spPr>
          <a:xfrm>
            <a:off x="3790007" y="2742617"/>
            <a:ext cx="1143925" cy="1745250"/>
          </a:xfrm>
          <a:custGeom>
            <a:rect b="b" l="l" r="r" t="t"/>
            <a:pathLst>
              <a:path extrusionOk="0" h="69810" w="45757">
                <a:moveTo>
                  <a:pt x="800" y="69810"/>
                </a:moveTo>
                <a:cubicBezTo>
                  <a:pt x="927" y="63206"/>
                  <a:pt x="-1422" y="41807"/>
                  <a:pt x="1562" y="30186"/>
                </a:cubicBezTo>
                <a:cubicBezTo>
                  <a:pt x="4547" y="18566"/>
                  <a:pt x="12103" y="-611"/>
                  <a:pt x="18707" y="87"/>
                </a:cubicBezTo>
                <a:cubicBezTo>
                  <a:pt x="25311" y="786"/>
                  <a:pt x="36678" y="22884"/>
                  <a:pt x="41186" y="34377"/>
                </a:cubicBezTo>
                <a:cubicBezTo>
                  <a:pt x="45695" y="45871"/>
                  <a:pt x="44996" y="63270"/>
                  <a:pt x="45758" y="69048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784" name="Google Shape;784;p61"/>
          <p:cNvSpPr/>
          <p:nvPr/>
        </p:nvSpPr>
        <p:spPr>
          <a:xfrm>
            <a:off x="1533525" y="2933700"/>
            <a:ext cx="1419300" cy="393600"/>
          </a:xfrm>
          <a:prstGeom prst="wedgeRoundRectCallout">
            <a:avLst>
              <a:gd fmla="val 57861" name="adj1"/>
              <a:gd fmla="val 34899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5" name="Google Shape;785;p61"/>
          <p:cNvSpPr/>
          <p:nvPr/>
        </p:nvSpPr>
        <p:spPr>
          <a:xfrm>
            <a:off x="1752600" y="2085250"/>
            <a:ext cx="1895400" cy="393600"/>
          </a:xfrm>
          <a:prstGeom prst="wedgeRoundRectCallout">
            <a:avLst>
              <a:gd fmla="val 57861" name="adj1"/>
              <a:gd fmla="val 34899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B and 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6" name="Google Shape;786;p61"/>
          <p:cNvSpPr/>
          <p:nvPr/>
        </p:nvSpPr>
        <p:spPr>
          <a:xfrm>
            <a:off x="5829300" y="3104425"/>
            <a:ext cx="1419300" cy="393600"/>
          </a:xfrm>
          <a:prstGeom prst="wedgeRoundRectCallout">
            <a:avLst>
              <a:gd fmla="val -59485" name="adj1"/>
              <a:gd fmla="val 35004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792" name="Google Shape;792;p62"/>
          <p:cNvSpPr txBox="1"/>
          <p:nvPr>
            <p:ph idx="1" type="body"/>
          </p:nvPr>
        </p:nvSpPr>
        <p:spPr>
          <a:xfrm>
            <a:off x="107050" y="402200"/>
            <a:ext cx="8909700" cy="12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add a new link (B and C establish a peering relationship).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(B, C) agree to participate in this new route?</a:t>
            </a:r>
            <a:endParaRPr/>
          </a:p>
        </p:txBody>
      </p:sp>
      <p:sp>
        <p:nvSpPr>
          <p:cNvPr id="793" name="Google Shape;793;p62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62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5" name="Google Shape;795;p62"/>
          <p:cNvCxnSpPr>
            <a:stCxn id="793" idx="3"/>
            <a:endCxn id="794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62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7" name="Google Shape;797;p62"/>
          <p:cNvCxnSpPr>
            <a:stCxn id="793" idx="5"/>
            <a:endCxn id="796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p62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9" name="Google Shape;799;p62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0" name="Google Shape;800;p62"/>
          <p:cNvCxnSpPr>
            <a:stCxn id="794" idx="4"/>
            <a:endCxn id="798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1" name="Google Shape;801;p62"/>
          <p:cNvCxnSpPr>
            <a:stCxn id="796" idx="4"/>
            <a:endCxn id="799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62"/>
          <p:cNvCxnSpPr>
            <a:stCxn id="796" idx="2"/>
            <a:endCxn id="794" idx="6"/>
          </p:cNvCxnSpPr>
          <p:nvPr/>
        </p:nvCxnSpPr>
        <p:spPr>
          <a:xfrm rot="10800000">
            <a:off x="3984038" y="3505700"/>
            <a:ext cx="685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03" name="Google Shape;803;p62"/>
          <p:cNvSpPr/>
          <p:nvPr/>
        </p:nvSpPr>
        <p:spPr>
          <a:xfrm>
            <a:off x="3691682" y="3387080"/>
            <a:ext cx="1352575" cy="1108050"/>
          </a:xfrm>
          <a:custGeom>
            <a:rect b="b" l="l" r="r" t="t"/>
            <a:pathLst>
              <a:path extrusionOk="0" h="44322" w="54103">
                <a:moveTo>
                  <a:pt x="6106" y="44323"/>
                </a:moveTo>
                <a:cubicBezTo>
                  <a:pt x="5538" y="37792"/>
                  <a:pt x="-4685" y="11737"/>
                  <a:pt x="2698" y="5134"/>
                </a:cubicBezTo>
                <a:cubicBezTo>
                  <a:pt x="10081" y="-1468"/>
                  <a:pt x="42384" y="-1752"/>
                  <a:pt x="50406" y="4708"/>
                </a:cubicBezTo>
                <a:cubicBezTo>
                  <a:pt x="58428" y="11169"/>
                  <a:pt x="50761" y="37366"/>
                  <a:pt x="50832" y="43897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809" name="Google Shape;809;p63"/>
          <p:cNvSpPr txBox="1"/>
          <p:nvPr>
            <p:ph idx="1" type="body"/>
          </p:nvPr>
        </p:nvSpPr>
        <p:spPr>
          <a:xfrm>
            <a:off x="107050" y="402200"/>
            <a:ext cx="8909700" cy="1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add a new link (B and C establish a peering relationship).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Will the transit ASes (B, C) agree to participate in this new route?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Yes, each transit AS has an adjacent customer.</a:t>
            </a:r>
            <a:endParaRPr/>
          </a:p>
        </p:txBody>
      </p:sp>
      <p:sp>
        <p:nvSpPr>
          <p:cNvPr id="810" name="Google Shape;810;p63"/>
          <p:cNvSpPr/>
          <p:nvPr/>
        </p:nvSpPr>
        <p:spPr>
          <a:xfrm>
            <a:off x="3841988" y="22938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1" name="Google Shape;811;p63"/>
          <p:cNvSpPr/>
          <p:nvPr/>
        </p:nvSpPr>
        <p:spPr>
          <a:xfrm>
            <a:off x="3014113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2" name="Google Shape;812;p63"/>
          <p:cNvCxnSpPr>
            <a:stCxn id="810" idx="3"/>
            <a:endCxn id="811" idx="0"/>
          </p:cNvCxnSpPr>
          <p:nvPr/>
        </p:nvCxnSpPr>
        <p:spPr>
          <a:xfrm flipH="1">
            <a:off x="3498926" y="2766011"/>
            <a:ext cx="4851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63"/>
          <p:cNvSpPr/>
          <p:nvPr/>
        </p:nvSpPr>
        <p:spPr>
          <a:xfrm>
            <a:off x="4669838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4" name="Google Shape;814;p63"/>
          <p:cNvCxnSpPr>
            <a:stCxn id="810" idx="5"/>
            <a:endCxn id="813" idx="0"/>
          </p:cNvCxnSpPr>
          <p:nvPr/>
        </p:nvCxnSpPr>
        <p:spPr>
          <a:xfrm>
            <a:off x="4669849" y="2766011"/>
            <a:ext cx="4848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5" name="Google Shape;815;p63"/>
          <p:cNvSpPr/>
          <p:nvPr/>
        </p:nvSpPr>
        <p:spPr>
          <a:xfrm>
            <a:off x="3014138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6" name="Google Shape;816;p63"/>
          <p:cNvSpPr/>
          <p:nvPr/>
        </p:nvSpPr>
        <p:spPr>
          <a:xfrm>
            <a:off x="4669863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7" name="Google Shape;817;p63"/>
          <p:cNvCxnSpPr>
            <a:stCxn id="811" idx="4"/>
            <a:endCxn id="815" idx="0"/>
          </p:cNvCxnSpPr>
          <p:nvPr/>
        </p:nvCxnSpPr>
        <p:spPr>
          <a:xfrm>
            <a:off x="3499063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8" name="Google Shape;818;p63"/>
          <p:cNvCxnSpPr>
            <a:stCxn id="813" idx="4"/>
            <a:endCxn id="816" idx="0"/>
          </p:cNvCxnSpPr>
          <p:nvPr/>
        </p:nvCxnSpPr>
        <p:spPr>
          <a:xfrm>
            <a:off x="5154788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63"/>
          <p:cNvCxnSpPr>
            <a:stCxn id="813" idx="2"/>
            <a:endCxn id="811" idx="6"/>
          </p:cNvCxnSpPr>
          <p:nvPr/>
        </p:nvCxnSpPr>
        <p:spPr>
          <a:xfrm rot="10800000">
            <a:off x="3984038" y="3505700"/>
            <a:ext cx="685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20" name="Google Shape;820;p63"/>
          <p:cNvSpPr/>
          <p:nvPr/>
        </p:nvSpPr>
        <p:spPr>
          <a:xfrm>
            <a:off x="3691682" y="3387080"/>
            <a:ext cx="1352575" cy="1108050"/>
          </a:xfrm>
          <a:custGeom>
            <a:rect b="b" l="l" r="r" t="t"/>
            <a:pathLst>
              <a:path extrusionOk="0" h="44322" w="54103">
                <a:moveTo>
                  <a:pt x="6106" y="44323"/>
                </a:moveTo>
                <a:cubicBezTo>
                  <a:pt x="5538" y="37792"/>
                  <a:pt x="-4685" y="11737"/>
                  <a:pt x="2698" y="5134"/>
                </a:cubicBezTo>
                <a:cubicBezTo>
                  <a:pt x="10081" y="-1468"/>
                  <a:pt x="42384" y="-1752"/>
                  <a:pt x="50406" y="4708"/>
                </a:cubicBezTo>
                <a:cubicBezTo>
                  <a:pt x="58428" y="11169"/>
                  <a:pt x="50761" y="37366"/>
                  <a:pt x="50832" y="43897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821" name="Google Shape;821;p63"/>
          <p:cNvSpPr/>
          <p:nvPr/>
        </p:nvSpPr>
        <p:spPr>
          <a:xfrm>
            <a:off x="1533525" y="2933700"/>
            <a:ext cx="1419300" cy="393600"/>
          </a:xfrm>
          <a:prstGeom prst="wedgeRoundRectCallout">
            <a:avLst>
              <a:gd fmla="val 57861" name="adj1"/>
              <a:gd fmla="val 34899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D.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63"/>
          <p:cNvSpPr/>
          <p:nvPr/>
        </p:nvSpPr>
        <p:spPr>
          <a:xfrm>
            <a:off x="5829300" y="3104425"/>
            <a:ext cx="1419300" cy="393600"/>
          </a:xfrm>
          <a:prstGeom prst="wedgeRoundRectCallout">
            <a:avLst>
              <a:gd fmla="val -59485" name="adj1"/>
              <a:gd fmla="val 35004" name="adj2"/>
              <a:gd fmla="val 0" name="adj3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 get paid by 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Policy-Based Routing Example</a:t>
            </a:r>
            <a:endParaRPr/>
          </a:p>
        </p:txBody>
      </p:sp>
      <p:sp>
        <p:nvSpPr>
          <p:cNvPr id="828" name="Google Shape;828;p64"/>
          <p:cNvSpPr txBox="1"/>
          <p:nvPr>
            <p:ph idx="1" type="body"/>
          </p:nvPr>
        </p:nvSpPr>
        <p:spPr>
          <a:xfrm>
            <a:off x="107050" y="402200"/>
            <a:ext cx="8909700" cy="15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 the new link, B and C save money (they don't have to pay A anymore).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Trade-off: B and C have to pay to build that link.</a:t>
            </a:r>
            <a:endParaRPr/>
          </a:p>
        </p:txBody>
      </p:sp>
      <p:sp>
        <p:nvSpPr>
          <p:cNvPr id="829" name="Google Shape;829;p64"/>
          <p:cNvSpPr/>
          <p:nvPr/>
        </p:nvSpPr>
        <p:spPr>
          <a:xfrm>
            <a:off x="5899388" y="22938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0" name="Google Shape;830;p64"/>
          <p:cNvSpPr/>
          <p:nvPr/>
        </p:nvSpPr>
        <p:spPr>
          <a:xfrm>
            <a:off x="5071513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1" name="Google Shape;831;p64"/>
          <p:cNvCxnSpPr>
            <a:stCxn id="829" idx="3"/>
            <a:endCxn id="830" idx="0"/>
          </p:cNvCxnSpPr>
          <p:nvPr/>
        </p:nvCxnSpPr>
        <p:spPr>
          <a:xfrm flipH="1">
            <a:off x="5556326" y="2766011"/>
            <a:ext cx="4851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2" name="Google Shape;832;p64"/>
          <p:cNvSpPr/>
          <p:nvPr/>
        </p:nvSpPr>
        <p:spPr>
          <a:xfrm>
            <a:off x="6727238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3" name="Google Shape;833;p64"/>
          <p:cNvCxnSpPr>
            <a:stCxn id="829" idx="5"/>
            <a:endCxn id="832" idx="0"/>
          </p:cNvCxnSpPr>
          <p:nvPr/>
        </p:nvCxnSpPr>
        <p:spPr>
          <a:xfrm>
            <a:off x="6727249" y="2766011"/>
            <a:ext cx="4848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4" name="Google Shape;834;p64"/>
          <p:cNvSpPr/>
          <p:nvPr/>
        </p:nvSpPr>
        <p:spPr>
          <a:xfrm>
            <a:off x="5071538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4"/>
          <p:cNvSpPr/>
          <p:nvPr/>
        </p:nvSpPr>
        <p:spPr>
          <a:xfrm>
            <a:off x="6727263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64"/>
          <p:cNvCxnSpPr>
            <a:stCxn id="830" idx="4"/>
            <a:endCxn id="834" idx="0"/>
          </p:cNvCxnSpPr>
          <p:nvPr/>
        </p:nvCxnSpPr>
        <p:spPr>
          <a:xfrm>
            <a:off x="5556463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7" name="Google Shape;837;p64"/>
          <p:cNvCxnSpPr>
            <a:stCxn id="832" idx="4"/>
            <a:endCxn id="835" idx="0"/>
          </p:cNvCxnSpPr>
          <p:nvPr/>
        </p:nvCxnSpPr>
        <p:spPr>
          <a:xfrm>
            <a:off x="7212188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8" name="Google Shape;838;p64"/>
          <p:cNvCxnSpPr>
            <a:stCxn id="832" idx="2"/>
            <a:endCxn id="830" idx="6"/>
          </p:cNvCxnSpPr>
          <p:nvPr/>
        </p:nvCxnSpPr>
        <p:spPr>
          <a:xfrm rot="10800000">
            <a:off x="6041438" y="3505700"/>
            <a:ext cx="6858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39" name="Google Shape;839;p64"/>
          <p:cNvSpPr/>
          <p:nvPr/>
        </p:nvSpPr>
        <p:spPr>
          <a:xfrm>
            <a:off x="5749082" y="3387080"/>
            <a:ext cx="1352575" cy="1108050"/>
          </a:xfrm>
          <a:custGeom>
            <a:rect b="b" l="l" r="r" t="t"/>
            <a:pathLst>
              <a:path extrusionOk="0" h="44322" w="54103">
                <a:moveTo>
                  <a:pt x="6106" y="44323"/>
                </a:moveTo>
                <a:cubicBezTo>
                  <a:pt x="5538" y="37792"/>
                  <a:pt x="-4685" y="11737"/>
                  <a:pt x="2698" y="5134"/>
                </a:cubicBezTo>
                <a:cubicBezTo>
                  <a:pt x="10081" y="-1468"/>
                  <a:pt x="42384" y="-1752"/>
                  <a:pt x="50406" y="4708"/>
                </a:cubicBezTo>
                <a:cubicBezTo>
                  <a:pt x="58428" y="11169"/>
                  <a:pt x="50761" y="37366"/>
                  <a:pt x="50832" y="43897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sp>
      <p:sp>
        <p:nvSpPr>
          <p:cNvPr id="840" name="Google Shape;840;p64"/>
          <p:cNvSpPr/>
          <p:nvPr/>
        </p:nvSpPr>
        <p:spPr>
          <a:xfrm>
            <a:off x="2013188" y="22938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1" name="Google Shape;841;p64"/>
          <p:cNvSpPr/>
          <p:nvPr/>
        </p:nvSpPr>
        <p:spPr>
          <a:xfrm>
            <a:off x="1185313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2" name="Google Shape;842;p64"/>
          <p:cNvCxnSpPr>
            <a:stCxn id="840" idx="3"/>
            <a:endCxn id="841" idx="0"/>
          </p:cNvCxnSpPr>
          <p:nvPr/>
        </p:nvCxnSpPr>
        <p:spPr>
          <a:xfrm flipH="1">
            <a:off x="1670126" y="2766011"/>
            <a:ext cx="4851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3" name="Google Shape;843;p64"/>
          <p:cNvSpPr/>
          <p:nvPr/>
        </p:nvSpPr>
        <p:spPr>
          <a:xfrm>
            <a:off x="2841038" y="322910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4" name="Google Shape;844;p64"/>
          <p:cNvCxnSpPr>
            <a:stCxn id="840" idx="5"/>
            <a:endCxn id="843" idx="0"/>
          </p:cNvCxnSpPr>
          <p:nvPr/>
        </p:nvCxnSpPr>
        <p:spPr>
          <a:xfrm>
            <a:off x="2841049" y="2766011"/>
            <a:ext cx="484800" cy="463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5" name="Google Shape;845;p64"/>
          <p:cNvSpPr/>
          <p:nvPr/>
        </p:nvSpPr>
        <p:spPr>
          <a:xfrm>
            <a:off x="1185338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6" name="Google Shape;846;p64"/>
          <p:cNvSpPr/>
          <p:nvPr/>
        </p:nvSpPr>
        <p:spPr>
          <a:xfrm>
            <a:off x="2841063" y="416437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7" name="Google Shape;847;p64"/>
          <p:cNvCxnSpPr>
            <a:stCxn id="841" idx="4"/>
            <a:endCxn id="845" idx="0"/>
          </p:cNvCxnSpPr>
          <p:nvPr/>
        </p:nvCxnSpPr>
        <p:spPr>
          <a:xfrm>
            <a:off x="1670263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8" name="Google Shape;848;p64"/>
          <p:cNvCxnSpPr>
            <a:stCxn id="843" idx="4"/>
            <a:endCxn id="846" idx="0"/>
          </p:cNvCxnSpPr>
          <p:nvPr/>
        </p:nvCxnSpPr>
        <p:spPr>
          <a:xfrm>
            <a:off x="3325988" y="3782300"/>
            <a:ext cx="0" cy="382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9" name="Google Shape;849;p64"/>
          <p:cNvSpPr/>
          <p:nvPr/>
        </p:nvSpPr>
        <p:spPr>
          <a:xfrm>
            <a:off x="1961207" y="2742617"/>
            <a:ext cx="1143925" cy="1745250"/>
          </a:xfrm>
          <a:custGeom>
            <a:rect b="b" l="l" r="r" t="t"/>
            <a:pathLst>
              <a:path extrusionOk="0" h="69810" w="45757">
                <a:moveTo>
                  <a:pt x="800" y="69810"/>
                </a:moveTo>
                <a:cubicBezTo>
                  <a:pt x="927" y="63206"/>
                  <a:pt x="-1422" y="41807"/>
                  <a:pt x="1562" y="30186"/>
                </a:cubicBezTo>
                <a:cubicBezTo>
                  <a:pt x="4547" y="18566"/>
                  <a:pt x="12103" y="-611"/>
                  <a:pt x="18707" y="87"/>
                </a:cubicBezTo>
                <a:cubicBezTo>
                  <a:pt x="25311" y="786"/>
                  <a:pt x="36678" y="22884"/>
                  <a:pt x="41186" y="34377"/>
                </a:cubicBezTo>
                <a:cubicBezTo>
                  <a:pt x="45695" y="45871"/>
                  <a:pt x="44996" y="63270"/>
                  <a:pt x="45758" y="69048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triangle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Properties of Routes with Gao-Rexford Rules</a:t>
            </a:r>
            <a:endParaRPr/>
          </a:p>
        </p:txBody>
      </p:sp>
      <p:sp>
        <p:nvSpPr>
          <p:cNvPr id="855" name="Google Shape;855;p65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Routes are </a:t>
            </a:r>
            <a:r>
              <a:rPr b="1" lang="en"/>
              <a:t>single-peaked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first climb 0 or more uphill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we reach a peak, and traverse 0 or 1 peering links.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we go strictly downhill all the way to the destination.</a:t>
            </a:r>
            <a:endParaRPr/>
          </a:p>
        </p:txBody>
      </p:sp>
      <p:sp>
        <p:nvSpPr>
          <p:cNvPr id="856" name="Google Shape;856;p65"/>
          <p:cNvSpPr/>
          <p:nvPr/>
        </p:nvSpPr>
        <p:spPr>
          <a:xfrm>
            <a:off x="1001563" y="383362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A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7" name="Google Shape;857;p65"/>
          <p:cNvCxnSpPr>
            <a:stCxn id="856" idx="7"/>
            <a:endCxn id="858" idx="3"/>
          </p:cNvCxnSpPr>
          <p:nvPr/>
        </p:nvCxnSpPr>
        <p:spPr>
          <a:xfrm flipH="1" rot="10800000">
            <a:off x="1829424" y="3543837"/>
            <a:ext cx="457200" cy="370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58" name="Google Shape;858;p65"/>
          <p:cNvSpPr/>
          <p:nvPr/>
        </p:nvSpPr>
        <p:spPr>
          <a:xfrm>
            <a:off x="2144563" y="307162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5"/>
          <p:cNvSpPr/>
          <p:nvPr/>
        </p:nvSpPr>
        <p:spPr>
          <a:xfrm>
            <a:off x="3287563" y="230962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0" name="Google Shape;860;p65"/>
          <p:cNvCxnSpPr>
            <a:stCxn id="858" idx="7"/>
            <a:endCxn id="859" idx="3"/>
          </p:cNvCxnSpPr>
          <p:nvPr/>
        </p:nvCxnSpPr>
        <p:spPr>
          <a:xfrm flipH="1" rot="10800000">
            <a:off x="2972424" y="2781837"/>
            <a:ext cx="457200" cy="370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861" name="Google Shape;861;p65"/>
          <p:cNvSpPr/>
          <p:nvPr/>
        </p:nvSpPr>
        <p:spPr>
          <a:xfrm>
            <a:off x="4811563" y="2309623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2" name="Google Shape;862;p65"/>
          <p:cNvCxnSpPr>
            <a:stCxn id="859" idx="6"/>
            <a:endCxn id="861" idx="2"/>
          </p:cNvCxnSpPr>
          <p:nvPr/>
        </p:nvCxnSpPr>
        <p:spPr>
          <a:xfrm>
            <a:off x="4257463" y="2586223"/>
            <a:ext cx="5541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863" name="Google Shape;863;p65"/>
          <p:cNvSpPr/>
          <p:nvPr/>
        </p:nvSpPr>
        <p:spPr>
          <a:xfrm>
            <a:off x="7097563" y="383214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F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4" name="Google Shape;864;p65"/>
          <p:cNvSpPr/>
          <p:nvPr/>
        </p:nvSpPr>
        <p:spPr>
          <a:xfrm>
            <a:off x="5954563" y="307014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5" name="Google Shape;865;p65"/>
          <p:cNvCxnSpPr>
            <a:stCxn id="864" idx="1"/>
            <a:endCxn id="861" idx="5"/>
          </p:cNvCxnSpPr>
          <p:nvPr/>
        </p:nvCxnSpPr>
        <p:spPr>
          <a:xfrm rot="10800000">
            <a:off x="5639401" y="2781862"/>
            <a:ext cx="457200" cy="369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66" name="Google Shape;866;p65"/>
          <p:cNvCxnSpPr>
            <a:stCxn id="863" idx="1"/>
            <a:endCxn id="864" idx="5"/>
          </p:cNvCxnSpPr>
          <p:nvPr/>
        </p:nvCxnSpPr>
        <p:spPr>
          <a:xfrm rot="10800000">
            <a:off x="6782401" y="3542362"/>
            <a:ext cx="457200" cy="370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67" name="Google Shape;867;p65"/>
          <p:cNvCxnSpPr/>
          <p:nvPr/>
        </p:nvCxnSpPr>
        <p:spPr>
          <a:xfrm>
            <a:off x="1040625" y="4662625"/>
            <a:ext cx="7026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8" name="Google Shape;868;p65"/>
          <p:cNvSpPr txBox="1"/>
          <p:nvPr/>
        </p:nvSpPr>
        <p:spPr>
          <a:xfrm>
            <a:off x="1040625" y="4681275"/>
            <a:ext cx="70269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Packet forwarded via A → B → C → D → E → F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Proving Reachability and Convergence with Gao-Rexford</a:t>
            </a:r>
            <a:endParaRPr/>
          </a:p>
        </p:txBody>
      </p:sp>
      <p:sp>
        <p:nvSpPr>
          <p:cNvPr id="874" name="Google Shape;874;p6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all of these are true: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Starting from any AS and moving up the hierarchy will lead to a Tier 1 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AS graph has no cycles.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ASes follow the Gao-Rexford rules.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Then we can guarantee these two properties: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Reachability</a:t>
            </a:r>
            <a:r>
              <a:rPr lang="en"/>
              <a:t>: Any two ASes in the graph can communicate.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Convergence</a:t>
            </a:r>
            <a:r>
              <a:rPr lang="en"/>
              <a:t>: All ASes agree on paths.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properties hold in steady-state.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Steady-state: Network topology and policies remain unchanged.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something changes, it might take some time for ASes to reconverge.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ASes pick arbitrary policies (not following Gao-Rexford), we can't guarantee these properties.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Autonomous Systems, Policy-Based Routing</a:t>
            </a:r>
            <a:endParaRPr/>
          </a:p>
        </p:txBody>
      </p:sp>
      <p:sp>
        <p:nvSpPr>
          <p:cNvPr id="880" name="Google Shape;880;p6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topology reflects business relationships between ASes.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Business relationships impact what routes are chosen, and what routes are acceptable.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Inter-domain routing design must support: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Scalability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Autonomy (support policy choices)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Privacy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6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(Border Gateway Protocol)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Importing and Exporting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Aggregation and Path-Vector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886" name="Google Shape;886;p6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BGP: Importing and Exporting</a:t>
            </a:r>
            <a:endParaRPr/>
          </a:p>
        </p:txBody>
      </p:sp>
      <p:sp>
        <p:nvSpPr>
          <p:cNvPr id="887" name="Google Shape;887;p6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8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Brief History of BGP</a:t>
            </a:r>
            <a:endParaRPr/>
          </a:p>
        </p:txBody>
      </p:sp>
      <p:sp>
        <p:nvSpPr>
          <p:cNvPr id="893" name="Google Shape;893;p6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Least-cost routing algorithms are based on old ideas.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Shortest-path algorithms predate the Internet:</a:t>
            </a:r>
            <a:br>
              <a:rPr lang="en"/>
            </a:br>
            <a:r>
              <a:rPr lang="en"/>
              <a:t>Dijkstra's (1956), Bellman-Ford (1958).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Autonomous systems grew out of necessity.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Internet control transferred from the US government to various companies.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Internet grew too big for least-cost routing algorithms.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Autonomous systems were a new idea to computer science.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precedent for "find paths according to business policy."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Ideas behind BGP were developed on the fly (1989–1995).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It's not perfect, but it's stood the test of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is the one and only inter-domain routing protocol in use.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Remember: Everyone must agree on the same one.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Point: Distance-Vector or Link-State?</a:t>
            </a:r>
            <a:endParaRPr/>
          </a:p>
        </p:txBody>
      </p:sp>
      <p:sp>
        <p:nvSpPr>
          <p:cNvPr id="899" name="Google Shape;899;p7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or link-state: Which would be a better starting point?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Link-state is a bad choice.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privacy: I have to reveal my policies to everybody else.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autonomy: Everyone has to agree on a metric (e.g. least-cost) for consistency.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Distance-vector is a better choice.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extends distance-vector to accommodate policy.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and distance-vector are similar: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Advertisements are specific to one destination (i.e. one prefix).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 global sharing of network topology.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Iterative and distributed convergence on paths.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and Exporting Paths</a:t>
            </a:r>
            <a:endParaRPr/>
          </a:p>
        </p:txBody>
      </p:sp>
      <p:sp>
        <p:nvSpPr>
          <p:cNvPr id="905" name="Google Shape;905;p71"/>
          <p:cNvSpPr txBox="1"/>
          <p:nvPr>
            <p:ph idx="1" type="body"/>
          </p:nvPr>
        </p:nvSpPr>
        <p:spPr>
          <a:xfrm>
            <a:off x="107050" y="402200"/>
            <a:ext cx="89097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New terminology for old ideas:</a:t>
            </a:r>
            <a:endParaRPr/>
          </a:p>
        </p:txBody>
      </p:sp>
      <p:sp>
        <p:nvSpPr>
          <p:cNvPr id="906" name="Google Shape;906;p71"/>
          <p:cNvSpPr txBox="1"/>
          <p:nvPr/>
        </p:nvSpPr>
        <p:spPr>
          <a:xfrm>
            <a:off x="1420713" y="2021000"/>
            <a:ext cx="2193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Advertise (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export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the best route to one or more of your neighbors.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7" name="Google Shape;907;p71"/>
          <p:cNvSpPr txBox="1"/>
          <p:nvPr/>
        </p:nvSpPr>
        <p:spPr>
          <a:xfrm>
            <a:off x="4906288" y="2159600"/>
            <a:ext cx="2193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Select (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the best route you hear about.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8" name="Google Shape;908;p71"/>
          <p:cNvCxnSpPr>
            <a:stCxn id="906" idx="0"/>
            <a:endCxn id="907" idx="0"/>
          </p:cNvCxnSpPr>
          <p:nvPr/>
        </p:nvCxnSpPr>
        <p:spPr>
          <a:xfrm flipH="1" rot="-5400000">
            <a:off x="4191063" y="347450"/>
            <a:ext cx="138600" cy="3485700"/>
          </a:xfrm>
          <a:prstGeom prst="curvedConnector3">
            <a:avLst>
              <a:gd fmla="val -57225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9" name="Google Shape;909;p71"/>
          <p:cNvCxnSpPr>
            <a:stCxn id="906" idx="2"/>
            <a:endCxn id="907" idx="2"/>
          </p:cNvCxnSpPr>
          <p:nvPr/>
        </p:nvCxnSpPr>
        <p:spPr>
          <a:xfrm rot="-5400000">
            <a:off x="4191063" y="1501850"/>
            <a:ext cx="138600" cy="3485700"/>
          </a:xfrm>
          <a:prstGeom prst="curvedConnector3">
            <a:avLst>
              <a:gd fmla="val -569318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910" name="Google Shape;910;p71"/>
          <p:cNvSpPr txBox="1"/>
          <p:nvPr>
            <p:ph idx="1" type="body"/>
          </p:nvPr>
        </p:nvSpPr>
        <p:spPr>
          <a:xfrm>
            <a:off x="107050" y="4288400"/>
            <a:ext cx="8909700" cy="66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policy to decide which route to import, and who to export routes to.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72"/>
          <p:cNvSpPr txBox="1"/>
          <p:nvPr>
            <p:ph idx="1" type="body"/>
          </p:nvPr>
        </p:nvSpPr>
        <p:spPr>
          <a:xfrm>
            <a:off x="107050" y="402200"/>
            <a:ext cx="8909700" cy="17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import policy: Pick the route advertised by </a:t>
            </a:r>
            <a:r>
              <a:rPr lang="en"/>
              <a:t>customer &gt; peer &gt; provider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 with distance-vector: Pick the shortest route.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Import decision determines where an AS sends its outbound traffic.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 Because this involves choosing a route.</a:t>
            </a:r>
            <a:endParaRPr/>
          </a:p>
        </p:txBody>
      </p:sp>
      <p:sp>
        <p:nvSpPr>
          <p:cNvPr id="916" name="Google Shape;916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Paths</a:t>
            </a:r>
            <a:endParaRPr/>
          </a:p>
        </p:txBody>
      </p:sp>
      <p:sp>
        <p:nvSpPr>
          <p:cNvPr id="917" name="Google Shape;917;p72"/>
          <p:cNvSpPr/>
          <p:nvPr/>
        </p:nvSpPr>
        <p:spPr>
          <a:xfrm>
            <a:off x="2878450" y="31291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8" name="Google Shape;918;p72"/>
          <p:cNvCxnSpPr>
            <a:stCxn id="917" idx="6"/>
            <a:endCxn id="919" idx="2"/>
          </p:cNvCxnSpPr>
          <p:nvPr/>
        </p:nvCxnSpPr>
        <p:spPr>
          <a:xfrm>
            <a:off x="3848350" y="3405750"/>
            <a:ext cx="1866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20" name="Google Shape;920;p72"/>
          <p:cNvCxnSpPr>
            <a:stCxn id="921" idx="2"/>
            <a:endCxn id="917" idx="7"/>
          </p:cNvCxnSpPr>
          <p:nvPr/>
        </p:nvCxnSpPr>
        <p:spPr>
          <a:xfrm flipH="1">
            <a:off x="3706205" y="2503300"/>
            <a:ext cx="2008200" cy="70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2" name="Google Shape;922;p72"/>
          <p:cNvCxnSpPr>
            <a:stCxn id="917" idx="5"/>
            <a:endCxn id="923" idx="2"/>
          </p:cNvCxnSpPr>
          <p:nvPr/>
        </p:nvCxnSpPr>
        <p:spPr>
          <a:xfrm>
            <a:off x="3706311" y="3601336"/>
            <a:ext cx="2008200" cy="70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1" name="Google Shape;921;p72"/>
          <p:cNvSpPr/>
          <p:nvPr/>
        </p:nvSpPr>
        <p:spPr>
          <a:xfrm>
            <a:off x="5714405" y="222670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9" name="Google Shape;919;p72"/>
          <p:cNvSpPr/>
          <p:nvPr/>
        </p:nvSpPr>
        <p:spPr>
          <a:xfrm>
            <a:off x="5714412" y="312915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3" name="Google Shape;923;p72"/>
          <p:cNvSpPr/>
          <p:nvPr/>
        </p:nvSpPr>
        <p:spPr>
          <a:xfrm>
            <a:off x="5714415" y="4031600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4" name="Google Shape;924;p72"/>
          <p:cNvCxnSpPr/>
          <p:nvPr/>
        </p:nvCxnSpPr>
        <p:spPr>
          <a:xfrm flipH="1">
            <a:off x="3926938" y="2460950"/>
            <a:ext cx="1657800" cy="5832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5" name="Google Shape;925;p72"/>
          <p:cNvSpPr txBox="1"/>
          <p:nvPr/>
        </p:nvSpPr>
        <p:spPr>
          <a:xfrm rot="-1139422">
            <a:off x="4010566" y="2534603"/>
            <a:ext cx="1399468" cy="215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6" name="Google Shape;926;p72"/>
          <p:cNvCxnSpPr/>
          <p:nvPr/>
        </p:nvCxnSpPr>
        <p:spPr>
          <a:xfrm rot="10800000">
            <a:off x="3987438" y="3572650"/>
            <a:ext cx="1517400" cy="5700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7" name="Google Shape;927;p72"/>
          <p:cNvSpPr txBox="1"/>
          <p:nvPr/>
        </p:nvSpPr>
        <p:spPr>
          <a:xfrm rot="1213091">
            <a:off x="4151948" y="3680825"/>
            <a:ext cx="1399321" cy="215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28" name="Google Shape;928;p72"/>
          <p:cNvCxnSpPr/>
          <p:nvPr/>
        </p:nvCxnSpPr>
        <p:spPr>
          <a:xfrm rot="10800000">
            <a:off x="4054188" y="3335075"/>
            <a:ext cx="13728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9" name="Google Shape;929;p72"/>
          <p:cNvSpPr txBox="1"/>
          <p:nvPr/>
        </p:nvSpPr>
        <p:spPr>
          <a:xfrm>
            <a:off x="4117422" y="3117286"/>
            <a:ext cx="139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72"/>
          <p:cNvSpPr/>
          <p:nvPr/>
        </p:nvSpPr>
        <p:spPr>
          <a:xfrm>
            <a:off x="316513" y="2529050"/>
            <a:ext cx="2292900" cy="886500"/>
          </a:xfrm>
          <a:prstGeom prst="wedgeRoundRectCallout">
            <a:avLst>
              <a:gd fmla="val 61891" name="adj1"/>
              <a:gd fmla="val 36639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prefer the path via C, because C will pay me to forward packets.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1" name="Google Shape;931;p72"/>
          <p:cNvCxnSpPr/>
          <p:nvPr/>
        </p:nvCxnSpPr>
        <p:spPr>
          <a:xfrm>
            <a:off x="2891602" y="4738825"/>
            <a:ext cx="5680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2" name="Google Shape;932;p72"/>
          <p:cNvSpPr txBox="1"/>
          <p:nvPr/>
        </p:nvSpPr>
        <p:spPr>
          <a:xfrm>
            <a:off x="2891602" y="4757475"/>
            <a:ext cx="5680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72"/>
          <p:cNvSpPr/>
          <p:nvPr/>
        </p:nvSpPr>
        <p:spPr>
          <a:xfrm>
            <a:off x="8097900" y="3129150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4" name="Google Shape;934;p72"/>
          <p:cNvCxnSpPr>
            <a:stCxn id="933" idx="1"/>
            <a:endCxn id="921" idx="6"/>
          </p:cNvCxnSpPr>
          <p:nvPr/>
        </p:nvCxnSpPr>
        <p:spPr>
          <a:xfrm rot="10800000">
            <a:off x="7540639" y="2503364"/>
            <a:ext cx="699300" cy="70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5" name="Google Shape;935;p72"/>
          <p:cNvCxnSpPr>
            <a:stCxn id="933" idx="2"/>
            <a:endCxn id="919" idx="6"/>
          </p:cNvCxnSpPr>
          <p:nvPr/>
        </p:nvCxnSpPr>
        <p:spPr>
          <a:xfrm rot="10800000">
            <a:off x="7540500" y="3405750"/>
            <a:ext cx="557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6" name="Google Shape;936;p72"/>
          <p:cNvCxnSpPr>
            <a:stCxn id="933" idx="3"/>
            <a:endCxn id="923" idx="6"/>
          </p:cNvCxnSpPr>
          <p:nvPr/>
        </p:nvCxnSpPr>
        <p:spPr>
          <a:xfrm flipH="1">
            <a:off x="7540639" y="3601336"/>
            <a:ext cx="699300" cy="7068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3"/>
          <p:cNvSpPr txBox="1"/>
          <p:nvPr>
            <p:ph idx="1" type="body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Contrast with distance-vector: Advertise a route to all neighbors.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Export </a:t>
            </a:r>
            <a:r>
              <a:rPr lang="en"/>
              <a:t>decision determines what traffic an AS will carry.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Why? Advertising a route means I'm letting others forward traffic through me.</a:t>
            </a:r>
            <a:endParaRPr/>
          </a:p>
        </p:txBody>
      </p:sp>
      <p:sp>
        <p:nvSpPr>
          <p:cNvPr id="942" name="Google Shape;942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</a:t>
            </a:r>
            <a:endParaRPr/>
          </a:p>
        </p:txBody>
      </p:sp>
      <p:sp>
        <p:nvSpPr>
          <p:cNvPr id="943" name="Google Shape;943;p73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4" name="Google Shape;944;p73"/>
          <p:cNvCxnSpPr>
            <a:stCxn id="943" idx="2"/>
            <a:endCxn id="945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46" name="Google Shape;946;p73"/>
          <p:cNvCxnSpPr>
            <a:stCxn id="947" idx="5"/>
            <a:endCxn id="943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73"/>
          <p:cNvCxnSpPr>
            <a:stCxn id="943" idx="3"/>
            <a:endCxn id="949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" name="Google Shape;947;p73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73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73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0" name="Google Shape;950;p73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1" name="Google Shape;951;p73"/>
          <p:cNvCxnSpPr>
            <a:stCxn id="950" idx="2"/>
            <a:endCxn id="943" idx="6"/>
          </p:cNvCxnSpPr>
          <p:nvPr/>
        </p:nvCxnSpPr>
        <p:spPr>
          <a:xfrm rot="10800000">
            <a:off x="6041100" y="3394825"/>
            <a:ext cx="61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2" name="Google Shape;952;p73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3" name="Google Shape;953;p73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73"/>
          <p:cNvSpPr/>
          <p:nvPr/>
        </p:nvSpPr>
        <p:spPr>
          <a:xfrm>
            <a:off x="5892000" y="2473225"/>
            <a:ext cx="2628600" cy="5532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 have a route to D, but should I tell A, B, C about it?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4"/>
          <p:cNvSpPr txBox="1"/>
          <p:nvPr>
            <p:ph idx="1" type="body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customer, export it to everybody.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route will be profitable: There's a customer on one end.</a:t>
            </a:r>
            <a:endParaRPr/>
          </a:p>
        </p:txBody>
      </p:sp>
      <p:sp>
        <p:nvSpPr>
          <p:cNvPr id="960" name="Google Shape;960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 From Customers</a:t>
            </a:r>
            <a:endParaRPr/>
          </a:p>
        </p:txBody>
      </p:sp>
      <p:sp>
        <p:nvSpPr>
          <p:cNvPr id="961" name="Google Shape;961;p74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2" name="Google Shape;962;p74"/>
          <p:cNvCxnSpPr>
            <a:stCxn id="961" idx="2"/>
            <a:endCxn id="963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64" name="Google Shape;964;p74"/>
          <p:cNvCxnSpPr>
            <a:stCxn id="965" idx="5"/>
            <a:endCxn id="961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6" name="Google Shape;966;p74"/>
          <p:cNvCxnSpPr>
            <a:stCxn id="961" idx="3"/>
            <a:endCxn id="967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5" name="Google Shape;965;p74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74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7" name="Google Shape;967;p74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8" name="Google Shape;968;p74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9" name="Google Shape;969;p74"/>
          <p:cNvCxnSpPr>
            <a:stCxn id="961" idx="6"/>
            <a:endCxn id="968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0" name="Google Shape;970;p74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All three of these routes make me money.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2620900" y="2461325"/>
            <a:ext cx="4455431" cy="805155"/>
          </a:xfrm>
          <a:custGeom>
            <a:rect b="b" l="l" r="r" t="t"/>
            <a:pathLst>
              <a:path extrusionOk="0" h="36256" w="171231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72" name="Google Shape;972;p74"/>
          <p:cNvSpPr/>
          <p:nvPr/>
        </p:nvSpPr>
        <p:spPr>
          <a:xfrm flipH="1" rot="10800000">
            <a:off x="2620900" y="3484338"/>
            <a:ext cx="4455431" cy="908575"/>
          </a:xfrm>
          <a:custGeom>
            <a:rect b="b" l="l" r="r" t="t"/>
            <a:pathLst>
              <a:path extrusionOk="0" h="36256" w="171231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973" name="Google Shape;973;p74"/>
          <p:cNvCxnSpPr/>
          <p:nvPr/>
        </p:nvCxnSpPr>
        <p:spPr>
          <a:xfrm>
            <a:off x="2489826" y="3394492"/>
            <a:ext cx="44145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4" name="Google Shape;974;p74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5" name="Google Shape;975;p74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75"/>
          <p:cNvSpPr txBox="1"/>
          <p:nvPr>
            <p:ph idx="1" type="body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customer, export it to everybody.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resulting route will be profitable: There's a customer on one end.</a:t>
            </a:r>
            <a:endParaRPr/>
          </a:p>
        </p:txBody>
      </p:sp>
      <p:sp>
        <p:nvSpPr>
          <p:cNvPr id="981" name="Google Shape;981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Exporting Paths From Customers</a:t>
            </a:r>
            <a:endParaRPr/>
          </a:p>
        </p:txBody>
      </p:sp>
      <p:sp>
        <p:nvSpPr>
          <p:cNvPr id="982" name="Google Shape;982;p75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3" name="Google Shape;983;p75"/>
          <p:cNvCxnSpPr>
            <a:stCxn id="982" idx="2"/>
            <a:endCxn id="984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985" name="Google Shape;985;p75"/>
          <p:cNvCxnSpPr>
            <a:stCxn id="986" idx="5"/>
            <a:endCxn id="982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75"/>
          <p:cNvCxnSpPr>
            <a:stCxn id="982" idx="3"/>
            <a:endCxn id="988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75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75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8" name="Google Shape;988;p75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9" name="Google Shape;989;p75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0" name="Google Shape;990;p75"/>
          <p:cNvCxnSpPr>
            <a:stCxn id="982" idx="6"/>
            <a:endCxn id="989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1" name="Google Shape;991;p75"/>
          <p:cNvCxnSpPr/>
          <p:nvPr/>
        </p:nvCxnSpPr>
        <p:spPr>
          <a:xfrm rot="10800000">
            <a:off x="2926675" y="2649725"/>
            <a:ext cx="2029500" cy="3945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2" name="Google Shape;992;p75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tell everyone about this route.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75"/>
          <p:cNvSpPr txBox="1"/>
          <p:nvPr/>
        </p:nvSpPr>
        <p:spPr>
          <a:xfrm rot="672814">
            <a:off x="3241684" y="2637779"/>
            <a:ext cx="1399212" cy="21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4" name="Google Shape;994;p75"/>
          <p:cNvCxnSpPr/>
          <p:nvPr/>
        </p:nvCxnSpPr>
        <p:spPr>
          <a:xfrm flipH="1">
            <a:off x="2941350" y="3561700"/>
            <a:ext cx="2073900" cy="3918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5" name="Google Shape;995;p75"/>
          <p:cNvSpPr txBox="1"/>
          <p:nvPr/>
        </p:nvSpPr>
        <p:spPr>
          <a:xfrm rot="-651127">
            <a:off x="3201293" y="3545735"/>
            <a:ext cx="1399019" cy="21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6" name="Google Shape;996;p75"/>
          <p:cNvCxnSpPr/>
          <p:nvPr/>
        </p:nvCxnSpPr>
        <p:spPr>
          <a:xfrm rot="10800000">
            <a:off x="3139350" y="3330221"/>
            <a:ext cx="17964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7" name="Google Shape;997;p75"/>
          <p:cNvSpPr txBox="1"/>
          <p:nvPr/>
        </p:nvSpPr>
        <p:spPr>
          <a:xfrm rot="-1474">
            <a:off x="3353693" y="3128683"/>
            <a:ext cx="139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98" name="Google Shape;998;p75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9" name="Google Shape;999;p75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76"/>
          <p:cNvSpPr txBox="1"/>
          <p:nvPr>
            <p:ph idx="1" type="body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peer, only export it to a customer.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peer isn't paying, so I only profit if the person on the other end is a customer.</a:t>
            </a:r>
            <a:endParaRPr/>
          </a:p>
        </p:txBody>
      </p:sp>
      <p:sp>
        <p:nvSpPr>
          <p:cNvPr id="1005" name="Google Shape;1005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 From Peers</a:t>
            </a:r>
            <a:endParaRPr/>
          </a:p>
        </p:txBody>
      </p:sp>
      <p:sp>
        <p:nvSpPr>
          <p:cNvPr id="1006" name="Google Shape;1006;p76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07" name="Google Shape;1007;p76"/>
          <p:cNvCxnSpPr>
            <a:stCxn id="1006" idx="2"/>
            <a:endCxn id="1008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09" name="Google Shape;1009;p76"/>
          <p:cNvCxnSpPr>
            <a:stCxn id="1010" idx="5"/>
            <a:endCxn id="1006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1" name="Google Shape;1011;p76"/>
          <p:cNvCxnSpPr>
            <a:stCxn id="1006" idx="3"/>
            <a:endCxn id="1012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0" name="Google Shape;1010;p76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76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76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76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4" name="Google Shape;1014;p76"/>
          <p:cNvCxnSpPr>
            <a:stCxn id="1006" idx="6"/>
            <a:endCxn id="1013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15" name="Google Shape;1015;p76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Only the green route makes me money.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6" name="Google Shape;1016;p76"/>
          <p:cNvSpPr/>
          <p:nvPr/>
        </p:nvSpPr>
        <p:spPr>
          <a:xfrm>
            <a:off x="2620900" y="2461325"/>
            <a:ext cx="4455431" cy="805155"/>
          </a:xfrm>
          <a:custGeom>
            <a:rect b="b" l="l" r="r" t="t"/>
            <a:pathLst>
              <a:path extrusionOk="0" h="36256" w="171231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17" name="Google Shape;1017;p76"/>
          <p:cNvSpPr/>
          <p:nvPr/>
        </p:nvSpPr>
        <p:spPr>
          <a:xfrm flipH="1" rot="10800000">
            <a:off x="2620900" y="3484338"/>
            <a:ext cx="4455431" cy="908575"/>
          </a:xfrm>
          <a:custGeom>
            <a:rect b="b" l="l" r="r" t="t"/>
            <a:pathLst>
              <a:path extrusionOk="0" h="36256" w="171231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1018" name="Google Shape;1018;p76"/>
          <p:cNvCxnSpPr/>
          <p:nvPr/>
        </p:nvCxnSpPr>
        <p:spPr>
          <a:xfrm>
            <a:off x="2489826" y="3394492"/>
            <a:ext cx="4414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9" name="Google Shape;1019;p76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0" name="Google Shape;1020;p76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7"/>
          <p:cNvSpPr txBox="1"/>
          <p:nvPr>
            <p:ph idx="1" type="body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peer, only export it to a customer.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peer isn't paying, so I only profit if the person on the other end is a customer.</a:t>
            </a:r>
            <a:endParaRPr/>
          </a:p>
        </p:txBody>
      </p:sp>
      <p:sp>
        <p:nvSpPr>
          <p:cNvPr id="1026" name="Google Shape;1026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Exporting Paths From Peers</a:t>
            </a:r>
            <a:endParaRPr/>
          </a:p>
        </p:txBody>
      </p:sp>
      <p:sp>
        <p:nvSpPr>
          <p:cNvPr id="1027" name="Google Shape;1027;p77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8" name="Google Shape;1028;p77"/>
          <p:cNvCxnSpPr>
            <a:stCxn id="1027" idx="2"/>
            <a:endCxn id="1029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30" name="Google Shape;1030;p77"/>
          <p:cNvCxnSpPr>
            <a:stCxn id="1031" idx="5"/>
            <a:endCxn id="1027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2" name="Google Shape;1032;p77"/>
          <p:cNvCxnSpPr>
            <a:stCxn id="1027" idx="3"/>
            <a:endCxn id="1033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77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9" name="Google Shape;1029;p77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77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4" name="Google Shape;1034;p77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5" name="Google Shape;1035;p77"/>
          <p:cNvCxnSpPr>
            <a:stCxn id="1027" idx="6"/>
            <a:endCxn id="1034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036" name="Google Shape;1036;p77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only tell C about this route.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7" name="Google Shape;1037;p77"/>
          <p:cNvCxnSpPr/>
          <p:nvPr/>
        </p:nvCxnSpPr>
        <p:spPr>
          <a:xfrm flipH="1">
            <a:off x="2941350" y="3561700"/>
            <a:ext cx="2073900" cy="3918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8" name="Google Shape;1038;p77"/>
          <p:cNvSpPr txBox="1"/>
          <p:nvPr/>
        </p:nvSpPr>
        <p:spPr>
          <a:xfrm rot="-651127">
            <a:off x="3201293" y="3545735"/>
            <a:ext cx="1399019" cy="21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9" name="Google Shape;1039;p77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0" name="Google Shape;1040;p77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8"/>
          <p:cNvSpPr txBox="1"/>
          <p:nvPr>
            <p:ph idx="1" type="body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provider, only export it to a customer.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pay the provider, so I only profit if the person on the other end is a customer.</a:t>
            </a:r>
            <a:endParaRPr/>
          </a:p>
        </p:txBody>
      </p:sp>
      <p:sp>
        <p:nvSpPr>
          <p:cNvPr id="1046" name="Google Shape;1046;p7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Exporting Paths From Providers</a:t>
            </a:r>
            <a:endParaRPr/>
          </a:p>
        </p:txBody>
      </p:sp>
      <p:sp>
        <p:nvSpPr>
          <p:cNvPr id="1047" name="Google Shape;1047;p78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8" name="Google Shape;1048;p78"/>
          <p:cNvCxnSpPr>
            <a:stCxn id="1047" idx="2"/>
            <a:endCxn id="1049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50" name="Google Shape;1050;p78"/>
          <p:cNvCxnSpPr>
            <a:stCxn id="1051" idx="5"/>
            <a:endCxn id="1047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78"/>
          <p:cNvCxnSpPr>
            <a:stCxn id="1047" idx="3"/>
            <a:endCxn id="1053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1" name="Google Shape;1051;p78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78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3" name="Google Shape;1053;p78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78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5" name="Google Shape;1055;p78"/>
          <p:cNvCxnSpPr>
            <a:stCxn id="1047" idx="6"/>
            <a:endCxn id="1054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56" name="Google Shape;1056;p78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Only the green route makes me money.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7" name="Google Shape;1057;p78"/>
          <p:cNvSpPr/>
          <p:nvPr/>
        </p:nvSpPr>
        <p:spPr>
          <a:xfrm>
            <a:off x="2620900" y="2461325"/>
            <a:ext cx="4455431" cy="805155"/>
          </a:xfrm>
          <a:custGeom>
            <a:rect b="b" l="l" r="r" t="t"/>
            <a:pathLst>
              <a:path extrusionOk="0" h="36256" w="171231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58" name="Google Shape;1058;p78"/>
          <p:cNvSpPr/>
          <p:nvPr/>
        </p:nvSpPr>
        <p:spPr>
          <a:xfrm flipH="1" rot="10800000">
            <a:off x="2620900" y="3484338"/>
            <a:ext cx="4455431" cy="908575"/>
          </a:xfrm>
          <a:custGeom>
            <a:rect b="b" l="l" r="r" t="t"/>
            <a:pathLst>
              <a:path extrusionOk="0" h="36256" w="171231">
                <a:moveTo>
                  <a:pt x="0" y="0"/>
                </a:moveTo>
                <a:cubicBezTo>
                  <a:pt x="19001" y="4732"/>
                  <a:pt x="85470" y="22350"/>
                  <a:pt x="114008" y="28393"/>
                </a:cubicBezTo>
                <a:cubicBezTo>
                  <a:pt x="142547" y="34436"/>
                  <a:pt x="161694" y="34946"/>
                  <a:pt x="171231" y="36256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1059" name="Google Shape;1059;p78"/>
          <p:cNvCxnSpPr/>
          <p:nvPr/>
        </p:nvCxnSpPr>
        <p:spPr>
          <a:xfrm>
            <a:off x="2489826" y="3394492"/>
            <a:ext cx="4414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78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1" name="Google Shape;1061;p78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79"/>
          <p:cNvSpPr txBox="1"/>
          <p:nvPr>
            <p:ph idx="1" type="body"/>
          </p:nvPr>
        </p:nvSpPr>
        <p:spPr>
          <a:xfrm>
            <a:off x="107050" y="402200"/>
            <a:ext cx="8909700" cy="13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I receive a route from a provider, only export it to a customer.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 pay the provider, so I only profit if the person on the other end is a customer.</a:t>
            </a:r>
            <a:endParaRPr/>
          </a:p>
        </p:txBody>
      </p:sp>
      <p:sp>
        <p:nvSpPr>
          <p:cNvPr id="1067" name="Google Shape;1067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Exporting Paths From Providers</a:t>
            </a:r>
            <a:endParaRPr/>
          </a:p>
        </p:txBody>
      </p:sp>
      <p:sp>
        <p:nvSpPr>
          <p:cNvPr id="1068" name="Google Shape;1068;p79"/>
          <p:cNvSpPr/>
          <p:nvPr/>
        </p:nvSpPr>
        <p:spPr>
          <a:xfrm>
            <a:off x="5071150" y="3118225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9" name="Google Shape;1069;p79"/>
          <p:cNvCxnSpPr>
            <a:stCxn id="1068" idx="2"/>
            <a:endCxn id="1070" idx="6"/>
          </p:cNvCxnSpPr>
          <p:nvPr/>
        </p:nvCxnSpPr>
        <p:spPr>
          <a:xfrm rot="10800000">
            <a:off x="2951350" y="3394825"/>
            <a:ext cx="2119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71" name="Google Shape;1071;p79"/>
          <p:cNvCxnSpPr>
            <a:stCxn id="1072" idx="5"/>
            <a:endCxn id="1068" idx="1"/>
          </p:cNvCxnSpPr>
          <p:nvPr/>
        </p:nvCxnSpPr>
        <p:spPr>
          <a:xfrm>
            <a:off x="2683979" y="268796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79"/>
          <p:cNvCxnSpPr>
            <a:stCxn id="1068" idx="3"/>
            <a:endCxn id="1074" idx="7"/>
          </p:cNvCxnSpPr>
          <p:nvPr/>
        </p:nvCxnSpPr>
        <p:spPr>
          <a:xfrm flipH="1">
            <a:off x="2683889" y="3590411"/>
            <a:ext cx="2529300" cy="5112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2" name="Google Shape;1072;p79"/>
          <p:cNvSpPr/>
          <p:nvPr/>
        </p:nvSpPr>
        <p:spPr>
          <a:xfrm>
            <a:off x="1125305" y="22157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A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0" name="Google Shape;1070;p79"/>
          <p:cNvSpPr/>
          <p:nvPr/>
        </p:nvSpPr>
        <p:spPr>
          <a:xfrm>
            <a:off x="1125312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 (Peer)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79"/>
          <p:cNvSpPr/>
          <p:nvPr/>
        </p:nvSpPr>
        <p:spPr>
          <a:xfrm>
            <a:off x="1125315" y="402067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 (Customer)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79"/>
          <p:cNvSpPr/>
          <p:nvPr/>
        </p:nvSpPr>
        <p:spPr>
          <a:xfrm>
            <a:off x="6654000" y="3118225"/>
            <a:ext cx="18261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 (Provider)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79"/>
          <p:cNvCxnSpPr>
            <a:stCxn id="1068" idx="6"/>
            <a:endCxn id="1075" idx="2"/>
          </p:cNvCxnSpPr>
          <p:nvPr/>
        </p:nvCxnSpPr>
        <p:spPr>
          <a:xfrm>
            <a:off x="6041050" y="3394825"/>
            <a:ext cx="612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077" name="Google Shape;1077;p79"/>
          <p:cNvSpPr/>
          <p:nvPr/>
        </p:nvSpPr>
        <p:spPr>
          <a:xfrm>
            <a:off x="5892000" y="2433775"/>
            <a:ext cx="2119800" cy="5532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I'll only tell C about this route.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79"/>
          <p:cNvCxnSpPr/>
          <p:nvPr/>
        </p:nvCxnSpPr>
        <p:spPr>
          <a:xfrm flipH="1">
            <a:off x="2941350" y="3561700"/>
            <a:ext cx="2073900" cy="3918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9" name="Google Shape;1079;p79"/>
          <p:cNvSpPr txBox="1"/>
          <p:nvPr/>
        </p:nvSpPr>
        <p:spPr>
          <a:xfrm rot="-651127">
            <a:off x="3201293" y="3545735"/>
            <a:ext cx="1399019" cy="21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"I can reach D."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0" name="Google Shape;1080;p79"/>
          <p:cNvCxnSpPr/>
          <p:nvPr/>
        </p:nvCxnSpPr>
        <p:spPr>
          <a:xfrm>
            <a:off x="1125325" y="4727900"/>
            <a:ext cx="6498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1" name="Google Shape;1081;p79"/>
          <p:cNvSpPr txBox="1"/>
          <p:nvPr/>
        </p:nvSpPr>
        <p:spPr>
          <a:xfrm>
            <a:off x="1125325" y="4746550"/>
            <a:ext cx="64986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Packets for D get forwarded this way.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0"/>
          <p:cNvSpPr txBox="1"/>
          <p:nvPr>
            <p:ph idx="1" type="body"/>
          </p:nvPr>
        </p:nvSpPr>
        <p:spPr>
          <a:xfrm>
            <a:off x="107050" y="402200"/>
            <a:ext cx="8909700" cy="23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Gao-Rexford export policy: I only export a route if participating in it makes me money.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Key idea: The route needs a customer on at least one side.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customer advertised the route, we already have a customer on one side.</a:t>
            </a:r>
            <a:br>
              <a:rPr lang="en"/>
            </a:br>
            <a:r>
              <a:rPr lang="en"/>
              <a:t>The other side can be anybody.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peer/provider advertised the route, we're still missing a customer.</a:t>
            </a:r>
            <a:br>
              <a:rPr lang="en"/>
            </a:br>
            <a:r>
              <a:rPr lang="en"/>
              <a:t>The other side must be a customer.</a:t>
            </a:r>
            <a:endParaRPr/>
          </a:p>
        </p:txBody>
      </p:sp>
      <p:sp>
        <p:nvSpPr>
          <p:cNvPr id="1087" name="Google Shape;1087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Exporting Paths From Providers</a:t>
            </a:r>
            <a:endParaRPr/>
          </a:p>
        </p:txBody>
      </p:sp>
      <p:graphicFrame>
        <p:nvGraphicFramePr>
          <p:cNvPr id="1088" name="Google Shape;1088;p80"/>
          <p:cNvGraphicFramePr/>
          <p:nvPr/>
        </p:nvGraphicFramePr>
        <p:xfrm>
          <a:off x="1289525" y="314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{1D169EF6-78FC-4BE4-A2AE-F1F574726245}</a:tableStyleId>
              </a:tblPr>
              <a:tblGrid>
                <a:gridCol w="2576800"/>
                <a:gridCol w="44376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 advertised by...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Export route to...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Everyone (providers, peers, customers)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Peer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Customers</a:t>
                      </a: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only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Provider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Customers only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Autonomous Systems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What are ASes?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Business Relationships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Goals of Inter-Domain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Policy-Based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Gao-Rexford Rules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BGP (Border Gateway Protocol)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Importing and Exporting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Aggregation and Path-Vector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8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BGP: Aggregation and Path-Vector</a:t>
            </a:r>
            <a:endParaRPr/>
          </a:p>
        </p:txBody>
      </p:sp>
      <p:sp>
        <p:nvSpPr>
          <p:cNvPr id="1095" name="Google Shape;1095;p8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8</a:t>
            </a:r>
            <a:r>
              <a:rPr lang="en"/>
              <a:t>, CS 168, </a:t>
            </a:r>
            <a:r>
              <a:rPr lang="en"/>
              <a:t>Summer 2025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Modifications from Distance-Vector to BGP</a:t>
            </a:r>
            <a:endParaRPr/>
          </a:p>
        </p:txBody>
      </p:sp>
      <p:sp>
        <p:nvSpPr>
          <p:cNvPr id="1101" name="Google Shape;1101;p8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Changes we've made so far: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Import paths based on policy (e.g. prefer customer &gt; peer &gt; provider),</a:t>
            </a:r>
            <a:br>
              <a:rPr lang="en"/>
            </a:br>
            <a:r>
              <a:rPr lang="en"/>
              <a:t>instead of based on least-cost.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 paths based on policy (e.g. only advertise profitable routes),</a:t>
            </a:r>
            <a:br>
              <a:rPr lang="en"/>
            </a:br>
            <a:r>
              <a:rPr lang="en"/>
              <a:t>instead of advertising all routes.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make two more changes: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Aggregating prefixes for scalability.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Changing from distance-vector to path-vector.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 #1: Aggregating Prefixes</a:t>
            </a:r>
            <a:endParaRPr/>
          </a:p>
        </p:txBody>
      </p:sp>
      <p:sp>
        <p:nvSpPr>
          <p:cNvPr id="1107" name="Google Shape;1107;p83"/>
          <p:cNvSpPr txBox="1"/>
          <p:nvPr>
            <p:ph idx="1" type="body"/>
          </p:nvPr>
        </p:nvSpPr>
        <p:spPr>
          <a:xfrm>
            <a:off x="107050" y="402200"/>
            <a:ext cx="89097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For scalability, each forwarding table entry </a:t>
            </a:r>
            <a:r>
              <a:rPr lang="en"/>
              <a:t>maps a range of IPs to a next hop.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AS is addressed by a prefix (all machines inside the AS share the same prefix).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BGP can </a:t>
            </a:r>
            <a:r>
              <a:rPr b="1" lang="en"/>
              <a:t>aggregate</a:t>
            </a:r>
            <a:r>
              <a:rPr lang="en"/>
              <a:t> multiple entries into one, combining ranges into one larger range.</a:t>
            </a:r>
            <a:endParaRPr/>
          </a:p>
        </p:txBody>
      </p:sp>
      <p:graphicFrame>
        <p:nvGraphicFramePr>
          <p:cNvPr id="1108" name="Google Shape;1108;p83"/>
          <p:cNvGraphicFramePr/>
          <p:nvPr/>
        </p:nvGraphicFramePr>
        <p:xfrm>
          <a:off x="447300" y="324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{1D169EF6-78FC-4BE4-A2AE-F1F574726245}</a:tableStyleId>
              </a:tblPr>
              <a:tblGrid>
                <a:gridCol w="2005900"/>
                <a:gridCol w="194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Prefix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12.1.0.0/16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12.2.0.0/16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12.3.0.0/16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09" name="Google Shape;1109;p83"/>
          <p:cNvGraphicFramePr/>
          <p:nvPr/>
        </p:nvGraphicFramePr>
        <p:xfrm>
          <a:off x="5035100" y="324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{1D169EF6-78FC-4BE4-A2AE-F1F574726245}</a:tableStyleId>
              </a:tblPr>
              <a:tblGrid>
                <a:gridCol w="2005900"/>
                <a:gridCol w="194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 Prefix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12.0.0.0/8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Physical port #1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110" name="Google Shape;1110;p83"/>
          <p:cNvCxnSpPr/>
          <p:nvPr/>
        </p:nvCxnSpPr>
        <p:spPr>
          <a:xfrm>
            <a:off x="4393700" y="4312500"/>
            <a:ext cx="641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Modification #1: Aggregating Prefixes</a:t>
            </a:r>
            <a:endParaRPr/>
          </a:p>
        </p:txBody>
      </p:sp>
      <p:sp>
        <p:nvSpPr>
          <p:cNvPr id="1116" name="Google Shape;1116;p84"/>
          <p:cNvSpPr txBox="1"/>
          <p:nvPr>
            <p:ph idx="1" type="body"/>
          </p:nvPr>
        </p:nvSpPr>
        <p:spPr>
          <a:xfrm>
            <a:off x="107050" y="402200"/>
            <a:ext cx="8909700" cy="15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Aggregation scales because addresses are hierarchical.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Multi-homing: An AS having multiple providers.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Multi-homing limits aggregation.</a:t>
            </a:r>
            <a:endParaRPr/>
          </a:p>
        </p:txBody>
      </p:sp>
      <p:cxnSp>
        <p:nvCxnSpPr>
          <p:cNvPr id="1117" name="Google Shape;1117;p84"/>
          <p:cNvCxnSpPr>
            <a:stCxn id="1118" idx="4"/>
            <a:endCxn id="1119" idx="7"/>
          </p:cNvCxnSpPr>
          <p:nvPr/>
        </p:nvCxnSpPr>
        <p:spPr>
          <a:xfrm flipH="1">
            <a:off x="4671000" y="2869950"/>
            <a:ext cx="1076100" cy="629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0" name="Google Shape;1120;p84"/>
          <p:cNvCxnSpPr>
            <a:stCxn id="1121" idx="6"/>
            <a:endCxn id="1118" idx="2"/>
          </p:cNvCxnSpPr>
          <p:nvPr/>
        </p:nvCxnSpPr>
        <p:spPr>
          <a:xfrm>
            <a:off x="1839900" y="2569200"/>
            <a:ext cx="3166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1118" name="Google Shape;1118;p84"/>
          <p:cNvSpPr/>
          <p:nvPr/>
        </p:nvSpPr>
        <p:spPr>
          <a:xfrm>
            <a:off x="5006100" y="2268450"/>
            <a:ext cx="1482000" cy="6015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AT&amp;T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4.0.0.0/8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1" name="Google Shape;1121;p84"/>
          <p:cNvSpPr/>
          <p:nvPr/>
        </p:nvSpPr>
        <p:spPr>
          <a:xfrm>
            <a:off x="357900" y="2268450"/>
            <a:ext cx="1482000" cy="6015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Verizon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2" name="Google Shape;1122;p84"/>
          <p:cNvSpPr/>
          <p:nvPr/>
        </p:nvSpPr>
        <p:spPr>
          <a:xfrm>
            <a:off x="5006100" y="3411450"/>
            <a:ext cx="1482000" cy="6015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UCLA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4.78.0.0/16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84"/>
          <p:cNvSpPr/>
          <p:nvPr/>
        </p:nvSpPr>
        <p:spPr>
          <a:xfrm>
            <a:off x="3405900" y="3411450"/>
            <a:ext cx="1482000" cy="6015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4.24.0.0/16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3" name="Google Shape;1123;p84"/>
          <p:cNvSpPr/>
          <p:nvPr/>
        </p:nvSpPr>
        <p:spPr>
          <a:xfrm>
            <a:off x="6606300" y="3411450"/>
            <a:ext cx="1482000" cy="6015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UCSF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4.91.0.0/16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4" name="Google Shape;1124;p84"/>
          <p:cNvCxnSpPr>
            <a:stCxn id="1118" idx="4"/>
            <a:endCxn id="1122" idx="0"/>
          </p:cNvCxnSpPr>
          <p:nvPr/>
        </p:nvCxnSpPr>
        <p:spPr>
          <a:xfrm>
            <a:off x="5747100" y="2869950"/>
            <a:ext cx="0" cy="541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5" name="Google Shape;1125;p84"/>
          <p:cNvCxnSpPr>
            <a:stCxn id="1118" idx="4"/>
            <a:endCxn id="1123" idx="0"/>
          </p:cNvCxnSpPr>
          <p:nvPr/>
        </p:nvCxnSpPr>
        <p:spPr>
          <a:xfrm>
            <a:off x="5747100" y="2869950"/>
            <a:ext cx="1600200" cy="541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6" name="Google Shape;1126;p84"/>
          <p:cNvCxnSpPr/>
          <p:nvPr/>
        </p:nvCxnSpPr>
        <p:spPr>
          <a:xfrm>
            <a:off x="1794275" y="2346150"/>
            <a:ext cx="1807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7" name="Google Shape;1127;p84"/>
          <p:cNvSpPr txBox="1"/>
          <p:nvPr/>
        </p:nvSpPr>
        <p:spPr>
          <a:xfrm>
            <a:off x="1794275" y="2086050"/>
            <a:ext cx="1647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4.0.0.0/8 is this way.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8" name="Google Shape;1128;p84"/>
          <p:cNvCxnSpPr>
            <a:stCxn id="1121" idx="5"/>
            <a:endCxn id="1119" idx="2"/>
          </p:cNvCxnSpPr>
          <p:nvPr/>
        </p:nvCxnSpPr>
        <p:spPr>
          <a:xfrm>
            <a:off x="1622866" y="2781862"/>
            <a:ext cx="1782900" cy="930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84"/>
          <p:cNvCxnSpPr/>
          <p:nvPr/>
        </p:nvCxnSpPr>
        <p:spPr>
          <a:xfrm>
            <a:off x="1470200" y="2904425"/>
            <a:ext cx="744300" cy="38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0" name="Google Shape;1130;p84"/>
          <p:cNvSpPr txBox="1"/>
          <p:nvPr/>
        </p:nvSpPr>
        <p:spPr>
          <a:xfrm>
            <a:off x="824850" y="3068550"/>
            <a:ext cx="92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4.24.0.0/16 is this way.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85"/>
          <p:cNvSpPr txBox="1"/>
          <p:nvPr>
            <p:ph idx="1" type="body"/>
          </p:nvPr>
        </p:nvSpPr>
        <p:spPr>
          <a:xfrm>
            <a:off x="107050" y="402200"/>
            <a:ext cx="8909700" cy="45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Problems with distance-vector-based BGP: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might be loops.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Least-cost routing guaranteed no loops.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Switching to policy-based routing caused us to lose that guarantee.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support Gao-Rexford rules, but not arbitrary policies.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Suppose my policy is: "My traffic should never pass through AS#2019.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 get an announcement: "I am AS#20 and I can reach D with cost 10.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How do I know if this route satisfies my policy?</a:t>
            </a:r>
            <a:endParaRPr/>
          </a:p>
        </p:txBody>
      </p:sp>
      <p:sp>
        <p:nvSpPr>
          <p:cNvPr id="1136" name="Google Shape;1136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 #2: Distance-Vector → Path-Vector</a:t>
            </a:r>
            <a:endParaRPr/>
          </a:p>
        </p:txBody>
      </p:sp>
      <p:sp>
        <p:nvSpPr>
          <p:cNvPr id="1137" name="Google Shape;1137;p85"/>
          <p:cNvSpPr/>
          <p:nvPr/>
        </p:nvSpPr>
        <p:spPr>
          <a:xfrm>
            <a:off x="986975" y="23574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85"/>
          <p:cNvSpPr/>
          <p:nvPr/>
        </p:nvSpPr>
        <p:spPr>
          <a:xfrm>
            <a:off x="2598200" y="2357488"/>
            <a:ext cx="9699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9" name="Google Shape;1139;p85"/>
          <p:cNvCxnSpPr>
            <a:stCxn id="1137" idx="6"/>
            <a:endCxn id="1138" idx="2"/>
          </p:cNvCxnSpPr>
          <p:nvPr/>
        </p:nvCxnSpPr>
        <p:spPr>
          <a:xfrm>
            <a:off x="1956875" y="2634088"/>
            <a:ext cx="6414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0" name="Google Shape;1140;p85"/>
          <p:cNvSpPr txBox="1"/>
          <p:nvPr/>
        </p:nvSpPr>
        <p:spPr>
          <a:xfrm>
            <a:off x="4071425" y="2295550"/>
            <a:ext cx="390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B's policy: "I like sending packets via C."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C's policy: "I like sending packets via B."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1" name="Google Shape;1141;p85"/>
          <p:cNvCxnSpPr/>
          <p:nvPr/>
        </p:nvCxnSpPr>
        <p:spPr>
          <a:xfrm>
            <a:off x="1606463" y="3014475"/>
            <a:ext cx="1342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85"/>
          <p:cNvCxnSpPr/>
          <p:nvPr/>
        </p:nvCxnSpPr>
        <p:spPr>
          <a:xfrm>
            <a:off x="1606463" y="2252475"/>
            <a:ext cx="13422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86"/>
          <p:cNvSpPr txBox="1"/>
          <p:nvPr>
            <p:ph idx="1" type="body"/>
          </p:nvPr>
        </p:nvSpPr>
        <p:spPr>
          <a:xfrm>
            <a:off x="107050" y="402200"/>
            <a:ext cx="8909700" cy="45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Change from distance-vector to </a:t>
            </a:r>
            <a:r>
              <a:rPr b="1" lang="en"/>
              <a:t>path-vector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</a:t>
            </a:r>
            <a:r>
              <a:rPr lang="en"/>
              <a:t>advertising</a:t>
            </a:r>
            <a:r>
              <a:rPr lang="en"/>
              <a:t> distance to destination, advertise the whole AS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"I am A, and I have a path to D via A → B → C → D."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This solves both of our problems.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Loop detection: Check if adding myself to the path creates a loop.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I'm C, adding myself to the path creates a cycle: C → A → B → C → 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 path has a cycle (after adding myself), reject the advertisement.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Arbitrary policies: The entire path is available for checking against policy.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my policy is "don't send my packets through B," I can check the path and reject the advertisement.</a:t>
            </a:r>
            <a:endParaRPr/>
          </a:p>
        </p:txBody>
      </p:sp>
      <p:sp>
        <p:nvSpPr>
          <p:cNvPr id="1148" name="Google Shape;1148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Modification #2: Distance-Vector → Path-Vector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Stub ASes Use Default Routes</a:t>
            </a:r>
            <a:endParaRPr/>
          </a:p>
        </p:txBody>
      </p:sp>
      <p:sp>
        <p:nvSpPr>
          <p:cNvPr id="1154" name="Google Shape;1154;p8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a stub AS is connected to a single provider, it doesn't need to run BGP.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stub AS default-routes everything to the provider.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provider advertises that they can reach the stub AS's prefix.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 provider is advertising on behalf of the stub.</a:t>
            </a:r>
            <a:endParaRPr/>
          </a:p>
        </p:txBody>
      </p:sp>
      <p:sp>
        <p:nvSpPr>
          <p:cNvPr id="1155" name="Google Shape;1155;p87"/>
          <p:cNvSpPr/>
          <p:nvPr/>
        </p:nvSpPr>
        <p:spPr>
          <a:xfrm>
            <a:off x="2435746" y="2999000"/>
            <a:ext cx="16110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Provider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6" name="Google Shape;1156;p87"/>
          <p:cNvSpPr/>
          <p:nvPr/>
        </p:nvSpPr>
        <p:spPr>
          <a:xfrm>
            <a:off x="2435746" y="4006575"/>
            <a:ext cx="1611000" cy="553200"/>
          </a:xfrm>
          <a:prstGeom prst="ellipse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Stub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7" name="Google Shape;1157;p87"/>
          <p:cNvCxnSpPr>
            <a:stCxn id="1155" idx="4"/>
            <a:endCxn id="1156" idx="0"/>
          </p:cNvCxnSpPr>
          <p:nvPr/>
        </p:nvCxnSpPr>
        <p:spPr>
          <a:xfrm>
            <a:off x="3241246" y="3552200"/>
            <a:ext cx="0" cy="454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8" name="Google Shape;1158;p87"/>
          <p:cNvSpPr/>
          <p:nvPr/>
        </p:nvSpPr>
        <p:spPr>
          <a:xfrm>
            <a:off x="4219975" y="3552200"/>
            <a:ext cx="2468100" cy="6360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Forwarding table: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everything to provider.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9" name="Google Shape;1159;p87"/>
          <p:cNvSpPr/>
          <p:nvPr/>
        </p:nvSpPr>
        <p:spPr>
          <a:xfrm>
            <a:off x="4208675" y="2531400"/>
            <a:ext cx="2769600" cy="636000"/>
          </a:xfrm>
          <a:prstGeom prst="wedgeRoundRectCallout">
            <a:avLst>
              <a:gd fmla="val -57180" name="adj1"/>
              <a:gd fmla="val 4798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Forwarding table: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Send stub packets ↓ this way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↓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Inter-Domain Routing</a:t>
            </a:r>
            <a:endParaRPr/>
          </a:p>
        </p:txBody>
      </p:sp>
      <p:sp>
        <p:nvSpPr>
          <p:cNvPr id="1165" name="Google Shape;1165;p8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AS graph, edges reflect physical connections and business relationships.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Customers pay providers.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Peres don't pay each other.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Paths are selected based on policy.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Policy (e.g. Gao-Rexford rules) reflects business goals.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Making money is good.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Don't do work for free.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Good stuff (reachability, converge) happens if you follow Gao-Rexford rules.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BGP extends distance-vector to implement inter-domain routing.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Destinations are IP prefixes that can be aggregated.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Each AS advertises its path to a prefix.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Policy dictates which paths an AS selects (import policy),</a:t>
            </a:r>
            <a:br>
              <a:rPr lang="en"/>
            </a:br>
            <a:r>
              <a:rPr lang="en"/>
              <a:t>and which paths it advertises (export policy).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