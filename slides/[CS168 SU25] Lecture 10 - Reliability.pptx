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6858000" cy="9144000"/>
  <p:embeddedFontLst>
    <p:embeddedFont>
      <p:font typeface="Roboto Medium"/>
      <p:regular r:id="rId88"/>
      <p:bold r:id="rId89"/>
      <p:italic r:id="rId90"/>
      <p:boldItalic r:id="rId91"/>
    </p:embeddedFont>
    <p:embeddedFont>
      <p:font typeface="Roboto"/>
      <p:regular r:id="rId92"/>
      <p:bold r:id="rId93"/>
      <p:italic r:id="rId94"/>
      <p:boldItalic r:id="rId95"/>
    </p:embeddedFont>
    <p:embeddedFont>
      <p:font typeface="Roboto Light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-boldItalic.fntdata"/><Relationship Id="rId94" Type="http://schemas.openxmlformats.org/officeDocument/2006/relationships/font" Target="fonts/Roboto-italic.fntdata"/><Relationship Id="rId97" Type="http://schemas.openxmlformats.org/officeDocument/2006/relationships/font" Target="fonts/RobotoLight-bold.fntdata"/><Relationship Id="rId96" Type="http://schemas.openxmlformats.org/officeDocument/2006/relationships/font" Target="fonts/RobotoLight-regular.fntdata"/><Relationship Id="rId11" Type="http://schemas.openxmlformats.org/officeDocument/2006/relationships/slide" Target="slides/slide6.xml"/><Relationship Id="rId99" Type="http://schemas.openxmlformats.org/officeDocument/2006/relationships/font" Target="fonts/RobotoLight-boldItalic.fntdata"/><Relationship Id="rId10" Type="http://schemas.openxmlformats.org/officeDocument/2006/relationships/slide" Target="slides/slide5.xml"/><Relationship Id="rId98" Type="http://schemas.openxmlformats.org/officeDocument/2006/relationships/font" Target="fonts/Robo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Medium-boldItalic.fntdata"/><Relationship Id="rId90" Type="http://schemas.openxmlformats.org/officeDocument/2006/relationships/font" Target="fonts/RobotoMedium-italic.fntdata"/><Relationship Id="rId93" Type="http://schemas.openxmlformats.org/officeDocument/2006/relationships/font" Target="fonts/Roboto-bold.fntdata"/><Relationship Id="rId92" Type="http://schemas.openxmlformats.org/officeDocument/2006/relationships/font" Target="fonts/Robot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font" Target="fonts/RobotoMedium-regular.fntdata"/><Relationship Id="rId87" Type="http://schemas.openxmlformats.org/officeDocument/2006/relationships/slide" Target="slides/slide82.xml"/><Relationship Id="rId89" Type="http://schemas.openxmlformats.org/officeDocument/2006/relationships/font" Target="fonts/RobotoMedium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4bf034c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4bf034c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start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protocols let's start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discussing what we want to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at layer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a4bf034c0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a4bf034c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 so as a reminder this is probably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review from when we talked about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layers of the internet but let's cover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one more time layer three allowed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pack gets anywhere in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internet we achieved Global routing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result of all the routing protocols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saw in the last unit now layer three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was thinking in terms of packets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individually and each router received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and forwarded it independently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the other packets that was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abstraction level at layer three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reason why we didn't stop at Layer Three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because of two major problems one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IP is best effort packets can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lost corrupted reordered delayed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duplicated all things that we will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and try to solve the other problem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that thinking about packets is hard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a4bf034c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a4bf034c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major problems one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IP is best effort packets can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lost corrupted reordered delayed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duplicated all things that we will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 and try to solve the other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thinking about packets is hard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imagine if you wanted to write a 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sends a file to someone else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be very annoying if you had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code to split the file up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packets and then write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how to reassemble the packets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annoying we want to give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programmers a more convenient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abstraction that they can write code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 of so that's what layer 4 is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fix for us it's going to add new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features on top of layer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a4bf034c0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a4bf034c0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dive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these two protocols let's talk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these features that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the first feature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at layer 4 is demultiplexing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ports this is probably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you've already seen but remember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three allows us to Dem Multiplex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using the protocol field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 header so when I receive a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unclear what all that stuff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green is is it a TCP packet is it a UDP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when I'm operating at IP level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what this payload is so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that we are going to use an extra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field not pictured on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slide to pass the packet to the correct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code whether that is the TCP code 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UDP code so that's what happened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3 hopefully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a4bf034c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a4bf034c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at layer 4 we have a similar problem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once you unwrap the TCP header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process it it is not clear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comes next what do we do with this stuff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blue what application at layer 7even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 pass this packet to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applications I can pass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to are the different applications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using the internet on my computer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my computer is running slack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chat and that's using the internet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running an email server that also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uses the internet and it's running a web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browser that also uses the internet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to figure out what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we send the TCP payload to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the demultiplexing is going to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a4bf034c0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a4bf034c0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as a summary of all the Dem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multiplexing features we've seen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still kind of in the review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session of this lecture at layer 3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protocol field to Dem multiply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layer 4 and pick the right layer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Protocol and at layer 4 we demultiplex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using ports to identify the correct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layer 7 application that we pass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packet up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a4bf034c0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ea4bf034c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another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can think of the port is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point between the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operating system the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operating system both know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fire fox has port number 20 so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for Firefox are labeled 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20 and as a reminder also there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are logical ports which is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looking at now do not confuse them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physical ports which we will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later but all of this unit we will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talking about logical ports not physical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ones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a4bf034c0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a4bf034c0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on ports that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also review is that some ports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public and wellknown and some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private they're kind of like room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numbers in a house so if you're in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own house you can name name your rooms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a4bf034c0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a4bf034c0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lot of the next two lectures will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about building reliability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unreliable delivery as a building 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already have unreliable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extra features do we have to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achieve reliability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spend a lot of time think thinking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do note that some layer 4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namely TCP guarantee reliability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guarantees associated with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whereas other protocols actually do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you can actually choose a layer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that doesn't provide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but does provide some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features like abstractions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ports so layer 4 is actually used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lots of different features reliability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just one of them and TCP has it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UDP does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a4bf034c0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a4bf034c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summarize all the layer 4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offer us new abstractions that were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previously not possible in the layer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so the way that I think about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you move to higher layers you stop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in terms of individual packets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processed independently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thinking about Connections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flows and the connection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longlasting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between two people who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exchanging lots of data so that's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way to think about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passing through the internet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the abstraction that programmers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higher layers want to use I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imagine I start a connection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else I send them a file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receive the file great I don't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the underlying individual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being sent through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as we move from layer 3 to layer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stop thinking in terms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packets and start thinking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terms of connections which is a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useful way to think about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operations for end users and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particular if you use TCP the type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you get is something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Bite stream and I think of a bite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stream like a big long pipe and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happens is you feed some btes into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pipe and those same bites appear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order on the other side and in between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could go through multiple hops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have to resent some bites that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but none of that is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application programmer's concern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point of view of the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 they create a bite stream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whatever they feed in on one end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appear on the other end so it's just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tube anything you shove in on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side shows up on the other side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to worry about the underlying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4 layer three implementation so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Connections and if we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 we get B streams check out this cool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a4bf034c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a4bf034c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one is UDP and UDP gives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abstraction called Data GRS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kind of like the packet mindset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although still have ports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useful features but if you choose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use UDP you don't get the by stream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instead you have to process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one by one and UDP is best effort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reliability so things can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duplicated they can show up out of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get dropped or corrupted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application has to process things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accordingly so to summarize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highlevel picture of the transport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that exist there are two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choices that you can 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a4bf034c0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ea4bf034c0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ea4bf034c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ea4bf034c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a4bf034c0_0_5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ea4bf034c0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ea4bf034c0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ea4bf034c0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ea4bf034c0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ea4bf034c0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a4bf034c0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ea4bf034c0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ea4bf034c0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ea4bf034c0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are now going to build our very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to do so I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remind you about timing diagrams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 way you read this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center is on the left the recipient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the right and an arrow represents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piece of data being sent and time moves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down as you go down this picture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delay of the packet is the vertical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the time it's 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time it's received and there's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roundtrip time which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long it takes to send a packet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response and that is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labeled on our picture so just remember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that is how you read these diagrams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since we will be seeing a lot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ea4bf034c0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ea4bf034c0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start with a super simple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and then we'll 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better and expand it to be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so let's try to achieve at least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once delivery the packet can arrive once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 multiple times is also okay and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 to achieve it for just a 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sender is sending one and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packet that's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if we can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packet to arrive at the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reliably we win it's okay if it arrives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times that's fine it's okay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fail and announce the failure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not connected to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fine too but we want to get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once delivery so there are five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that we talked about earlier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best effort service model if we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all of these problems we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achieved at least once delivery so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ea4bf034c0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ea4bf034c0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a4bf034c0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a4bf034c0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ea4bf034c0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ea4bf034c0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ea4bf034c0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ea4bf034c0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a4bf034c0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ea4bf034c0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ea4bf034c0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ea4bf034c0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ea4bf034c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ea4bf034c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ea4bf034c0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ea4bf034c0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ea4bf034c0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ea4bf034c0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ea4bf034c0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ea4bf034c0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a4bf034c0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ea4bf034c0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ea4bf034c0_0_9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ea4bf034c0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a4bf034c0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ea4bf034c0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ea4bf034c0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ea4bf034c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ea4bf034c0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ea4bf034c0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ea4bf034c0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ea4bf034c0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ea4bf034c0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ea4bf034c0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ea4bf034c0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ea4bf034c0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ea4bf034c0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ea4bf034c0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a4bf034c0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ea4bf034c0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ea4bf034c0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ea4bf034c0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ea4bf034c0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ea4bf034c0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ea4bf034c0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ea4bf034c0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ea4bf034c0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ea4bf034c0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ea4bf034c0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ea4bf034c0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ea4bf034c0_0_1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ea4bf034c0_0_1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ea4bf034c0_0_12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ea4bf034c0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talk about the other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constraints on setting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ea4bf034c0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ea4bf034c0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three goals we've already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looked at the first one and that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filling the pipe by using the equation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wal rtt times bandwidth we were able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 a value of w that kept the sender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busy at all times continually sending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into the network and never idling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doing nothing but there are two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goals that we need to balance and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probably cause W to decrease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constraint was Us increasing W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up until I kept the center busy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time and then two and three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cause W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decrease so number two is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flow control and the idea here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cannot overload the recipient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ea4bf034c0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ea4bf034c0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a4bf034c0_0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a4bf034c0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ea4bf034c0_0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ea4bf034c0_0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ea4bf034c0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ea4bf034c0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ea4bf034c0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ea4bf034c0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ea4bf034c0_0_18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ea4bf034c0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ea4bf034c0_0_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ea4bf034c0_0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ea4bf034c0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ea4bf034c0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ea4bf034c0_0_1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ea4bf034c0_0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ea4bf034c0_0_1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ea4bf034c0_0_1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ea4bf034c0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ea4bf034c0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4bf034c0_0_19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4bf034c0_0_1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a4bf034c0_0_1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ea4bf034c0_0_1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ea4bf034c0_0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ea4bf034c0_0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ea4bf034c0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ea4bf034c0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ea4bf034c0_0_2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ea4bf034c0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a4bf034c0_0_2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a4bf034c0_0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ea4bf034c0_0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ea4bf034c0_0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ea4bf034c0_0_2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ea4bf034c0_0_2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ea4bf034c0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ea4bf034c0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ea4bf034c0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ea4bf034c0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ea4bf034c0_0_2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ea4bf034c0_0_2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ea4bf034c0_0_2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ea4bf034c0_0_2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ea4bf034c0_0_2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ea4bf034c0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a4bf034c0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a4bf034c0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ea4bf034c0_0_2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ea4bf034c0_0_2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ea4bf034c0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ea4bf034c0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ea4bf034c0_0_2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ea4bf034c0_0_2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ea4bf034c0_0_2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ea4bf034c0_0_2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ea4bf034c0_0_2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ea4bf034c0_0_2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ea4bf034c0_0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ea4bf034c0_0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a4bf034c0_0_20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a4bf034c0_0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ea4bf034c0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ea4bf034c0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ea4bf034c0_0_2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ea4bf034c0_0_2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ea4bf034c0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ea4bf034c0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Reliability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10 (Transport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4579975" y="593800"/>
            <a:ext cx="0" cy="21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4"/>
          <p:cNvCxnSpPr/>
          <p:nvPr/>
        </p:nvCxnSpPr>
        <p:spPr>
          <a:xfrm>
            <a:off x="7601375" y="593800"/>
            <a:ext cx="0" cy="21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4"/>
          <p:cNvCxnSpPr/>
          <p:nvPr/>
        </p:nvCxnSpPr>
        <p:spPr>
          <a:xfrm flipH="1">
            <a:off x="4587082" y="11927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4581950" y="7830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4581950" y="9354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4"/>
          <p:cNvCxnSpPr/>
          <p:nvPr/>
        </p:nvCxnSpPr>
        <p:spPr>
          <a:xfrm>
            <a:off x="4581950" y="10878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4"/>
          <p:cNvCxnSpPr/>
          <p:nvPr/>
        </p:nvCxnSpPr>
        <p:spPr>
          <a:xfrm>
            <a:off x="4581950" y="12402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4"/>
          <p:cNvCxnSpPr/>
          <p:nvPr/>
        </p:nvCxnSpPr>
        <p:spPr>
          <a:xfrm flipH="1">
            <a:off x="4587082" y="14975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4"/>
          <p:cNvSpPr txBox="1"/>
          <p:nvPr/>
        </p:nvSpPr>
        <p:spPr>
          <a:xfrm>
            <a:off x="4364436" y="610236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7564825" y="1004579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 flipH="1">
            <a:off x="4587082" y="16499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5639482" y="1345189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4"/>
          <p:cNvSpPr txBox="1"/>
          <p:nvPr/>
        </p:nvSpPr>
        <p:spPr>
          <a:xfrm>
            <a:off x="5460199" y="144971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4581950" y="21546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4"/>
          <p:cNvSpPr txBox="1"/>
          <p:nvPr/>
        </p:nvSpPr>
        <p:spPr>
          <a:xfrm>
            <a:off x="4364436" y="1981836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Transport Layer Design Goals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Design Goals</a:t>
            </a:r>
            <a:endParaRPr/>
          </a:p>
        </p:txBody>
      </p:sp>
      <p:sp>
        <p:nvSpPr>
          <p:cNvPr id="167" name="Google Shape;167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3 (IP) gave us the ability to send packets anywhere in the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 level: Packets individually sent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IP offers best-effort delivery.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Packets can be lost, corrupted, reordered, delayed, or duplicated.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Applications don't want to think about packets and best-effort.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Programmers want to think in terms of a more convenient abstraction.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4 (Transport) builds extra features on top of Layer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TCP</a:t>
            </a:r>
            <a:r>
              <a:rPr lang="en"/>
              <a:t> (Transmission Control Protocol): Adds </a:t>
            </a:r>
            <a:r>
              <a:rPr i="1" lang="en"/>
              <a:t>de-multiplexing</a:t>
            </a:r>
            <a:r>
              <a:rPr lang="en"/>
              <a:t> and </a:t>
            </a:r>
            <a:r>
              <a:rPr i="1" lang="en"/>
              <a:t>reliability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UDP</a:t>
            </a:r>
            <a:r>
              <a:rPr lang="en"/>
              <a:t> (User Datagram Protocol): Adds </a:t>
            </a:r>
            <a:r>
              <a:rPr i="1" lang="en"/>
              <a:t>de-multiplexing</a:t>
            </a:r>
            <a:r>
              <a:rPr lang="en"/>
              <a:t> only.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protocols provide a more useful abstraction to programmers.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check out each of these features.</a:t>
            </a:r>
            <a:endParaRPr/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Protocol field in IP Header (L3) supports de-multiplexing between L4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I pass this packet to the TCP code or the UDP code?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7391850" y="2970200"/>
            <a:ext cx="1548300" cy="1615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(TCP? UDP?)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Google Shape;196;p27"/>
          <p:cNvCxnSpPr>
            <a:stCxn id="182" idx="0"/>
            <a:endCxn id="183" idx="2"/>
          </p:cNvCxnSpPr>
          <p:nvPr/>
        </p:nvCxnSpPr>
        <p:spPr>
          <a:xfrm rot="10800000">
            <a:off x="3674100" y="3498200"/>
            <a:ext cx="586200" cy="2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7"/>
          <p:cNvCxnSpPr>
            <a:stCxn id="182" idx="0"/>
            <a:endCxn id="184" idx="2"/>
          </p:cNvCxnSpPr>
          <p:nvPr/>
        </p:nvCxnSpPr>
        <p:spPr>
          <a:xfrm flipH="1" rot="10800000">
            <a:off x="4260300" y="3498200"/>
            <a:ext cx="586200" cy="2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 field in TCP header</a:t>
            </a:r>
            <a:r>
              <a:rPr lang="en"/>
              <a:t> (L4) supports de-multiplexing between L7 applications.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application should I pass this packet to?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0" name="Google Shape;220;p28"/>
          <p:cNvCxnSpPr>
            <a:stCxn id="209" idx="0"/>
            <a:endCxn id="214" idx="2"/>
          </p:cNvCxnSpPr>
          <p:nvPr/>
        </p:nvCxnSpPr>
        <p:spPr>
          <a:xfrm rot="10800000">
            <a:off x="1915500" y="2517800"/>
            <a:ext cx="17586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8"/>
          <p:cNvCxnSpPr>
            <a:stCxn id="209" idx="0"/>
            <a:endCxn id="213" idx="2"/>
          </p:cNvCxnSpPr>
          <p:nvPr/>
        </p:nvCxnSpPr>
        <p:spPr>
          <a:xfrm rot="10800000">
            <a:off x="3087900" y="2517800"/>
            <a:ext cx="5862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8"/>
          <p:cNvCxnSpPr>
            <a:stCxn id="209" idx="0"/>
            <a:endCxn id="211" idx="2"/>
          </p:cNvCxnSpPr>
          <p:nvPr/>
        </p:nvCxnSpPr>
        <p:spPr>
          <a:xfrm flipH="1" rot="10800000">
            <a:off x="3674100" y="2517800"/>
            <a:ext cx="5862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07050" y="402200"/>
            <a:ext cx="89097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(L3) and port (L4) together allow us to de-multiplex arriving packets.</a:t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1899450" y="2517800"/>
            <a:ext cx="2164875" cy="2155142"/>
          </a:xfrm>
          <a:custGeom>
            <a:rect b="b" l="l" r="r" t="t"/>
            <a:pathLst>
              <a:path extrusionOk="0" h="85905" w="86595">
                <a:moveTo>
                  <a:pt x="85905" y="85905"/>
                </a:moveTo>
                <a:cubicBezTo>
                  <a:pt x="85606" y="81352"/>
                  <a:pt x="88541" y="67364"/>
                  <a:pt x="84108" y="58588"/>
                </a:cubicBezTo>
                <a:cubicBezTo>
                  <a:pt x="79675" y="49812"/>
                  <a:pt x="71827" y="40527"/>
                  <a:pt x="59307" y="33248"/>
                </a:cubicBezTo>
                <a:cubicBezTo>
                  <a:pt x="46787" y="25969"/>
                  <a:pt x="18871" y="20457"/>
                  <a:pt x="8986" y="14916"/>
                </a:cubicBezTo>
                <a:cubicBezTo>
                  <a:pt x="-898" y="9375"/>
                  <a:pt x="1498" y="2486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6" name="Google Shape;246;p29"/>
          <p:cNvSpPr/>
          <p:nvPr/>
        </p:nvSpPr>
        <p:spPr>
          <a:xfrm>
            <a:off x="3096300" y="2521725"/>
            <a:ext cx="1091476" cy="2147626"/>
          </a:xfrm>
          <a:custGeom>
            <a:rect b="b" l="l" r="r" t="t"/>
            <a:pathLst>
              <a:path extrusionOk="0" h="85725" w="43729">
                <a:moveTo>
                  <a:pt x="43132" y="85725"/>
                </a:moveTo>
                <a:cubicBezTo>
                  <a:pt x="42982" y="80543"/>
                  <a:pt x="44990" y="65747"/>
                  <a:pt x="42234" y="54634"/>
                </a:cubicBezTo>
                <a:cubicBezTo>
                  <a:pt x="39478" y="43522"/>
                  <a:pt x="33068" y="26568"/>
                  <a:pt x="26598" y="19050"/>
                </a:cubicBezTo>
                <a:cubicBezTo>
                  <a:pt x="20128" y="11532"/>
                  <a:pt x="7848" y="12700"/>
                  <a:pt x="3415" y="9525"/>
                </a:cubicBezTo>
                <a:cubicBezTo>
                  <a:pt x="-1018" y="6350"/>
                  <a:pt x="569" y="1588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7" name="Google Shape;247;p29"/>
          <p:cNvSpPr/>
          <p:nvPr/>
        </p:nvSpPr>
        <p:spPr>
          <a:xfrm>
            <a:off x="4528375" y="2526450"/>
            <a:ext cx="895885" cy="2147625"/>
          </a:xfrm>
          <a:custGeom>
            <a:rect b="b" l="l" r="r" t="t"/>
            <a:pathLst>
              <a:path extrusionOk="0" h="85905" w="37897">
                <a:moveTo>
                  <a:pt x="337" y="85905"/>
                </a:moveTo>
                <a:cubicBezTo>
                  <a:pt x="337" y="80783"/>
                  <a:pt x="-382" y="66196"/>
                  <a:pt x="337" y="55173"/>
                </a:cubicBezTo>
                <a:cubicBezTo>
                  <a:pt x="1056" y="44150"/>
                  <a:pt x="-891" y="26928"/>
                  <a:pt x="4650" y="19769"/>
                </a:cubicBezTo>
                <a:cubicBezTo>
                  <a:pt x="10191" y="12610"/>
                  <a:pt x="28044" y="15516"/>
                  <a:pt x="33585" y="12221"/>
                </a:cubicBezTo>
                <a:cubicBezTo>
                  <a:pt x="39126" y="8926"/>
                  <a:pt x="37179" y="2037"/>
                  <a:pt x="37898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8" name="Google Shape;248;p29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the attachment point between the application and the 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allow data to pass between the </a:t>
            </a:r>
            <a:r>
              <a:rPr lang="en"/>
              <a:t>application</a:t>
            </a:r>
            <a:r>
              <a:rPr lang="en"/>
              <a:t> and the OS, without mixing up data between applications.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30"/>
          <p:cNvCxnSpPr>
            <a:stCxn id="263" idx="2"/>
          </p:cNvCxnSpPr>
          <p:nvPr/>
        </p:nvCxnSpPr>
        <p:spPr>
          <a:xfrm>
            <a:off x="1915500" y="2517800"/>
            <a:ext cx="534900" cy="46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0" name="Google Shape;270;p30"/>
          <p:cNvCxnSpPr>
            <a:stCxn id="262" idx="2"/>
          </p:cNvCxnSpPr>
          <p:nvPr/>
        </p:nvCxnSpPr>
        <p:spPr>
          <a:xfrm>
            <a:off x="3087900" y="2517800"/>
            <a:ext cx="472200" cy="4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" name="Google Shape;271;p30"/>
          <p:cNvCxnSpPr>
            <a:stCxn id="260" idx="2"/>
            <a:endCxn id="253" idx="0"/>
          </p:cNvCxnSpPr>
          <p:nvPr/>
        </p:nvCxnSpPr>
        <p:spPr>
          <a:xfrm>
            <a:off x="4260300" y="2517800"/>
            <a:ext cx="0" cy="4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30"/>
          <p:cNvCxnSpPr>
            <a:stCxn id="261" idx="2"/>
          </p:cNvCxnSpPr>
          <p:nvPr/>
        </p:nvCxnSpPr>
        <p:spPr>
          <a:xfrm flipH="1">
            <a:off x="5127300" y="2517800"/>
            <a:ext cx="305400" cy="4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3" name="Google Shape;273;p30"/>
          <p:cNvCxnSpPr>
            <a:stCxn id="264" idx="2"/>
          </p:cNvCxnSpPr>
          <p:nvPr/>
        </p:nvCxnSpPr>
        <p:spPr>
          <a:xfrm flipH="1">
            <a:off x="6100200" y="2517800"/>
            <a:ext cx="504900" cy="48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4" name="Google Shape;274;p30"/>
          <p:cNvSpPr txBox="1"/>
          <p:nvPr/>
        </p:nvSpPr>
        <p:spPr>
          <a:xfrm>
            <a:off x="6427550" y="3501800"/>
            <a:ext cx="2531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Warning: Naming conflict.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Logical ports: L4 header field (what you're looking at now).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ports: On a router, the place you plug in a link.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often called "ports."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De-Multiplexing with Ports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107050" y="402200"/>
            <a:ext cx="8909700" cy="45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Analogy: Ports are like room numbers in a house/building.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address is the same, but the room number specifies one person in the house.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can be anything in private </a:t>
            </a:r>
            <a:r>
              <a:rPr lang="en"/>
              <a:t>houses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should be well-known and constant in public buildings.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applications on a specific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 numbers are 16 bits long.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private computers, ports can be anything.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"Ephemeral" port numbers: 1024–65535.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pick a random port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public services, ports should be well-known and public.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SSH (22), HTTP (80).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Services can listen for requests on a well-known port.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Users know the appropriate port number to contact.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107050" y="402200"/>
            <a:ext cx="89097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</a:t>
            </a:r>
            <a:r>
              <a:rPr lang="en"/>
              <a:t>application</a:t>
            </a:r>
            <a:r>
              <a:rPr lang="en"/>
              <a:t> semantics involve reliable delivery.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File transfer.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Implemented by TCP, but not UDP.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Building a reliable service (L4) on top of unreliable packet delivery (L3).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spend most of today and next time building this.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Reliability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5738200" y="3349000"/>
            <a:ext cx="21201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1295375" y="3366900"/>
            <a:ext cx="2468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3"/>
          <p:cNvSpPr/>
          <p:nvPr/>
        </p:nvSpPr>
        <p:spPr>
          <a:xfrm rot="10800000">
            <a:off x="5556700" y="4241701"/>
            <a:ext cx="181500" cy="5835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Bytestream</a:t>
            </a: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implementing reliability gives the application a new abstraction.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reliability (L3): Unreliable packet abstraction.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individual packets, which might be dropped/corrupted/re-ordered.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reliability (L4): </a:t>
            </a:r>
            <a:r>
              <a:rPr lang="en"/>
              <a:t>Reliable </a:t>
            </a:r>
            <a:r>
              <a:rPr b="1" lang="en"/>
              <a:t>b</a:t>
            </a:r>
            <a:r>
              <a:rPr b="1" lang="en"/>
              <a:t>ytestream abstraction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 application sends an arbitrary-length string of bytes.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same bytes appear, in order, at the recipient application.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think in terms of </a:t>
            </a:r>
            <a:r>
              <a:rPr b="1" lang="en"/>
              <a:t>connections</a:t>
            </a:r>
            <a:r>
              <a:rPr lang="en"/>
              <a:t> (aka sessions),</a:t>
            </a:r>
            <a:br>
              <a:rPr lang="en"/>
            </a:br>
            <a:r>
              <a:rPr lang="en"/>
              <a:t>instead of </a:t>
            </a:r>
            <a:r>
              <a:rPr lang="en"/>
              <a:t>individual</a:t>
            </a:r>
            <a:r>
              <a:rPr lang="en"/>
              <a:t> packets.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371600" y="4291775"/>
            <a:ext cx="79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Arbitrary data...so I tied an onion to my belt, which was the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style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the time...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7" name="Google Shape;297;p33"/>
          <p:cNvGrpSpPr/>
          <p:nvPr/>
        </p:nvGrpSpPr>
        <p:grpSpPr>
          <a:xfrm>
            <a:off x="3763772" y="4241675"/>
            <a:ext cx="1895903" cy="583525"/>
            <a:chOff x="3763772" y="3708275"/>
            <a:chExt cx="1895903" cy="583525"/>
          </a:xfrm>
        </p:grpSpPr>
        <p:sp>
          <p:nvSpPr>
            <p:cNvPr id="298" name="Google Shape;298;p33"/>
            <p:cNvSpPr/>
            <p:nvPr/>
          </p:nvSpPr>
          <p:spPr>
            <a:xfrm flipH="1" rot="10800000">
              <a:off x="3763772" y="3708300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 rot="10800000">
              <a:off x="4211350" y="3708275"/>
              <a:ext cx="1136100" cy="5835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 flipH="1" rot="10800000">
              <a:off x="5053125" y="3708275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 rot="10800000">
              <a:off x="4191549" y="3712650"/>
              <a:ext cx="372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 rot="10800000">
              <a:off x="5029900" y="3712651"/>
              <a:ext cx="1461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3" name="Google Shape;303;p33"/>
          <p:cNvSpPr txBox="1"/>
          <p:nvPr/>
        </p:nvSpPr>
        <p:spPr>
          <a:xfrm>
            <a:off x="3808600" y="4333350"/>
            <a:ext cx="174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4" name="Google Shape;304;p33"/>
          <p:cNvGrpSpPr/>
          <p:nvPr/>
        </p:nvGrpSpPr>
        <p:grpSpPr>
          <a:xfrm>
            <a:off x="8975" y="3366850"/>
            <a:ext cx="1462800" cy="1507500"/>
            <a:chOff x="8975" y="3366850"/>
            <a:chExt cx="1462800" cy="1507500"/>
          </a:xfrm>
        </p:grpSpPr>
        <p:sp>
          <p:nvSpPr>
            <p:cNvPr id="305" name="Google Shape;305;p33"/>
            <p:cNvSpPr/>
            <p:nvPr/>
          </p:nvSpPr>
          <p:spPr>
            <a:xfrm>
              <a:off x="8975" y="3366850"/>
              <a:ext cx="1286400" cy="1507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1219175" y="3371350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7" name="Google Shape;307;p33"/>
          <p:cNvGrpSpPr/>
          <p:nvPr/>
        </p:nvGrpSpPr>
        <p:grpSpPr>
          <a:xfrm>
            <a:off x="7696175" y="3349000"/>
            <a:ext cx="1448450" cy="1507500"/>
            <a:chOff x="7696175" y="3349000"/>
            <a:chExt cx="1448450" cy="1507500"/>
          </a:xfrm>
        </p:grpSpPr>
        <p:sp>
          <p:nvSpPr>
            <p:cNvPr id="308" name="Google Shape;308;p33"/>
            <p:cNvSpPr/>
            <p:nvPr/>
          </p:nvSpPr>
          <p:spPr>
            <a:xfrm>
              <a:off x="7858225" y="3349000"/>
              <a:ext cx="1286400" cy="1507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7696175" y="3353378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Datagram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UDP does not implement reliability, and it gives users the </a:t>
            </a:r>
            <a:r>
              <a:rPr b="1" lang="en"/>
              <a:t>datagram abstraction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Basically the same as the Layer 3 packet abstraction.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best-effort.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application</a:t>
            </a:r>
            <a:r>
              <a:rPr lang="en"/>
              <a:t> is responsible for splitting data into limited-size packets.</a:t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8975" y="3366850"/>
            <a:ext cx="1286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858225" y="3349000"/>
            <a:ext cx="1286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1626875" y="351400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3988550" y="3561975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2932200" y="4043175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belt,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100400" y="4378900"/>
            <a:ext cx="1286400" cy="303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was the style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6386800" y="366960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teh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6720100" y="319780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Corrupted.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34"/>
          <p:cNvCxnSpPr>
            <a:stCxn id="323" idx="2"/>
            <a:endCxn id="322" idx="0"/>
          </p:cNvCxnSpPr>
          <p:nvPr/>
        </p:nvCxnSpPr>
        <p:spPr>
          <a:xfrm flipH="1">
            <a:off x="7030150" y="3437800"/>
            <a:ext cx="166500" cy="231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4"/>
          <p:cNvSpPr txBox="1"/>
          <p:nvPr/>
        </p:nvSpPr>
        <p:spPr>
          <a:xfrm>
            <a:off x="3988550" y="308185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6" name="Google Shape;326;p34"/>
          <p:cNvCxnSpPr>
            <a:stCxn id="325" idx="2"/>
            <a:endCxn id="319" idx="0"/>
          </p:cNvCxnSpPr>
          <p:nvPr/>
        </p:nvCxnSpPr>
        <p:spPr>
          <a:xfrm>
            <a:off x="4465100" y="3321850"/>
            <a:ext cx="166800" cy="24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4"/>
          <p:cNvSpPr txBox="1"/>
          <p:nvPr/>
        </p:nvSpPr>
        <p:spPr>
          <a:xfrm>
            <a:off x="6835150" y="4410850"/>
            <a:ext cx="72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Dropped.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4"/>
          <p:cNvCxnSpPr>
            <a:stCxn id="327" idx="1"/>
            <a:endCxn id="321" idx="3"/>
          </p:cNvCxnSpPr>
          <p:nvPr/>
        </p:nvCxnSpPr>
        <p:spPr>
          <a:xfrm rot="10800000">
            <a:off x="6386950" y="4530850"/>
            <a:ext cx="448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4"/>
          <p:cNvSpPr/>
          <p:nvPr/>
        </p:nvSpPr>
        <p:spPr>
          <a:xfrm>
            <a:off x="1626875" y="453085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3361475" y="4562800"/>
            <a:ext cx="791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34"/>
          <p:cNvCxnSpPr>
            <a:stCxn id="330" idx="1"/>
            <a:endCxn id="329" idx="3"/>
          </p:cNvCxnSpPr>
          <p:nvPr/>
        </p:nvCxnSpPr>
        <p:spPr>
          <a:xfrm rot="10800000">
            <a:off x="2913275" y="4682800"/>
            <a:ext cx="448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/>
        </p:nvSpPr>
        <p:spPr>
          <a:xfrm>
            <a:off x="6310013" y="2007800"/>
            <a:ext cx="128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Bytestream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6367025" y="3006125"/>
            <a:ext cx="10581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107050" y="402200"/>
            <a:ext cx="59973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choices of protocols at Layer 4: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 de-multiplexing with ports.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</a:t>
            </a:r>
            <a:r>
              <a:rPr lang="en"/>
              <a:t> a more useful abstraction to applications.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protocol offers a different abstraction.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additionally offers reliability.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programmer can choose which one to use.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needed: Choose TCP.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File transfer.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isn't needed: Choose UDP.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Live streaming.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6307800" y="1234225"/>
            <a:ext cx="269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7716488" y="2007800"/>
            <a:ext cx="1282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Datagram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35"/>
          <p:cNvCxnSpPr>
            <a:stCxn id="340" idx="2"/>
            <a:endCxn id="336" idx="0"/>
          </p:cNvCxnSpPr>
          <p:nvPr/>
        </p:nvCxnSpPr>
        <p:spPr>
          <a:xfrm flipH="1">
            <a:off x="6951150" y="1505125"/>
            <a:ext cx="7032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5"/>
          <p:cNvCxnSpPr>
            <a:stCxn id="340" idx="2"/>
            <a:endCxn id="341" idx="0"/>
          </p:cNvCxnSpPr>
          <p:nvPr/>
        </p:nvCxnSpPr>
        <p:spPr>
          <a:xfrm>
            <a:off x="7654350" y="1505125"/>
            <a:ext cx="7032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5"/>
          <p:cNvSpPr txBox="1"/>
          <p:nvPr/>
        </p:nvSpPr>
        <p:spPr>
          <a:xfrm>
            <a:off x="6384000" y="3299675"/>
            <a:ext cx="1987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We're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about to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spend a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lot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 time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here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but don't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forget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the bigger picture.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is Implemented at End Hosts</a:t>
            </a:r>
            <a:endParaRPr/>
          </a:p>
        </p:txBody>
      </p:sp>
      <p:sp>
        <p:nvSpPr>
          <p:cNvPr id="350" name="Google Shape;350;p36"/>
          <p:cNvSpPr txBox="1"/>
          <p:nvPr>
            <p:ph idx="1" type="body"/>
          </p:nvPr>
        </p:nvSpPr>
        <p:spPr>
          <a:xfrm>
            <a:off x="107050" y="402200"/>
            <a:ext cx="89097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TCP and UDP are implemented at end hosts, not intermediate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De-multiplexing: Give the packet to the appropriate application...on the </a:t>
            </a:r>
            <a:r>
              <a:rPr i="1" lang="en"/>
              <a:t>end host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better abstraction...for the </a:t>
            </a:r>
            <a:r>
              <a:rPr i="1" lang="en"/>
              <a:t>end hosts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 at end hosts: End-to-end principle.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Alternate design: Make every link between routers reliable.</a:t>
            </a:r>
            <a:br>
              <a:rPr lang="en"/>
            </a:br>
            <a:r>
              <a:rPr lang="en"/>
              <a:t>Not what we chose to do.</a:t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>
            <a:off x="457200" y="3736653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457200" y="3381513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57200" y="4091792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457200" y="3026374"/>
            <a:ext cx="1325700" cy="355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6"/>
          <p:cNvSpPr/>
          <p:nvPr/>
        </p:nvSpPr>
        <p:spPr>
          <a:xfrm>
            <a:off x="457200" y="2671235"/>
            <a:ext cx="1325700" cy="355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457200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(Sender)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7365349" y="3736653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7365349" y="3381513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7365349" y="4091792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7365349" y="3026374"/>
            <a:ext cx="1325700" cy="355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7365349" y="2671235"/>
            <a:ext cx="1325700" cy="355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7365349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(Recipient)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2217091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2217091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2217091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221709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3934266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3934266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3934266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3934266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605441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605441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5605441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560544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6"/>
          <p:cNvCxnSpPr>
            <a:stCxn id="353" idx="3"/>
            <a:endCxn id="365" idx="1"/>
          </p:cNvCxnSpPr>
          <p:nvPr/>
        </p:nvCxnSpPr>
        <p:spPr>
          <a:xfrm>
            <a:off x="1782900" y="4269542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36"/>
          <p:cNvCxnSpPr>
            <a:stCxn id="365" idx="3"/>
            <a:endCxn id="369" idx="1"/>
          </p:cNvCxnSpPr>
          <p:nvPr/>
        </p:nvCxnSpPr>
        <p:spPr>
          <a:xfrm>
            <a:off x="3542791" y="4269917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36"/>
          <p:cNvCxnSpPr>
            <a:stCxn id="369" idx="3"/>
            <a:endCxn id="373" idx="1"/>
          </p:cNvCxnSpPr>
          <p:nvPr/>
        </p:nvCxnSpPr>
        <p:spPr>
          <a:xfrm>
            <a:off x="5259966" y="4269917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8" name="Google Shape;378;p36"/>
          <p:cNvCxnSpPr>
            <a:stCxn id="373" idx="3"/>
            <a:endCxn id="359" idx="1"/>
          </p:cNvCxnSpPr>
          <p:nvPr/>
        </p:nvCxnSpPr>
        <p:spPr>
          <a:xfrm flipH="1" rot="10800000">
            <a:off x="6931141" y="4269617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9" name="Google Shape;379;p36"/>
          <p:cNvCxnSpPr>
            <a:stCxn id="371" idx="3"/>
            <a:endCxn id="357" idx="1"/>
          </p:cNvCxnSpPr>
          <p:nvPr/>
        </p:nvCxnSpPr>
        <p:spPr>
          <a:xfrm flipH="1" rot="10800000">
            <a:off x="6931141" y="3914478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0" name="Google Shape;380;p36"/>
          <p:cNvCxnSpPr>
            <a:stCxn id="367" idx="3"/>
            <a:endCxn id="371" idx="1"/>
          </p:cNvCxnSpPr>
          <p:nvPr/>
        </p:nvCxnSpPr>
        <p:spPr>
          <a:xfrm>
            <a:off x="5259966" y="3914778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1" name="Google Shape;381;p36"/>
          <p:cNvCxnSpPr>
            <a:stCxn id="363" idx="3"/>
            <a:endCxn id="367" idx="1"/>
          </p:cNvCxnSpPr>
          <p:nvPr/>
        </p:nvCxnSpPr>
        <p:spPr>
          <a:xfrm>
            <a:off x="3542791" y="3914778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2" name="Google Shape;382;p36"/>
          <p:cNvCxnSpPr>
            <a:stCxn id="351" idx="3"/>
            <a:endCxn id="363" idx="1"/>
          </p:cNvCxnSpPr>
          <p:nvPr/>
        </p:nvCxnSpPr>
        <p:spPr>
          <a:xfrm>
            <a:off x="1782900" y="3914403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3" name="Google Shape;383;p36"/>
          <p:cNvCxnSpPr>
            <a:stCxn id="352" idx="3"/>
            <a:endCxn id="364" idx="1"/>
          </p:cNvCxnSpPr>
          <p:nvPr/>
        </p:nvCxnSpPr>
        <p:spPr>
          <a:xfrm>
            <a:off x="1782900" y="3559263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4" name="Google Shape;384;p36"/>
          <p:cNvCxnSpPr>
            <a:stCxn id="364" idx="3"/>
            <a:endCxn id="368" idx="1"/>
          </p:cNvCxnSpPr>
          <p:nvPr/>
        </p:nvCxnSpPr>
        <p:spPr>
          <a:xfrm>
            <a:off x="3542791" y="3559638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5" name="Google Shape;385;p36"/>
          <p:cNvCxnSpPr>
            <a:stCxn id="368" idx="3"/>
            <a:endCxn id="372" idx="1"/>
          </p:cNvCxnSpPr>
          <p:nvPr/>
        </p:nvCxnSpPr>
        <p:spPr>
          <a:xfrm>
            <a:off x="5259966" y="3559638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6" name="Google Shape;386;p36"/>
          <p:cNvCxnSpPr>
            <a:stCxn id="372" idx="3"/>
            <a:endCxn id="358" idx="1"/>
          </p:cNvCxnSpPr>
          <p:nvPr/>
        </p:nvCxnSpPr>
        <p:spPr>
          <a:xfrm flipH="1" rot="10800000">
            <a:off x="6931141" y="3559338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7" name="Google Shape;387;p36"/>
          <p:cNvCxnSpPr>
            <a:stCxn id="354" idx="3"/>
            <a:endCxn id="360" idx="1"/>
          </p:cNvCxnSpPr>
          <p:nvPr/>
        </p:nvCxnSpPr>
        <p:spPr>
          <a:xfrm>
            <a:off x="1782900" y="3204124"/>
            <a:ext cx="55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8" name="Google Shape;388;p36"/>
          <p:cNvCxnSpPr>
            <a:stCxn id="355" idx="3"/>
            <a:endCxn id="361" idx="1"/>
          </p:cNvCxnSpPr>
          <p:nvPr/>
        </p:nvCxnSpPr>
        <p:spPr>
          <a:xfrm>
            <a:off x="1782900" y="2848985"/>
            <a:ext cx="55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Single Packet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Reliability:</a:t>
            </a:r>
            <a:br>
              <a:rPr lang="en"/>
            </a:br>
            <a:r>
              <a:rPr lang="en"/>
              <a:t>Single Packet</a:t>
            </a:r>
            <a:endParaRPr/>
          </a:p>
        </p:txBody>
      </p:sp>
      <p:sp>
        <p:nvSpPr>
          <p:cNvPr id="395" name="Google Shape;395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</a:t>
            </a:r>
            <a:endParaRPr/>
          </a:p>
        </p:txBody>
      </p:sp>
      <p:sp>
        <p:nvSpPr>
          <p:cNvPr id="401" name="Google Shape;401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Challenge: Building a reliable service (L4) on top of unreliable packet delivery (L3).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spend most of today and next time building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goal is to bridge the gap between the </a:t>
            </a:r>
            <a:r>
              <a:rPr i="1" lang="en"/>
              <a:t>packet abstraction</a:t>
            </a:r>
            <a:r>
              <a:rPr lang="en"/>
              <a:t> and the</a:t>
            </a:r>
            <a:r>
              <a:rPr i="1" lang="en"/>
              <a:t> bytestream abstraction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Goals for reliable transfer: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Correctness: The destination receives every packet, uncorrupted, in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Timeliness: Minimize time until data is transferred.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Efficiency: Minimize use of bandwidth.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Avoid sending packets unnecessarily.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 of inefficient protocol: Send 1000 copies of every packet.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Reliability</a:t>
            </a:r>
            <a:endParaRPr/>
          </a:p>
        </p:txBody>
      </p:sp>
      <p:sp>
        <p:nvSpPr>
          <p:cNvPr id="407" name="Google Shape;407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different definitions of reliability: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Best-effort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At-least-once</a:t>
            </a:r>
            <a:r>
              <a:rPr lang="en"/>
              <a:t> delivery: </a:t>
            </a:r>
            <a:r>
              <a:rPr lang="en"/>
              <a:t>Every packet arrives, but some might arrive more than once (duplicates).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Exactly-once</a:t>
            </a:r>
            <a:r>
              <a:rPr lang="en"/>
              <a:t> delivery: Every packet arrives exactly once.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plan for bridging the abstraction gap: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transport layer: Use IP (best-effort delivery) to build </a:t>
            </a:r>
            <a:r>
              <a:rPr i="1" lang="en"/>
              <a:t>at-least-once</a:t>
            </a:r>
            <a:r>
              <a:rPr lang="en"/>
              <a:t>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get rid of duplicates and pass the result to the application.</a:t>
            </a:r>
            <a:br>
              <a:rPr lang="en"/>
            </a:br>
            <a:r>
              <a:rPr lang="en"/>
              <a:t>This gives the application </a:t>
            </a:r>
            <a:r>
              <a:rPr i="1" lang="en"/>
              <a:t>exactly-once</a:t>
            </a:r>
            <a:r>
              <a:rPr lang="en"/>
              <a:t> delivery.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Defining Reliability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reliability protocol is allowed to give up, but must announce it to the application.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Computer not connected to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is not magic. Can't deliver packets if the computer is not connected.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can never falsely claim to deliver a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1"/>
          <p:cNvCxnSpPr/>
          <p:nvPr/>
        </p:nvCxnSpPr>
        <p:spPr>
          <a:xfrm>
            <a:off x="3039500" y="931825"/>
            <a:ext cx="3009600" cy="74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Timing Diagrams</a:t>
            </a:r>
            <a:endParaRPr/>
          </a:p>
        </p:txBody>
      </p:sp>
      <p:cxnSp>
        <p:nvCxnSpPr>
          <p:cNvPr id="420" name="Google Shape;420;p41"/>
          <p:cNvCxnSpPr/>
          <p:nvPr/>
        </p:nvCxnSpPr>
        <p:spPr>
          <a:xfrm>
            <a:off x="3037525" y="599875"/>
            <a:ext cx="0" cy="384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1"/>
          <p:cNvSpPr txBox="1"/>
          <p:nvPr/>
        </p:nvSpPr>
        <p:spPr>
          <a:xfrm>
            <a:off x="2485075" y="4447975"/>
            <a:ext cx="11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1"/>
          <p:cNvCxnSpPr/>
          <p:nvPr/>
        </p:nvCxnSpPr>
        <p:spPr>
          <a:xfrm>
            <a:off x="6058934" y="599875"/>
            <a:ext cx="0" cy="384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41"/>
          <p:cNvSpPr txBox="1"/>
          <p:nvPr/>
        </p:nvSpPr>
        <p:spPr>
          <a:xfrm>
            <a:off x="5458934" y="4447975"/>
            <a:ext cx="12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41"/>
          <p:cNvCxnSpPr/>
          <p:nvPr/>
        </p:nvCxnSpPr>
        <p:spPr>
          <a:xfrm>
            <a:off x="6261100" y="3049475"/>
            <a:ext cx="0" cy="88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41"/>
          <p:cNvSpPr txBox="1"/>
          <p:nvPr/>
        </p:nvSpPr>
        <p:spPr>
          <a:xfrm>
            <a:off x="6261100" y="3186125"/>
            <a:ext cx="227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increases as we move down the diagram.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41"/>
          <p:cNvCxnSpPr/>
          <p:nvPr/>
        </p:nvCxnSpPr>
        <p:spPr>
          <a:xfrm flipH="1">
            <a:off x="3039500" y="1737159"/>
            <a:ext cx="3009600" cy="74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7" name="Google Shape;427;p41"/>
          <p:cNvGrpSpPr/>
          <p:nvPr/>
        </p:nvGrpSpPr>
        <p:grpSpPr>
          <a:xfrm>
            <a:off x="2715500" y="931825"/>
            <a:ext cx="192000" cy="1556000"/>
            <a:chOff x="2715500" y="931825"/>
            <a:chExt cx="192000" cy="1556000"/>
          </a:xfrm>
        </p:grpSpPr>
        <p:cxnSp>
          <p:nvCxnSpPr>
            <p:cNvPr id="428" name="Google Shape;428;p41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41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41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1" name="Google Shape;431;p41"/>
          <p:cNvGrpSpPr/>
          <p:nvPr/>
        </p:nvGrpSpPr>
        <p:grpSpPr>
          <a:xfrm>
            <a:off x="6191950" y="931825"/>
            <a:ext cx="192000" cy="746600"/>
            <a:chOff x="6191950" y="931825"/>
            <a:chExt cx="192000" cy="746600"/>
          </a:xfrm>
        </p:grpSpPr>
        <p:cxnSp>
          <p:nvCxnSpPr>
            <p:cNvPr id="432" name="Google Shape;432;p41"/>
            <p:cNvCxnSpPr/>
            <p:nvPr/>
          </p:nvCxnSpPr>
          <p:spPr>
            <a:xfrm>
              <a:off x="6287961" y="933519"/>
              <a:ext cx="0" cy="744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41"/>
            <p:cNvCxnSpPr/>
            <p:nvPr/>
          </p:nvCxnSpPr>
          <p:spPr>
            <a:xfrm>
              <a:off x="619195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41"/>
            <p:cNvCxnSpPr/>
            <p:nvPr/>
          </p:nvCxnSpPr>
          <p:spPr>
            <a:xfrm>
              <a:off x="6191950" y="16784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5" name="Google Shape;435;p41"/>
          <p:cNvSpPr txBox="1"/>
          <p:nvPr/>
        </p:nvSpPr>
        <p:spPr>
          <a:xfrm>
            <a:off x="6383950" y="110642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One-way delay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1"/>
          <p:cNvSpPr txBox="1"/>
          <p:nvPr/>
        </p:nvSpPr>
        <p:spPr>
          <a:xfrm>
            <a:off x="1284450" y="1402025"/>
            <a:ext cx="142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Round-trip time (RTT)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start with providing </a:t>
            </a:r>
            <a:r>
              <a:rPr i="1" lang="en"/>
              <a:t>at-least-once</a:t>
            </a:r>
            <a:r>
              <a:rPr lang="en"/>
              <a:t> delivery for a single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deal with 5 problems from the best-effort service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dropped.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corrupted.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delayed.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duplicated.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reordered.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3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448" name="Google Shape;448;p43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9" name="Google Shape;449;p43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0" name="Google Shape;450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Designing Reliability for a Single Packet</a:t>
            </a:r>
            <a:endParaRPr/>
          </a:p>
        </p:txBody>
      </p:sp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is sent. How does the sender know if it was received successfully?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The recipient replies with an </a:t>
            </a:r>
            <a:r>
              <a:rPr b="1" lang="en"/>
              <a:t>acknowledgment</a:t>
            </a:r>
            <a:r>
              <a:rPr lang="en"/>
              <a:t> (ack).</a:t>
            </a:r>
            <a:endParaRPr/>
          </a:p>
        </p:txBody>
      </p:sp>
      <p:cxnSp>
        <p:nvCxnSpPr>
          <p:cNvPr id="452" name="Google Shape;452;p43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4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4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4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44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62" name="Google Shape;462;p44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3" name="Google Shape;463;p44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4" name="Google Shape;464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</a:t>
            </a:r>
            <a:r>
              <a:rPr lang="en">
                <a:solidFill>
                  <a:schemeClr val="accent3"/>
                </a:solidFill>
              </a:rPr>
              <a:t>1/5</a:t>
            </a:r>
            <a:r>
              <a:rPr lang="en">
                <a:solidFill>
                  <a:schemeClr val="accent3"/>
                </a:solidFill>
              </a:rPr>
              <a:t>: Dropped Packets</a:t>
            </a:r>
            <a:endParaRPr/>
          </a:p>
        </p:txBody>
      </p:sp>
      <p:sp>
        <p:nvSpPr>
          <p:cNvPr id="465" name="Google Shape;465;p44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Set a timer when we send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timer expires and we don't get the ack, resend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get the ack, cancel the timer.</a:t>
            </a:r>
            <a:endParaRPr/>
          </a:p>
        </p:txBody>
      </p:sp>
      <p:cxnSp>
        <p:nvCxnSpPr>
          <p:cNvPr id="466" name="Google Shape;466;p44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4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" name="Google Shape;469;p4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" name="Google Shape;474;p44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44"/>
          <p:cNvSpPr txBox="1"/>
          <p:nvPr/>
        </p:nvSpPr>
        <p:spPr>
          <a:xfrm>
            <a:off x="4481475" y="20965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44"/>
          <p:cNvCxnSpPr>
            <a:stCxn id="471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4"/>
          <p:cNvCxnSpPr>
            <a:stCxn id="472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4"/>
          <p:cNvCxnSpPr>
            <a:stCxn id="473" idx="3"/>
          </p:cNvCxnSpPr>
          <p:nvPr/>
        </p:nvCxnSpPr>
        <p:spPr>
          <a:xfrm flipH="1" rot="10800000">
            <a:off x="2722225" y="3247875"/>
            <a:ext cx="262800" cy="166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4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0" name="Google Shape;480;p44"/>
          <p:cNvCxnSpPr>
            <a:stCxn id="479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45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86" name="Google Shape;486;p45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87" name="Google Shape;487;p45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8" name="Google Shape;48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1/5</a:t>
            </a:r>
            <a:r>
              <a:rPr lang="en">
                <a:solidFill>
                  <a:schemeClr val="accent3"/>
                </a:solidFill>
              </a:rPr>
              <a:t>: Dropped Packets</a:t>
            </a:r>
            <a:endParaRPr/>
          </a:p>
        </p:txBody>
      </p:sp>
      <p:sp>
        <p:nvSpPr>
          <p:cNvPr id="489" name="Google Shape;489;p45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 ack gets dropped?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timer expires, and the packet gets resent. Repeat until the ack arrives.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destination received the packet twice, but that's okay (</a:t>
            </a:r>
            <a:r>
              <a:rPr i="1" lang="en"/>
              <a:t>at-least-once</a:t>
            </a:r>
            <a:r>
              <a:rPr lang="en"/>
              <a:t> delivery).</a:t>
            </a:r>
            <a:endParaRPr/>
          </a:p>
        </p:txBody>
      </p:sp>
      <p:cxnSp>
        <p:nvCxnSpPr>
          <p:cNvPr id="490" name="Google Shape;490;p45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5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" name="Google Shape;492;p45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45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5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45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45"/>
          <p:cNvSpPr txBox="1"/>
          <p:nvPr/>
        </p:nvSpPr>
        <p:spPr>
          <a:xfrm>
            <a:off x="4445532" y="26299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45"/>
          <p:cNvCxnSpPr>
            <a:stCxn id="494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5"/>
          <p:cNvCxnSpPr>
            <a:stCxn id="495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45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45"/>
          <p:cNvCxnSpPr>
            <a:stCxn id="500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5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03" name="Google Shape;503;p45"/>
          <p:cNvGrpSpPr/>
          <p:nvPr/>
        </p:nvGrpSpPr>
        <p:grpSpPr>
          <a:xfrm>
            <a:off x="4621728" y="2541698"/>
            <a:ext cx="1440000" cy="432898"/>
            <a:chOff x="4621728" y="2541698"/>
            <a:chExt cx="1440000" cy="432898"/>
          </a:xfrm>
        </p:grpSpPr>
        <p:cxnSp>
          <p:nvCxnSpPr>
            <p:cNvPr id="504" name="Google Shape;504;p45"/>
            <p:cNvCxnSpPr/>
            <p:nvPr/>
          </p:nvCxnSpPr>
          <p:spPr>
            <a:xfrm flipH="1">
              <a:off x="4621728" y="2541698"/>
              <a:ext cx="1440000" cy="2265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5" name="Google Shape;505;p45"/>
            <p:cNvSpPr txBox="1"/>
            <p:nvPr/>
          </p:nvSpPr>
          <p:spPr>
            <a:xfrm rot="-510186">
              <a:off x="5168111" y="266013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6" name="Google Shape;506;p45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5"/>
          <p:cNvCxnSpPr>
            <a:stCxn id="506" idx="3"/>
          </p:cNvCxnSpPr>
          <p:nvPr/>
        </p:nvCxnSpPr>
        <p:spPr>
          <a:xfrm flipH="1" rot="10800000">
            <a:off x="2722225" y="3247875"/>
            <a:ext cx="262800" cy="166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1/5: Dropped Packets</a:t>
            </a:r>
            <a:endParaRPr/>
          </a:p>
        </p:txBody>
      </p:sp>
      <p:sp>
        <p:nvSpPr>
          <p:cNvPr id="513" name="Google Shape;513;p4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set the timer length?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long: Delays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short: Causes unnecessary retransmission.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Ideally: Timer is proportional to RTT (round-trip time).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RTT is when you expected to see the 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practice: Measuring the RTT is non-trivial.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depending on what path the packet takes.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along a fixed path: packet could get stuck in queues at links.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8" name="Google Shape;518;p47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19" name="Google Shape;519;p47"/>
          <p:cNvGrpSpPr/>
          <p:nvPr/>
        </p:nvGrpSpPr>
        <p:grpSpPr>
          <a:xfrm>
            <a:off x="3039475" y="3505200"/>
            <a:ext cx="3015000" cy="530546"/>
            <a:chOff x="3039475" y="2514600"/>
            <a:chExt cx="3015000" cy="530546"/>
          </a:xfrm>
        </p:grpSpPr>
        <p:cxnSp>
          <p:nvCxnSpPr>
            <p:cNvPr id="520" name="Google Shape;520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1" name="Google Shape;521;p47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2" name="Google Shape;522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</a:t>
            </a:r>
            <a:r>
              <a:rPr lang="en">
                <a:solidFill>
                  <a:schemeClr val="accent3"/>
                </a:solidFill>
              </a:rPr>
              <a:t>: Corrupted Packets</a:t>
            </a:r>
            <a:endParaRPr/>
          </a:p>
        </p:txBody>
      </p:sp>
      <p:sp>
        <p:nvSpPr>
          <p:cNvPr id="523" name="Google Shape;523;p47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 checksum to detect corruption. 2 approaches to dealing with a bad checksum: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 1: When you get a corrupt packet, send a </a:t>
            </a:r>
            <a:r>
              <a:rPr b="1" lang="en"/>
              <a:t>negative acknowledgement</a:t>
            </a:r>
            <a:r>
              <a:rPr lang="en"/>
              <a:t> (nack).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sees the nack and resends.</a:t>
            </a:r>
            <a:endParaRPr/>
          </a:p>
        </p:txBody>
      </p:sp>
      <p:cxnSp>
        <p:nvCxnSpPr>
          <p:cNvPr id="524" name="Google Shape;524;p4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4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8" name="Google Shape;528;p47"/>
          <p:cNvCxnSpPr/>
          <p:nvPr/>
        </p:nvCxnSpPr>
        <p:spPr>
          <a:xfrm>
            <a:off x="3039500" y="30329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47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7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4399475" y="2114967"/>
            <a:ext cx="233457" cy="239152"/>
          </a:xfrm>
          <a:custGeom>
            <a:rect b="b" l="l" r="r" t="t"/>
            <a:pathLst>
              <a:path extrusionOk="0" h="9239" w="8859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32" name="Google Shape;532;p47"/>
          <p:cNvGrpSpPr/>
          <p:nvPr/>
        </p:nvGrpSpPr>
        <p:grpSpPr>
          <a:xfrm>
            <a:off x="3039475" y="2514600"/>
            <a:ext cx="3015000" cy="533292"/>
            <a:chOff x="3039475" y="2514600"/>
            <a:chExt cx="3015000" cy="533292"/>
          </a:xfrm>
        </p:grpSpPr>
        <p:cxnSp>
          <p:nvCxnSpPr>
            <p:cNvPr id="533" name="Google Shape;533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4" name="Google Shape;534;p47"/>
            <p:cNvSpPr txBox="1"/>
            <p:nvPr/>
          </p:nvSpPr>
          <p:spPr>
            <a:xfrm rot="-510472">
              <a:off x="4344095" y="2729532"/>
              <a:ext cx="48261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nack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9" name="Google Shape;539;p48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40" name="Google Shape;540;p48"/>
          <p:cNvGrpSpPr/>
          <p:nvPr/>
        </p:nvGrpSpPr>
        <p:grpSpPr>
          <a:xfrm>
            <a:off x="3039475" y="3733800"/>
            <a:ext cx="3015000" cy="530546"/>
            <a:chOff x="3039475" y="2514600"/>
            <a:chExt cx="3015000" cy="530546"/>
          </a:xfrm>
        </p:grpSpPr>
        <p:cxnSp>
          <p:nvCxnSpPr>
            <p:cNvPr id="541" name="Google Shape;541;p48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2" name="Google Shape;542;p48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3" name="Google Shape;543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2/5: Corrupted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44" name="Google Shape;544;p48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2: When you get a corrupt packet, ignore it (don't send the ack).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Sender times out and resends.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solutions work. TCP uses this one (no nacks).</a:t>
            </a:r>
            <a:endParaRPr/>
          </a:p>
        </p:txBody>
      </p:sp>
      <p:cxnSp>
        <p:nvCxnSpPr>
          <p:cNvPr id="545" name="Google Shape;545;p48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48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8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8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" name="Google Shape;549;p48"/>
          <p:cNvCxnSpPr/>
          <p:nvPr/>
        </p:nvCxnSpPr>
        <p:spPr>
          <a:xfrm>
            <a:off x="3039500" y="32615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48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8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8"/>
          <p:cNvSpPr/>
          <p:nvPr/>
        </p:nvSpPr>
        <p:spPr>
          <a:xfrm>
            <a:off x="4399475" y="2114967"/>
            <a:ext cx="233457" cy="239152"/>
          </a:xfrm>
          <a:custGeom>
            <a:rect b="b" l="l" r="r" t="t"/>
            <a:pathLst>
              <a:path extrusionOk="0" h="9239" w="8859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3" name="Google Shape;553;p48"/>
          <p:cNvSpPr txBox="1"/>
          <p:nvPr/>
        </p:nvSpPr>
        <p:spPr>
          <a:xfrm>
            <a:off x="1794175" y="31265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48"/>
          <p:cNvCxnSpPr>
            <a:stCxn id="553" idx="3"/>
          </p:cNvCxnSpPr>
          <p:nvPr/>
        </p:nvCxnSpPr>
        <p:spPr>
          <a:xfrm>
            <a:off x="2722375" y="32619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9" name="Google Shape;559;p49"/>
          <p:cNvCxnSpPr/>
          <p:nvPr/>
        </p:nvCxnSpPr>
        <p:spPr>
          <a:xfrm>
            <a:off x="4478400" y="2402700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60" name="Google Shape;560;p49"/>
          <p:cNvGrpSpPr/>
          <p:nvPr/>
        </p:nvGrpSpPr>
        <p:grpSpPr>
          <a:xfrm>
            <a:off x="3039475" y="2667000"/>
            <a:ext cx="3015000" cy="530546"/>
            <a:chOff x="3039475" y="2514600"/>
            <a:chExt cx="3015000" cy="530546"/>
          </a:xfrm>
        </p:grpSpPr>
        <p:cxnSp>
          <p:nvCxnSpPr>
            <p:cNvPr id="561" name="Google Shape;561;p49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2" name="Google Shape;562;p49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3" name="Google Shape;563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3/5: Delayed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64" name="Google Shape;564;p49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Minor delay: No problem. The ack still arrives before the timeout.</a:t>
            </a:r>
            <a:endParaRPr/>
          </a:p>
        </p:txBody>
      </p:sp>
      <p:cxnSp>
        <p:nvCxnSpPr>
          <p:cNvPr id="565" name="Google Shape;565;p49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49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49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49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49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9"/>
          <p:cNvCxnSpPr/>
          <p:nvPr/>
        </p:nvCxnSpPr>
        <p:spPr>
          <a:xfrm>
            <a:off x="4470931" y="2241312"/>
            <a:ext cx="0" cy="17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</a:t>
            </a:r>
            <a:r>
              <a:rPr lang="en">
                <a:solidFill>
                  <a:schemeClr val="accent3"/>
                </a:solidFill>
              </a:rPr>
              <a:t>: Delayed Packets</a:t>
            </a:r>
            <a:endParaRPr/>
          </a:p>
        </p:txBody>
      </p:sp>
      <p:cxnSp>
        <p:nvCxnSpPr>
          <p:cNvPr id="576" name="Google Shape;576;p50"/>
          <p:cNvCxnSpPr/>
          <p:nvPr/>
        </p:nvCxnSpPr>
        <p:spPr>
          <a:xfrm>
            <a:off x="4478400" y="3012300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7" name="Google Shape;577;p50"/>
          <p:cNvGrpSpPr/>
          <p:nvPr/>
        </p:nvGrpSpPr>
        <p:grpSpPr>
          <a:xfrm>
            <a:off x="3039475" y="3276600"/>
            <a:ext cx="3015000" cy="530546"/>
            <a:chOff x="3039475" y="2514600"/>
            <a:chExt cx="3015000" cy="530546"/>
          </a:xfrm>
        </p:grpSpPr>
        <p:cxnSp>
          <p:nvCxnSpPr>
            <p:cNvPr id="578" name="Google Shape;578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9" name="Google Shape;579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Longer delay: Sender times out and resends.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receives two acks. That's fine.</a:t>
            </a:r>
            <a:endParaRPr/>
          </a:p>
        </p:txBody>
      </p:sp>
      <p:cxnSp>
        <p:nvCxnSpPr>
          <p:cNvPr id="581" name="Google Shape;581;p5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5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" name="Google Shape;583;p5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5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" name="Google Shape;585;p50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50"/>
          <p:cNvCxnSpPr/>
          <p:nvPr/>
        </p:nvCxnSpPr>
        <p:spPr>
          <a:xfrm>
            <a:off x="4470931" y="2241312"/>
            <a:ext cx="0" cy="7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50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50"/>
          <p:cNvCxnSpPr>
            <a:stCxn id="587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50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0" name="Google Shape;590;p50"/>
          <p:cNvGrpSpPr/>
          <p:nvPr/>
        </p:nvGrpSpPr>
        <p:grpSpPr>
          <a:xfrm>
            <a:off x="3039475" y="3690466"/>
            <a:ext cx="3015000" cy="530546"/>
            <a:chOff x="3039475" y="2514600"/>
            <a:chExt cx="3015000" cy="530546"/>
          </a:xfrm>
        </p:grpSpPr>
        <p:cxnSp>
          <p:nvCxnSpPr>
            <p:cNvPr id="591" name="Google Shape;591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2" name="Google Shape;592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4/5</a:t>
            </a:r>
            <a:r>
              <a:rPr lang="en">
                <a:solidFill>
                  <a:schemeClr val="accent3"/>
                </a:solidFill>
              </a:rPr>
              <a:t>: Duplicated Packets</a:t>
            </a:r>
            <a:endParaRPr/>
          </a:p>
        </p:txBody>
      </p:sp>
      <p:grpSp>
        <p:nvGrpSpPr>
          <p:cNvPr id="598" name="Google Shape;598;p51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599" name="Google Shape;599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0" name="Google Shape;600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gets the packet twice, and the sender receives two acks. That's fine.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would the network even duplicate a packet?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Usually, because of link-level reliability gone wrong (very rare).</a:t>
            </a:r>
            <a:endParaRPr/>
          </a:p>
        </p:txBody>
      </p:sp>
      <p:cxnSp>
        <p:nvCxnSpPr>
          <p:cNvPr id="602" name="Google Shape;602;p51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51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4" name="Google Shape;604;p51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51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6" name="Google Shape;606;p51"/>
          <p:cNvGrpSpPr/>
          <p:nvPr/>
        </p:nvGrpSpPr>
        <p:grpSpPr>
          <a:xfrm>
            <a:off x="3039475" y="2852266"/>
            <a:ext cx="3015000" cy="530546"/>
            <a:chOff x="3039475" y="2514600"/>
            <a:chExt cx="3015000" cy="530546"/>
          </a:xfrm>
        </p:grpSpPr>
        <p:cxnSp>
          <p:nvCxnSpPr>
            <p:cNvPr id="607" name="Google Shape;607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8" name="Google Shape;608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09" name="Google Shape;609;p51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51"/>
          <p:cNvCxnSpPr/>
          <p:nvPr/>
        </p:nvCxnSpPr>
        <p:spPr>
          <a:xfrm>
            <a:off x="4478400" y="2594039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51"/>
          <p:cNvCxnSpPr/>
          <p:nvPr/>
        </p:nvCxnSpPr>
        <p:spPr>
          <a:xfrm>
            <a:off x="4484350" y="2235120"/>
            <a:ext cx="0" cy="36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17" name="Google Shape;617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packet, and start a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ack doesn't arrive before the </a:t>
            </a:r>
            <a:r>
              <a:rPr lang="en"/>
              <a:t>timer goes off, resend packet and reset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ack arrives, reset timer.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receive the packet, send the 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solved all </a:t>
            </a:r>
            <a:r>
              <a:rPr lang="en"/>
              <a:t>5 problems from the best-effort service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dropped. </a:t>
            </a:r>
            <a:r>
              <a:rPr lang="en" sz="1400">
                <a:solidFill>
                  <a:schemeClr val="accent3"/>
                </a:solidFill>
              </a:rPr>
              <a:t>(timeout and resend)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corrupted. </a:t>
            </a:r>
            <a:r>
              <a:rPr lang="en" sz="1400">
                <a:solidFill>
                  <a:schemeClr val="accent3"/>
                </a:solidFill>
              </a:rPr>
              <a:t>(nack, or timeout and resend)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delayed.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duplicated.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reordered. </a:t>
            </a:r>
            <a:r>
              <a:rPr lang="en" sz="1400">
                <a:solidFill>
                  <a:schemeClr val="accent3"/>
                </a:solidFill>
              </a:rPr>
              <a:t>(not relevant in single-packet case)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23" name="Google Shape;623;p5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did we learn from this protocol?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Checksums</a:t>
            </a:r>
            <a:r>
              <a:rPr lang="en"/>
              <a:t> help detect corruption.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should send </a:t>
            </a:r>
            <a:r>
              <a:rPr i="1" lang="en"/>
              <a:t>feedback</a:t>
            </a:r>
            <a:r>
              <a:rPr lang="en"/>
              <a:t>: ack (positive), possibly also nack (negative).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</a:t>
            </a:r>
            <a:r>
              <a:rPr i="1" lang="en"/>
              <a:t>retransmits</a:t>
            </a:r>
            <a:r>
              <a:rPr lang="en"/>
              <a:t> lost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</a:t>
            </a:r>
            <a:r>
              <a:rPr i="1" lang="en"/>
              <a:t>timeout</a:t>
            </a:r>
            <a:r>
              <a:rPr lang="en"/>
              <a:t> to decide when to resend a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At-least-once</a:t>
            </a:r>
            <a:r>
              <a:rPr lang="en"/>
              <a:t> delivery </a:t>
            </a:r>
            <a:r>
              <a:rPr lang="en"/>
              <a:t>simplifies</a:t>
            </a:r>
            <a:r>
              <a:rPr lang="en"/>
              <a:t> our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can receive the same packet more than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can see the same ack/nack more than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</a:t>
            </a:r>
            <a:r>
              <a:rPr i="1" lang="en"/>
              <a:t>exactly-once</a:t>
            </a:r>
            <a:r>
              <a:rPr lang="en"/>
              <a:t> delivery, recipient simply discards duplicates.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Packets (Windows)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29" name="Google Shape;629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Packets, Windows</a:t>
            </a:r>
            <a:endParaRPr/>
          </a:p>
        </p:txBody>
      </p:sp>
      <p:sp>
        <p:nvSpPr>
          <p:cNvPr id="630" name="Google Shape;630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Designing Reliability for Multiple Packets</a:t>
            </a:r>
            <a:endParaRPr/>
          </a:p>
        </p:txBody>
      </p:sp>
      <p:sp>
        <p:nvSpPr>
          <p:cNvPr id="636" name="Google Shape;636;p55"/>
          <p:cNvSpPr txBox="1"/>
          <p:nvPr>
            <p:ph idx="1" type="body"/>
          </p:nvPr>
        </p:nvSpPr>
        <p:spPr>
          <a:xfrm>
            <a:off x="107050" y="402200"/>
            <a:ext cx="89097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the single-packet solution repeatedly to support sending multiple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extra design component: </a:t>
            </a:r>
            <a:r>
              <a:rPr b="1" lang="en"/>
              <a:t>sequence numbers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packet with a unique, increasing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ack with which numbered packet is being acked.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Solves reordering – use numbers to reorder packets.</a:t>
            </a:r>
            <a:endParaRPr/>
          </a:p>
        </p:txBody>
      </p:sp>
      <p:sp>
        <p:nvSpPr>
          <p:cNvPr id="637" name="Google Shape;637;p55"/>
          <p:cNvSpPr/>
          <p:nvPr/>
        </p:nvSpPr>
        <p:spPr>
          <a:xfrm>
            <a:off x="8975" y="2970147"/>
            <a:ext cx="1286400" cy="19041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55"/>
          <p:cNvSpPr/>
          <p:nvPr/>
        </p:nvSpPr>
        <p:spPr>
          <a:xfrm>
            <a:off x="7858225" y="2947600"/>
            <a:ext cx="1286400" cy="19041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55"/>
          <p:cNvSpPr/>
          <p:nvPr/>
        </p:nvSpPr>
        <p:spPr>
          <a:xfrm>
            <a:off x="1707550" y="32092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55"/>
          <p:cNvSpPr/>
          <p:nvPr/>
        </p:nvSpPr>
        <p:spPr>
          <a:xfrm>
            <a:off x="4133005" y="356197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5"/>
          <p:cNvSpPr/>
          <p:nvPr/>
        </p:nvSpPr>
        <p:spPr>
          <a:xfrm>
            <a:off x="3174477" y="404317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belt, 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054294" y="43789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5"/>
          <p:cNvSpPr/>
          <p:nvPr/>
        </p:nvSpPr>
        <p:spPr>
          <a:xfrm>
            <a:off x="5966553" y="36696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5"/>
          <p:cNvSpPr/>
          <p:nvPr/>
        </p:nvSpPr>
        <p:spPr>
          <a:xfrm>
            <a:off x="1707550" y="45308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5"/>
          <p:cNvSpPr txBox="1"/>
          <p:nvPr/>
        </p:nvSpPr>
        <p:spPr>
          <a:xfrm>
            <a:off x="1872700" y="3754125"/>
            <a:ext cx="1115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Duplicates. Same number.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6" name="Google Shape;646;p55"/>
          <p:cNvCxnSpPr>
            <a:stCxn id="645" idx="0"/>
            <a:endCxn id="639" idx="2"/>
          </p:cNvCxnSpPr>
          <p:nvPr/>
        </p:nvCxnSpPr>
        <p:spPr>
          <a:xfrm rot="10800000">
            <a:off x="2430250" y="3513225"/>
            <a:ext cx="0" cy="240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7" name="Google Shape;647;p55"/>
          <p:cNvSpPr txBox="1"/>
          <p:nvPr/>
        </p:nvSpPr>
        <p:spPr>
          <a:xfrm>
            <a:off x="3387625" y="2642800"/>
            <a:ext cx="101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 Use numbers to rearrange.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55"/>
          <p:cNvCxnSpPr>
            <a:stCxn id="647" idx="2"/>
            <a:endCxn id="641" idx="0"/>
          </p:cNvCxnSpPr>
          <p:nvPr/>
        </p:nvCxnSpPr>
        <p:spPr>
          <a:xfrm>
            <a:off x="3897175" y="3252400"/>
            <a:ext cx="0" cy="790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55"/>
          <p:cNvCxnSpPr>
            <a:stCxn id="647" idx="3"/>
            <a:endCxn id="640" idx="0"/>
          </p:cNvCxnSpPr>
          <p:nvPr/>
        </p:nvCxnSpPr>
        <p:spPr>
          <a:xfrm>
            <a:off x="4406725" y="2947600"/>
            <a:ext cx="449100" cy="61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55"/>
          <p:cNvCxnSpPr>
            <a:stCxn id="645" idx="2"/>
            <a:endCxn id="644" idx="0"/>
          </p:cNvCxnSpPr>
          <p:nvPr/>
        </p:nvCxnSpPr>
        <p:spPr>
          <a:xfrm>
            <a:off x="2430250" y="4178925"/>
            <a:ext cx="0" cy="351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Sequence Numbers</a:t>
            </a:r>
            <a:endParaRPr/>
          </a:p>
        </p:txBody>
      </p:sp>
      <p:sp>
        <p:nvSpPr>
          <p:cNvPr id="656" name="Google Shape;656;p56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packet has a unique, increasing sequence number.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Acks indicate which packet is being acked.</a:t>
            </a:r>
            <a:endParaRPr/>
          </a:p>
        </p:txBody>
      </p:sp>
      <p:grpSp>
        <p:nvGrpSpPr>
          <p:cNvPr id="657" name="Google Shape;657;p56"/>
          <p:cNvGrpSpPr/>
          <p:nvPr/>
        </p:nvGrpSpPr>
        <p:grpSpPr>
          <a:xfrm>
            <a:off x="3039475" y="2514600"/>
            <a:ext cx="3015000" cy="556273"/>
            <a:chOff x="3039475" y="2514600"/>
            <a:chExt cx="3015000" cy="556273"/>
          </a:xfrm>
        </p:grpSpPr>
        <p:cxnSp>
          <p:nvCxnSpPr>
            <p:cNvPr id="658" name="Google Shape;658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9" name="Google Shape;659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0" name="Google Shape;660;p56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56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56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p56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6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5" name="Google Shape;665;p56"/>
          <p:cNvGrpSpPr/>
          <p:nvPr/>
        </p:nvGrpSpPr>
        <p:grpSpPr>
          <a:xfrm>
            <a:off x="3039475" y="3505200"/>
            <a:ext cx="3015000" cy="556273"/>
            <a:chOff x="3039475" y="2514600"/>
            <a:chExt cx="3015000" cy="556273"/>
          </a:xfrm>
        </p:grpSpPr>
        <p:cxnSp>
          <p:nvCxnSpPr>
            <p:cNvPr id="666" name="Google Shape;666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7" name="Google Shape;667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8" name="Google Shape;668;p56"/>
          <p:cNvCxnSpPr/>
          <p:nvPr/>
        </p:nvCxnSpPr>
        <p:spPr>
          <a:xfrm>
            <a:off x="3039500" y="30138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Stop-and-Wait Protocol</a:t>
            </a:r>
            <a:endParaRPr/>
          </a:p>
        </p:txBody>
      </p:sp>
      <p:sp>
        <p:nvSpPr>
          <p:cNvPr id="674" name="Google Shape;674;p57"/>
          <p:cNvSpPr txBox="1"/>
          <p:nvPr>
            <p:ph idx="1" type="body"/>
          </p:nvPr>
        </p:nvSpPr>
        <p:spPr>
          <a:xfrm>
            <a:off x="107050" y="402200"/>
            <a:ext cx="3008700" cy="4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Naive approach: Wait for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to be acked before sending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i+1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correct, but really slow.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Throughput: One packet per RTT.</a:t>
            </a:r>
            <a:endParaRPr/>
          </a:p>
        </p:txBody>
      </p:sp>
      <p:cxnSp>
        <p:nvCxnSpPr>
          <p:cNvPr id="675" name="Google Shape;675;p57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57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7" name="Google Shape;677;p57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57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9" name="Google Shape;679;p57"/>
          <p:cNvGrpSpPr/>
          <p:nvPr/>
        </p:nvGrpSpPr>
        <p:grpSpPr>
          <a:xfrm>
            <a:off x="3953900" y="801875"/>
            <a:ext cx="3008700" cy="524199"/>
            <a:chOff x="3039500" y="1868675"/>
            <a:chExt cx="3008700" cy="524199"/>
          </a:xfrm>
        </p:grpSpPr>
        <p:cxnSp>
          <p:nvCxnSpPr>
            <p:cNvPr id="680" name="Google Shape;680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1" name="Google Shape;681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p57"/>
          <p:cNvGrpSpPr/>
          <p:nvPr/>
        </p:nvGrpSpPr>
        <p:grpSpPr>
          <a:xfrm>
            <a:off x="3953900" y="1244246"/>
            <a:ext cx="3008700" cy="539028"/>
            <a:chOff x="3039500" y="2311046"/>
            <a:chExt cx="3008700" cy="539028"/>
          </a:xfrm>
        </p:grpSpPr>
        <p:cxnSp>
          <p:nvCxnSpPr>
            <p:cNvPr id="683" name="Google Shape;683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4" name="Google Shape;684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5" name="Google Shape;685;p57"/>
          <p:cNvGrpSpPr/>
          <p:nvPr/>
        </p:nvGrpSpPr>
        <p:grpSpPr>
          <a:xfrm>
            <a:off x="3953900" y="1716275"/>
            <a:ext cx="3008700" cy="524199"/>
            <a:chOff x="3039500" y="1868675"/>
            <a:chExt cx="3008700" cy="524199"/>
          </a:xfrm>
        </p:grpSpPr>
        <p:cxnSp>
          <p:nvCxnSpPr>
            <p:cNvPr id="686" name="Google Shape;686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7" name="Google Shape;687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8" name="Google Shape;688;p57"/>
          <p:cNvGrpSpPr/>
          <p:nvPr/>
        </p:nvGrpSpPr>
        <p:grpSpPr>
          <a:xfrm>
            <a:off x="3953900" y="2158646"/>
            <a:ext cx="3008700" cy="539028"/>
            <a:chOff x="3039500" y="2311046"/>
            <a:chExt cx="3008700" cy="539028"/>
          </a:xfrm>
        </p:grpSpPr>
        <p:cxnSp>
          <p:nvCxnSpPr>
            <p:cNvPr id="689" name="Google Shape;689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0" name="Google Shape;690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1" name="Google Shape;691;p57"/>
          <p:cNvGrpSpPr/>
          <p:nvPr/>
        </p:nvGrpSpPr>
        <p:grpSpPr>
          <a:xfrm>
            <a:off x="3953900" y="2783075"/>
            <a:ext cx="3008700" cy="524199"/>
            <a:chOff x="3039500" y="1868675"/>
            <a:chExt cx="3008700" cy="524199"/>
          </a:xfrm>
        </p:grpSpPr>
        <p:cxnSp>
          <p:nvCxnSpPr>
            <p:cNvPr id="692" name="Google Shape;692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3" name="Google Shape;693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4" name="Google Shape;694;p57"/>
          <p:cNvGrpSpPr/>
          <p:nvPr/>
        </p:nvGrpSpPr>
        <p:grpSpPr>
          <a:xfrm>
            <a:off x="3953900" y="3225446"/>
            <a:ext cx="3008700" cy="539028"/>
            <a:chOff x="3039500" y="2311046"/>
            <a:chExt cx="3008700" cy="539028"/>
          </a:xfrm>
        </p:grpSpPr>
        <p:cxnSp>
          <p:nvCxnSpPr>
            <p:cNvPr id="695" name="Google Shape;695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6" name="Google Shape;696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(3)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7" name="Google Shape;697;p57"/>
          <p:cNvGrpSpPr/>
          <p:nvPr/>
        </p:nvGrpSpPr>
        <p:grpSpPr>
          <a:xfrm>
            <a:off x="3953900" y="3697475"/>
            <a:ext cx="3008700" cy="524199"/>
            <a:chOff x="3039500" y="1868675"/>
            <a:chExt cx="3008700" cy="524199"/>
          </a:xfrm>
        </p:grpSpPr>
        <p:cxnSp>
          <p:nvCxnSpPr>
            <p:cNvPr id="698" name="Google Shape;698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9" name="Google Shape;699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0" name="Google Shape;700;p57"/>
          <p:cNvGrpSpPr/>
          <p:nvPr/>
        </p:nvGrpSpPr>
        <p:grpSpPr>
          <a:xfrm>
            <a:off x="3953900" y="4139846"/>
            <a:ext cx="3008700" cy="539028"/>
            <a:chOff x="3039500" y="2311046"/>
            <a:chExt cx="3008700" cy="539028"/>
          </a:xfrm>
        </p:grpSpPr>
        <p:cxnSp>
          <p:nvCxnSpPr>
            <p:cNvPr id="701" name="Google Shape;701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2" name="Google Shape;702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(4)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3" name="Google Shape;703;p57"/>
          <p:cNvGrpSpPr/>
          <p:nvPr/>
        </p:nvGrpSpPr>
        <p:grpSpPr>
          <a:xfrm>
            <a:off x="7820900" y="931855"/>
            <a:ext cx="192000" cy="3747004"/>
            <a:chOff x="2715500" y="931825"/>
            <a:chExt cx="192000" cy="1556000"/>
          </a:xfrm>
        </p:grpSpPr>
        <p:cxnSp>
          <p:nvCxnSpPr>
            <p:cNvPr id="704" name="Google Shape;704;p57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57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57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7" name="Google Shape;707;p57"/>
          <p:cNvSpPr txBox="1"/>
          <p:nvPr/>
        </p:nvSpPr>
        <p:spPr>
          <a:xfrm>
            <a:off x="7949949" y="2343200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13" name="Google Shape;713;p58"/>
          <p:cNvSpPr txBox="1"/>
          <p:nvPr>
            <p:ph idx="1" type="body"/>
          </p:nvPr>
        </p:nvSpPr>
        <p:spPr>
          <a:xfrm>
            <a:off x="107050" y="402200"/>
            <a:ext cx="3105600" cy="44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Better approach: Send more packets while waiting for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</a:t>
            </a:r>
            <a:r>
              <a:rPr b="1" lang="en"/>
              <a:t>in flight</a:t>
            </a:r>
            <a:r>
              <a:rPr lang="en"/>
              <a:t> simultaneously.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flight: Packet has been sent, but has not been acked yet.</a:t>
            </a:r>
            <a:endParaRPr/>
          </a:p>
        </p:txBody>
      </p:sp>
      <p:sp>
        <p:nvSpPr>
          <p:cNvPr id="714" name="Google Shape;714;p58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8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6" name="Google Shape;716;p58"/>
          <p:cNvCxnSpPr/>
          <p:nvPr/>
        </p:nvCxnSpPr>
        <p:spPr>
          <a:xfrm flipH="1">
            <a:off x="3959032" y="1366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58"/>
          <p:cNvCxnSpPr/>
          <p:nvPr/>
        </p:nvCxnSpPr>
        <p:spPr>
          <a:xfrm>
            <a:off x="3953900" y="956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58"/>
          <p:cNvCxnSpPr/>
          <p:nvPr/>
        </p:nvCxnSpPr>
        <p:spPr>
          <a:xfrm>
            <a:off x="3953900" y="1108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58"/>
          <p:cNvCxnSpPr/>
          <p:nvPr/>
        </p:nvCxnSpPr>
        <p:spPr>
          <a:xfrm>
            <a:off x="3953900" y="1261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58"/>
          <p:cNvCxnSpPr/>
          <p:nvPr/>
        </p:nvCxnSpPr>
        <p:spPr>
          <a:xfrm>
            <a:off x="3953900" y="1413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58"/>
          <p:cNvCxnSpPr/>
          <p:nvPr/>
        </p:nvCxnSpPr>
        <p:spPr>
          <a:xfrm flipH="1">
            <a:off x="3959032" y="15186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58"/>
          <p:cNvCxnSpPr/>
          <p:nvPr/>
        </p:nvCxnSpPr>
        <p:spPr>
          <a:xfrm flipH="1">
            <a:off x="3959032" y="1671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58"/>
          <p:cNvCxnSpPr/>
          <p:nvPr/>
        </p:nvCxnSpPr>
        <p:spPr>
          <a:xfrm flipH="1">
            <a:off x="3959032" y="18234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4" name="Google Shape;724;p58"/>
          <p:cNvSpPr txBox="1"/>
          <p:nvPr/>
        </p:nvSpPr>
        <p:spPr>
          <a:xfrm>
            <a:off x="3736386" y="7836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8"/>
          <p:cNvSpPr txBox="1"/>
          <p:nvPr/>
        </p:nvSpPr>
        <p:spPr>
          <a:xfrm>
            <a:off x="6936779" y="1177993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6" name="Google Shape;726;p58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58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8" name="Google Shape;728;p58"/>
          <p:cNvGrpSpPr/>
          <p:nvPr/>
        </p:nvGrpSpPr>
        <p:grpSpPr>
          <a:xfrm>
            <a:off x="7820900" y="931886"/>
            <a:ext cx="192000" cy="1261138"/>
            <a:chOff x="2715500" y="931825"/>
            <a:chExt cx="192000" cy="1556000"/>
          </a:xfrm>
        </p:grpSpPr>
        <p:cxnSp>
          <p:nvCxnSpPr>
            <p:cNvPr id="729" name="Google Shape;729;p58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58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58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2" name="Google Shape;732;p58"/>
          <p:cNvSpPr txBox="1"/>
          <p:nvPr/>
        </p:nvSpPr>
        <p:spPr>
          <a:xfrm>
            <a:off x="7949950" y="1135375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38" name="Google Shape;738;p5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in flight simultaneously.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Could we send all the packets at once?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No, limited by bandwidth (at sender, router, and destination).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Window-based algorithms: Limit the amount of packets in flight.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</a:t>
            </a:r>
            <a:r>
              <a:rPr i="1" lang="en"/>
              <a:t>W</a:t>
            </a:r>
            <a:r>
              <a:rPr lang="en"/>
              <a:t> packets can be in-flight (sent, but not acked) at any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is the size of the </a:t>
            </a:r>
            <a:r>
              <a:rPr b="1" lang="en"/>
              <a:t>window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stay inside the window limit: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Start: Send </a:t>
            </a:r>
            <a:r>
              <a:rPr i="1" lang="en"/>
              <a:t>W</a:t>
            </a:r>
            <a:r>
              <a:rPr lang="en"/>
              <a:t>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time a packet gets acked, send the next packet in line.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isn't necessary for correctness, but is added for efficiency (performance).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44" name="Google Shape;744;p6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Start: Send </a:t>
            </a:r>
            <a:r>
              <a:rPr i="1" lang="en"/>
              <a:t>W</a:t>
            </a:r>
            <a:r>
              <a:rPr lang="en"/>
              <a:t> = 4 packets.			In-flight packets: {1, 2, 3, 4}.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ack(1) arrives: Send 5.		In-flight packets: {2, 3, 4, 5}.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ack(2) arrives: Send 6.		In-flight packets: {3, 4, 5, 6}.</a:t>
            </a:r>
            <a:endParaRPr/>
          </a:p>
        </p:txBody>
      </p:sp>
      <p:cxnSp>
        <p:nvCxnSpPr>
          <p:cNvPr id="745" name="Google Shape;745;p6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6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7" name="Google Shape;747;p6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6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60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6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60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60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60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60"/>
          <p:cNvCxnSpPr/>
          <p:nvPr/>
        </p:nvCxnSpPr>
        <p:spPr>
          <a:xfrm flipH="1">
            <a:off x="3044632" y="25854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p60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0"/>
          <p:cNvSpPr txBox="1"/>
          <p:nvPr/>
        </p:nvSpPr>
        <p:spPr>
          <a:xfrm>
            <a:off x="6022379" y="2244793"/>
            <a:ext cx="66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60"/>
          <p:cNvCxnSpPr/>
          <p:nvPr/>
        </p:nvCxnSpPr>
        <p:spPr>
          <a:xfrm>
            <a:off x="3039500" y="2861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3039500" y="3013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9" name="Google Shape;759;p60"/>
          <p:cNvSpPr txBox="1"/>
          <p:nvPr/>
        </p:nvSpPr>
        <p:spPr>
          <a:xfrm>
            <a:off x="2821986" y="2688661"/>
            <a:ext cx="26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766" name="Google Shape;766;p6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</a:t>
            </a:r>
            <a:r>
              <a:rPr lang="en"/>
              <a:t>the recipient (flow control)...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</a:t>
            </a:r>
            <a:r>
              <a:rPr lang="en"/>
              <a:t>links (congestion control)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2" name="Google Shape;772;p62"/>
          <p:cNvSpPr txBox="1"/>
          <p:nvPr>
            <p:ph idx="1" type="body"/>
          </p:nvPr>
        </p:nvSpPr>
        <p:spPr>
          <a:xfrm>
            <a:off x="107050" y="402200"/>
            <a:ext cx="8909700" cy="46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goal: </a:t>
            </a:r>
            <a:r>
              <a:rPr lang="en"/>
              <a:t>Take advantage of network capacity ("fill the pipe").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should never be sitting idle.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</a:t>
            </a:r>
            <a:r>
              <a:rPr i="1" lang="en"/>
              <a:t>W</a:t>
            </a:r>
            <a:r>
              <a:rPr lang="en"/>
              <a:t> large enough to keep the sender constantly busy.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compute this </a:t>
            </a:r>
            <a:r>
              <a:rPr i="1" lang="en"/>
              <a:t>W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RTT = 5 seconds, and bandwidth = 10 packets per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focus on the very first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first 5 seconds, no acks arrive.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the sender to be constantly busy for all 5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packets can be sent in 5 seconds?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(5 seconds) × (10 packets per second) = 50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</a:t>
            </a:r>
            <a:r>
              <a:rPr i="1" lang="en"/>
              <a:t>W</a:t>
            </a:r>
            <a:r>
              <a:rPr lang="en"/>
              <a:t> = 50 packets keeps the sender busy.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&lt; 50 means the sender reaches the limit before any acks, and has to sit idle.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generally: </a:t>
            </a:r>
            <a:r>
              <a:rPr i="1" lang="en"/>
              <a:t>W</a:t>
            </a:r>
            <a:r>
              <a:rPr lang="en"/>
              <a:t> = RTT ×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8" name="Google Shape;778;p63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sending the maximum </a:t>
            </a:r>
            <a:r>
              <a:rPr i="1" lang="en"/>
              <a:t>W</a:t>
            </a:r>
            <a:r>
              <a:rPr lang="en"/>
              <a:t> = 4 packets, the sender sits idle, waiting for ack(1).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window size is too small to fill the pipe.</a:t>
            </a:r>
            <a:endParaRPr/>
          </a:p>
        </p:txBody>
      </p:sp>
      <p:cxnSp>
        <p:nvCxnSpPr>
          <p:cNvPr id="779" name="Google Shape;779;p6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6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6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3" name="Google Shape;783;p63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63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63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3"/>
          <p:cNvSpPr txBox="1"/>
          <p:nvPr/>
        </p:nvSpPr>
        <p:spPr>
          <a:xfrm>
            <a:off x="2821986" y="2690200"/>
            <a:ext cx="2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3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8" name="Google Shape;788;p63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789" name="Google Shape;789;p63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3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63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2" name="Google Shape;792;p63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3" name="Google Shape;793;p63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63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63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63"/>
          <p:cNvSpPr txBox="1"/>
          <p:nvPr/>
        </p:nvSpPr>
        <p:spPr>
          <a:xfrm>
            <a:off x="2821986" y="1868433"/>
            <a:ext cx="2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63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03" name="Google Shape;803;p64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is busy the entire RTT sending </a:t>
            </a:r>
            <a:r>
              <a:rPr i="1" lang="en"/>
              <a:t>W</a:t>
            </a:r>
            <a:r>
              <a:rPr lang="en"/>
              <a:t> = 6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ack(1) arrives just as the last of the 6 packets leaves.</a:t>
            </a:r>
            <a:endParaRPr/>
          </a:p>
        </p:txBody>
      </p:sp>
      <p:cxnSp>
        <p:nvCxnSpPr>
          <p:cNvPr id="804" name="Google Shape;804;p6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6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6" name="Google Shape;806;p6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8" name="Google Shape;808;p64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9" name="Google Shape;809;p64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64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64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64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64"/>
          <p:cNvSpPr txBox="1"/>
          <p:nvPr/>
        </p:nvSpPr>
        <p:spPr>
          <a:xfrm>
            <a:off x="2821986" y="1868433"/>
            <a:ext cx="264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6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7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4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5" name="Google Shape;815;p64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64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7" name="Google Shape;817;p64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818" name="Google Shape;818;p64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64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64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1" name="Google Shape;821;p64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2" name="Google Shape;822;p64"/>
          <p:cNvCxnSpPr/>
          <p:nvPr/>
        </p:nvCxnSpPr>
        <p:spPr>
          <a:xfrm>
            <a:off x="3039500" y="2590940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64"/>
          <p:cNvCxnSpPr/>
          <p:nvPr/>
        </p:nvCxnSpPr>
        <p:spPr>
          <a:xfrm>
            <a:off x="3039500" y="2713388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29" name="Google Shape;829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fill the pipe: </a:t>
            </a:r>
            <a:r>
              <a:rPr i="1" lang="en"/>
              <a:t>W</a:t>
            </a:r>
            <a:r>
              <a:rPr lang="en"/>
              <a:t> = RTT ×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exactly is the bandwidth?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minimum ("bottleneck") link bandwidth along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us how fast packets can be sent (without clogging the network).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rewrite this in terms of bytes, not packets.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× (packet size) = RTT × bandwidth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window size, in packets, and </a:t>
            </a:r>
            <a:r>
              <a:rPr i="1" lang="en"/>
              <a:t>W</a:t>
            </a:r>
            <a:r>
              <a:rPr lang="en"/>
              <a:t> × (packet size) = window size, in bytes.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now measured in bits/second, not packets/second.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gives us an </a:t>
            </a:r>
            <a:r>
              <a:rPr i="1" lang="en"/>
              <a:t>upper bound</a:t>
            </a:r>
            <a:r>
              <a:rPr lang="en"/>
              <a:t> on the desired size of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two conditions (don't overload recipient and network) might impose stricter limits and decrease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6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6"/>
          <p:cNvSpPr/>
          <p:nvPr/>
        </p:nvSpPr>
        <p:spPr>
          <a:xfrm>
            <a:off x="4671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66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66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66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66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66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66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66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66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66"/>
          <p:cNvSpPr/>
          <p:nvPr/>
        </p:nvSpPr>
        <p:spPr>
          <a:xfrm>
            <a:off x="404575" y="918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66"/>
          <p:cNvSpPr/>
          <p:nvPr/>
        </p:nvSpPr>
        <p:spPr>
          <a:xfrm>
            <a:off x="480775" y="842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6"/>
          <p:cNvSpPr/>
          <p:nvPr/>
        </p:nvSpPr>
        <p:spPr>
          <a:xfrm>
            <a:off x="556975" y="766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848" name="Google Shape;848;p66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9" name="Google Shape;849;p66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66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6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2" name="Google Shape;852;p66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3" name="Google Shape;853;p66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66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5" name="Google Shape;855;p66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66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66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66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6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66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66"/>
          <p:cNvSpPr/>
          <p:nvPr/>
        </p:nvSpPr>
        <p:spPr>
          <a:xfrm>
            <a:off x="4976575" y="918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66"/>
          <p:cNvSpPr/>
          <p:nvPr/>
        </p:nvSpPr>
        <p:spPr>
          <a:xfrm>
            <a:off x="5052775" y="842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66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4" name="Google Shape;864;p66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5" name="Google Shape;865;p66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6" name="Google Shape;866;p66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7" name="Google Shape;867;p66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8" name="Google Shape;868;p66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66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66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66"/>
          <p:cNvSpPr/>
          <p:nvPr/>
        </p:nvSpPr>
        <p:spPr>
          <a:xfrm>
            <a:off x="175975" y="3433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66"/>
          <p:cNvSpPr/>
          <p:nvPr/>
        </p:nvSpPr>
        <p:spPr>
          <a:xfrm>
            <a:off x="252175" y="3357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66"/>
          <p:cNvSpPr/>
          <p:nvPr/>
        </p:nvSpPr>
        <p:spPr>
          <a:xfrm>
            <a:off x="328375" y="3281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66"/>
          <p:cNvSpPr/>
          <p:nvPr/>
        </p:nvSpPr>
        <p:spPr>
          <a:xfrm>
            <a:off x="404575" y="3204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66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6" name="Google Shape;876;p66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7" name="Google Shape;877;p66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8" name="Google Shape;878;p66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66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0" name="Google Shape;880;p66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66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66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66"/>
          <p:cNvSpPr/>
          <p:nvPr/>
        </p:nvSpPr>
        <p:spPr>
          <a:xfrm>
            <a:off x="4747975" y="3433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66"/>
          <p:cNvSpPr/>
          <p:nvPr/>
        </p:nvSpPr>
        <p:spPr>
          <a:xfrm>
            <a:off x="4824175" y="3357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66"/>
          <p:cNvSpPr/>
          <p:nvPr/>
        </p:nvSpPr>
        <p:spPr>
          <a:xfrm>
            <a:off x="4900375" y="3281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66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66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8" name="Google Shape;888;p66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9" name="Google Shape;889;p66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66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66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2" name="Google Shape;892;p66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66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66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66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66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66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66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66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66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7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67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67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67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67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67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67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67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r>
              <a:rPr lang="en">
                <a:solidFill>
                  <a:schemeClr val="accent3"/>
                </a:solidFill>
              </a:rPr>
              <a:t>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914" name="Google Shape;914;p67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5" name="Google Shape;915;p67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67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67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18" name="Google Shape;918;p67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9" name="Google Shape;919;p67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67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1" name="Google Shape;921;p67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67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67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5" name="Google Shape;925;p67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6" name="Google Shape;926;p67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7" name="Google Shape;927;p67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67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9" name="Google Shape;929;p67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7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7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3" name="Google Shape;933;p67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4" name="Google Shape;934;p67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5" name="Google Shape;935;p67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67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7" name="Google Shape;937;p67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67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67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67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67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2" name="Google Shape;942;p67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3" name="Google Shape;943;p67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67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67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6" name="Google Shape;946;p67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67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7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67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67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6515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23936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67"/>
          <p:cNvSpPr/>
          <p:nvPr/>
        </p:nvSpPr>
        <p:spPr>
          <a:xfrm>
            <a:off x="1493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67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67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67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67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67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7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67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7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7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67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67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67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67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67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67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67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67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7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7"/>
          <p:cNvSpPr/>
          <p:nvPr/>
        </p:nvSpPr>
        <p:spPr>
          <a:xfrm>
            <a:off x="8481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67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67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67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7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7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8"/>
          <p:cNvSpPr/>
          <p:nvPr/>
        </p:nvSpPr>
        <p:spPr>
          <a:xfrm>
            <a:off x="997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68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68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68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8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68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68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r>
              <a:rPr lang="en">
                <a:solidFill>
                  <a:schemeClr val="accent3"/>
                </a:solidFill>
              </a:rPr>
              <a:t>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3)</a:t>
            </a:r>
            <a:endParaRPr/>
          </a:p>
        </p:txBody>
      </p:sp>
      <p:sp>
        <p:nvSpPr>
          <p:cNvPr id="995" name="Google Shape;995;p68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68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8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68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9" name="Google Shape;999;p68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68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68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2" name="Google Shape;1002;p68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8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68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68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6" name="Google Shape;1006;p68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7" name="Google Shape;1007;p68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68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68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0" name="Google Shape;1010;p68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68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8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3" name="Google Shape;1013;p68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4" name="Google Shape;1014;p68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68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8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7" name="Google Shape;1017;p68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68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68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68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68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2" name="Google Shape;1022;p68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3" name="Google Shape;1023;p68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68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5" name="Google Shape;1025;p68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68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68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68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68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8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8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68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68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68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68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68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8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68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68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68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68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68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8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68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8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68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68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68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68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68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68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68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68"/>
          <p:cNvSpPr/>
          <p:nvPr/>
        </p:nvSpPr>
        <p:spPr>
          <a:xfrm>
            <a:off x="1759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8"/>
          <p:cNvSpPr/>
          <p:nvPr/>
        </p:nvSpPr>
        <p:spPr>
          <a:xfrm>
            <a:off x="2521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8"/>
          <p:cNvSpPr/>
          <p:nvPr/>
        </p:nvSpPr>
        <p:spPr>
          <a:xfrm>
            <a:off x="3283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68"/>
          <p:cNvSpPr/>
          <p:nvPr/>
        </p:nvSpPr>
        <p:spPr>
          <a:xfrm>
            <a:off x="46717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68"/>
          <p:cNvSpPr/>
          <p:nvPr/>
        </p:nvSpPr>
        <p:spPr>
          <a:xfrm>
            <a:off x="47479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68"/>
          <p:cNvSpPr/>
          <p:nvPr/>
        </p:nvSpPr>
        <p:spPr>
          <a:xfrm>
            <a:off x="48241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68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68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68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68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Avoiding Overload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(Flow and Congestion Control)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8" name="Google Shape;1068;p6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Avoiding Overload: Flow Control and Congestion Control</a:t>
            </a:r>
            <a:endParaRPr sz="3200"/>
          </a:p>
        </p:txBody>
      </p:sp>
      <p:sp>
        <p:nvSpPr>
          <p:cNvPr id="1069" name="Google Shape;1069;p6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075" name="Google Shape;1075;p7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1"/>
          <p:cNvSpPr txBox="1"/>
          <p:nvPr>
            <p:ph idx="1" type="body"/>
          </p:nvPr>
        </p:nvSpPr>
        <p:spPr>
          <a:xfrm>
            <a:off x="107050" y="402200"/>
            <a:ext cx="8909700" cy="23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recipient: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might receive packets out-of-order, but can only deliver packets to the application in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must </a:t>
            </a:r>
            <a:r>
              <a:rPr i="1" lang="en"/>
              <a:t>buffer</a:t>
            </a:r>
            <a:r>
              <a:rPr lang="en"/>
              <a:t> incoming packets that are out of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stay in the buffer until all "missing" packets arrive.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make sure the recipient doesn't run out of buffer space.</a:t>
            </a:r>
            <a:endParaRPr/>
          </a:p>
        </p:txBody>
      </p:sp>
      <p:sp>
        <p:nvSpPr>
          <p:cNvPr id="1081" name="Google Shape;1081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 (</a:t>
            </a:r>
            <a:r>
              <a:rPr lang="en"/>
              <a:t>2/3</a:t>
            </a:r>
            <a:r>
              <a:rPr lang="en"/>
              <a:t>): Don't Overload Recipient (Flow Control)</a:t>
            </a:r>
            <a:endParaRPr/>
          </a:p>
        </p:txBody>
      </p:sp>
      <p:sp>
        <p:nvSpPr>
          <p:cNvPr id="1082" name="Google Shape;1082;p71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application expects 3 next, but the sender gave me 4 and 5.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hold on to 4 and 5 while waiting for 3 to arrive.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71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71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71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71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2"/>
          <p:cNvSpPr txBox="1"/>
          <p:nvPr>
            <p:ph idx="1" type="body"/>
          </p:nvPr>
        </p:nvSpPr>
        <p:spPr>
          <a:xfrm>
            <a:off x="107050" y="402200"/>
            <a:ext cx="8909700" cy="24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Flow control</a:t>
            </a:r>
            <a:r>
              <a:rPr lang="en"/>
              <a:t> ensures the recipient has enough buffer space for out-of-order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 tells the sender how much space it has left.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size of remaining space is called the </a:t>
            </a:r>
            <a:r>
              <a:rPr b="1" lang="en"/>
              <a:t>advertised window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value is carried in ack messages.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adjusts its window accordingly.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packets in flight must be less than the recipient's advertised window.</a:t>
            </a:r>
            <a:endParaRPr/>
          </a:p>
        </p:txBody>
      </p:sp>
      <p:sp>
        <p:nvSpPr>
          <p:cNvPr id="1094" name="Google Shape;1094;p72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(2/3): Don't Overload Recipient (Flow Control)</a:t>
            </a:r>
            <a:endParaRPr/>
          </a:p>
        </p:txBody>
      </p:sp>
      <p:sp>
        <p:nvSpPr>
          <p:cNvPr id="1096" name="Google Shape;1096;p72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2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2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2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2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By the way, I only have enough space for 2 more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2"/>
          <p:cNvCxnSpPr/>
          <p:nvPr/>
        </p:nvCxnSpPr>
        <p:spPr>
          <a:xfrm>
            <a:off x="5750625" y="4655975"/>
            <a:ext cx="27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72"/>
          <p:cNvSpPr txBox="1"/>
          <p:nvPr/>
        </p:nvSpPr>
        <p:spPr>
          <a:xfrm>
            <a:off x="5750625" y="4694800"/>
            <a:ext cx="27453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8" name="Google Shape;1108;p73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9" name="Google Shape;1109;p73"/>
          <p:cNvSpPr/>
          <p:nvPr/>
        </p:nvSpPr>
        <p:spPr>
          <a:xfrm>
            <a:off x="1685450" y="3995425"/>
            <a:ext cx="3464022" cy="865998"/>
          </a:xfrm>
          <a:custGeom>
            <a:rect b="b" l="l" r="r" t="t"/>
            <a:pathLst>
              <a:path extrusionOk="0" h="42919" w="131064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10" name="Google Shape;1110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11" name="Google Shape;1111;p73"/>
          <p:cNvSpPr txBox="1"/>
          <p:nvPr>
            <p:ph idx="1" type="body"/>
          </p:nvPr>
        </p:nvSpPr>
        <p:spPr>
          <a:xfrm>
            <a:off x="107050" y="402200"/>
            <a:ext cx="89097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Previously, we set </a:t>
            </a:r>
            <a:r>
              <a:rPr i="1" lang="en"/>
              <a:t>W</a:t>
            </a:r>
            <a:r>
              <a:rPr lang="en"/>
              <a:t> to fully </a:t>
            </a:r>
            <a:r>
              <a:rPr lang="en"/>
              <a:t>consume the bottleneck link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S–D would set </a:t>
            </a:r>
            <a:r>
              <a:rPr i="1" lang="en"/>
              <a:t>W</a:t>
            </a:r>
            <a:r>
              <a:rPr lang="en"/>
              <a:t> to send data at 1 Gbps.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the bottleneck is shared with other flows.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With the red flow, S–D should only send at 0.5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sender should only consume </a:t>
            </a:r>
            <a:r>
              <a:rPr i="1" lang="en"/>
              <a:t>its share</a:t>
            </a:r>
            <a:r>
              <a:rPr lang="en"/>
              <a:t> of the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how do we compute this share?</a:t>
            </a:r>
            <a:endParaRPr/>
          </a:p>
        </p:txBody>
      </p:sp>
      <p:sp>
        <p:nvSpPr>
          <p:cNvPr id="1112" name="Google Shape;1112;p73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3" name="Google Shape;1113;p73"/>
          <p:cNvCxnSpPr>
            <a:stCxn id="1114" idx="6"/>
            <a:endCxn id="1112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73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3"/>
          <p:cNvCxnSpPr>
            <a:stCxn id="1112" idx="3"/>
            <a:endCxn id="1115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73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3"/>
          <p:cNvCxnSpPr>
            <a:stCxn id="1115" idx="3"/>
            <a:endCxn id="1117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73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3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73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73"/>
          <p:cNvSpPr txBox="1"/>
          <p:nvPr/>
        </p:nvSpPr>
        <p:spPr>
          <a:xfrm>
            <a:off x="6724125" y="4112675"/>
            <a:ext cx="22200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RTT × bandwidth.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73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73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30" name="Google Shape;1130;p74"/>
          <p:cNvSpPr txBox="1"/>
          <p:nvPr>
            <p:ph idx="1" type="body"/>
          </p:nvPr>
        </p:nvSpPr>
        <p:spPr>
          <a:xfrm>
            <a:off x="107050" y="402200"/>
            <a:ext cx="8909700" cy="23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sender's TCP code implements a </a:t>
            </a:r>
            <a:r>
              <a:rPr b="1" lang="en"/>
              <a:t>congestion control algorithm</a:t>
            </a:r>
            <a:r>
              <a:rPr lang="en"/>
              <a:t> that dynamically computes the sender's share of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output of the algorithm is a </a:t>
            </a:r>
            <a:r>
              <a:rPr b="1" lang="en"/>
              <a:t>congestion window</a:t>
            </a:r>
            <a:r>
              <a:rPr lang="en"/>
              <a:t> (cwnd).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algorithm balances a few goals (e.g. performance, avoid overload, fairness).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about the algorithms later.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today: The sender runs magic algorithm and outputs a congestion window.</a:t>
            </a:r>
            <a:endParaRPr/>
          </a:p>
        </p:txBody>
      </p:sp>
      <p:sp>
        <p:nvSpPr>
          <p:cNvPr id="1131" name="Google Shape;1131;p74"/>
          <p:cNvSpPr txBox="1"/>
          <p:nvPr/>
        </p:nvSpPr>
        <p:spPr>
          <a:xfrm>
            <a:off x="6724125" y="4112675"/>
            <a:ext cx="22200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RTT × bandwidth.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4"/>
          <p:cNvSpPr/>
          <p:nvPr/>
        </p:nvSpPr>
        <p:spPr>
          <a:xfrm>
            <a:off x="610725" y="2934400"/>
            <a:ext cx="3160800" cy="636900"/>
          </a:xfrm>
          <a:prstGeom prst="wedgeRoundRectCallout">
            <a:avLst>
              <a:gd fmla="val -35419" name="adj1"/>
              <a:gd fmla="val 82423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magically decided that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7 avoids overloading the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74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4" name="Google Shape;1134;p74"/>
          <p:cNvSpPr/>
          <p:nvPr/>
        </p:nvSpPr>
        <p:spPr>
          <a:xfrm>
            <a:off x="1685450" y="3995425"/>
            <a:ext cx="3464022" cy="865998"/>
          </a:xfrm>
          <a:custGeom>
            <a:rect b="b" l="l" r="r" t="t"/>
            <a:pathLst>
              <a:path extrusionOk="0" h="42919" w="131064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35" name="Google Shape;1135;p74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6" name="Google Shape;1136;p74"/>
          <p:cNvCxnSpPr>
            <a:stCxn id="1137" idx="6"/>
            <a:endCxn id="1135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7" name="Google Shape;1137;p74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4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9" name="Google Shape;1139;p74"/>
          <p:cNvCxnSpPr>
            <a:stCxn id="1135" idx="3"/>
            <a:endCxn id="1138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74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74"/>
          <p:cNvCxnSpPr>
            <a:stCxn id="1138" idx="3"/>
            <a:endCxn id="1140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74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4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4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4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4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152" name="Google Shape;1152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</a:t>
            </a:r>
            <a:r>
              <a:rPr lang="en"/>
              <a:t>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recipient's advertised window)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sender's congestion window)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Ideally: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set to the minimum of the 3 values.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practice: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the minimum of advertised window (2) and congestion window (3).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Congestion window ≤ pipe-filling window.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Equal if we're the only connection, less than if sharing bandwidth with others.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It's hard for the sender to discover the bottleneck bandwidth and calculate (1).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7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Smarter Acknowledgments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58" name="Google Shape;1158;p7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Acknowledgments</a:t>
            </a:r>
            <a:endParaRPr/>
          </a:p>
        </p:txBody>
      </p:sp>
      <p:sp>
        <p:nvSpPr>
          <p:cNvPr id="1159" name="Google Shape;1159;p7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</a:t>
            </a:r>
            <a:r>
              <a:rPr lang="en">
                <a:solidFill>
                  <a:schemeClr val="accent3"/>
                </a:solidFill>
              </a:rPr>
              <a:t>1/3</a:t>
            </a:r>
            <a:r>
              <a:rPr lang="en">
                <a:solidFill>
                  <a:schemeClr val="accent3"/>
                </a:solidFill>
              </a:rPr>
              <a:t>): Individual Packet Acks</a:t>
            </a:r>
            <a:endParaRPr/>
          </a:p>
        </p:txBody>
      </p:sp>
      <p:sp>
        <p:nvSpPr>
          <p:cNvPr id="1165" name="Google Shape;1165;p77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design so far</a:t>
            </a:r>
            <a:r>
              <a:rPr lang="en"/>
              <a:t>: </a:t>
            </a:r>
            <a:r>
              <a:rPr b="1" lang="en"/>
              <a:t>Individual packet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, send ack(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).</a:t>
            </a:r>
            <a:endParaRPr/>
          </a:p>
        </p:txBody>
      </p:sp>
      <p:cxnSp>
        <p:nvCxnSpPr>
          <p:cNvPr id="1166" name="Google Shape;1166;p7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7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8" name="Google Shape;1168;p7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7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0" name="Google Shape;1170;p77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77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77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77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77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77"/>
          <p:cNvCxnSpPr/>
          <p:nvPr/>
        </p:nvCxnSpPr>
        <p:spPr>
          <a:xfrm flipH="1">
            <a:off x="3044632" y="27378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6" name="Google Shape;1176;p77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77"/>
          <p:cNvSpPr txBox="1"/>
          <p:nvPr/>
        </p:nvSpPr>
        <p:spPr>
          <a:xfrm>
            <a:off x="6022375" y="2244804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77"/>
          <p:cNvCxnSpPr/>
          <p:nvPr/>
        </p:nvCxnSpPr>
        <p:spPr>
          <a:xfrm flipH="1">
            <a:off x="3044632" y="2890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77"/>
          <p:cNvCxnSpPr/>
          <p:nvPr/>
        </p:nvCxnSpPr>
        <p:spPr>
          <a:xfrm flipH="1">
            <a:off x="4097032" y="2585414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0" name="Google Shape;1180;p77"/>
          <p:cNvSpPr txBox="1"/>
          <p:nvPr/>
        </p:nvSpPr>
        <p:spPr>
          <a:xfrm>
            <a:off x="3917749" y="2689935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77"/>
          <p:cNvCxnSpPr/>
          <p:nvPr/>
        </p:nvCxnSpPr>
        <p:spPr>
          <a:xfrm>
            <a:off x="3039500" y="3394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2" name="Google Shape;1182;p77"/>
          <p:cNvSpPr txBox="1"/>
          <p:nvPr/>
        </p:nvSpPr>
        <p:spPr>
          <a:xfrm>
            <a:off x="2821986" y="3222061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77"/>
          <p:cNvSpPr txBox="1"/>
          <p:nvPr/>
        </p:nvSpPr>
        <p:spPr>
          <a:xfrm>
            <a:off x="6118100" y="3625600"/>
            <a:ext cx="1459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Unnecessary and avoidable retransmission!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(2/3): Full Information </a:t>
            </a:r>
            <a:r>
              <a:rPr lang="en">
                <a:solidFill>
                  <a:schemeClr val="accent3"/>
                </a:solidFill>
              </a:rPr>
              <a:t>Acks</a:t>
            </a:r>
            <a:endParaRPr/>
          </a:p>
        </p:txBody>
      </p:sp>
      <p:sp>
        <p:nvSpPr>
          <p:cNvPr id="1189" name="Google Shape;1189;p78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Smarter idea: </a:t>
            </a:r>
            <a:r>
              <a:rPr b="1" lang="en"/>
              <a:t>F</a:t>
            </a:r>
            <a:r>
              <a:rPr b="1" lang="en"/>
              <a:t>ull information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an ack listing </a:t>
            </a:r>
            <a:r>
              <a:rPr i="1" lang="en"/>
              <a:t>every packet received</a:t>
            </a:r>
            <a:r>
              <a:rPr lang="en"/>
              <a:t>.</a:t>
            </a:r>
            <a:endParaRPr/>
          </a:p>
        </p:txBody>
      </p:sp>
      <p:cxnSp>
        <p:nvCxnSpPr>
          <p:cNvPr id="1190" name="Google Shape;1190;p78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78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2" name="Google Shape;1192;p78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3" name="Google Shape;1193;p78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4" name="Google Shape;1194;p78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78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78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78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78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78"/>
          <p:cNvCxnSpPr/>
          <p:nvPr/>
        </p:nvCxnSpPr>
        <p:spPr>
          <a:xfrm flipH="1">
            <a:off x="3044632" y="27378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0" name="Google Shape;1200;p78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8"/>
          <p:cNvSpPr txBox="1"/>
          <p:nvPr/>
        </p:nvSpPr>
        <p:spPr>
          <a:xfrm>
            <a:off x="6022375" y="2244800"/>
            <a:ext cx="155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2.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</a:t>
            </a:r>
            <a:r>
              <a:rPr b="1"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, 3.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</a:t>
            </a:r>
            <a:r>
              <a:rPr b="1"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, 3, 4.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8"/>
          <p:cNvCxnSpPr/>
          <p:nvPr/>
        </p:nvCxnSpPr>
        <p:spPr>
          <a:xfrm flipH="1">
            <a:off x="3044632" y="2890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78"/>
          <p:cNvCxnSpPr/>
          <p:nvPr/>
        </p:nvCxnSpPr>
        <p:spPr>
          <a:xfrm flipH="1">
            <a:off x="4097032" y="2585414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4" name="Google Shape;1204;p78"/>
          <p:cNvSpPr txBox="1"/>
          <p:nvPr/>
        </p:nvSpPr>
        <p:spPr>
          <a:xfrm>
            <a:off x="3917749" y="2689935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78"/>
          <p:cNvSpPr txBox="1"/>
          <p:nvPr/>
        </p:nvSpPr>
        <p:spPr>
          <a:xfrm>
            <a:off x="1349825" y="2963904"/>
            <a:ext cx="1680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Sender learns that 2 was received.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0" name="Google Shape;1210;p79"/>
          <p:cNvCxnSpPr/>
          <p:nvPr/>
        </p:nvCxnSpPr>
        <p:spPr>
          <a:xfrm flipH="1">
            <a:off x="3044632" y="34521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79"/>
          <p:cNvCxnSpPr/>
          <p:nvPr/>
        </p:nvCxnSpPr>
        <p:spPr>
          <a:xfrm flipH="1">
            <a:off x="3044632" y="31283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79"/>
          <p:cNvCxnSpPr/>
          <p:nvPr/>
        </p:nvCxnSpPr>
        <p:spPr>
          <a:xfrm flipH="1">
            <a:off x="3044632" y="27854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3" name="Google Shape;1213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(2/3): Full Information Acks</a:t>
            </a:r>
            <a:endParaRPr/>
          </a:p>
        </p:txBody>
      </p:sp>
      <p:sp>
        <p:nvSpPr>
          <p:cNvPr id="1214" name="Google Shape;1214;p79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 information ack format: "All packets 1~</a:t>
            </a:r>
            <a:r>
              <a:rPr i="1" lang="en"/>
              <a:t>n</a:t>
            </a:r>
            <a:r>
              <a:rPr lang="en"/>
              <a:t>, plus [</a:t>
            </a:r>
            <a:r>
              <a:rPr i="1" lang="en"/>
              <a:t>list out all other packets</a:t>
            </a:r>
            <a:r>
              <a:rPr lang="en"/>
              <a:t>]."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"I received all packets up to 12, plus 14, 15, 16."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list can get long.</a:t>
            </a:r>
            <a:endParaRPr/>
          </a:p>
        </p:txBody>
      </p:sp>
      <p:sp>
        <p:nvSpPr>
          <p:cNvPr id="1215" name="Google Shape;1215;p79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6" name="Google Shape;1216;p79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7" name="Google Shape;1217;p79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8" name="Google Shape;1218;p79"/>
          <p:cNvCxnSpPr/>
          <p:nvPr/>
        </p:nvCxnSpPr>
        <p:spPr>
          <a:xfrm flipH="1">
            <a:off x="3044632" y="2437776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79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0" name="Google Shape;1220;p79"/>
          <p:cNvCxnSpPr/>
          <p:nvPr/>
        </p:nvCxnSpPr>
        <p:spPr>
          <a:xfrm>
            <a:off x="3039500" y="23471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1" name="Google Shape;1221;p79"/>
          <p:cNvSpPr txBox="1"/>
          <p:nvPr/>
        </p:nvSpPr>
        <p:spPr>
          <a:xfrm>
            <a:off x="2821986" y="1850461"/>
            <a:ext cx="264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79"/>
          <p:cNvSpPr txBox="1"/>
          <p:nvPr/>
        </p:nvSpPr>
        <p:spPr>
          <a:xfrm>
            <a:off x="6022375" y="2273375"/>
            <a:ext cx="230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[3, 5].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[3, 5, 7].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9"/>
          <p:cNvSpPr txBox="1"/>
          <p:nvPr/>
        </p:nvSpPr>
        <p:spPr>
          <a:xfrm>
            <a:off x="4645224" y="225906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9"/>
          <p:cNvCxnSpPr/>
          <p:nvPr/>
        </p:nvCxnSpPr>
        <p:spPr>
          <a:xfrm>
            <a:off x="3039500" y="2185199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79"/>
          <p:cNvCxnSpPr/>
          <p:nvPr/>
        </p:nvCxnSpPr>
        <p:spPr>
          <a:xfrm>
            <a:off x="3039500" y="2687277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79"/>
          <p:cNvCxnSpPr/>
          <p:nvPr/>
        </p:nvCxnSpPr>
        <p:spPr>
          <a:xfrm>
            <a:off x="3039500" y="29948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79"/>
          <p:cNvSpPr txBox="1"/>
          <p:nvPr/>
        </p:nvSpPr>
        <p:spPr>
          <a:xfrm>
            <a:off x="293450" y="2291575"/>
            <a:ext cx="206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every even-numbered packet is dropped: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"Received all up to 1, plus [3, 5, 7, ..., 999]."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79"/>
          <p:cNvSpPr/>
          <p:nvPr/>
        </p:nvSpPr>
        <p:spPr>
          <a:xfrm rot="-5400000">
            <a:off x="1270875" y="3015450"/>
            <a:ext cx="138600" cy="1090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79"/>
          <p:cNvSpPr txBox="1"/>
          <p:nvPr/>
        </p:nvSpPr>
        <p:spPr>
          <a:xfrm>
            <a:off x="795075" y="3593276"/>
            <a:ext cx="1090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0" name="Google Shape;1230;p79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79"/>
          <p:cNvSpPr txBox="1"/>
          <p:nvPr/>
        </p:nvSpPr>
        <p:spPr>
          <a:xfrm>
            <a:off x="4645224" y="25908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2" name="Google Shape;1232;p79"/>
          <p:cNvCxnSpPr/>
          <p:nvPr/>
        </p:nvCxnSpPr>
        <p:spPr>
          <a:xfrm>
            <a:off x="3039500" y="25169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3" name="Google Shape;1233;p79"/>
          <p:cNvSpPr txBox="1"/>
          <p:nvPr/>
        </p:nvSpPr>
        <p:spPr>
          <a:xfrm>
            <a:off x="4645224" y="29337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4" name="Google Shape;1234;p79"/>
          <p:cNvCxnSpPr/>
          <p:nvPr/>
        </p:nvCxnSpPr>
        <p:spPr>
          <a:xfrm>
            <a:off x="3039500" y="28598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(3/3): Cumulative Acks</a:t>
            </a:r>
            <a:endParaRPr/>
          </a:p>
        </p:txBody>
      </p:sp>
      <p:sp>
        <p:nvSpPr>
          <p:cNvPr id="1240" name="Google Shape;1240;p8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TCP actually uses</a:t>
            </a:r>
            <a:r>
              <a:rPr lang="en"/>
              <a:t>: </a:t>
            </a:r>
            <a:r>
              <a:rPr b="1" lang="en"/>
              <a:t>Cumulative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"I received all packets up to 12, </a:t>
            </a:r>
            <a:r>
              <a:rPr lang="en" strike="sngStrike"/>
              <a:t>plus 14, 15, 16</a:t>
            </a:r>
            <a:r>
              <a:rPr lang="en"/>
              <a:t>." (Full info, minus the list.)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Ack the highest sequence number for which all previous packets have been received.</a:t>
            </a:r>
            <a:endParaRPr/>
          </a:p>
        </p:txBody>
      </p:sp>
      <p:cxnSp>
        <p:nvCxnSpPr>
          <p:cNvPr id="1241" name="Google Shape;1241;p80"/>
          <p:cNvCxnSpPr/>
          <p:nvPr/>
        </p:nvCxnSpPr>
        <p:spPr>
          <a:xfrm flipH="1">
            <a:off x="3044632" y="34521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80"/>
          <p:cNvCxnSpPr/>
          <p:nvPr/>
        </p:nvCxnSpPr>
        <p:spPr>
          <a:xfrm flipH="1">
            <a:off x="3044632" y="31283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80"/>
          <p:cNvCxnSpPr/>
          <p:nvPr/>
        </p:nvCxnSpPr>
        <p:spPr>
          <a:xfrm flipH="1">
            <a:off x="3044632" y="27854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4" name="Google Shape;1244;p8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8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8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7" name="Google Shape;1247;p80"/>
          <p:cNvCxnSpPr/>
          <p:nvPr/>
        </p:nvCxnSpPr>
        <p:spPr>
          <a:xfrm flipH="1">
            <a:off x="3044632" y="2437776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8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80"/>
          <p:cNvCxnSpPr/>
          <p:nvPr/>
        </p:nvCxnSpPr>
        <p:spPr>
          <a:xfrm>
            <a:off x="3039500" y="23471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0" name="Google Shape;1250;p80"/>
          <p:cNvSpPr txBox="1"/>
          <p:nvPr/>
        </p:nvSpPr>
        <p:spPr>
          <a:xfrm>
            <a:off x="2821986" y="1850461"/>
            <a:ext cx="264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1" name="Google Shape;1251;p80"/>
          <p:cNvSpPr txBox="1"/>
          <p:nvPr/>
        </p:nvSpPr>
        <p:spPr>
          <a:xfrm>
            <a:off x="6022375" y="2273375"/>
            <a:ext cx="230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5, 7]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80"/>
          <p:cNvSpPr txBox="1"/>
          <p:nvPr/>
        </p:nvSpPr>
        <p:spPr>
          <a:xfrm>
            <a:off x="4645224" y="225906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3" name="Google Shape;1253;p80"/>
          <p:cNvCxnSpPr/>
          <p:nvPr/>
        </p:nvCxnSpPr>
        <p:spPr>
          <a:xfrm>
            <a:off x="3039500" y="2185199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80"/>
          <p:cNvCxnSpPr/>
          <p:nvPr/>
        </p:nvCxnSpPr>
        <p:spPr>
          <a:xfrm>
            <a:off x="3039500" y="2687277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80"/>
          <p:cNvCxnSpPr/>
          <p:nvPr/>
        </p:nvCxnSpPr>
        <p:spPr>
          <a:xfrm>
            <a:off x="3039500" y="29948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80"/>
          <p:cNvSpPr txBox="1"/>
          <p:nvPr/>
        </p:nvSpPr>
        <p:spPr>
          <a:xfrm>
            <a:off x="293450" y="2291575"/>
            <a:ext cx="2062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every even-numbered packet is dropped: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"Received all up to 1, </a:t>
            </a:r>
            <a:r>
              <a:rPr lang="en" strike="sng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plus [3, 5, 7, ..., 999]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Shorter, but more ambiguous.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7" name="Google Shape;1257;p8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80"/>
          <p:cNvSpPr txBox="1"/>
          <p:nvPr/>
        </p:nvSpPr>
        <p:spPr>
          <a:xfrm>
            <a:off x="4645224" y="25908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9" name="Google Shape;1259;p80"/>
          <p:cNvCxnSpPr/>
          <p:nvPr/>
        </p:nvCxnSpPr>
        <p:spPr>
          <a:xfrm>
            <a:off x="3039500" y="25169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80"/>
          <p:cNvSpPr txBox="1"/>
          <p:nvPr/>
        </p:nvSpPr>
        <p:spPr>
          <a:xfrm>
            <a:off x="4645224" y="29337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1" name="Google Shape;1261;p80"/>
          <p:cNvCxnSpPr/>
          <p:nvPr/>
        </p:nvCxnSpPr>
        <p:spPr>
          <a:xfrm>
            <a:off x="3039500" y="28598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 Strategies</a:t>
            </a:r>
            <a:endParaRPr/>
          </a:p>
        </p:txBody>
      </p:sp>
      <p:sp>
        <p:nvSpPr>
          <p:cNvPr id="1267" name="Google Shape;1267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Individual packet acks: Each ack corresponds to one packet.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Compact, simple.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Loss of ack packet always requires retransmission.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 information acks: Each ack lists all packets received.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Complete information on data packets. More resilient to ack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Could require sizable overhead in bad cases.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Cumulative</a:t>
            </a:r>
            <a:r>
              <a:rPr lang="en"/>
              <a:t> acks: Each ack says, "all packets up to </a:t>
            </a:r>
            <a:r>
              <a:rPr i="1" lang="en"/>
              <a:t>n</a:t>
            </a:r>
            <a:r>
              <a:rPr lang="en"/>
              <a:t> received."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Compact. More resilient to ack loss </a:t>
            </a:r>
            <a:r>
              <a:rPr lang="en"/>
              <a:t>(than individual acks)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Incomplete information on which packets arrived.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uses cumulative acks.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Detecting Loss Early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73" name="Google Shape;1273;p8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Loss Early</a:t>
            </a:r>
            <a:endParaRPr/>
          </a:p>
        </p:txBody>
      </p:sp>
      <p:sp>
        <p:nvSpPr>
          <p:cNvPr id="1274" name="Google Shape;1274;p8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Loss Detection</a:t>
            </a:r>
            <a:endParaRPr/>
          </a:p>
        </p:txBody>
      </p:sp>
      <p:sp>
        <p:nvSpPr>
          <p:cNvPr id="1280" name="Google Shape;1280;p83"/>
          <p:cNvSpPr txBox="1"/>
          <p:nvPr>
            <p:ph idx="1" type="body"/>
          </p:nvPr>
        </p:nvSpPr>
        <p:spPr>
          <a:xfrm>
            <a:off x="107050" y="402200"/>
            <a:ext cx="89097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 detect loss by waiting for a timeout.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 length is roughly RTT (a few milliseconds).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Detect loss when acks for subsequent packets arrive.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receive acks for 1, 2, 3, 4, 6, 7, 8, 9, we probably lost 5.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 = 3 is common.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arrive every few nanoseconds, so this approach usually detects loss way earlier.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Implementing ack-based loss detection depends on the type of ack we're using.</a:t>
            </a:r>
            <a:endParaRPr/>
          </a:p>
        </p:txBody>
      </p:sp>
      <p:sp>
        <p:nvSpPr>
          <p:cNvPr id="1281" name="Google Shape;1281;p83"/>
          <p:cNvSpPr txBox="1"/>
          <p:nvPr/>
        </p:nvSpPr>
        <p:spPr>
          <a:xfrm>
            <a:off x="6076750" y="4659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millisecond = 1,000,000 nanoseconds.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Individual Acks</a:t>
            </a:r>
            <a:endParaRPr/>
          </a:p>
        </p:txBody>
      </p:sp>
      <p:sp>
        <p:nvSpPr>
          <p:cNvPr id="1287" name="Google Shape;1287;p84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r>
              <a:rPr lang="en"/>
              <a:t> acks: 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</p:txBody>
      </p:sp>
      <p:sp>
        <p:nvSpPr>
          <p:cNvPr id="1288" name="Google Shape;1288;p84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84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4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1" name="Google Shape;1291;p84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ack(3)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2" name="Google Shape;1292;p84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ack(4)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84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84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ack(7)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5" name="Google Shape;1295;p84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ack(8)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6" name="Google Shape;1296;p84"/>
          <p:cNvSpPr/>
          <p:nvPr/>
        </p:nvSpPr>
        <p:spPr>
          <a:xfrm>
            <a:off x="5572200" y="2495550"/>
            <a:ext cx="3235800" cy="10104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ack(6), ack(7), and ack(8).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Full-Information Acks</a:t>
            </a:r>
            <a:endParaRPr/>
          </a:p>
        </p:txBody>
      </p:sp>
      <p:sp>
        <p:nvSpPr>
          <p:cNvPr id="1302" name="Google Shape;1302;p85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Full-information </a:t>
            </a:r>
            <a:r>
              <a:rPr lang="en"/>
              <a:t>acks: 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see the gap in packets: "up to 4, plus 6, 7, 8" → 5 is missing.</a:t>
            </a:r>
            <a:endParaRPr/>
          </a:p>
        </p:txBody>
      </p:sp>
      <p:sp>
        <p:nvSpPr>
          <p:cNvPr id="1303" name="Google Shape;1303;p85"/>
          <p:cNvSpPr/>
          <p:nvPr/>
        </p:nvSpPr>
        <p:spPr>
          <a:xfrm>
            <a:off x="287400" y="2199950"/>
            <a:ext cx="57366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85"/>
          <p:cNvSpPr/>
          <p:nvPr/>
        </p:nvSpPr>
        <p:spPr>
          <a:xfrm>
            <a:off x="512000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85"/>
          <p:cNvSpPr/>
          <p:nvPr/>
        </p:nvSpPr>
        <p:spPr>
          <a:xfrm>
            <a:off x="1893864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85"/>
          <p:cNvSpPr/>
          <p:nvPr/>
        </p:nvSpPr>
        <p:spPr>
          <a:xfrm>
            <a:off x="3275729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85"/>
          <p:cNvSpPr/>
          <p:nvPr/>
        </p:nvSpPr>
        <p:spPr>
          <a:xfrm>
            <a:off x="4657593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5"/>
          <p:cNvSpPr/>
          <p:nvPr/>
        </p:nvSpPr>
        <p:spPr>
          <a:xfrm>
            <a:off x="1893875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85"/>
          <p:cNvSpPr/>
          <p:nvPr/>
        </p:nvSpPr>
        <p:spPr>
          <a:xfrm>
            <a:off x="3275738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6, 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85"/>
          <p:cNvSpPr/>
          <p:nvPr/>
        </p:nvSpPr>
        <p:spPr>
          <a:xfrm>
            <a:off x="4657600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 plus 6, 7, 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85"/>
          <p:cNvSpPr/>
          <p:nvPr/>
        </p:nvSpPr>
        <p:spPr>
          <a:xfrm>
            <a:off x="6500400" y="2495550"/>
            <a:ext cx="2352000" cy="12444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acks for 6, 7, 8.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</a:t>
            </a:r>
            <a:r>
              <a:rPr lang="en"/>
              <a:t>Cumulative</a:t>
            </a:r>
            <a:r>
              <a:rPr lang="en"/>
              <a:t> Acks</a:t>
            </a:r>
            <a:endParaRPr/>
          </a:p>
        </p:txBody>
      </p:sp>
      <p:sp>
        <p:nvSpPr>
          <p:cNvPr id="1317" name="Google Shape;1317;p86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Cumulative acks: Declare loss if </a:t>
            </a:r>
            <a:r>
              <a:rPr i="1" lang="en"/>
              <a:t>k</a:t>
            </a:r>
            <a:r>
              <a:rPr lang="en"/>
              <a:t> </a:t>
            </a:r>
            <a:r>
              <a:rPr b="1" lang="en"/>
              <a:t>duplicate acks</a:t>
            </a:r>
            <a:r>
              <a:rPr lang="en"/>
              <a:t> are received.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Duplicate acks: Later packets (6, 7, 8) received, but there's a gap, so the "up to 4" cumulative ack cannot increase.</a:t>
            </a:r>
            <a:endParaRPr/>
          </a:p>
        </p:txBody>
      </p:sp>
      <p:sp>
        <p:nvSpPr>
          <p:cNvPr id="1318" name="Google Shape;1318;p86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86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0" name="Google Shape;1320;p86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86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6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86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86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86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86"/>
          <p:cNvSpPr/>
          <p:nvPr/>
        </p:nvSpPr>
        <p:spPr>
          <a:xfrm>
            <a:off x="5572200" y="2495550"/>
            <a:ext cx="3235800" cy="19071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3 copies of "up to 4" (plus the original).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That means 3 extra packets were received (and none of them are 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86"/>
          <p:cNvSpPr txBox="1"/>
          <p:nvPr/>
        </p:nvSpPr>
        <p:spPr>
          <a:xfrm>
            <a:off x="1753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6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8" name="Google Shape;1328;p86"/>
          <p:cNvCxnSpPr>
            <a:stCxn id="1327" idx="0"/>
            <a:endCxn id="1323" idx="2"/>
          </p:cNvCxnSpPr>
          <p:nvPr/>
        </p:nvCxnSpPr>
        <p:spPr>
          <a:xfrm rot="10800000">
            <a:off x="2129400" y="3946313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9" name="Google Shape;1329;p86"/>
          <p:cNvSpPr txBox="1"/>
          <p:nvPr/>
        </p:nvSpPr>
        <p:spPr>
          <a:xfrm>
            <a:off x="2917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7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86"/>
          <p:cNvCxnSpPr>
            <a:stCxn id="1329" idx="0"/>
            <a:endCxn id="1324" idx="2"/>
          </p:cNvCxnSpPr>
          <p:nvPr/>
        </p:nvCxnSpPr>
        <p:spPr>
          <a:xfrm rot="10800000">
            <a:off x="3293400" y="3946313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1" name="Google Shape;1331;p86"/>
          <p:cNvSpPr txBox="1"/>
          <p:nvPr/>
        </p:nvSpPr>
        <p:spPr>
          <a:xfrm>
            <a:off x="4081500" y="4295438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8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86"/>
          <p:cNvCxnSpPr>
            <a:stCxn id="1331" idx="0"/>
            <a:endCxn id="1325" idx="2"/>
          </p:cNvCxnSpPr>
          <p:nvPr/>
        </p:nvCxnSpPr>
        <p:spPr>
          <a:xfrm rot="10800000">
            <a:off x="4457400" y="3946238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Responding to Loss</a:t>
            </a:r>
            <a:endParaRPr/>
          </a:p>
        </p:txBody>
      </p:sp>
      <p:sp>
        <p:nvSpPr>
          <p:cNvPr id="1338" name="Google Shape;1338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Timeouts: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keep a separate timer for each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timer expires, resend the corresponding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Subsequent acks: </a:t>
            </a:r>
            <a:r>
              <a:rPr i="1" lang="en" sz="1400">
                <a:solidFill>
                  <a:schemeClr val="accent3"/>
                </a:solidFill>
              </a:rPr>
              <a:t>(This strategy is sometimes called "fast retransmit.")</a:t>
            </a:r>
            <a:endParaRPr i="1"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 the un-acked packet. But which packet is that?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ambiguity with individual and full-information 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ambiguity</a:t>
            </a:r>
            <a:r>
              <a:rPr lang="en"/>
              <a:t> with cumulative acks and a single packet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Possibly ambiguous with </a:t>
            </a:r>
            <a:r>
              <a:rPr i="1" lang="en"/>
              <a:t>cumulative acks</a:t>
            </a:r>
            <a:r>
              <a:rPr lang="en"/>
              <a:t> and </a:t>
            </a:r>
            <a:r>
              <a:rPr i="1" lang="en"/>
              <a:t>multiple losses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44" name="Google Shape;1344;p88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</a:t>
            </a:r>
            <a:endParaRPr/>
          </a:p>
        </p:txBody>
      </p:sp>
      <p:sp>
        <p:nvSpPr>
          <p:cNvPr id="1345" name="Google Shape;1345;p88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51" name="Google Shape;1351;p89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5  6  7  8  9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</p:txBody>
      </p:sp>
      <p:sp>
        <p:nvSpPr>
          <p:cNvPr id="1352" name="Google Shape;1352;p89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58" name="Google Shape;1358;p90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7  8  9  10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</a:t>
            </a:r>
            <a:endParaRPr/>
          </a:p>
        </p:txBody>
      </p:sp>
      <p:sp>
        <p:nvSpPr>
          <p:cNvPr id="1359" name="Google Shape;1359;p90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65" name="Google Shape;1365;p91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8  9  10  11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 b="1"/>
          </a:p>
        </p:txBody>
      </p:sp>
      <p:sp>
        <p:nvSpPr>
          <p:cNvPr id="1366" name="Google Shape;1366;p91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72" name="Google Shape;1372;p92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8</a:t>
            </a:r>
            <a:r>
              <a:rPr lang="en" sz="2800">
                <a:solidFill>
                  <a:schemeClr val="accent2"/>
                </a:solidFill>
              </a:rPr>
              <a:t>  9  10  11  12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8 arrives → Send 12.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[6, 7, 8] acked → Declare 5 lost. </a:t>
            </a:r>
            <a:r>
              <a:rPr b="1" lang="en"/>
              <a:t>Resend 5.</a:t>
            </a:r>
            <a:endParaRPr/>
          </a:p>
        </p:txBody>
      </p:sp>
      <p:sp>
        <p:nvSpPr>
          <p:cNvPr id="1373" name="Google Shape;1373;p92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79" name="Google Shape;1379;p93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8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9</a:t>
            </a:r>
            <a:r>
              <a:rPr lang="en" sz="2800">
                <a:solidFill>
                  <a:schemeClr val="accent2"/>
                </a:solidFill>
              </a:rPr>
              <a:t>  10  11  12  13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8 arrives → Send 12.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[6, 7, 8] acked → Declare 5 lost. </a:t>
            </a:r>
            <a:r>
              <a:rPr b="1" lang="en"/>
              <a:t>Resend 5.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9 arrives → Send 13.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(etc.)</a:t>
            </a:r>
            <a:endParaRPr/>
          </a:p>
        </p:txBody>
      </p:sp>
      <p:sp>
        <p:nvSpPr>
          <p:cNvPr id="1380" name="Google Shape;1380;p93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86" name="Google Shape;1386;p94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0</a:t>
            </a:r>
            <a:endParaRPr/>
          </a:p>
        </p:txBody>
      </p:sp>
      <p:sp>
        <p:nvSpPr>
          <p:cNvPr id="1387" name="Google Shape;1387;p94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93" name="Google Shape;1393;p95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1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</p:txBody>
      </p:sp>
      <p:sp>
        <p:nvSpPr>
          <p:cNvPr id="1394" name="Google Shape;1394;p95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95" name="Google Shape;1395;p95"/>
          <p:cNvSpPr txBox="1"/>
          <p:nvPr/>
        </p:nvSpPr>
        <p:spPr>
          <a:xfrm>
            <a:off x="107050" y="4101500"/>
            <a:ext cx="481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It might look like there's 7 packets in flight.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the duplicate ACK 3 tells us one of them was received.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just don't know which one, so we can't mark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1" name="Google Shape;1401;p96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2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</p:txBody>
      </p:sp>
      <p:sp>
        <p:nvSpPr>
          <p:cNvPr id="1402" name="Google Shape;1402;p96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8" name="Google Shape;1408;p97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3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/>
          </a:p>
        </p:txBody>
      </p:sp>
      <p:sp>
        <p:nvSpPr>
          <p:cNvPr id="1409" name="Google Shape;1409;p97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15" name="Google Shape;1415;p98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4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</p:txBody>
      </p:sp>
      <p:sp>
        <p:nvSpPr>
          <p:cNvPr id="1416" name="Google Shape;1416;p98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2" name="Google Shape;1422;p99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5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</p:txBody>
      </p:sp>
      <p:sp>
        <p:nvSpPr>
          <p:cNvPr id="1423" name="Google Shape;1423;p99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9" name="Google Shape;1429;p100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3  4  5  6  7  8  9  10 11 12 13 14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6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10)</a:t>
            </a:r>
            <a:r>
              <a:rPr lang="en"/>
              <a:t> ACK 3 → Send 14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6 times.</a:t>
            </a:r>
            <a:br>
              <a:rPr lang="en"/>
            </a:br>
            <a:r>
              <a:rPr lang="en"/>
              <a:t>Resend 3? Resend 4? Resend 5?</a:t>
            </a:r>
            <a:endParaRPr/>
          </a:p>
        </p:txBody>
      </p:sp>
      <p:sp>
        <p:nvSpPr>
          <p:cNvPr id="1430" name="Google Shape;1430;p100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36" name="Google Shape;1436;p10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Cumulative acks don't tell the sender exactly which packets were received.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copies of ACK 7 means: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received everything up to (not including) 7.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received 3 more packets after that (none are 7), but I didn't say which 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tell us </a:t>
            </a:r>
            <a:r>
              <a:rPr i="1" lang="en"/>
              <a:t>how many</a:t>
            </a:r>
            <a:r>
              <a:rPr lang="en"/>
              <a:t> packets to 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we have 6 packets in-flight, 3 were received, so we can send 3 more.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this doesn't tell us </a:t>
            </a:r>
            <a:r>
              <a:rPr i="1" lang="en"/>
              <a:t>which</a:t>
            </a:r>
            <a:r>
              <a:rPr lang="en"/>
              <a:t> packets to resend.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Ambiguity leads to ad-hoc heuristics.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Unfortunately, TCP uses cumulative acks, so we have to deal with this ambiguity.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Alternate Designs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10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</a:t>
            </a:r>
            <a:endParaRPr/>
          </a:p>
        </p:txBody>
      </p:sp>
      <p:sp>
        <p:nvSpPr>
          <p:cNvPr id="1443" name="Google Shape;1443;p10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</a:t>
            </a:r>
            <a:r>
              <a:rPr lang="en"/>
              <a:t> to Implementing Reliability</a:t>
            </a:r>
            <a:endParaRPr/>
          </a:p>
        </p:txBody>
      </p:sp>
      <p:sp>
        <p:nvSpPr>
          <p:cNvPr id="1449" name="Google Shape;1449;p10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implemented reliability by re-sending lost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possible approach: Sender </a:t>
            </a:r>
            <a:r>
              <a:rPr b="1" lang="en"/>
              <a:t>encodes</a:t>
            </a:r>
            <a:r>
              <a:rPr lang="en"/>
              <a:t> the data to be resilient to loss.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idea: Add some redundancy to the data itself.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</a:t>
            </a:r>
            <a:r>
              <a:rPr i="1" lang="en"/>
              <a:t>k</a:t>
            </a:r>
            <a:r>
              <a:rPr lang="en"/>
              <a:t> = 5 packets to send.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encode them into </a:t>
            </a:r>
            <a:r>
              <a:rPr i="1" lang="en"/>
              <a:t>n</a:t>
            </a:r>
            <a:r>
              <a:rPr lang="en"/>
              <a:t> = 20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packets can be recovered if you receive any </a:t>
            </a:r>
            <a:r>
              <a:rPr i="1" lang="en"/>
              <a:t>k</a:t>
            </a:r>
            <a:r>
              <a:rPr lang="en"/>
              <a:t>' = 10 encoded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n</a:t>
            </a:r>
            <a:r>
              <a:rPr lang="en"/>
              <a:t> &gt; </a:t>
            </a:r>
            <a:r>
              <a:rPr i="1" lang="en"/>
              <a:t>k</a:t>
            </a:r>
            <a:r>
              <a:rPr lang="en"/>
              <a:t>' &gt; </a:t>
            </a:r>
            <a:r>
              <a:rPr i="1" lang="en"/>
              <a:t>k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depends on </a:t>
            </a:r>
            <a:r>
              <a:rPr i="1" lang="en"/>
              <a:t>k</a:t>
            </a:r>
            <a:r>
              <a:rPr lang="en"/>
              <a:t>' / </a:t>
            </a:r>
            <a:r>
              <a:rPr i="1" lang="en"/>
              <a:t>k</a:t>
            </a:r>
            <a:r>
              <a:rPr lang="en"/>
              <a:t>. (How many encoded packets needed to recover.)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Vast literature exists on coding schemes.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Fountain codes, raptor codes.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Historically, not used very much, but that could change... (e.g. video streaming).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Design Choices</a:t>
            </a:r>
            <a:endParaRPr/>
          </a:p>
        </p:txBody>
      </p:sp>
      <p:sp>
        <p:nvSpPr>
          <p:cNvPr id="1455" name="Google Shape;1455;p10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covered all the basic building blocks of TCP.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Checksums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Retransmissions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Sequence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the way, we sometimes had to pick one design out of </a:t>
            </a:r>
            <a:r>
              <a:rPr lang="en"/>
              <a:t>several alternatives.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send a nack if the packet is corrupted?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No.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use individual, full-information, or cumulative acks?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Cumulative.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detect loss with timeouts, subsequent acks, or both?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Both.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Design Choices</a:t>
            </a:r>
            <a:endParaRPr/>
          </a:p>
        </p:txBody>
      </p:sp>
      <p:sp>
        <p:nvSpPr>
          <p:cNvPr id="1461" name="Google Shape;1461;p10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made specific design choices (e.g. we chose cumulative acks).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make different choices, you'll get different reliability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Stop-and-wait: Set </a:t>
            </a:r>
            <a:r>
              <a:rPr i="1" lang="en"/>
              <a:t>W</a:t>
            </a:r>
            <a:r>
              <a:rPr lang="en"/>
              <a:t> =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Go-Back-N is another reliability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Understanding how to design and evaluate a reliability protocol is more important than memorizing the details of any specific implementation!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