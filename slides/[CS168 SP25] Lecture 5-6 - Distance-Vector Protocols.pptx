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</p:sldIdLst>
  <p:sldSz cy="5143500" cx="9144000"/>
  <p:notesSz cx="6858000" cy="9144000"/>
  <p:embeddedFontLst>
    <p:embeddedFont>
      <p:font typeface="Roboto Medium"/>
      <p:regular r:id="rId120"/>
      <p:bold r:id="rId121"/>
      <p:italic r:id="rId122"/>
      <p:boldItalic r:id="rId123"/>
    </p:embeddedFont>
    <p:embeddedFont>
      <p:font typeface="Roboto"/>
      <p:regular r:id="rId124"/>
      <p:bold r:id="rId125"/>
      <p:italic r:id="rId126"/>
      <p:boldItalic r:id="rId127"/>
    </p:embeddedFont>
    <p:embeddedFont>
      <p:font typeface="Roboto Light"/>
      <p:regular r:id="rId128"/>
      <p:bold r:id="rId129"/>
      <p:italic r:id="rId130"/>
      <p:boldItalic r:id="rId1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E6DB30-6B95-439D-8715-D835B7F99166}">
  <a:tblStyle styleId="{A2E6DB30-6B95-439D-8715-D835B7F991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font" Target="fonts/RobotoLight-bold.fntdata"/><Relationship Id="rId128" Type="http://schemas.openxmlformats.org/officeDocument/2006/relationships/font" Target="fonts/RobotoLight-regular.fntdata"/><Relationship Id="rId127" Type="http://schemas.openxmlformats.org/officeDocument/2006/relationships/font" Target="fonts/Roboto-boldItalic.fntdata"/><Relationship Id="rId126" Type="http://schemas.openxmlformats.org/officeDocument/2006/relationships/font" Target="fonts/Roboto-italic.fntdata"/><Relationship Id="rId26" Type="http://schemas.openxmlformats.org/officeDocument/2006/relationships/slide" Target="slides/slide20.xml"/><Relationship Id="rId121" Type="http://schemas.openxmlformats.org/officeDocument/2006/relationships/font" Target="fonts/RobotoMedium-bold.fntdata"/><Relationship Id="rId25" Type="http://schemas.openxmlformats.org/officeDocument/2006/relationships/slide" Target="slides/slide19.xml"/><Relationship Id="rId120" Type="http://schemas.openxmlformats.org/officeDocument/2006/relationships/font" Target="fonts/RobotoMedium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font" Target="fonts/Roboto-bold.fntdata"/><Relationship Id="rId29" Type="http://schemas.openxmlformats.org/officeDocument/2006/relationships/slide" Target="slides/slide23.xml"/><Relationship Id="rId124" Type="http://schemas.openxmlformats.org/officeDocument/2006/relationships/font" Target="fonts/Roboto-regular.fntdata"/><Relationship Id="rId123" Type="http://schemas.openxmlformats.org/officeDocument/2006/relationships/font" Target="fonts/RobotoMedium-boldItalic.fntdata"/><Relationship Id="rId122" Type="http://schemas.openxmlformats.org/officeDocument/2006/relationships/font" Target="fonts/RobotoMedium-italic.fntdata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1" Type="http://schemas.openxmlformats.org/officeDocument/2006/relationships/font" Target="fonts/RobotoLight-boldItalic.fntdata"/><Relationship Id="rId130" Type="http://schemas.openxmlformats.org/officeDocument/2006/relationships/font" Target="fonts/RobotoLight-italic.fntdata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786d2d46cd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786d2d46cd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86d2d46cd_0_43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86d2d46cd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812fc3e5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812fc3e5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ed56a414bf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ed56a414bf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ed56a414bf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ed56a414bf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ed56a414bf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ed56a414bf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ed56a414bf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ed56a414bf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ed56a414bf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ed56a414bf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ed56a414bf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ed56a414bf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ed56a414bf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2ed56a414bf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ed56a414bf_0_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2ed56a414bf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ed56a414bf_0_60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ed56a414bf_0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ed56a414bf_0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ed56a414bf_0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2812fc3e5d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2812fc3e5d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2ed56a414bf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2ed56a414bf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ed56a414bf_0_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ed56a414bf_0_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2ed56a414bf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2ed56a414bf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2ed56a414bf_0_8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2ed56a414bf_0_8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ed56a414bf_0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ed56a414bf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ed56a414bf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ed56a414bf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2ed56a414bf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2ed56a414bf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2ed56a414bf_0_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2ed56a414bf_0_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ed56a414bf_0_91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2ed56a414bf_0_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ed56a414bf_0_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2ed56a414bf_0_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ed56a414bf_0_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ed56a414bf_0_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ed56a414bf_0_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ed56a414bf_0_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ed56a414bf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2ed56a414bf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2ed56a414bf_0_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ed56a414bf_0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ed56a414bf_0_1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ed56a414bf_0_1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ed56a414bf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ed56a414bf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ed56a414bf_0_10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ed56a414bf_0_1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ed56a414bf_0_1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ed56a414bf_0_1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ed56a414bf_0_1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2ed56a414bf_0_1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ed56a414bf_0_1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2ed56a414bf_0_1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2ed56a414bf_0_1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2ed56a414bf_0_1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ed56a414bf_0_122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ed56a414bf_0_1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2ed56a414bf_0_1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ed56a414bf_0_1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2ed56a414bf_0_1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2ed56a414bf_0_1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2ed56a414bf_0_1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ed56a414bf_0_1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ed56a414bf_0_1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2ed56a414bf_0_1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2ed56a414bf_0_1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2ed56a414bf_0_1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2ed56a414bf_0_117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2ed56a414bf_0_1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2ed56a414bf_0_1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2ed56a414bf_0_1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2ed56a414bf_0_1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2ed56a414bf_0_1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2d5486c624_0_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32d5486c62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2ed56a414bf_0_1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2ed56a414bf_0_1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2ed56a414bf_0_1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2ed56a414bf_0_1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2ed56a414bf_0_1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2ed56a414bf_0_1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2ed56a414bf_0_1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2ed56a414bf_0_1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2ed56a414bf_0_1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2ed56a414bf_0_1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2eee90cc2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2eee90cc2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2ed56a414bf_0_1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2ed56a414bf_0_1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37c67ec3e1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337c67ec3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337c67ec3e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337c67ec3e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337c67ec3e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337c67ec3e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37c67ec3e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337c67ec3e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37c67ec3e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337c67ec3e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37c67ec3e1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337c67ec3e1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337c67ec3e1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337c67ec3e1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337c67ec3e1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337c67ec3e1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337c67ec3e1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337c67ec3e1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337c67ec3e1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337c67ec3e1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337c67ec3e1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8" name="Google Shape;1368;g337c67ec3e1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37c67ec3e1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337c67ec3e1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337c67ec3e1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337c67ec3e1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337c67ec3e1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337c67ec3e1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337c67ec3e1_0_21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337c67ec3e1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337c67ec3e1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337c67ec3e1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337c67ec3e1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337c67ec3e1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337c67ec3e1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337c67ec3e1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337c67ec3e1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337c67ec3e1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337c67ec3e1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337c67ec3e1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337c67ec3e1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337c67ec3e1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337c67ec3e1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337c67ec3e1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337c67ec3e1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337c67ec3e1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337c67ec3e1_0_33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337c67ec3e1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g337c67ec3e1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7" name="Google Shape;1547;g337c67ec3e1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337c67ec3e1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337c67ec3e1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337c67ec3e1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337c67ec3e1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337c67ec3e1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337c67ec3e1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337c67ec3e1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0" name="Google Shape;1640;g337c67ec3e1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g337c67ec3e1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0" name="Google Shape;1660;g337c67ec3e1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337c67ec3e1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g337c67ec3e1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337c67ec3e1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337c67ec3e1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g337c67ec3e1_0_47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5" name="Google Shape;1695;g337c67ec3e1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g337c67ec3e1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2" name="Google Shape;1702;g337c67ec3e1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337c67ec3e1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g337c67ec3e1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g337c67ec3e1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5" name="Google Shape;1725;g337c67ec3e1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337c67ec3e1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337c67ec3e1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337c67ec3e1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337c67ec3e1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g337c67ec3e1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6" name="Google Shape;1786;g337c67ec3e1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337c67ec3e1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337c67ec3e1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g337c67ec3e1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6" name="Google Shape;1826;g337c67ec3e1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g337c67ec3e1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6" name="Google Shape;1846;g337c67ec3e1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g337c67ec3e1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6" name="Google Shape;1866;g337c67ec3e1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337c67ec3e1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6" name="Google Shape;1886;g337c67ec3e1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g337c67ec3e1_0_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6" name="Google Shape;1906;g337c67ec3e1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g337c67ec3e1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6" name="Google Shape;1926;g337c67ec3e1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g337c67ec3e1_0_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6" name="Google Shape;1946;g337c67ec3e1_0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g337c67ec3e1_0_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0" name="Google Shape;1970;g337c67ec3e1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g337c67ec3e1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6" name="Google Shape;1976;g337c67ec3e1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g337c67ec3e1_0_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6" name="Google Shape;1996;g337c67ec3e1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g337c67ec3e1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6" name="Google Shape;2016;g337c67ec3e1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g337c67ec3e1_0_8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6" name="Google Shape;2036;g337c67ec3e1_0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g337c67ec3e1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6" name="Google Shape;2056;g337c67ec3e1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g337c67ec3e1_0_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6" name="Google Shape;2076;g337c67ec3e1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g337c67ec3e1_0_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6" name="Google Shape;2096;g337c67ec3e1_0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4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Google Shape;2115;g337c67ec3e1_0_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6" name="Google Shape;2116;g337c67ec3e1_0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g337c67ec3e1_0_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3" name="Google Shape;2133;g337c67ec3e1_0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g337c67ec3e1_0_89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9" name="Google Shape;2139;g337c67ec3e1_0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4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g337c67ec3e1_0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6" name="Google Shape;2146;g337c67ec3e1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g337c67ec3e1_0_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2" name="Google Shape;2152;g337c67ec3e1_0_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6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g337c67ec3e1_0_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8" name="Google Shape;2158;g337c67ec3e1_0_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Spring 2025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Kao, Iuniana Oprescu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Distance-Vector Protocols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Lectures 5 and 6 </a:t>
            </a:r>
            <a:r>
              <a:rPr lang="en" sz="1200">
                <a:solidFill>
                  <a:schemeClr val="accent4"/>
                </a:solidFill>
                <a:latin typeface="Roboto Medium"/>
                <a:ea typeface="Roboto Medium"/>
                <a:cs typeface="Roboto Medium"/>
                <a:sym typeface="Roboto Medium"/>
              </a:rPr>
              <a:t>(Routing 2)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46" name="Google Shape;146;p24"/>
          <p:cNvCxnSpPr/>
          <p:nvPr/>
        </p:nvCxnSpPr>
        <p:spPr>
          <a:xfrm>
            <a:off x="6393650" y="1103425"/>
            <a:ext cx="900900" cy="486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" name="Google Shape;147;p24"/>
          <p:cNvSpPr/>
          <p:nvPr/>
        </p:nvSpPr>
        <p:spPr>
          <a:xfrm>
            <a:off x="7623813" y="1776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" name="Google Shape;148;p24"/>
          <p:cNvCxnSpPr>
            <a:stCxn id="149" idx="3"/>
            <a:endCxn id="147" idx="1"/>
          </p:cNvCxnSpPr>
          <p:nvPr/>
        </p:nvCxnSpPr>
        <p:spPr>
          <a:xfrm flipH="1" rot="10800000">
            <a:off x="6073163" y="1919458"/>
            <a:ext cx="1550700" cy="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24"/>
          <p:cNvSpPr/>
          <p:nvPr/>
        </p:nvSpPr>
        <p:spPr>
          <a:xfrm>
            <a:off x="5788163" y="177785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5788163" y="93965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" name="Google Shape;151;p24"/>
          <p:cNvCxnSpPr>
            <a:stCxn id="150" idx="3"/>
            <a:endCxn id="147" idx="1"/>
          </p:cNvCxnSpPr>
          <p:nvPr/>
        </p:nvCxnSpPr>
        <p:spPr>
          <a:xfrm>
            <a:off x="6073163" y="1082158"/>
            <a:ext cx="1550700" cy="83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24"/>
          <p:cNvSpPr/>
          <p:nvPr/>
        </p:nvSpPr>
        <p:spPr>
          <a:xfrm>
            <a:off x="5102363" y="17778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3" name="Google Shape;153;p24"/>
          <p:cNvCxnSpPr>
            <a:stCxn id="152" idx="6"/>
            <a:endCxn id="149" idx="1"/>
          </p:cNvCxnSpPr>
          <p:nvPr/>
        </p:nvCxnSpPr>
        <p:spPr>
          <a:xfrm>
            <a:off x="5387363" y="1920350"/>
            <a:ext cx="400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4"/>
          <p:cNvCxnSpPr>
            <a:stCxn id="152" idx="0"/>
            <a:endCxn id="150" idx="1"/>
          </p:cNvCxnSpPr>
          <p:nvPr/>
        </p:nvCxnSpPr>
        <p:spPr>
          <a:xfrm flipH="1" rot="10800000">
            <a:off x="5244863" y="1082150"/>
            <a:ext cx="543300" cy="69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Algorithm Sketch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</a:t>
            </a:r>
            <a:r>
              <a:rPr lang="en">
                <a:solidFill>
                  <a:srgbClr val="B7B7B7"/>
                </a:solidFill>
              </a:rPr>
              <a:t>: Poison Expired Routes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</a:t>
            </a:r>
            <a:r>
              <a:rPr lang="en">
                <a:solidFill>
                  <a:srgbClr val="B7B7B7"/>
                </a:solidFill>
              </a:rPr>
              <a:t>A: Split Horizon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</a:t>
            </a:r>
            <a:r>
              <a:rPr lang="en">
                <a:solidFill>
                  <a:srgbClr val="B7B7B7"/>
                </a:solidFill>
              </a:rPr>
              <a:t>B: Poison Reverse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</a:t>
            </a:r>
            <a:r>
              <a:rPr lang="en">
                <a:solidFill>
                  <a:srgbClr val="B7B7B7"/>
                </a:solidFill>
              </a:rPr>
              <a:t>: Count To Infinity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0" name="Google Shape;160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161" name="Google Shape;161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</a:t>
            </a:r>
            <a:r>
              <a:rPr lang="en"/>
              <a:t>, CS 168, </a:t>
            </a:r>
            <a:r>
              <a:rPr lang="en"/>
              <a:t>Spring 2025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168" name="Google Shape;168;p26"/>
          <p:cNvCxnSpPr>
            <a:stCxn id="169" idx="3"/>
            <a:endCxn id="170" idx="1"/>
          </p:cNvCxnSpPr>
          <p:nvPr/>
        </p:nvCxnSpPr>
        <p:spPr>
          <a:xfrm flipH="1" rot="10800000">
            <a:off x="2951800" y="2720825"/>
            <a:ext cx="1239000" cy="78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26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6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6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" name="Google Shape;173;p26"/>
          <p:cNvCxnSpPr>
            <a:stCxn id="169" idx="3"/>
            <a:endCxn id="172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6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" name="Google Shape;174;p26"/>
          <p:cNvCxnSpPr>
            <a:stCxn id="171" idx="6"/>
            <a:endCxn id="169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6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" name="Google Shape;179;p26"/>
          <p:cNvCxnSpPr>
            <a:stCxn id="170" idx="3"/>
            <a:endCxn id="176" idx="1"/>
          </p:cNvCxnSpPr>
          <p:nvPr/>
        </p:nvCxnSpPr>
        <p:spPr>
          <a:xfrm flipH="1" rot="10800000">
            <a:off x="4475800" y="23399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6"/>
          <p:cNvCxnSpPr>
            <a:stCxn id="170" idx="3"/>
            <a:endCxn id="175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6"/>
          <p:cNvCxnSpPr>
            <a:stCxn id="172" idx="3"/>
            <a:endCxn id="177" idx="1"/>
          </p:cNvCxnSpPr>
          <p:nvPr/>
        </p:nvCxnSpPr>
        <p:spPr>
          <a:xfrm flipH="1" rot="10800000">
            <a:off x="4475800" y="39020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6"/>
          <p:cNvCxnSpPr>
            <a:stCxn id="172" idx="3"/>
            <a:endCxn id="178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26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" name="Google Shape;191;p26"/>
          <p:cNvCxnSpPr>
            <a:stCxn id="176" idx="3"/>
            <a:endCxn id="183" idx="1"/>
          </p:cNvCxnSpPr>
          <p:nvPr/>
        </p:nvCxnSpPr>
        <p:spPr>
          <a:xfrm flipH="1" rot="10800000">
            <a:off x="5999800" y="2159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26"/>
          <p:cNvCxnSpPr>
            <a:stCxn id="176" idx="3"/>
            <a:endCxn id="184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6"/>
          <p:cNvCxnSpPr>
            <a:stCxn id="175" idx="3"/>
            <a:endCxn id="185" idx="1"/>
          </p:cNvCxnSpPr>
          <p:nvPr/>
        </p:nvCxnSpPr>
        <p:spPr>
          <a:xfrm flipH="1" rot="10800000">
            <a:off x="5999800" y="2921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6"/>
          <p:cNvCxnSpPr>
            <a:stCxn id="175" idx="3"/>
            <a:endCxn id="186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6"/>
          <p:cNvCxnSpPr>
            <a:stCxn id="177" idx="3"/>
            <a:endCxn id="187" idx="1"/>
          </p:cNvCxnSpPr>
          <p:nvPr/>
        </p:nvCxnSpPr>
        <p:spPr>
          <a:xfrm flipH="1" rot="10800000">
            <a:off x="5999800" y="37211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6"/>
          <p:cNvCxnSpPr>
            <a:stCxn id="177" idx="3"/>
            <a:endCxn id="188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6"/>
          <p:cNvCxnSpPr>
            <a:stCxn id="178" idx="3"/>
            <a:endCxn id="189" idx="1"/>
          </p:cNvCxnSpPr>
          <p:nvPr/>
        </p:nvCxnSpPr>
        <p:spPr>
          <a:xfrm flipH="1" rot="10800000">
            <a:off x="5999800" y="44831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6"/>
          <p:cNvCxnSpPr>
            <a:stCxn id="178" idx="3"/>
            <a:endCxn id="190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26"/>
          <p:cNvSpPr/>
          <p:nvPr/>
        </p:nvSpPr>
        <p:spPr>
          <a:xfrm>
            <a:off x="1265650" y="2216525"/>
            <a:ext cx="1615500" cy="868200"/>
          </a:xfrm>
          <a:prstGeom prst="wedgeRoundRectCallout">
            <a:avLst>
              <a:gd fmla="val 43927" name="adj1"/>
              <a:gd fmla="val 70959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 is 1 away from me. I should tell my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" name="Google Shape;200;p26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" name="Google Shape;201;p26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207" name="Google Shape;207;p27"/>
          <p:cNvSpPr txBox="1"/>
          <p:nvPr>
            <p:ph idx="1" type="body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208" name="Google Shape;208;p27"/>
          <p:cNvCxnSpPr>
            <a:stCxn id="209" idx="3"/>
            <a:endCxn id="210" idx="1"/>
          </p:cNvCxnSpPr>
          <p:nvPr/>
        </p:nvCxnSpPr>
        <p:spPr>
          <a:xfrm flipH="1" rot="10800000">
            <a:off x="2951800" y="2720825"/>
            <a:ext cx="1239000" cy="78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7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7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3" name="Google Shape;213;p27"/>
          <p:cNvCxnSpPr>
            <a:stCxn id="209" idx="3"/>
            <a:endCxn id="212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27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4" name="Google Shape;214;p27"/>
          <p:cNvCxnSpPr>
            <a:stCxn id="211" idx="6"/>
            <a:endCxn id="209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7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7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7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7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9" name="Google Shape;219;p27"/>
          <p:cNvCxnSpPr>
            <a:stCxn id="210" idx="3"/>
            <a:endCxn id="216" idx="1"/>
          </p:cNvCxnSpPr>
          <p:nvPr/>
        </p:nvCxnSpPr>
        <p:spPr>
          <a:xfrm flipH="1" rot="10800000">
            <a:off x="4475800" y="23399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7"/>
          <p:cNvCxnSpPr>
            <a:stCxn id="210" idx="3"/>
            <a:endCxn id="215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7"/>
          <p:cNvCxnSpPr>
            <a:stCxn id="212" idx="3"/>
            <a:endCxn id="217" idx="1"/>
          </p:cNvCxnSpPr>
          <p:nvPr/>
        </p:nvCxnSpPr>
        <p:spPr>
          <a:xfrm flipH="1" rot="10800000">
            <a:off x="4475800" y="39020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7"/>
          <p:cNvCxnSpPr>
            <a:stCxn id="212" idx="3"/>
            <a:endCxn id="218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27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27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1" name="Google Shape;231;p27"/>
          <p:cNvCxnSpPr>
            <a:stCxn id="216" idx="3"/>
            <a:endCxn id="223" idx="1"/>
          </p:cNvCxnSpPr>
          <p:nvPr/>
        </p:nvCxnSpPr>
        <p:spPr>
          <a:xfrm flipH="1" rot="10800000">
            <a:off x="5999800" y="2159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7"/>
          <p:cNvCxnSpPr>
            <a:stCxn id="216" idx="3"/>
            <a:endCxn id="224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7"/>
          <p:cNvCxnSpPr>
            <a:stCxn id="215" idx="3"/>
            <a:endCxn id="225" idx="1"/>
          </p:cNvCxnSpPr>
          <p:nvPr/>
        </p:nvCxnSpPr>
        <p:spPr>
          <a:xfrm flipH="1" rot="10800000">
            <a:off x="5999800" y="2921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27"/>
          <p:cNvCxnSpPr>
            <a:stCxn id="215" idx="3"/>
            <a:endCxn id="226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27"/>
          <p:cNvCxnSpPr>
            <a:stCxn id="217" idx="3"/>
            <a:endCxn id="227" idx="1"/>
          </p:cNvCxnSpPr>
          <p:nvPr/>
        </p:nvCxnSpPr>
        <p:spPr>
          <a:xfrm flipH="1" rot="10800000">
            <a:off x="5999800" y="37211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27"/>
          <p:cNvCxnSpPr>
            <a:stCxn id="217" idx="3"/>
            <a:endCxn id="228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27"/>
          <p:cNvCxnSpPr>
            <a:stCxn id="218" idx="3"/>
            <a:endCxn id="229" idx="1"/>
          </p:cNvCxnSpPr>
          <p:nvPr/>
        </p:nvCxnSpPr>
        <p:spPr>
          <a:xfrm flipH="1" rot="10800000">
            <a:off x="5999800" y="44831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7"/>
          <p:cNvCxnSpPr>
            <a:stCxn id="218" idx="3"/>
            <a:endCxn id="230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7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0" name="Google Shape;240;p27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2666800" y="2416700"/>
            <a:ext cx="903300" cy="433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1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2" name="Google Shape;242;p27"/>
          <p:cNvCxnSpPr/>
          <p:nvPr/>
        </p:nvCxnSpPr>
        <p:spPr>
          <a:xfrm flipH="1" rot="10800000">
            <a:off x="3104200" y="2776179"/>
            <a:ext cx="756900" cy="476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3" name="Google Shape;243;p27"/>
          <p:cNvSpPr/>
          <p:nvPr/>
        </p:nvSpPr>
        <p:spPr>
          <a:xfrm>
            <a:off x="2666800" y="4169300"/>
            <a:ext cx="903300" cy="433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1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4" name="Google Shape;244;p27"/>
          <p:cNvCxnSpPr/>
          <p:nvPr/>
        </p:nvCxnSpPr>
        <p:spPr>
          <a:xfrm>
            <a:off x="3104200" y="3750904"/>
            <a:ext cx="756900" cy="476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/>
          <p:nvPr/>
        </p:nvSpPr>
        <p:spPr>
          <a:xfrm>
            <a:off x="4074550" y="2420500"/>
            <a:ext cx="517500" cy="2063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251" name="Google Shape;251;p28"/>
          <p:cNvSpPr txBox="1"/>
          <p:nvPr>
            <p:ph idx="1" type="body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252" name="Google Shape;252;p28"/>
          <p:cNvCxnSpPr>
            <a:stCxn id="253" idx="3"/>
            <a:endCxn id="254" idx="1"/>
          </p:cNvCxnSpPr>
          <p:nvPr/>
        </p:nvCxnSpPr>
        <p:spPr>
          <a:xfrm flipH="1" rot="10800000">
            <a:off x="2951800" y="2720825"/>
            <a:ext cx="1239000" cy="78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" name="Google Shape;254;p28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28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28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7" name="Google Shape;257;p28"/>
          <p:cNvCxnSpPr>
            <a:stCxn id="253" idx="3"/>
            <a:endCxn id="256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8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8" name="Google Shape;258;p28"/>
          <p:cNvCxnSpPr>
            <a:stCxn id="255" idx="6"/>
            <a:endCxn id="253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28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3" name="Google Shape;263;p28"/>
          <p:cNvCxnSpPr>
            <a:stCxn id="254" idx="3"/>
            <a:endCxn id="260" idx="1"/>
          </p:cNvCxnSpPr>
          <p:nvPr/>
        </p:nvCxnSpPr>
        <p:spPr>
          <a:xfrm flipH="1" rot="10800000">
            <a:off x="4475800" y="23399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8"/>
          <p:cNvCxnSpPr>
            <a:stCxn id="254" idx="3"/>
            <a:endCxn id="259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8"/>
          <p:cNvCxnSpPr>
            <a:stCxn id="256" idx="3"/>
            <a:endCxn id="261" idx="1"/>
          </p:cNvCxnSpPr>
          <p:nvPr/>
        </p:nvCxnSpPr>
        <p:spPr>
          <a:xfrm flipH="1" rot="10800000">
            <a:off x="4475800" y="39020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8"/>
          <p:cNvCxnSpPr>
            <a:stCxn id="256" idx="3"/>
            <a:endCxn id="262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28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5" name="Google Shape;275;p28"/>
          <p:cNvCxnSpPr>
            <a:stCxn id="260" idx="3"/>
            <a:endCxn id="267" idx="1"/>
          </p:cNvCxnSpPr>
          <p:nvPr/>
        </p:nvCxnSpPr>
        <p:spPr>
          <a:xfrm flipH="1" rot="10800000">
            <a:off x="5999800" y="2159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8"/>
          <p:cNvCxnSpPr>
            <a:stCxn id="260" idx="3"/>
            <a:endCxn id="268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28"/>
          <p:cNvCxnSpPr>
            <a:stCxn id="259" idx="3"/>
            <a:endCxn id="269" idx="1"/>
          </p:cNvCxnSpPr>
          <p:nvPr/>
        </p:nvCxnSpPr>
        <p:spPr>
          <a:xfrm flipH="1" rot="10800000">
            <a:off x="5999800" y="2921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28"/>
          <p:cNvCxnSpPr>
            <a:stCxn id="259" idx="3"/>
            <a:endCxn id="270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28"/>
          <p:cNvCxnSpPr>
            <a:stCxn id="261" idx="3"/>
            <a:endCxn id="271" idx="1"/>
          </p:cNvCxnSpPr>
          <p:nvPr/>
        </p:nvCxnSpPr>
        <p:spPr>
          <a:xfrm flipH="1" rot="10800000">
            <a:off x="5999800" y="37211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28"/>
          <p:cNvCxnSpPr>
            <a:stCxn id="261" idx="3"/>
            <a:endCxn id="272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28"/>
          <p:cNvCxnSpPr>
            <a:stCxn id="262" idx="3"/>
            <a:endCxn id="273" idx="1"/>
          </p:cNvCxnSpPr>
          <p:nvPr/>
        </p:nvCxnSpPr>
        <p:spPr>
          <a:xfrm flipH="1" rot="10800000">
            <a:off x="5999800" y="44831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8"/>
          <p:cNvCxnSpPr>
            <a:stCxn id="262" idx="3"/>
            <a:endCxn id="274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8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4" name="Google Shape;284;p28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2009375" y="1531013"/>
            <a:ext cx="2044500" cy="842700"/>
          </a:xfrm>
          <a:prstGeom prst="wedgeRoundRectCallout">
            <a:avLst>
              <a:gd fmla="val 43927" name="adj1"/>
              <a:gd fmla="val 70959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just found a way to reach A. We should tell our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6" name="Google Shape;286;p28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7" name="Google Shape;287;p28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8" name="Google Shape;288;p28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9" name="Google Shape;289;p28"/>
          <p:cNvSpPr txBox="1"/>
          <p:nvPr/>
        </p:nvSpPr>
        <p:spPr>
          <a:xfrm flipH="1" rot="1931086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295" name="Google Shape;295;p29"/>
          <p:cNvSpPr txBox="1"/>
          <p:nvPr>
            <p:ph idx="1" type="body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296" name="Google Shape;296;p29"/>
          <p:cNvCxnSpPr>
            <a:stCxn id="297" idx="3"/>
            <a:endCxn id="298" idx="1"/>
          </p:cNvCxnSpPr>
          <p:nvPr/>
        </p:nvCxnSpPr>
        <p:spPr>
          <a:xfrm flipH="1" rot="10800000">
            <a:off x="2951800" y="2720825"/>
            <a:ext cx="1239000" cy="78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29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29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1" name="Google Shape;301;p29"/>
          <p:cNvCxnSpPr>
            <a:stCxn id="297" idx="3"/>
            <a:endCxn id="300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29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2" name="Google Shape;302;p29"/>
          <p:cNvCxnSpPr>
            <a:stCxn id="299" idx="6"/>
            <a:endCxn id="297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29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29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29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7" name="Google Shape;307;p29"/>
          <p:cNvCxnSpPr>
            <a:stCxn id="298" idx="3"/>
            <a:endCxn id="304" idx="1"/>
          </p:cNvCxnSpPr>
          <p:nvPr/>
        </p:nvCxnSpPr>
        <p:spPr>
          <a:xfrm flipH="1" rot="10800000">
            <a:off x="4475800" y="23399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29"/>
          <p:cNvCxnSpPr>
            <a:stCxn id="298" idx="3"/>
            <a:endCxn id="303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29"/>
          <p:cNvCxnSpPr>
            <a:stCxn id="300" idx="3"/>
            <a:endCxn id="305" idx="1"/>
          </p:cNvCxnSpPr>
          <p:nvPr/>
        </p:nvCxnSpPr>
        <p:spPr>
          <a:xfrm flipH="1" rot="10800000">
            <a:off x="4475800" y="39020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29"/>
          <p:cNvCxnSpPr>
            <a:stCxn id="300" idx="3"/>
            <a:endCxn id="306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p29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29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9" name="Google Shape;319;p29"/>
          <p:cNvCxnSpPr>
            <a:stCxn id="304" idx="3"/>
            <a:endCxn id="311" idx="1"/>
          </p:cNvCxnSpPr>
          <p:nvPr/>
        </p:nvCxnSpPr>
        <p:spPr>
          <a:xfrm flipH="1" rot="10800000">
            <a:off x="5999800" y="2159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29"/>
          <p:cNvCxnSpPr>
            <a:stCxn id="304" idx="3"/>
            <a:endCxn id="312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29"/>
          <p:cNvCxnSpPr>
            <a:stCxn id="303" idx="3"/>
            <a:endCxn id="313" idx="1"/>
          </p:cNvCxnSpPr>
          <p:nvPr/>
        </p:nvCxnSpPr>
        <p:spPr>
          <a:xfrm flipH="1" rot="10800000">
            <a:off x="5999800" y="2921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29"/>
          <p:cNvCxnSpPr>
            <a:stCxn id="303" idx="3"/>
            <a:endCxn id="314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29"/>
          <p:cNvCxnSpPr>
            <a:stCxn id="305" idx="3"/>
            <a:endCxn id="315" idx="1"/>
          </p:cNvCxnSpPr>
          <p:nvPr/>
        </p:nvCxnSpPr>
        <p:spPr>
          <a:xfrm flipH="1" rot="10800000">
            <a:off x="5999800" y="37211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29"/>
          <p:cNvCxnSpPr>
            <a:stCxn id="305" idx="3"/>
            <a:endCxn id="316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29"/>
          <p:cNvCxnSpPr>
            <a:stCxn id="306" idx="3"/>
            <a:endCxn id="317" idx="1"/>
          </p:cNvCxnSpPr>
          <p:nvPr/>
        </p:nvCxnSpPr>
        <p:spPr>
          <a:xfrm flipH="1" rot="10800000">
            <a:off x="5999800" y="44831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29"/>
          <p:cNvCxnSpPr>
            <a:stCxn id="306" idx="3"/>
            <a:endCxn id="318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29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8" name="Google Shape;328;p29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4371650" y="1855038"/>
            <a:ext cx="903300" cy="433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0" name="Google Shape;330;p29"/>
          <p:cNvCxnSpPr/>
          <p:nvPr/>
        </p:nvCxnSpPr>
        <p:spPr>
          <a:xfrm flipH="1" rot="10800000">
            <a:off x="4658750" y="2243325"/>
            <a:ext cx="867600" cy="266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" name="Google Shape;331;p29"/>
          <p:cNvCxnSpPr/>
          <p:nvPr/>
        </p:nvCxnSpPr>
        <p:spPr>
          <a:xfrm>
            <a:off x="4658750" y="2929125"/>
            <a:ext cx="867600" cy="266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2" name="Google Shape;332;p29"/>
          <p:cNvSpPr/>
          <p:nvPr/>
        </p:nvSpPr>
        <p:spPr>
          <a:xfrm>
            <a:off x="4371650" y="3150443"/>
            <a:ext cx="903300" cy="180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3" name="Google Shape;333;p29"/>
          <p:cNvCxnSpPr/>
          <p:nvPr/>
        </p:nvCxnSpPr>
        <p:spPr>
          <a:xfrm flipH="1" rot="10800000">
            <a:off x="4658750" y="3824705"/>
            <a:ext cx="867600" cy="266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" name="Google Shape;334;p29"/>
          <p:cNvCxnSpPr/>
          <p:nvPr/>
        </p:nvCxnSpPr>
        <p:spPr>
          <a:xfrm>
            <a:off x="4658750" y="4453125"/>
            <a:ext cx="867600" cy="266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5" name="Google Shape;335;p29"/>
          <p:cNvSpPr/>
          <p:nvPr/>
        </p:nvSpPr>
        <p:spPr>
          <a:xfrm>
            <a:off x="4371650" y="3665023"/>
            <a:ext cx="903300" cy="180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4371650" y="4674443"/>
            <a:ext cx="903300" cy="180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7" name="Google Shape;337;p29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29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9" name="Google Shape;339;p29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0" name="Google Shape;340;p29"/>
          <p:cNvSpPr txBox="1"/>
          <p:nvPr/>
        </p:nvSpPr>
        <p:spPr>
          <a:xfrm flipH="1" rot="1931086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0"/>
          <p:cNvSpPr/>
          <p:nvPr/>
        </p:nvSpPr>
        <p:spPr>
          <a:xfrm>
            <a:off x="5598550" y="2016500"/>
            <a:ext cx="517500" cy="302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347" name="Google Shape;347;p30"/>
          <p:cNvSpPr txBox="1"/>
          <p:nvPr>
            <p:ph idx="1" type="body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348" name="Google Shape;348;p30"/>
          <p:cNvCxnSpPr>
            <a:stCxn id="349" idx="3"/>
            <a:endCxn id="350" idx="1"/>
          </p:cNvCxnSpPr>
          <p:nvPr/>
        </p:nvCxnSpPr>
        <p:spPr>
          <a:xfrm flipH="1" rot="10800000">
            <a:off x="2951800" y="2720825"/>
            <a:ext cx="1239000" cy="78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" name="Google Shape;350;p30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3" name="Google Shape;353;p30"/>
          <p:cNvCxnSpPr>
            <a:stCxn id="349" idx="3"/>
            <a:endCxn id="352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" name="Google Shape;349;p30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4" name="Google Shape;354;p30"/>
          <p:cNvCxnSpPr>
            <a:stCxn id="351" idx="6"/>
            <a:endCxn id="349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30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30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9" name="Google Shape;359;p30"/>
          <p:cNvCxnSpPr>
            <a:stCxn id="350" idx="3"/>
            <a:endCxn id="356" idx="1"/>
          </p:cNvCxnSpPr>
          <p:nvPr/>
        </p:nvCxnSpPr>
        <p:spPr>
          <a:xfrm flipH="1" rot="10800000">
            <a:off x="4475800" y="23399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30"/>
          <p:cNvCxnSpPr>
            <a:stCxn id="350" idx="3"/>
            <a:endCxn id="355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30"/>
          <p:cNvCxnSpPr>
            <a:stCxn id="352" idx="3"/>
            <a:endCxn id="357" idx="1"/>
          </p:cNvCxnSpPr>
          <p:nvPr/>
        </p:nvCxnSpPr>
        <p:spPr>
          <a:xfrm flipH="1" rot="10800000">
            <a:off x="4475800" y="39020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30"/>
          <p:cNvCxnSpPr>
            <a:stCxn id="352" idx="3"/>
            <a:endCxn id="358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30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0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30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30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30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30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30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30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1" name="Google Shape;371;p30"/>
          <p:cNvCxnSpPr>
            <a:stCxn id="356" idx="3"/>
            <a:endCxn id="363" idx="1"/>
          </p:cNvCxnSpPr>
          <p:nvPr/>
        </p:nvCxnSpPr>
        <p:spPr>
          <a:xfrm flipH="1" rot="10800000">
            <a:off x="5999800" y="2159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30"/>
          <p:cNvCxnSpPr>
            <a:stCxn id="356" idx="3"/>
            <a:endCxn id="364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30"/>
          <p:cNvCxnSpPr>
            <a:stCxn id="355" idx="3"/>
            <a:endCxn id="365" idx="1"/>
          </p:cNvCxnSpPr>
          <p:nvPr/>
        </p:nvCxnSpPr>
        <p:spPr>
          <a:xfrm flipH="1" rot="10800000">
            <a:off x="5999800" y="2921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30"/>
          <p:cNvCxnSpPr>
            <a:stCxn id="355" idx="3"/>
            <a:endCxn id="366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30"/>
          <p:cNvCxnSpPr>
            <a:stCxn id="357" idx="3"/>
            <a:endCxn id="367" idx="1"/>
          </p:cNvCxnSpPr>
          <p:nvPr/>
        </p:nvCxnSpPr>
        <p:spPr>
          <a:xfrm flipH="1" rot="10800000">
            <a:off x="5999800" y="37211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30"/>
          <p:cNvCxnSpPr>
            <a:stCxn id="357" idx="3"/>
            <a:endCxn id="368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30"/>
          <p:cNvCxnSpPr>
            <a:stCxn id="358" idx="3"/>
            <a:endCxn id="369" idx="1"/>
          </p:cNvCxnSpPr>
          <p:nvPr/>
        </p:nvCxnSpPr>
        <p:spPr>
          <a:xfrm flipH="1" rot="10800000">
            <a:off x="5999800" y="44831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30"/>
          <p:cNvCxnSpPr>
            <a:stCxn id="358" idx="3"/>
            <a:endCxn id="370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30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0" name="Google Shape;380;p30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30"/>
          <p:cNvSpPr/>
          <p:nvPr/>
        </p:nvSpPr>
        <p:spPr>
          <a:xfrm>
            <a:off x="3602450" y="1064688"/>
            <a:ext cx="2044500" cy="842700"/>
          </a:xfrm>
          <a:prstGeom prst="wedgeRoundRectCallout">
            <a:avLst>
              <a:gd fmla="val 43927" name="adj1"/>
              <a:gd fmla="val 70959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 just found a way to reach A. We should tell our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2" name="Google Shape;382;p30"/>
          <p:cNvCxnSpPr/>
          <p:nvPr/>
        </p:nvCxnSpPr>
        <p:spPr>
          <a:xfrm flipH="1">
            <a:off x="4902875" y="2326325"/>
            <a:ext cx="675000" cy="208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3" name="Google Shape;383;p30"/>
          <p:cNvSpPr txBox="1"/>
          <p:nvPr/>
        </p:nvSpPr>
        <p:spPr>
          <a:xfrm rot="-1045209">
            <a:off x="4976223" y="2253586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4" name="Google Shape;384;p30"/>
          <p:cNvCxnSpPr/>
          <p:nvPr/>
        </p:nvCxnSpPr>
        <p:spPr>
          <a:xfrm rot="10800000">
            <a:off x="4902875" y="2914248"/>
            <a:ext cx="675000" cy="208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5" name="Google Shape;385;p30"/>
          <p:cNvSpPr txBox="1"/>
          <p:nvPr/>
        </p:nvSpPr>
        <p:spPr>
          <a:xfrm flipH="1" rot="1045209">
            <a:off x="4976223" y="3041188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6" name="Google Shape;386;p30"/>
          <p:cNvCxnSpPr/>
          <p:nvPr/>
        </p:nvCxnSpPr>
        <p:spPr>
          <a:xfrm flipH="1">
            <a:off x="4902875" y="3884931"/>
            <a:ext cx="675000" cy="208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7" name="Google Shape;387;p30"/>
          <p:cNvSpPr txBox="1"/>
          <p:nvPr/>
        </p:nvSpPr>
        <p:spPr>
          <a:xfrm rot="-1045209">
            <a:off x="4976223" y="3812192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8" name="Google Shape;388;p30"/>
          <p:cNvCxnSpPr/>
          <p:nvPr/>
        </p:nvCxnSpPr>
        <p:spPr>
          <a:xfrm rot="10800000">
            <a:off x="4902875" y="4472854"/>
            <a:ext cx="675000" cy="208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9" name="Google Shape;389;p30"/>
          <p:cNvSpPr txBox="1"/>
          <p:nvPr/>
        </p:nvSpPr>
        <p:spPr>
          <a:xfrm flipH="1" rot="1045209">
            <a:off x="4976223" y="4599794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0" name="Google Shape;390;p30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1" name="Google Shape;391;p30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" name="Google Shape;392;p30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3" name="Google Shape;393;p30"/>
          <p:cNvSpPr txBox="1"/>
          <p:nvPr/>
        </p:nvSpPr>
        <p:spPr>
          <a:xfrm flipH="1" rot="1931086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399" name="Google Shape;399;p31"/>
          <p:cNvSpPr txBox="1"/>
          <p:nvPr>
            <p:ph idx="1" type="body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400" name="Google Shape;400;p31"/>
          <p:cNvCxnSpPr>
            <a:stCxn id="401" idx="3"/>
            <a:endCxn id="402" idx="1"/>
          </p:cNvCxnSpPr>
          <p:nvPr/>
        </p:nvCxnSpPr>
        <p:spPr>
          <a:xfrm flipH="1" rot="10800000">
            <a:off x="2951800" y="2720825"/>
            <a:ext cx="1239000" cy="78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31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31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31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5" name="Google Shape;405;p31"/>
          <p:cNvCxnSpPr>
            <a:stCxn id="401" idx="3"/>
            <a:endCxn id="404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31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6" name="Google Shape;406;p31"/>
          <p:cNvCxnSpPr>
            <a:stCxn id="403" idx="6"/>
            <a:endCxn id="401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" name="Google Shape;407;p31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31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31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31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1" name="Google Shape;411;p31"/>
          <p:cNvCxnSpPr>
            <a:stCxn id="402" idx="3"/>
            <a:endCxn id="408" idx="1"/>
          </p:cNvCxnSpPr>
          <p:nvPr/>
        </p:nvCxnSpPr>
        <p:spPr>
          <a:xfrm flipH="1" rot="10800000">
            <a:off x="4475800" y="23399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31"/>
          <p:cNvCxnSpPr>
            <a:stCxn id="402" idx="3"/>
            <a:endCxn id="407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31"/>
          <p:cNvCxnSpPr>
            <a:stCxn id="404" idx="3"/>
            <a:endCxn id="409" idx="1"/>
          </p:cNvCxnSpPr>
          <p:nvPr/>
        </p:nvCxnSpPr>
        <p:spPr>
          <a:xfrm flipH="1" rot="10800000">
            <a:off x="4475800" y="39020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31"/>
          <p:cNvCxnSpPr>
            <a:stCxn id="404" idx="3"/>
            <a:endCxn id="410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31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31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31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31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31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31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31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31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3" name="Google Shape;423;p31"/>
          <p:cNvCxnSpPr>
            <a:stCxn id="408" idx="3"/>
            <a:endCxn id="415" idx="1"/>
          </p:cNvCxnSpPr>
          <p:nvPr/>
        </p:nvCxnSpPr>
        <p:spPr>
          <a:xfrm flipH="1" rot="10800000">
            <a:off x="5999800" y="2159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31"/>
          <p:cNvCxnSpPr>
            <a:stCxn id="408" idx="3"/>
            <a:endCxn id="416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31"/>
          <p:cNvCxnSpPr>
            <a:stCxn id="407" idx="3"/>
            <a:endCxn id="417" idx="1"/>
          </p:cNvCxnSpPr>
          <p:nvPr/>
        </p:nvCxnSpPr>
        <p:spPr>
          <a:xfrm flipH="1" rot="10800000">
            <a:off x="5999800" y="2921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31"/>
          <p:cNvCxnSpPr>
            <a:stCxn id="407" idx="3"/>
            <a:endCxn id="418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31"/>
          <p:cNvCxnSpPr>
            <a:stCxn id="409" idx="3"/>
            <a:endCxn id="419" idx="1"/>
          </p:cNvCxnSpPr>
          <p:nvPr/>
        </p:nvCxnSpPr>
        <p:spPr>
          <a:xfrm flipH="1" rot="10800000">
            <a:off x="5999800" y="37211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31"/>
          <p:cNvCxnSpPr>
            <a:stCxn id="409" idx="3"/>
            <a:endCxn id="420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31"/>
          <p:cNvCxnSpPr>
            <a:stCxn id="410" idx="3"/>
            <a:endCxn id="421" idx="1"/>
          </p:cNvCxnSpPr>
          <p:nvPr/>
        </p:nvCxnSpPr>
        <p:spPr>
          <a:xfrm flipH="1" rot="10800000">
            <a:off x="5999800" y="44831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31"/>
          <p:cNvCxnSpPr>
            <a:stCxn id="410" idx="3"/>
            <a:endCxn id="422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31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2" name="Google Shape;432;p31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3" name="Google Shape;433;p31"/>
          <p:cNvCxnSpPr/>
          <p:nvPr/>
        </p:nvCxnSpPr>
        <p:spPr>
          <a:xfrm flipH="1">
            <a:off x="4902875" y="2326325"/>
            <a:ext cx="675000" cy="208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4" name="Google Shape;434;p31"/>
          <p:cNvSpPr txBox="1"/>
          <p:nvPr/>
        </p:nvSpPr>
        <p:spPr>
          <a:xfrm rot="-1045209">
            <a:off x="4976223" y="2253586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5" name="Google Shape;435;p31"/>
          <p:cNvCxnSpPr/>
          <p:nvPr/>
        </p:nvCxnSpPr>
        <p:spPr>
          <a:xfrm rot="10800000">
            <a:off x="4902875" y="2914248"/>
            <a:ext cx="675000" cy="208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6" name="Google Shape;436;p31"/>
          <p:cNvSpPr txBox="1"/>
          <p:nvPr/>
        </p:nvSpPr>
        <p:spPr>
          <a:xfrm flipH="1" rot="1045209">
            <a:off x="4976223" y="3041188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7" name="Google Shape;437;p31"/>
          <p:cNvCxnSpPr/>
          <p:nvPr/>
        </p:nvCxnSpPr>
        <p:spPr>
          <a:xfrm flipH="1">
            <a:off x="4902875" y="3884931"/>
            <a:ext cx="675000" cy="208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8" name="Google Shape;438;p31"/>
          <p:cNvSpPr txBox="1"/>
          <p:nvPr/>
        </p:nvSpPr>
        <p:spPr>
          <a:xfrm rot="-1045209">
            <a:off x="4976223" y="3812192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9" name="Google Shape;439;p31"/>
          <p:cNvCxnSpPr/>
          <p:nvPr/>
        </p:nvCxnSpPr>
        <p:spPr>
          <a:xfrm rot="10800000">
            <a:off x="4902875" y="4472854"/>
            <a:ext cx="675000" cy="208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0" name="Google Shape;440;p31"/>
          <p:cNvSpPr txBox="1"/>
          <p:nvPr/>
        </p:nvSpPr>
        <p:spPr>
          <a:xfrm flipH="1" rot="1045209">
            <a:off x="4976223" y="4599794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1" name="Google Shape;441;p31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2" name="Google Shape;442;p31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3" name="Google Shape;443;p31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4" name="Google Shape;444;p31"/>
          <p:cNvSpPr txBox="1"/>
          <p:nvPr/>
        </p:nvSpPr>
        <p:spPr>
          <a:xfrm flipH="1" rot="1931086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5" name="Google Shape;445;p31"/>
          <p:cNvCxnSpPr/>
          <p:nvPr/>
        </p:nvCxnSpPr>
        <p:spPr>
          <a:xfrm flipH="1" rot="10800000">
            <a:off x="6248875" y="2124275"/>
            <a:ext cx="699300" cy="101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" name="Google Shape;446;p31"/>
          <p:cNvCxnSpPr/>
          <p:nvPr/>
        </p:nvCxnSpPr>
        <p:spPr>
          <a:xfrm>
            <a:off x="6248875" y="2454638"/>
            <a:ext cx="699300" cy="101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7" name="Google Shape;447;p31"/>
          <p:cNvSpPr/>
          <p:nvPr/>
        </p:nvSpPr>
        <p:spPr>
          <a:xfrm>
            <a:off x="5929075" y="1725738"/>
            <a:ext cx="1043700" cy="323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31"/>
          <p:cNvSpPr/>
          <p:nvPr/>
        </p:nvSpPr>
        <p:spPr>
          <a:xfrm>
            <a:off x="6146875" y="2556157"/>
            <a:ext cx="608100" cy="153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31"/>
          <p:cNvSpPr/>
          <p:nvPr/>
        </p:nvSpPr>
        <p:spPr>
          <a:xfrm>
            <a:off x="6146875" y="2739382"/>
            <a:ext cx="608100" cy="153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0" name="Google Shape;450;p31"/>
          <p:cNvCxnSpPr/>
          <p:nvPr/>
        </p:nvCxnSpPr>
        <p:spPr>
          <a:xfrm flipH="1" rot="10800000">
            <a:off x="6248875" y="2886275"/>
            <a:ext cx="699300" cy="101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1" name="Google Shape;451;p31"/>
          <p:cNvCxnSpPr/>
          <p:nvPr/>
        </p:nvCxnSpPr>
        <p:spPr>
          <a:xfrm>
            <a:off x="6248875" y="3216638"/>
            <a:ext cx="699300" cy="101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2" name="Google Shape;452;p31"/>
          <p:cNvSpPr/>
          <p:nvPr/>
        </p:nvSpPr>
        <p:spPr>
          <a:xfrm>
            <a:off x="6146875" y="3311992"/>
            <a:ext cx="608100" cy="153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31"/>
          <p:cNvSpPr/>
          <p:nvPr/>
        </p:nvSpPr>
        <p:spPr>
          <a:xfrm>
            <a:off x="6146875" y="3541292"/>
            <a:ext cx="608100" cy="153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4" name="Google Shape;454;p31"/>
          <p:cNvCxnSpPr/>
          <p:nvPr/>
        </p:nvCxnSpPr>
        <p:spPr>
          <a:xfrm flipH="1" rot="10800000">
            <a:off x="6248875" y="3688185"/>
            <a:ext cx="699300" cy="101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5" name="Google Shape;455;p31"/>
          <p:cNvCxnSpPr/>
          <p:nvPr/>
        </p:nvCxnSpPr>
        <p:spPr>
          <a:xfrm>
            <a:off x="6248875" y="4018548"/>
            <a:ext cx="699300" cy="101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6" name="Google Shape;456;p31"/>
          <p:cNvSpPr/>
          <p:nvPr/>
        </p:nvSpPr>
        <p:spPr>
          <a:xfrm>
            <a:off x="6146875" y="4113902"/>
            <a:ext cx="608100" cy="153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31"/>
          <p:cNvSpPr/>
          <p:nvPr/>
        </p:nvSpPr>
        <p:spPr>
          <a:xfrm>
            <a:off x="6146875" y="4303292"/>
            <a:ext cx="608100" cy="153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8" name="Google Shape;458;p31"/>
          <p:cNvCxnSpPr/>
          <p:nvPr/>
        </p:nvCxnSpPr>
        <p:spPr>
          <a:xfrm flipH="1" rot="10800000">
            <a:off x="6248875" y="4450185"/>
            <a:ext cx="699300" cy="101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9" name="Google Shape;459;p31"/>
          <p:cNvCxnSpPr/>
          <p:nvPr/>
        </p:nvCxnSpPr>
        <p:spPr>
          <a:xfrm>
            <a:off x="6248875" y="4780548"/>
            <a:ext cx="699300" cy="101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0" name="Google Shape;460;p31"/>
          <p:cNvSpPr/>
          <p:nvPr/>
        </p:nvSpPr>
        <p:spPr>
          <a:xfrm>
            <a:off x="6146875" y="4875902"/>
            <a:ext cx="608100" cy="153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466" name="Google Shape;466;p32"/>
          <p:cNvSpPr txBox="1"/>
          <p:nvPr>
            <p:ph idx="1" type="body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467" name="Google Shape;467;p32"/>
          <p:cNvCxnSpPr>
            <a:stCxn id="468" idx="3"/>
            <a:endCxn id="469" idx="1"/>
          </p:cNvCxnSpPr>
          <p:nvPr/>
        </p:nvCxnSpPr>
        <p:spPr>
          <a:xfrm flipH="1" rot="10800000">
            <a:off x="2951800" y="2720825"/>
            <a:ext cx="1239000" cy="78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" name="Google Shape;469;p32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32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32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" name="Google Shape;472;p32"/>
          <p:cNvCxnSpPr>
            <a:stCxn id="468" idx="3"/>
            <a:endCxn id="471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32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3" name="Google Shape;473;p32"/>
          <p:cNvCxnSpPr>
            <a:stCxn id="470" idx="6"/>
            <a:endCxn id="468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4" name="Google Shape;474;p32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32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32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32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8" name="Google Shape;478;p32"/>
          <p:cNvCxnSpPr>
            <a:stCxn id="469" idx="3"/>
            <a:endCxn id="475" idx="1"/>
          </p:cNvCxnSpPr>
          <p:nvPr/>
        </p:nvCxnSpPr>
        <p:spPr>
          <a:xfrm flipH="1" rot="10800000">
            <a:off x="4475800" y="23399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32"/>
          <p:cNvCxnSpPr>
            <a:stCxn id="469" idx="3"/>
            <a:endCxn id="474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32"/>
          <p:cNvCxnSpPr>
            <a:stCxn id="471" idx="3"/>
            <a:endCxn id="476" idx="1"/>
          </p:cNvCxnSpPr>
          <p:nvPr/>
        </p:nvCxnSpPr>
        <p:spPr>
          <a:xfrm flipH="1" rot="10800000">
            <a:off x="4475800" y="39020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32"/>
          <p:cNvCxnSpPr>
            <a:stCxn id="471" idx="3"/>
            <a:endCxn id="477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32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32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32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32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32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32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32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32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0" name="Google Shape;490;p32"/>
          <p:cNvCxnSpPr>
            <a:stCxn id="475" idx="3"/>
            <a:endCxn id="482" idx="1"/>
          </p:cNvCxnSpPr>
          <p:nvPr/>
        </p:nvCxnSpPr>
        <p:spPr>
          <a:xfrm flipH="1" rot="10800000">
            <a:off x="5999800" y="2159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32"/>
          <p:cNvCxnSpPr>
            <a:stCxn id="475" idx="3"/>
            <a:endCxn id="483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32"/>
          <p:cNvCxnSpPr>
            <a:stCxn id="474" idx="3"/>
            <a:endCxn id="484" idx="1"/>
          </p:cNvCxnSpPr>
          <p:nvPr/>
        </p:nvCxnSpPr>
        <p:spPr>
          <a:xfrm flipH="1" rot="10800000">
            <a:off x="5999800" y="2921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32"/>
          <p:cNvCxnSpPr>
            <a:stCxn id="474" idx="3"/>
            <a:endCxn id="485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32"/>
          <p:cNvCxnSpPr>
            <a:stCxn id="476" idx="3"/>
            <a:endCxn id="486" idx="1"/>
          </p:cNvCxnSpPr>
          <p:nvPr/>
        </p:nvCxnSpPr>
        <p:spPr>
          <a:xfrm flipH="1" rot="10800000">
            <a:off x="5999800" y="37211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32"/>
          <p:cNvCxnSpPr>
            <a:stCxn id="476" idx="3"/>
            <a:endCxn id="487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32"/>
          <p:cNvCxnSpPr>
            <a:stCxn id="477" idx="3"/>
            <a:endCxn id="488" idx="1"/>
          </p:cNvCxnSpPr>
          <p:nvPr/>
        </p:nvCxnSpPr>
        <p:spPr>
          <a:xfrm flipH="1" rot="10800000">
            <a:off x="5999800" y="44831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32"/>
          <p:cNvCxnSpPr>
            <a:stCxn id="477" idx="3"/>
            <a:endCxn id="489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32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9" name="Google Shape;499;p32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0" name="Google Shape;500;p32"/>
          <p:cNvCxnSpPr/>
          <p:nvPr/>
        </p:nvCxnSpPr>
        <p:spPr>
          <a:xfrm flipH="1">
            <a:off x="4902875" y="2326325"/>
            <a:ext cx="675000" cy="208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1" name="Google Shape;501;p32"/>
          <p:cNvSpPr txBox="1"/>
          <p:nvPr/>
        </p:nvSpPr>
        <p:spPr>
          <a:xfrm rot="-1045209">
            <a:off x="4976223" y="2253586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2" name="Google Shape;502;p32"/>
          <p:cNvCxnSpPr/>
          <p:nvPr/>
        </p:nvCxnSpPr>
        <p:spPr>
          <a:xfrm rot="10800000">
            <a:off x="4902875" y="2914248"/>
            <a:ext cx="675000" cy="208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3" name="Google Shape;503;p32"/>
          <p:cNvSpPr txBox="1"/>
          <p:nvPr/>
        </p:nvSpPr>
        <p:spPr>
          <a:xfrm flipH="1" rot="1045209">
            <a:off x="4976223" y="3041188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4" name="Google Shape;504;p32"/>
          <p:cNvCxnSpPr/>
          <p:nvPr/>
        </p:nvCxnSpPr>
        <p:spPr>
          <a:xfrm flipH="1">
            <a:off x="4902875" y="3884931"/>
            <a:ext cx="675000" cy="208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5" name="Google Shape;505;p32"/>
          <p:cNvSpPr txBox="1"/>
          <p:nvPr/>
        </p:nvSpPr>
        <p:spPr>
          <a:xfrm rot="-1045209">
            <a:off x="4976223" y="3812192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6" name="Google Shape;506;p32"/>
          <p:cNvCxnSpPr/>
          <p:nvPr/>
        </p:nvCxnSpPr>
        <p:spPr>
          <a:xfrm rot="10800000">
            <a:off x="4902875" y="4472854"/>
            <a:ext cx="675000" cy="208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7" name="Google Shape;507;p32"/>
          <p:cNvSpPr txBox="1"/>
          <p:nvPr/>
        </p:nvSpPr>
        <p:spPr>
          <a:xfrm flipH="1" rot="1045209">
            <a:off x="4976223" y="4599794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8" name="Google Shape;508;p32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9" name="Google Shape;509;p32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0" name="Google Shape;510;p32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1" name="Google Shape;511;p32"/>
          <p:cNvSpPr txBox="1"/>
          <p:nvPr/>
        </p:nvSpPr>
        <p:spPr>
          <a:xfrm flipH="1" rot="1931086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2" name="Google Shape;512;p32"/>
          <p:cNvCxnSpPr/>
          <p:nvPr/>
        </p:nvCxnSpPr>
        <p:spPr>
          <a:xfrm flipH="1">
            <a:off x="6455775" y="2105750"/>
            <a:ext cx="728100" cy="106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3" name="Google Shape;513;p32"/>
          <p:cNvSpPr txBox="1"/>
          <p:nvPr/>
        </p:nvSpPr>
        <p:spPr>
          <a:xfrm rot="-505875">
            <a:off x="6544869" y="19865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4" name="Google Shape;514;p32"/>
          <p:cNvCxnSpPr/>
          <p:nvPr/>
        </p:nvCxnSpPr>
        <p:spPr>
          <a:xfrm rot="10800000">
            <a:off x="6455775" y="2465686"/>
            <a:ext cx="728100" cy="106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5" name="Google Shape;515;p32"/>
          <p:cNvSpPr txBox="1"/>
          <p:nvPr/>
        </p:nvSpPr>
        <p:spPr>
          <a:xfrm flipH="1" rot="505875">
            <a:off x="6544869" y="2537377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6" name="Google Shape;516;p32"/>
          <p:cNvCxnSpPr/>
          <p:nvPr/>
        </p:nvCxnSpPr>
        <p:spPr>
          <a:xfrm flipH="1">
            <a:off x="6455775" y="2867750"/>
            <a:ext cx="728100" cy="106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7" name="Google Shape;517;p32"/>
          <p:cNvSpPr txBox="1"/>
          <p:nvPr/>
        </p:nvSpPr>
        <p:spPr>
          <a:xfrm rot="-505875">
            <a:off x="6544869" y="27485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8" name="Google Shape;518;p32"/>
          <p:cNvCxnSpPr/>
          <p:nvPr/>
        </p:nvCxnSpPr>
        <p:spPr>
          <a:xfrm rot="10800000">
            <a:off x="6455775" y="3227686"/>
            <a:ext cx="728100" cy="106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9" name="Google Shape;519;p32"/>
          <p:cNvSpPr txBox="1"/>
          <p:nvPr/>
        </p:nvSpPr>
        <p:spPr>
          <a:xfrm flipH="1" rot="505875">
            <a:off x="6544869" y="3299377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0" name="Google Shape;520;p32"/>
          <p:cNvCxnSpPr/>
          <p:nvPr/>
        </p:nvCxnSpPr>
        <p:spPr>
          <a:xfrm flipH="1">
            <a:off x="6455775" y="3668325"/>
            <a:ext cx="728100" cy="106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1" name="Google Shape;521;p32"/>
          <p:cNvSpPr txBox="1"/>
          <p:nvPr/>
        </p:nvSpPr>
        <p:spPr>
          <a:xfrm rot="-505875">
            <a:off x="6544869" y="3549126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2" name="Google Shape;522;p32"/>
          <p:cNvCxnSpPr/>
          <p:nvPr/>
        </p:nvCxnSpPr>
        <p:spPr>
          <a:xfrm rot="10800000">
            <a:off x="6455775" y="4028261"/>
            <a:ext cx="728100" cy="106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3" name="Google Shape;523;p32"/>
          <p:cNvSpPr txBox="1"/>
          <p:nvPr/>
        </p:nvSpPr>
        <p:spPr>
          <a:xfrm flipH="1" rot="505875">
            <a:off x="6544869" y="40999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" name="Google Shape;524;p32"/>
          <p:cNvCxnSpPr/>
          <p:nvPr/>
        </p:nvCxnSpPr>
        <p:spPr>
          <a:xfrm flipH="1">
            <a:off x="6455775" y="4430325"/>
            <a:ext cx="728100" cy="106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5" name="Google Shape;525;p32"/>
          <p:cNvSpPr txBox="1"/>
          <p:nvPr/>
        </p:nvSpPr>
        <p:spPr>
          <a:xfrm rot="-505875">
            <a:off x="6544869" y="4311126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6" name="Google Shape;526;p32"/>
          <p:cNvCxnSpPr/>
          <p:nvPr/>
        </p:nvCxnSpPr>
        <p:spPr>
          <a:xfrm rot="10800000">
            <a:off x="6455775" y="4790261"/>
            <a:ext cx="728100" cy="106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7" name="Google Shape;527;p32"/>
          <p:cNvSpPr txBox="1"/>
          <p:nvPr/>
        </p:nvSpPr>
        <p:spPr>
          <a:xfrm flipH="1" rot="505875">
            <a:off x="6544869" y="48619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32"/>
          <p:cNvSpPr txBox="1"/>
          <p:nvPr/>
        </p:nvSpPr>
        <p:spPr>
          <a:xfrm>
            <a:off x="1371400" y="1429500"/>
            <a:ext cx="6152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did it! Everybody knows the next-hop to A now.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 – Routing vs. Forwarding</a:t>
            </a:r>
            <a:endParaRPr/>
          </a:p>
        </p:txBody>
      </p:sp>
      <p:cxnSp>
        <p:nvCxnSpPr>
          <p:cNvPr id="534" name="Google Shape;534;p33"/>
          <p:cNvCxnSpPr>
            <a:stCxn id="535" idx="3"/>
            <a:endCxn id="536" idx="1"/>
          </p:cNvCxnSpPr>
          <p:nvPr/>
        </p:nvCxnSpPr>
        <p:spPr>
          <a:xfrm flipH="1" rot="10800000">
            <a:off x="2951800" y="2720825"/>
            <a:ext cx="1239000" cy="78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6" name="Google Shape;536;p33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33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33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9" name="Google Shape;539;p33"/>
          <p:cNvCxnSpPr>
            <a:stCxn id="535" idx="3"/>
            <a:endCxn id="538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" name="Google Shape;535;p33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0" name="Google Shape;540;p33"/>
          <p:cNvCxnSpPr>
            <a:stCxn id="537" idx="6"/>
            <a:endCxn id="535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1" name="Google Shape;541;p33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33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p33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33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5" name="Google Shape;545;p33"/>
          <p:cNvCxnSpPr>
            <a:stCxn id="536" idx="3"/>
            <a:endCxn id="542" idx="1"/>
          </p:cNvCxnSpPr>
          <p:nvPr/>
        </p:nvCxnSpPr>
        <p:spPr>
          <a:xfrm flipH="1" rot="10800000">
            <a:off x="4475800" y="23399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33"/>
          <p:cNvCxnSpPr>
            <a:stCxn id="536" idx="3"/>
            <a:endCxn id="541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33"/>
          <p:cNvCxnSpPr>
            <a:stCxn id="538" idx="3"/>
            <a:endCxn id="543" idx="1"/>
          </p:cNvCxnSpPr>
          <p:nvPr/>
        </p:nvCxnSpPr>
        <p:spPr>
          <a:xfrm flipH="1" rot="10800000">
            <a:off x="4475800" y="39020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33"/>
          <p:cNvCxnSpPr>
            <a:stCxn id="538" idx="3"/>
            <a:endCxn id="544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9" name="Google Shape;549;p33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33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33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33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33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33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33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33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7" name="Google Shape;557;p33"/>
          <p:cNvCxnSpPr>
            <a:stCxn id="542" idx="3"/>
            <a:endCxn id="549" idx="1"/>
          </p:cNvCxnSpPr>
          <p:nvPr/>
        </p:nvCxnSpPr>
        <p:spPr>
          <a:xfrm flipH="1" rot="10800000">
            <a:off x="5999800" y="2159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" name="Google Shape;558;p33"/>
          <p:cNvCxnSpPr>
            <a:stCxn id="542" idx="3"/>
            <a:endCxn id="550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33"/>
          <p:cNvCxnSpPr>
            <a:stCxn id="541" idx="3"/>
            <a:endCxn id="551" idx="1"/>
          </p:cNvCxnSpPr>
          <p:nvPr/>
        </p:nvCxnSpPr>
        <p:spPr>
          <a:xfrm flipH="1" rot="10800000">
            <a:off x="5999800" y="2921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33"/>
          <p:cNvCxnSpPr>
            <a:stCxn id="541" idx="3"/>
            <a:endCxn id="552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33"/>
          <p:cNvCxnSpPr>
            <a:stCxn id="543" idx="3"/>
            <a:endCxn id="553" idx="1"/>
          </p:cNvCxnSpPr>
          <p:nvPr/>
        </p:nvCxnSpPr>
        <p:spPr>
          <a:xfrm flipH="1" rot="10800000">
            <a:off x="5999800" y="37211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33"/>
          <p:cNvCxnSpPr>
            <a:stCxn id="543" idx="3"/>
            <a:endCxn id="554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33"/>
          <p:cNvCxnSpPr>
            <a:stCxn id="544" idx="3"/>
            <a:endCxn id="555" idx="1"/>
          </p:cNvCxnSpPr>
          <p:nvPr/>
        </p:nvCxnSpPr>
        <p:spPr>
          <a:xfrm flipH="1" rot="10800000">
            <a:off x="5999800" y="44831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33"/>
          <p:cNvCxnSpPr>
            <a:stCxn id="544" idx="3"/>
            <a:endCxn id="556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33"/>
          <p:cNvCxnSpPr/>
          <p:nvPr/>
        </p:nvCxnSpPr>
        <p:spPr>
          <a:xfrm>
            <a:off x="1259851" y="1074500"/>
            <a:ext cx="66243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6" name="Google Shape;566;p33"/>
          <p:cNvSpPr txBox="1"/>
          <p:nvPr/>
        </p:nvSpPr>
        <p:spPr>
          <a:xfrm>
            <a:off x="1259864" y="754575"/>
            <a:ext cx="662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Routing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announcements ("I can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reach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A") propagated </a:t>
            </a: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outward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, away from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7" name="Google Shape;567;p33"/>
          <p:cNvCxnSpPr/>
          <p:nvPr/>
        </p:nvCxnSpPr>
        <p:spPr>
          <a:xfrm>
            <a:off x="1259851" y="1684100"/>
            <a:ext cx="6624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68" name="Google Shape;568;p33"/>
          <p:cNvSpPr txBox="1"/>
          <p:nvPr/>
        </p:nvSpPr>
        <p:spPr>
          <a:xfrm>
            <a:off x="1259864" y="1364175"/>
            <a:ext cx="662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When </a:t>
            </a:r>
            <a:r>
              <a:rPr b="1"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forwarding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packets toward A, packets travel </a:t>
            </a:r>
            <a:r>
              <a:rPr i="1"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inward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, toward A.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Distance-Vector Algorithm Sketch – Multiple Destinations</a:t>
            </a:r>
            <a:endParaRPr/>
          </a:p>
        </p:txBody>
      </p:sp>
      <p:sp>
        <p:nvSpPr>
          <p:cNvPr id="574" name="Google Shape;574;p3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there are multiple destinations?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the same path propagation algorithm, once per destination.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use </a:t>
            </a:r>
            <a:r>
              <a:rPr b="1" lang="en"/>
              <a:t>forwarding tables</a:t>
            </a:r>
            <a:r>
              <a:rPr lang="en"/>
              <a:t> to keep track of the next-hop of each destination.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focus on a single destination for simplicity.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 protocol can extend to multiple destinations.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1: Bellman-Ford Updates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580" name="Google Shape;580;p3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1: Bellman-Ford Updates</a:t>
            </a:r>
            <a:endParaRPr/>
          </a:p>
        </p:txBody>
      </p:sp>
      <p:sp>
        <p:nvSpPr>
          <p:cNvPr id="581" name="Google Shape;581;p3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</a:t>
            </a:r>
            <a:r>
              <a:rPr lang="en"/>
              <a:t>, CS 168, </a:t>
            </a:r>
            <a:r>
              <a:rPr lang="en"/>
              <a:t>Spring 2025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587" name="Google Shape;587;p36"/>
          <p:cNvSpPr txBox="1"/>
          <p:nvPr>
            <p:ph idx="1" type="body"/>
          </p:nvPr>
        </p:nvSpPr>
        <p:spPr>
          <a:xfrm>
            <a:off x="107050" y="402200"/>
            <a:ext cx="8909700" cy="11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you hear about multiple paths to a single destination?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Accept the shorter path.</a:t>
            </a:r>
            <a:endParaRPr/>
          </a:p>
        </p:txBody>
      </p:sp>
      <p:sp>
        <p:nvSpPr>
          <p:cNvPr id="588" name="Google Shape;588;p36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9" name="Google Shape;589;p36"/>
          <p:cNvCxnSpPr>
            <a:endCxn id="588" idx="1"/>
          </p:cNvCxnSpPr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0" name="Google Shape;590;p36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1" name="Google Shape;591;p36"/>
          <p:cNvCxnSpPr>
            <a:stCxn id="590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36"/>
          <p:cNvCxnSpPr>
            <a:endCxn id="588" idx="1"/>
          </p:cNvCxnSpPr>
          <p:nvPr/>
        </p:nvCxnSpPr>
        <p:spPr>
          <a:xfrm flipH="1" rot="10800000">
            <a:off x="4348075" y="3406725"/>
            <a:ext cx="442800" cy="76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3" name="Google Shape;593;p36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4" name="Google Shape;594;p36"/>
          <p:cNvCxnSpPr>
            <a:stCxn id="593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5" name="Google Shape;595;p36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6" name="Google Shape;596;p36"/>
          <p:cNvCxnSpPr>
            <a:stCxn id="595" idx="3"/>
            <a:endCxn id="590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36"/>
          <p:cNvCxnSpPr>
            <a:endCxn id="598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36"/>
          <p:cNvCxnSpPr>
            <a:endCxn id="598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36"/>
          <p:cNvCxnSpPr>
            <a:endCxn id="595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36"/>
          <p:cNvCxnSpPr>
            <a:endCxn id="593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" name="Google Shape;598;p36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2" name="Google Shape;602;p36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3" name="Google Shape;603;p36"/>
          <p:cNvCxnSpPr>
            <a:stCxn id="602" idx="6"/>
            <a:endCxn id="598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" name="Google Shape;604;p36"/>
          <p:cNvSpPr/>
          <p:nvPr/>
        </p:nvSpPr>
        <p:spPr>
          <a:xfrm>
            <a:off x="3898850" y="2568850"/>
            <a:ext cx="898150" cy="573900"/>
          </a:xfrm>
          <a:custGeom>
            <a:rect b="b" l="l" r="r" t="t"/>
            <a:pathLst>
              <a:path extrusionOk="0" h="22956" w="35926">
                <a:moveTo>
                  <a:pt x="0" y="0"/>
                </a:moveTo>
                <a:lnTo>
                  <a:pt x="22672" y="0"/>
                </a:lnTo>
                <a:lnTo>
                  <a:pt x="35926" y="22956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05" name="Google Shape;605;p36"/>
          <p:cNvSpPr/>
          <p:nvPr/>
        </p:nvSpPr>
        <p:spPr>
          <a:xfrm>
            <a:off x="3583600" y="3638900"/>
            <a:ext cx="1273750" cy="620350"/>
          </a:xfrm>
          <a:custGeom>
            <a:rect b="b" l="l" r="r" t="t"/>
            <a:pathLst>
              <a:path extrusionOk="0" h="24814" w="50950">
                <a:moveTo>
                  <a:pt x="0" y="24814"/>
                </a:moveTo>
                <a:lnTo>
                  <a:pt x="36624" y="24814"/>
                </a:lnTo>
                <a:lnTo>
                  <a:pt x="50950" y="0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06" name="Google Shape;606;p36"/>
          <p:cNvSpPr/>
          <p:nvPr/>
        </p:nvSpPr>
        <p:spPr>
          <a:xfrm>
            <a:off x="4056400" y="2064550"/>
            <a:ext cx="903300" cy="433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3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36"/>
          <p:cNvSpPr/>
          <p:nvPr/>
        </p:nvSpPr>
        <p:spPr>
          <a:xfrm>
            <a:off x="4056400" y="4350550"/>
            <a:ext cx="903300" cy="433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36"/>
          <p:cNvSpPr/>
          <p:nvPr/>
        </p:nvSpPr>
        <p:spPr>
          <a:xfrm>
            <a:off x="5290725" y="2639600"/>
            <a:ext cx="1382100" cy="688500"/>
          </a:xfrm>
          <a:prstGeom prst="wedgeRoundRectCallout">
            <a:avLst>
              <a:gd fmla="val -60451" name="adj1"/>
              <a:gd fmla="val 59041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prefer what R4 is offering.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9" name="Google Shape;609;p36"/>
          <p:cNvCxnSpPr/>
          <p:nvPr/>
        </p:nvCxnSpPr>
        <p:spPr>
          <a:xfrm flipH="1">
            <a:off x="4317075" y="3392600"/>
            <a:ext cx="349500" cy="605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0" name="Google Shape;610;p36"/>
          <p:cNvSpPr txBox="1"/>
          <p:nvPr/>
        </p:nvSpPr>
        <p:spPr>
          <a:xfrm rot="-3604017">
            <a:off x="4139328" y="3518986"/>
            <a:ext cx="589193" cy="153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616" name="Google Shape;616;p37"/>
          <p:cNvSpPr txBox="1"/>
          <p:nvPr>
            <p:ph idx="1" type="body"/>
          </p:nvPr>
        </p:nvSpPr>
        <p:spPr>
          <a:xfrm>
            <a:off x="107050" y="402200"/>
            <a:ext cx="8909700" cy="11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you hear about multiple paths to a single destination?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Accept the shorter path.</a:t>
            </a:r>
            <a:endParaRPr/>
          </a:p>
        </p:txBody>
      </p:sp>
      <p:sp>
        <p:nvSpPr>
          <p:cNvPr id="617" name="Google Shape;617;p37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8" name="Google Shape;618;p37"/>
          <p:cNvCxnSpPr>
            <a:endCxn id="617" idx="1"/>
          </p:cNvCxnSpPr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9" name="Google Shape;619;p37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0" name="Google Shape;620;p37"/>
          <p:cNvCxnSpPr>
            <a:stCxn id="619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37"/>
          <p:cNvCxnSpPr>
            <a:endCxn id="617" idx="1"/>
          </p:cNvCxnSpPr>
          <p:nvPr/>
        </p:nvCxnSpPr>
        <p:spPr>
          <a:xfrm flipH="1" rot="10800000">
            <a:off x="4348075" y="3406725"/>
            <a:ext cx="442800" cy="76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2" name="Google Shape;622;p37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3" name="Google Shape;623;p37"/>
          <p:cNvCxnSpPr>
            <a:stCxn id="622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4" name="Google Shape;624;p37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5" name="Google Shape;625;p37"/>
          <p:cNvCxnSpPr>
            <a:stCxn id="624" idx="3"/>
            <a:endCxn id="619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" name="Google Shape;626;p37"/>
          <p:cNvCxnSpPr>
            <a:endCxn id="627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" name="Google Shape;628;p37"/>
          <p:cNvCxnSpPr>
            <a:endCxn id="627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37"/>
          <p:cNvCxnSpPr>
            <a:endCxn id="624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37"/>
          <p:cNvCxnSpPr>
            <a:endCxn id="622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7" name="Google Shape;627;p37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37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2" name="Google Shape;632;p37"/>
          <p:cNvCxnSpPr>
            <a:stCxn id="631" idx="6"/>
            <a:endCxn id="627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638" name="Google Shape;638;p38"/>
          <p:cNvSpPr txBox="1"/>
          <p:nvPr>
            <p:ph idx="1" type="body"/>
          </p:nvPr>
        </p:nvSpPr>
        <p:spPr>
          <a:xfrm>
            <a:off x="107050" y="402200"/>
            <a:ext cx="8909700" cy="14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 might not hear about both paths simultaneously.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forwarding table, record the best-known cost to a destination.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table doesn't have a path to a destination, accept any path you hear about.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8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0" name="Google Shape;640;p38"/>
          <p:cNvCxnSpPr/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1" name="Google Shape;641;p38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2" name="Google Shape;642;p38"/>
          <p:cNvCxnSpPr>
            <a:stCxn id="641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38"/>
          <p:cNvCxnSpPr/>
          <p:nvPr/>
        </p:nvCxnSpPr>
        <p:spPr>
          <a:xfrm flipH="1" rot="10800000">
            <a:off x="4348075" y="3406725"/>
            <a:ext cx="442800" cy="76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4" name="Google Shape;644;p38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5" name="Google Shape;645;p38"/>
          <p:cNvCxnSpPr>
            <a:stCxn id="644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6" name="Google Shape;646;p38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7" name="Google Shape;647;p38"/>
          <p:cNvCxnSpPr>
            <a:stCxn id="646" idx="3"/>
            <a:endCxn id="641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38"/>
          <p:cNvCxnSpPr>
            <a:endCxn id="649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38"/>
          <p:cNvCxnSpPr>
            <a:endCxn id="649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38"/>
          <p:cNvCxnSpPr>
            <a:endCxn id="646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2" name="Google Shape;652;p38"/>
          <p:cNvCxnSpPr>
            <a:endCxn id="644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9" name="Google Shape;649;p38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38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4" name="Google Shape;654;p38"/>
          <p:cNvCxnSpPr>
            <a:stCxn id="653" idx="6"/>
            <a:endCxn id="649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5" name="Google Shape;655;p38"/>
          <p:cNvSpPr/>
          <p:nvPr/>
        </p:nvSpPr>
        <p:spPr>
          <a:xfrm>
            <a:off x="3898850" y="2568850"/>
            <a:ext cx="898150" cy="573900"/>
          </a:xfrm>
          <a:custGeom>
            <a:rect b="b" l="l" r="r" t="t"/>
            <a:pathLst>
              <a:path extrusionOk="0" h="22956" w="35926">
                <a:moveTo>
                  <a:pt x="0" y="0"/>
                </a:moveTo>
                <a:lnTo>
                  <a:pt x="22672" y="0"/>
                </a:lnTo>
                <a:lnTo>
                  <a:pt x="35926" y="22956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56" name="Google Shape;656;p38"/>
          <p:cNvSpPr/>
          <p:nvPr/>
        </p:nvSpPr>
        <p:spPr>
          <a:xfrm>
            <a:off x="4056400" y="2064550"/>
            <a:ext cx="903300" cy="433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3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57" name="Google Shape;657;p38"/>
          <p:cNvGraphicFramePr/>
          <p:nvPr/>
        </p:nvGraphicFramePr>
        <p:xfrm>
          <a:off x="7110582" y="268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668600"/>
                <a:gridCol w="610050"/>
                <a:gridCol w="610050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663" name="Google Shape;663;p39"/>
          <p:cNvSpPr txBox="1"/>
          <p:nvPr>
            <p:ph idx="1" type="body"/>
          </p:nvPr>
        </p:nvSpPr>
        <p:spPr>
          <a:xfrm>
            <a:off x="107050" y="402200"/>
            <a:ext cx="8909700" cy="16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 might not hear about both paths simultaneously.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forwarding table, record the best-known cost to a destination.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table doesn't have a path to a destination, accept any path you hear about.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about a better path later, update the table (next-hop and cost).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9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5" name="Google Shape;665;p39"/>
          <p:cNvCxnSpPr/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6" name="Google Shape;666;p39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7" name="Google Shape;667;p39"/>
          <p:cNvCxnSpPr>
            <a:stCxn id="666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39"/>
          <p:cNvCxnSpPr/>
          <p:nvPr/>
        </p:nvCxnSpPr>
        <p:spPr>
          <a:xfrm flipH="1" rot="10800000">
            <a:off x="4348075" y="3406725"/>
            <a:ext cx="442800" cy="76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9" name="Google Shape;669;p39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0" name="Google Shape;670;p39"/>
          <p:cNvCxnSpPr>
            <a:stCxn id="669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1" name="Google Shape;671;p39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2" name="Google Shape;672;p39"/>
          <p:cNvCxnSpPr>
            <a:stCxn id="671" idx="3"/>
            <a:endCxn id="666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" name="Google Shape;673;p39"/>
          <p:cNvCxnSpPr>
            <a:endCxn id="674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39"/>
          <p:cNvCxnSpPr>
            <a:endCxn id="674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39"/>
          <p:cNvCxnSpPr>
            <a:endCxn id="671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39"/>
          <p:cNvCxnSpPr>
            <a:endCxn id="669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4" name="Google Shape;674;p39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39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9" name="Google Shape;679;p39"/>
          <p:cNvCxnSpPr>
            <a:stCxn id="678" idx="6"/>
            <a:endCxn id="674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680" name="Google Shape;680;p39"/>
          <p:cNvGraphicFramePr/>
          <p:nvPr/>
        </p:nvGraphicFramePr>
        <p:xfrm>
          <a:off x="7110582" y="268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668600"/>
                <a:gridCol w="610050"/>
                <a:gridCol w="610050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b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br>
                        <a:rPr lang="en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681" name="Google Shape;681;p39"/>
          <p:cNvSpPr/>
          <p:nvPr/>
        </p:nvSpPr>
        <p:spPr>
          <a:xfrm>
            <a:off x="3583600" y="3638900"/>
            <a:ext cx="1273750" cy="620350"/>
          </a:xfrm>
          <a:custGeom>
            <a:rect b="b" l="l" r="r" t="t"/>
            <a:pathLst>
              <a:path extrusionOk="0" h="24814" w="50950">
                <a:moveTo>
                  <a:pt x="0" y="24814"/>
                </a:moveTo>
                <a:lnTo>
                  <a:pt x="36624" y="24814"/>
                </a:lnTo>
                <a:lnTo>
                  <a:pt x="50950" y="0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82" name="Google Shape;682;p39"/>
          <p:cNvSpPr/>
          <p:nvPr/>
        </p:nvSpPr>
        <p:spPr>
          <a:xfrm>
            <a:off x="4056400" y="4350550"/>
            <a:ext cx="903300" cy="433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39"/>
          <p:cNvSpPr/>
          <p:nvPr/>
        </p:nvSpPr>
        <p:spPr>
          <a:xfrm>
            <a:off x="5366925" y="2281350"/>
            <a:ext cx="1351500" cy="1046700"/>
          </a:xfrm>
          <a:prstGeom prst="wedgeRoundRectCallout">
            <a:avLst>
              <a:gd fmla="val -68383" name="adj1"/>
              <a:gd fmla="val 53869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like this new path better. I'll abandon the old one.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689" name="Google Shape;689;p4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each destination: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about a path to that destination, update table if: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The destination isn't in the table.</a:t>
            </a:r>
            <a:endParaRPr>
              <a:solidFill>
                <a:schemeClr val="accent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The advertised cost is better than best-known cost.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tell all your neighbors.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Unequal Costs</a:t>
            </a:r>
            <a:endParaRPr/>
          </a:p>
        </p:txBody>
      </p:sp>
      <p:sp>
        <p:nvSpPr>
          <p:cNvPr id="695" name="Google Shape;695;p41"/>
          <p:cNvSpPr txBox="1"/>
          <p:nvPr>
            <p:ph idx="1" type="body"/>
          </p:nvPr>
        </p:nvSpPr>
        <p:spPr>
          <a:xfrm>
            <a:off x="107050" y="402200"/>
            <a:ext cx="8909700" cy="18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 all link costs are 1.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neighbor advertises a path, the cost via that path is the sum of: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Link cost from you to the neighbor.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Cost from neighbor to destination (as advertised by neighbor).</a:t>
            </a:r>
            <a:endParaRPr/>
          </a:p>
        </p:txBody>
      </p:sp>
      <p:sp>
        <p:nvSpPr>
          <p:cNvPr id="696" name="Google Shape;696;p41"/>
          <p:cNvSpPr/>
          <p:nvPr/>
        </p:nvSpPr>
        <p:spPr>
          <a:xfrm>
            <a:off x="3591425" y="3335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41"/>
          <p:cNvSpPr/>
          <p:nvPr/>
        </p:nvSpPr>
        <p:spPr>
          <a:xfrm>
            <a:off x="1984375" y="257175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8" name="Google Shape;698;p41"/>
          <p:cNvCxnSpPr>
            <a:stCxn id="697" idx="3"/>
            <a:endCxn id="696" idx="1"/>
          </p:cNvCxnSpPr>
          <p:nvPr/>
        </p:nvCxnSpPr>
        <p:spPr>
          <a:xfrm>
            <a:off x="2269375" y="2714251"/>
            <a:ext cx="1322100" cy="76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" name="Google Shape;699;p41"/>
          <p:cNvCxnSpPr>
            <a:stCxn id="700" idx="3"/>
          </p:cNvCxnSpPr>
          <p:nvPr/>
        </p:nvCxnSpPr>
        <p:spPr>
          <a:xfrm flipH="1" rot="10800000">
            <a:off x="2269375" y="3478508"/>
            <a:ext cx="1322400" cy="762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0" name="Google Shape;700;p41"/>
          <p:cNvSpPr/>
          <p:nvPr/>
        </p:nvSpPr>
        <p:spPr>
          <a:xfrm>
            <a:off x="1984375" y="40989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41"/>
          <p:cNvSpPr txBox="1"/>
          <p:nvPr/>
        </p:nvSpPr>
        <p:spPr>
          <a:xfrm>
            <a:off x="2758675" y="3027400"/>
            <a:ext cx="11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41"/>
          <p:cNvSpPr txBox="1"/>
          <p:nvPr/>
        </p:nvSpPr>
        <p:spPr>
          <a:xfrm>
            <a:off x="2710225" y="3667827"/>
            <a:ext cx="21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41"/>
          <p:cNvSpPr/>
          <p:nvPr/>
        </p:nvSpPr>
        <p:spPr>
          <a:xfrm>
            <a:off x="2921725" y="2363025"/>
            <a:ext cx="1206000" cy="535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is 5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4" name="Google Shape;704;p41"/>
          <p:cNvCxnSpPr/>
          <p:nvPr/>
        </p:nvCxnSpPr>
        <p:spPr>
          <a:xfrm>
            <a:off x="2490050" y="2690520"/>
            <a:ext cx="865200" cy="499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705" name="Google Shape;705;p41"/>
          <p:cNvGraphicFramePr/>
          <p:nvPr/>
        </p:nvGraphicFramePr>
        <p:xfrm>
          <a:off x="4780082" y="379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668600"/>
                <a:gridCol w="610050"/>
                <a:gridCol w="11135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1+5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 =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Unequal Costs</a:t>
            </a:r>
            <a:endParaRPr/>
          </a:p>
        </p:txBody>
      </p:sp>
      <p:sp>
        <p:nvSpPr>
          <p:cNvPr id="711" name="Google Shape;711;p42"/>
          <p:cNvSpPr txBox="1"/>
          <p:nvPr>
            <p:ph idx="1" type="body"/>
          </p:nvPr>
        </p:nvSpPr>
        <p:spPr>
          <a:xfrm>
            <a:off x="107050" y="402200"/>
            <a:ext cx="8909700" cy="18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 all link costs are 1.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neighbor advertises a path, the cost via that path is the sum of: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Link cost from you to the neighbor.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Cost from neighbor to destination (as advertised by neighbor).</a:t>
            </a:r>
            <a:endParaRPr/>
          </a:p>
        </p:txBody>
      </p:sp>
      <p:sp>
        <p:nvSpPr>
          <p:cNvPr id="712" name="Google Shape;712;p42"/>
          <p:cNvSpPr/>
          <p:nvPr/>
        </p:nvSpPr>
        <p:spPr>
          <a:xfrm>
            <a:off x="3591425" y="3335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42"/>
          <p:cNvSpPr/>
          <p:nvPr/>
        </p:nvSpPr>
        <p:spPr>
          <a:xfrm>
            <a:off x="1984375" y="257175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4" name="Google Shape;714;p42"/>
          <p:cNvCxnSpPr>
            <a:stCxn id="713" idx="3"/>
            <a:endCxn id="712" idx="1"/>
          </p:cNvCxnSpPr>
          <p:nvPr/>
        </p:nvCxnSpPr>
        <p:spPr>
          <a:xfrm>
            <a:off x="2269375" y="2714251"/>
            <a:ext cx="1322100" cy="76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5" name="Google Shape;715;p42"/>
          <p:cNvCxnSpPr>
            <a:stCxn id="716" idx="3"/>
          </p:cNvCxnSpPr>
          <p:nvPr/>
        </p:nvCxnSpPr>
        <p:spPr>
          <a:xfrm flipH="1" rot="10800000">
            <a:off x="2269375" y="3478508"/>
            <a:ext cx="1322400" cy="762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6" name="Google Shape;716;p42"/>
          <p:cNvSpPr/>
          <p:nvPr/>
        </p:nvSpPr>
        <p:spPr>
          <a:xfrm>
            <a:off x="1984375" y="40989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42"/>
          <p:cNvSpPr txBox="1"/>
          <p:nvPr/>
        </p:nvSpPr>
        <p:spPr>
          <a:xfrm>
            <a:off x="2758675" y="3027400"/>
            <a:ext cx="11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8" name="Google Shape;718;p42"/>
          <p:cNvSpPr txBox="1"/>
          <p:nvPr/>
        </p:nvSpPr>
        <p:spPr>
          <a:xfrm>
            <a:off x="2710225" y="3667827"/>
            <a:ext cx="21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719" name="Google Shape;719;p42"/>
          <p:cNvGraphicFramePr/>
          <p:nvPr/>
        </p:nvGraphicFramePr>
        <p:xfrm>
          <a:off x="4780082" y="379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668600"/>
                <a:gridCol w="610050"/>
                <a:gridCol w="11135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1+5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 =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720" name="Google Shape;720;p42"/>
          <p:cNvSpPr/>
          <p:nvPr/>
        </p:nvSpPr>
        <p:spPr>
          <a:xfrm>
            <a:off x="2921725" y="4115625"/>
            <a:ext cx="1206000" cy="535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is 3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1" name="Google Shape;721;p42"/>
          <p:cNvCxnSpPr/>
          <p:nvPr/>
        </p:nvCxnSpPr>
        <p:spPr>
          <a:xfrm flipH="1" rot="10800000">
            <a:off x="2558725" y="3799600"/>
            <a:ext cx="796500" cy="459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2" name="Google Shape;722;p42"/>
          <p:cNvSpPr/>
          <p:nvPr/>
        </p:nvSpPr>
        <p:spPr>
          <a:xfrm>
            <a:off x="4127725" y="2221300"/>
            <a:ext cx="2481000" cy="919500"/>
          </a:xfrm>
          <a:prstGeom prst="wedgeRoundRectCallout">
            <a:avLst>
              <a:gd fmla="val -64779" name="adj1"/>
              <a:gd fmla="val 59940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This path actually costs 10+3=13. I'll keep using the cost 6 path and reject this.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728" name="Google Shape;728;p4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each destination: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about a path to that destination, update table if: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</a:t>
            </a:r>
            <a:r>
              <a:rPr lang="en">
                <a:solidFill>
                  <a:schemeClr val="accent2"/>
                </a:solidFill>
              </a:rPr>
              <a:t>+ link cost to neighbor</a:t>
            </a:r>
            <a:r>
              <a:rPr lang="en"/>
              <a:t> &lt; best-known cost.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tell all your neighbors.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Bellman-Ford Algorithm</a:t>
            </a:r>
            <a:endParaRPr/>
          </a:p>
        </p:txBody>
      </p:sp>
      <p:sp>
        <p:nvSpPr>
          <p:cNvPr id="734" name="Google Shape;734;p44"/>
          <p:cNvSpPr txBox="1"/>
          <p:nvPr>
            <p:ph idx="1" type="body"/>
          </p:nvPr>
        </p:nvSpPr>
        <p:spPr>
          <a:xfrm>
            <a:off x="107050" y="402200"/>
            <a:ext cx="8909700" cy="4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Careful viewers might have noticed this operation looks </a:t>
            </a:r>
            <a:r>
              <a:rPr lang="en"/>
              <a:t>familiar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"If cost to neighbor + cost from neighbor to destination &lt; best-known cost,</a:t>
            </a:r>
            <a:br>
              <a:rPr lang="en"/>
            </a:br>
            <a:r>
              <a:rPr lang="en"/>
              <a:t>accept update."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relaxation operation in Dijkstra's shortest path algorithm!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Bellman-Ford</a:t>
            </a:r>
            <a:r>
              <a:rPr lang="en"/>
              <a:t> is another relaxation-based shortest path algorithm.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Relax every edge repeatedly until we get shortest paths.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Unlike Dijkstra's, does not require relaxing the edges in any specific order.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Distance-vector algorithms are a </a:t>
            </a:r>
            <a:r>
              <a:rPr i="1" lang="en"/>
              <a:t>distributed</a:t>
            </a:r>
            <a:r>
              <a:rPr lang="en"/>
              <a:t>, </a:t>
            </a:r>
            <a:r>
              <a:rPr i="1" lang="en"/>
              <a:t>asynchronous</a:t>
            </a:r>
            <a:r>
              <a:rPr lang="en"/>
              <a:t> version of Bellman-Ford.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Distributed: Each router relaxes its own links. No global mastermind.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Asynchronous: Nobody is syncing when the routers do relaxations.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4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Bellman-Ford Algorithm</a:t>
            </a:r>
            <a:endParaRPr/>
          </a:p>
        </p:txBody>
      </p:sp>
      <p:sp>
        <p:nvSpPr>
          <p:cNvPr id="740" name="Google Shape;740;p45"/>
          <p:cNvSpPr txBox="1"/>
          <p:nvPr>
            <p:ph idx="1" type="body"/>
          </p:nvPr>
        </p:nvSpPr>
        <p:spPr>
          <a:xfrm>
            <a:off x="107050" y="402200"/>
            <a:ext cx="73014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centralized Bellman-Ford algorithm for a single destination: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def bellman_ford(dst, routers, links):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distance = {};	nexthop  = {}</a:t>
            </a:r>
            <a:endParaRPr sz="1600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</a:rPr>
              <a:t> </a:t>
            </a:r>
            <a:b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for r in routers:</a:t>
            </a:r>
            <a:b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	distance[r] = INFINITY</a:t>
            </a:r>
            <a:b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	nexthop[r]  = None</a:t>
            </a:r>
            <a:b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distance[dst] = 0</a:t>
            </a:r>
            <a:b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	for _ in range(len(routers)-1):</a:t>
            </a:r>
            <a:br>
              <a:rPr lang="en" sz="16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		for (r1, r2, linkcost) in links:</a:t>
            </a:r>
            <a:endParaRPr sz="16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		if distance[r1] + linkcost &lt; distance[r2]:</a:t>
            </a:r>
            <a:br>
              <a:rPr lang="en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			distance[r2] = distance[r1] + linkcost</a:t>
            </a:r>
            <a:br>
              <a:rPr lang="en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			nexthop[r2] = r1</a:t>
            </a:r>
            <a:endParaRPr sz="16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return distance, nexthop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1" name="Google Shape;741;p45"/>
          <p:cNvSpPr/>
          <p:nvPr/>
        </p:nvSpPr>
        <p:spPr>
          <a:xfrm>
            <a:off x="518400" y="1338950"/>
            <a:ext cx="3600000" cy="1435200"/>
          </a:xfrm>
          <a:prstGeom prst="roundRect">
            <a:avLst>
              <a:gd fmla="val 9435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2" name="Google Shape;742;p45"/>
          <p:cNvSpPr txBox="1"/>
          <p:nvPr/>
        </p:nvSpPr>
        <p:spPr>
          <a:xfrm>
            <a:off x="4314375" y="1432400"/>
            <a:ext cx="4020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Everyone starts infinity away from the destination, except for the destination itself (0 away).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45"/>
          <p:cNvSpPr/>
          <p:nvPr/>
        </p:nvSpPr>
        <p:spPr>
          <a:xfrm>
            <a:off x="1464775" y="3447175"/>
            <a:ext cx="4907400" cy="824400"/>
          </a:xfrm>
          <a:prstGeom prst="roundRect">
            <a:avLst>
              <a:gd fmla="val 9435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45"/>
          <p:cNvSpPr txBox="1"/>
          <p:nvPr/>
        </p:nvSpPr>
        <p:spPr>
          <a:xfrm>
            <a:off x="6488750" y="3719500"/>
            <a:ext cx="2028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relaxation operation.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45"/>
          <p:cNvSpPr/>
          <p:nvPr/>
        </p:nvSpPr>
        <p:spPr>
          <a:xfrm>
            <a:off x="564425" y="2855950"/>
            <a:ext cx="4181400" cy="524100"/>
          </a:xfrm>
          <a:prstGeom prst="roundRect">
            <a:avLst>
              <a:gd fmla="val 9435" name="adj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45"/>
          <p:cNvSpPr txBox="1"/>
          <p:nvPr/>
        </p:nvSpPr>
        <p:spPr>
          <a:xfrm>
            <a:off x="5034950" y="2296350"/>
            <a:ext cx="3700800" cy="10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Bellman-Ford loops through nodes and relaxes repeatedly.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In distance-vector, each router relaxes in parallel, with no order between routers.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6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Bellman-Ford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Demo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752" name="Google Shape;752;p46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53" name="Google Shape;753;p46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</a:t>
            </a:r>
            <a:r>
              <a:rPr lang="en"/>
              <a:t>, CS 168, </a:t>
            </a:r>
            <a:r>
              <a:rPr lang="en"/>
              <a:t>Spring 2025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759" name="Google Shape;759;p4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For each destination: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you hear </a:t>
            </a:r>
            <a:r>
              <a:rPr lang="en">
                <a:solidFill>
                  <a:schemeClr val="accent2"/>
                </a:solidFill>
              </a:rPr>
              <a:t>an advertisement</a:t>
            </a:r>
            <a:r>
              <a:rPr lang="en">
                <a:solidFill>
                  <a:srgbClr val="000000"/>
                </a:solidFill>
              </a:rPr>
              <a:t>, update table if: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The destination isn't in the table.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/>
              <a:t>Advertised cost + link cost to neighbor &lt; best-known cost.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Then, advertise to all your neighbors.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Terminology note: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Sending "I'm R1, and I can reach A with cost 5" is called </a:t>
            </a:r>
            <a:r>
              <a:rPr b="1" lang="en">
                <a:solidFill>
                  <a:srgbClr val="000000"/>
                </a:solidFill>
              </a:rPr>
              <a:t>announcing</a:t>
            </a:r>
            <a:r>
              <a:rPr lang="en">
                <a:solidFill>
                  <a:srgbClr val="000000"/>
                </a:solidFill>
              </a:rPr>
              <a:t> or</a:t>
            </a:r>
            <a:r>
              <a:rPr b="1" lang="en"/>
              <a:t> advertising</a:t>
            </a:r>
            <a:r>
              <a:rPr lang="en"/>
              <a:t> a route.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65" name="Google Shape;765;p48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Google Shape;766;p48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7" name="Google Shape;767;p48"/>
          <p:cNvCxnSpPr>
            <a:stCxn id="766" idx="6"/>
            <a:endCxn id="765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8" name="Google Shape;768;p48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9" name="Google Shape;769;p48"/>
          <p:cNvCxnSpPr>
            <a:stCxn id="765" idx="3"/>
            <a:endCxn id="768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0" name="Google Shape;770;p48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1" name="Google Shape;771;p48"/>
          <p:cNvCxnSpPr>
            <a:stCxn id="768" idx="3"/>
            <a:endCxn id="770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772" name="Google Shape;772;p48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773" name="Google Shape;773;p48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774" name="Google Shape;774;p48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80" name="Google Shape;780;p49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49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2" name="Google Shape;782;p49"/>
          <p:cNvCxnSpPr>
            <a:stCxn id="781" idx="6"/>
            <a:endCxn id="780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3" name="Google Shape;783;p49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4" name="Google Shape;784;p49"/>
          <p:cNvCxnSpPr>
            <a:stCxn id="780" idx="3"/>
            <a:endCxn id="783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5" name="Google Shape;785;p49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6" name="Google Shape;786;p49"/>
          <p:cNvCxnSpPr>
            <a:stCxn id="783" idx="3"/>
            <a:endCxn id="785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787" name="Google Shape;787;p49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8" name="Google Shape;788;p49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789" name="Google Shape;789;p49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790" name="Google Shape;790;p49"/>
          <p:cNvSpPr txBox="1"/>
          <p:nvPr/>
        </p:nvSpPr>
        <p:spPr>
          <a:xfrm>
            <a:off x="1848600" y="4266375"/>
            <a:ext cx="2017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Static routing: Someone hard-codes R1's table to say it can reach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5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96" name="Google Shape;796;p50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p50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8" name="Google Shape;798;p50"/>
          <p:cNvCxnSpPr>
            <a:stCxn id="797" idx="6"/>
            <a:endCxn id="796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9" name="Google Shape;799;p50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0" name="Google Shape;800;p50"/>
          <p:cNvCxnSpPr>
            <a:stCxn id="796" idx="3"/>
            <a:endCxn id="799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1" name="Google Shape;801;p50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2" name="Google Shape;802;p50"/>
          <p:cNvCxnSpPr>
            <a:stCxn id="799" idx="3"/>
            <a:endCxn id="801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803" name="Google Shape;803;p50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804" name="Google Shape;804;p50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805" name="Google Shape;805;p50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806" name="Google Shape;806;p50"/>
          <p:cNvSpPr/>
          <p:nvPr/>
        </p:nvSpPr>
        <p:spPr>
          <a:xfrm>
            <a:off x="3073800" y="2188525"/>
            <a:ext cx="2626800" cy="567600"/>
          </a:xfrm>
          <a:prstGeom prst="wedgeRoundRectCallout">
            <a:avLst>
              <a:gd fmla="val -59294" name="adj1"/>
              <a:gd fmla="val 55106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found a way to reach A!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tell all my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12" name="Google Shape;812;p51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3" name="Google Shape;813;p51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4" name="Google Shape;814;p51"/>
          <p:cNvCxnSpPr>
            <a:stCxn id="813" idx="6"/>
            <a:endCxn id="812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5" name="Google Shape;815;p51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6" name="Google Shape;816;p51"/>
          <p:cNvCxnSpPr>
            <a:stCxn id="812" idx="3"/>
            <a:endCxn id="815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7" name="Google Shape;817;p51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8" name="Google Shape;818;p51"/>
          <p:cNvCxnSpPr>
            <a:stCxn id="815" idx="3"/>
            <a:endCxn id="817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819" name="Google Shape;819;p51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820" name="Google Shape;820;p51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821" name="Google Shape;821;p51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cxnSp>
        <p:nvCxnSpPr>
          <p:cNvPr id="822" name="Google Shape;822;p51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3" name="Google Shape;823;p51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4" name="Google Shape;824;p51"/>
          <p:cNvSpPr/>
          <p:nvPr/>
        </p:nvSpPr>
        <p:spPr>
          <a:xfrm>
            <a:off x="5150100" y="1848800"/>
            <a:ext cx="2293200" cy="907200"/>
          </a:xfrm>
          <a:prstGeom prst="wedgeRoundRectCallout">
            <a:avLst>
              <a:gd fmla="val -59294" name="adj1"/>
              <a:gd fmla="val 55106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don't have a way to reach A yet, so I'll accept.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25" name="Google Shape;825;p51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=2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826" name="Google Shape;826;p51"/>
          <p:cNvSpPr txBox="1"/>
          <p:nvPr/>
        </p:nvSpPr>
        <p:spPr>
          <a:xfrm>
            <a:off x="3975150" y="4211200"/>
            <a:ext cx="1879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(link cost to R1), plus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(advertised cost).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32" name="Google Shape;832;p52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p52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4" name="Google Shape;834;p52"/>
          <p:cNvCxnSpPr>
            <a:stCxn id="833" idx="6"/>
            <a:endCxn id="832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5" name="Google Shape;835;p52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6" name="Google Shape;836;p52"/>
          <p:cNvCxnSpPr>
            <a:stCxn id="832" idx="3"/>
            <a:endCxn id="835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7" name="Google Shape;837;p52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8" name="Google Shape;838;p52"/>
          <p:cNvCxnSpPr>
            <a:stCxn id="835" idx="3"/>
            <a:endCxn id="837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839" name="Google Shape;839;p52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840" name="Google Shape;840;p52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841" name="Google Shape;841;p52"/>
          <p:cNvSpPr/>
          <p:nvPr/>
        </p:nvSpPr>
        <p:spPr>
          <a:xfrm>
            <a:off x="5150100" y="2151975"/>
            <a:ext cx="2430000" cy="603900"/>
          </a:xfrm>
          <a:prstGeom prst="wedgeRoundRectCallout">
            <a:avLst>
              <a:gd fmla="val -59294" name="adj1"/>
              <a:gd fmla="val 55106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tell everyone about my shiny new path to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42" name="Google Shape;842;p52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5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48" name="Google Shape;848;p53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p53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0" name="Google Shape;850;p53"/>
          <p:cNvCxnSpPr>
            <a:stCxn id="849" idx="6"/>
            <a:endCxn id="848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1" name="Google Shape;851;p53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2" name="Google Shape;852;p53"/>
          <p:cNvCxnSpPr>
            <a:stCxn id="848" idx="3"/>
            <a:endCxn id="851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3" name="Google Shape;853;p53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4" name="Google Shape;854;p53"/>
          <p:cNvCxnSpPr>
            <a:stCxn id="851" idx="3"/>
            <a:endCxn id="853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855" name="Google Shape;855;p53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856" name="Google Shape;856;p53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857" name="Google Shape;857;p53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cxnSp>
        <p:nvCxnSpPr>
          <p:cNvPr id="858" name="Google Shape;858;p53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59" name="Google Shape;859;p53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0" name="Google Shape;860;p53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1" name="Google Shape;861;p53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53"/>
          <p:cNvSpPr txBox="1"/>
          <p:nvPr/>
        </p:nvSpPr>
        <p:spPr>
          <a:xfrm>
            <a:off x="2419800" y="4261775"/>
            <a:ext cx="49902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Notice: R2's announcement doesn't include the next-hop.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Nobody else cares </a:t>
            </a: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how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R2 reaches A, just that R2 </a:t>
            </a: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can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reach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68" name="Google Shape;868;p54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54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0" name="Google Shape;870;p54"/>
          <p:cNvCxnSpPr>
            <a:stCxn id="869" idx="6"/>
            <a:endCxn id="868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1" name="Google Shape;871;p54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2" name="Google Shape;872;p54"/>
          <p:cNvCxnSpPr>
            <a:stCxn id="868" idx="3"/>
            <a:endCxn id="871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3" name="Google Shape;873;p54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4" name="Google Shape;874;p54"/>
          <p:cNvCxnSpPr>
            <a:stCxn id="871" idx="3"/>
            <a:endCxn id="873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875" name="Google Shape;875;p54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876" name="Google Shape;876;p54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877" name="Google Shape;877;p54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cxnSp>
        <p:nvCxnSpPr>
          <p:cNvPr id="878" name="Google Shape;878;p54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79" name="Google Shape;879;p54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0" name="Google Shape;880;p54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1" name="Google Shape;881;p54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Google Shape;882;p54"/>
          <p:cNvSpPr/>
          <p:nvPr/>
        </p:nvSpPr>
        <p:spPr>
          <a:xfrm>
            <a:off x="621925" y="1375350"/>
            <a:ext cx="2514900" cy="1196400"/>
          </a:xfrm>
          <a:prstGeom prst="wedgeRoundRectCallout">
            <a:avLst>
              <a:gd fmla="val 37901" name="adj1"/>
              <a:gd fmla="val 68963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advertisement?!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This new path costs 1+2=3.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already have a cost 1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88" name="Google Shape;888;p55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9" name="Google Shape;889;p55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0" name="Google Shape;890;p55"/>
          <p:cNvCxnSpPr>
            <a:stCxn id="889" idx="6"/>
            <a:endCxn id="888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1" name="Google Shape;891;p55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2" name="Google Shape;892;p55"/>
          <p:cNvCxnSpPr>
            <a:stCxn id="888" idx="3"/>
            <a:endCxn id="891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3" name="Google Shape;893;p55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4" name="Google Shape;894;p55"/>
          <p:cNvCxnSpPr>
            <a:stCxn id="891" idx="3"/>
            <a:endCxn id="893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895" name="Google Shape;895;p55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896" name="Google Shape;896;p55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897" name="Google Shape;897;p55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cxnSp>
        <p:nvCxnSpPr>
          <p:cNvPr id="898" name="Google Shape;898;p55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99" name="Google Shape;899;p55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0" name="Google Shape;900;p55"/>
          <p:cNvSpPr/>
          <p:nvPr/>
        </p:nvSpPr>
        <p:spPr>
          <a:xfrm>
            <a:off x="6829800" y="1663775"/>
            <a:ext cx="2093100" cy="818100"/>
          </a:xfrm>
          <a:prstGeom prst="wedgeRoundRectCallout">
            <a:avLst>
              <a:gd fmla="val -43228" name="adj1"/>
              <a:gd fmla="val 85115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advertisement?!?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don't have a path to A yet, so I'll accept.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1" name="Google Shape;901;p55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2" name="Google Shape;902;p55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03" name="Google Shape;903;p55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=3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904" name="Google Shape;904;p55"/>
          <p:cNvSpPr txBox="1"/>
          <p:nvPr/>
        </p:nvSpPr>
        <p:spPr>
          <a:xfrm>
            <a:off x="6032550" y="4211200"/>
            <a:ext cx="1879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(link cost to R2), plus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(advertised cost).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910" name="Google Shape;910;p56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56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2" name="Google Shape;912;p56"/>
          <p:cNvCxnSpPr>
            <a:stCxn id="911" idx="6"/>
            <a:endCxn id="910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3" name="Google Shape;913;p56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4" name="Google Shape;914;p56"/>
          <p:cNvCxnSpPr>
            <a:stCxn id="910" idx="3"/>
            <a:endCxn id="913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5" name="Google Shape;915;p56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6" name="Google Shape;916;p56"/>
          <p:cNvCxnSpPr>
            <a:stCxn id="913" idx="3"/>
            <a:endCxn id="915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917" name="Google Shape;917;p56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918" name="Google Shape;918;p56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919" name="Google Shape;919;p56"/>
          <p:cNvSpPr/>
          <p:nvPr/>
        </p:nvSpPr>
        <p:spPr>
          <a:xfrm>
            <a:off x="5104100" y="2007450"/>
            <a:ext cx="2093100" cy="564300"/>
          </a:xfrm>
          <a:prstGeom prst="wedgeRoundRectCallout">
            <a:avLst>
              <a:gd fmla="val 40754" name="adj1"/>
              <a:gd fmla="val 85035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advertise my exciting new path to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20" name="Google Shape;920;p56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5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926" name="Google Shape;926;p57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7" name="Google Shape;927;p57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8" name="Google Shape;928;p57"/>
          <p:cNvCxnSpPr>
            <a:stCxn id="927" idx="6"/>
            <a:endCxn id="926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9" name="Google Shape;929;p57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0" name="Google Shape;930;p57"/>
          <p:cNvCxnSpPr>
            <a:stCxn id="926" idx="3"/>
            <a:endCxn id="929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1" name="Google Shape;931;p57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2" name="Google Shape;932;p57"/>
          <p:cNvCxnSpPr>
            <a:stCxn id="929" idx="3"/>
            <a:endCxn id="931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933" name="Google Shape;933;p57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934" name="Google Shape;934;p57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935" name="Google Shape;935;p57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cxnSp>
        <p:nvCxnSpPr>
          <p:cNvPr id="936" name="Google Shape;936;p57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37" name="Google Shape;937;p57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57"/>
          <p:cNvSpPr/>
          <p:nvPr/>
        </p:nvSpPr>
        <p:spPr>
          <a:xfrm>
            <a:off x="2715000" y="1375350"/>
            <a:ext cx="2514900" cy="1196400"/>
          </a:xfrm>
          <a:prstGeom prst="wedgeRoundRectCallout">
            <a:avLst>
              <a:gd fmla="val 37901" name="adj1"/>
              <a:gd fmla="val 68963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advertisement?!??!?!!!?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This new path costs 1+3=4.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already have a cost 2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5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944" name="Google Shape;944;p58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58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6" name="Google Shape;946;p58"/>
          <p:cNvCxnSpPr>
            <a:stCxn id="945" idx="6"/>
            <a:endCxn id="944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7" name="Google Shape;947;p58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8" name="Google Shape;948;p58"/>
          <p:cNvCxnSpPr>
            <a:stCxn id="944" idx="3"/>
            <a:endCxn id="947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9" name="Google Shape;949;p58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0" name="Google Shape;950;p58"/>
          <p:cNvCxnSpPr>
            <a:stCxn id="947" idx="3"/>
            <a:endCxn id="949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951" name="Google Shape;951;p58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952" name="Google Shape;952;p58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953" name="Google Shape;953;p58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954" name="Google Shape;954;p58"/>
          <p:cNvSpPr txBox="1"/>
          <p:nvPr/>
        </p:nvSpPr>
        <p:spPr>
          <a:xfrm>
            <a:off x="2903100" y="2234500"/>
            <a:ext cx="4023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 did it! Everybody has a way to reach A now.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5" name="Google Shape;955;p58"/>
          <p:cNvCxnSpPr/>
          <p:nvPr/>
        </p:nvCxnSpPr>
        <p:spPr>
          <a:xfrm rot="10800000">
            <a:off x="2066875" y="2955808"/>
            <a:ext cx="5952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6" name="Google Shape;956;p58"/>
          <p:cNvSpPr txBox="1"/>
          <p:nvPr/>
        </p:nvSpPr>
        <p:spPr>
          <a:xfrm>
            <a:off x="2072875" y="27787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7" name="Google Shape;957;p58"/>
          <p:cNvCxnSpPr/>
          <p:nvPr/>
        </p:nvCxnSpPr>
        <p:spPr>
          <a:xfrm rot="10800000">
            <a:off x="4124275" y="2955808"/>
            <a:ext cx="5952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8" name="Google Shape;958;p58"/>
          <p:cNvSpPr txBox="1"/>
          <p:nvPr/>
        </p:nvSpPr>
        <p:spPr>
          <a:xfrm>
            <a:off x="4130275" y="27787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9" name="Google Shape;959;p58"/>
          <p:cNvCxnSpPr/>
          <p:nvPr/>
        </p:nvCxnSpPr>
        <p:spPr>
          <a:xfrm rot="10800000">
            <a:off x="6181675" y="2955808"/>
            <a:ext cx="5952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0" name="Google Shape;960;p58"/>
          <p:cNvSpPr txBox="1"/>
          <p:nvPr/>
        </p:nvSpPr>
        <p:spPr>
          <a:xfrm>
            <a:off x="6187675" y="27787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59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2: Updates From Next-Hop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966" name="Google Shape;966;p5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2: Updates from Next-Hop</a:t>
            </a:r>
            <a:endParaRPr/>
          </a:p>
        </p:txBody>
      </p:sp>
      <p:sp>
        <p:nvSpPr>
          <p:cNvPr id="967" name="Google Shape;967;p5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</a:t>
            </a:r>
            <a:r>
              <a:rPr lang="en"/>
              <a:t>, CS 168, </a:t>
            </a:r>
            <a:r>
              <a:rPr lang="en"/>
              <a:t>Spring 2025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6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From the Current Next-Hop</a:t>
            </a:r>
            <a:endParaRPr/>
          </a:p>
        </p:txBody>
      </p:sp>
      <p:sp>
        <p:nvSpPr>
          <p:cNvPr id="973" name="Google Shape;973;p60"/>
          <p:cNvSpPr txBox="1"/>
          <p:nvPr>
            <p:ph idx="1" type="body"/>
          </p:nvPr>
        </p:nvSpPr>
        <p:spPr>
          <a:xfrm>
            <a:off x="107050" y="402200"/>
            <a:ext cx="8909700" cy="18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Topology can change.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far: We update if we get a better path (or if we didn't have a path before).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Fix: If our current next hop sends us an announcement, accept it,</a:t>
            </a:r>
            <a:br>
              <a:rPr lang="en"/>
            </a:br>
            <a:r>
              <a:rPr i="1" lang="en"/>
              <a:t>even if the path is worse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lets the next-hop notify us if the topology changed.</a:t>
            </a:r>
            <a:endParaRPr/>
          </a:p>
        </p:txBody>
      </p:sp>
      <p:sp>
        <p:nvSpPr>
          <p:cNvPr id="974" name="Google Shape;974;p60"/>
          <p:cNvSpPr/>
          <p:nvPr/>
        </p:nvSpPr>
        <p:spPr>
          <a:xfrm>
            <a:off x="3591425" y="3488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5" name="Google Shape;975;p60"/>
          <p:cNvSpPr/>
          <p:nvPr/>
        </p:nvSpPr>
        <p:spPr>
          <a:xfrm>
            <a:off x="1984375" y="272415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6" name="Google Shape;976;p60"/>
          <p:cNvCxnSpPr>
            <a:stCxn id="975" idx="3"/>
            <a:endCxn id="974" idx="1"/>
          </p:cNvCxnSpPr>
          <p:nvPr/>
        </p:nvCxnSpPr>
        <p:spPr>
          <a:xfrm>
            <a:off x="2269375" y="2866651"/>
            <a:ext cx="1322100" cy="76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7" name="Google Shape;977;p60"/>
          <p:cNvCxnSpPr>
            <a:stCxn id="978" idx="3"/>
          </p:cNvCxnSpPr>
          <p:nvPr/>
        </p:nvCxnSpPr>
        <p:spPr>
          <a:xfrm flipH="1" rot="10800000">
            <a:off x="2269375" y="3630908"/>
            <a:ext cx="1322400" cy="762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8" name="Google Shape;978;p60"/>
          <p:cNvSpPr/>
          <p:nvPr/>
        </p:nvSpPr>
        <p:spPr>
          <a:xfrm>
            <a:off x="1984375" y="42513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79" name="Google Shape;979;p60"/>
          <p:cNvGraphicFramePr/>
          <p:nvPr/>
        </p:nvGraphicFramePr>
        <p:xfrm>
          <a:off x="6380282" y="326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668600"/>
                <a:gridCol w="610050"/>
                <a:gridCol w="11135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cxnSp>
        <p:nvCxnSpPr>
          <p:cNvPr id="980" name="Google Shape;980;p60"/>
          <p:cNvCxnSpPr/>
          <p:nvPr/>
        </p:nvCxnSpPr>
        <p:spPr>
          <a:xfrm flipH="1" rot="10800000">
            <a:off x="2558725" y="3952000"/>
            <a:ext cx="796500" cy="459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981" name="Google Shape;981;p60"/>
          <p:cNvGraphicFramePr/>
          <p:nvPr/>
        </p:nvGraphicFramePr>
        <p:xfrm>
          <a:off x="6380282" y="326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668600"/>
                <a:gridCol w="610050"/>
                <a:gridCol w="11135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 =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982" name="Google Shape;982;p60"/>
          <p:cNvSpPr/>
          <p:nvPr/>
        </p:nvSpPr>
        <p:spPr>
          <a:xfrm>
            <a:off x="2899775" y="4251300"/>
            <a:ext cx="1100400" cy="733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3" name="Google Shape;983;p60"/>
          <p:cNvSpPr/>
          <p:nvPr/>
        </p:nvSpPr>
        <p:spPr>
          <a:xfrm>
            <a:off x="4166625" y="3094938"/>
            <a:ext cx="1892100" cy="535800"/>
          </a:xfrm>
          <a:prstGeom prst="wedgeRoundRectCallout">
            <a:avLst>
              <a:gd fmla="val -59294" name="adj1"/>
              <a:gd fmla="val 55106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 wasn't in my table. Accept!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6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From the Current Next-Hop</a:t>
            </a:r>
            <a:endParaRPr/>
          </a:p>
        </p:txBody>
      </p:sp>
      <p:sp>
        <p:nvSpPr>
          <p:cNvPr id="989" name="Google Shape;989;p61"/>
          <p:cNvSpPr txBox="1"/>
          <p:nvPr>
            <p:ph idx="1" type="body"/>
          </p:nvPr>
        </p:nvSpPr>
        <p:spPr>
          <a:xfrm>
            <a:off x="107050" y="402200"/>
            <a:ext cx="8909700" cy="18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Topology can change.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far: We update if we get a better path (or if we didn't have a path before).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Fix: If our current next hop sends us an announcement, accept it,</a:t>
            </a:r>
            <a:br>
              <a:rPr lang="en"/>
            </a:br>
            <a:r>
              <a:rPr i="1" lang="en"/>
              <a:t>even if the path is worse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lets the next-hop notify us if the topology changed.</a:t>
            </a:r>
            <a:endParaRPr/>
          </a:p>
        </p:txBody>
      </p:sp>
      <p:sp>
        <p:nvSpPr>
          <p:cNvPr id="990" name="Google Shape;990;p61"/>
          <p:cNvSpPr/>
          <p:nvPr/>
        </p:nvSpPr>
        <p:spPr>
          <a:xfrm>
            <a:off x="3591425" y="3488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1" name="Google Shape;991;p61"/>
          <p:cNvSpPr/>
          <p:nvPr/>
        </p:nvSpPr>
        <p:spPr>
          <a:xfrm>
            <a:off x="1984375" y="272415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2" name="Google Shape;992;p61"/>
          <p:cNvCxnSpPr>
            <a:stCxn id="991" idx="3"/>
            <a:endCxn id="990" idx="1"/>
          </p:cNvCxnSpPr>
          <p:nvPr/>
        </p:nvCxnSpPr>
        <p:spPr>
          <a:xfrm>
            <a:off x="2269375" y="2866651"/>
            <a:ext cx="1322100" cy="76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61"/>
          <p:cNvCxnSpPr>
            <a:stCxn id="994" idx="3"/>
          </p:cNvCxnSpPr>
          <p:nvPr/>
        </p:nvCxnSpPr>
        <p:spPr>
          <a:xfrm flipH="1" rot="10800000">
            <a:off x="2269375" y="3630908"/>
            <a:ext cx="1322400" cy="762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4" name="Google Shape;994;p61"/>
          <p:cNvSpPr/>
          <p:nvPr/>
        </p:nvSpPr>
        <p:spPr>
          <a:xfrm>
            <a:off x="1984375" y="42513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95" name="Google Shape;995;p61"/>
          <p:cNvGraphicFramePr/>
          <p:nvPr/>
        </p:nvGraphicFramePr>
        <p:xfrm>
          <a:off x="6380282" y="326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668600"/>
                <a:gridCol w="610050"/>
                <a:gridCol w="11135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996" name="Google Shape;996;p61"/>
          <p:cNvSpPr/>
          <p:nvPr/>
        </p:nvSpPr>
        <p:spPr>
          <a:xfrm>
            <a:off x="2996075" y="2357250"/>
            <a:ext cx="1100400" cy="733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7" name="Google Shape;997;p61"/>
          <p:cNvSpPr/>
          <p:nvPr/>
        </p:nvSpPr>
        <p:spPr>
          <a:xfrm>
            <a:off x="4166625" y="3094950"/>
            <a:ext cx="2083500" cy="535800"/>
          </a:xfrm>
          <a:prstGeom prst="wedgeRoundRectCallout">
            <a:avLst>
              <a:gd fmla="val -59294" name="adj1"/>
              <a:gd fmla="val 55106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1+8=9 is worse than 4.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Reject!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8" name="Google Shape;998;p61"/>
          <p:cNvCxnSpPr/>
          <p:nvPr/>
        </p:nvCxnSpPr>
        <p:spPr>
          <a:xfrm>
            <a:off x="2490050" y="2842920"/>
            <a:ext cx="865200" cy="499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From the Current Next-Hop</a:t>
            </a:r>
            <a:endParaRPr/>
          </a:p>
        </p:txBody>
      </p:sp>
      <p:sp>
        <p:nvSpPr>
          <p:cNvPr id="1004" name="Google Shape;1004;p62"/>
          <p:cNvSpPr txBox="1"/>
          <p:nvPr>
            <p:ph idx="1" type="body"/>
          </p:nvPr>
        </p:nvSpPr>
        <p:spPr>
          <a:xfrm>
            <a:off x="107050" y="402200"/>
            <a:ext cx="8909700" cy="18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Topology can change.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far: We update if we get a better path (or if we didn't have a path before).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Fix: If our current next hop sends us an announcement, accept it,</a:t>
            </a:r>
            <a:br>
              <a:rPr lang="en"/>
            </a:br>
            <a:r>
              <a:rPr i="1" lang="en"/>
              <a:t>even if the path is worse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lets the next-hop notify us if the topology changed.</a:t>
            </a:r>
            <a:endParaRPr/>
          </a:p>
        </p:txBody>
      </p:sp>
      <p:sp>
        <p:nvSpPr>
          <p:cNvPr id="1005" name="Google Shape;1005;p62"/>
          <p:cNvSpPr/>
          <p:nvPr/>
        </p:nvSpPr>
        <p:spPr>
          <a:xfrm>
            <a:off x="3591425" y="3488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p62"/>
          <p:cNvSpPr/>
          <p:nvPr/>
        </p:nvSpPr>
        <p:spPr>
          <a:xfrm>
            <a:off x="1984375" y="272415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7" name="Google Shape;1007;p62"/>
          <p:cNvCxnSpPr>
            <a:stCxn id="1006" idx="3"/>
            <a:endCxn id="1005" idx="1"/>
          </p:cNvCxnSpPr>
          <p:nvPr/>
        </p:nvCxnSpPr>
        <p:spPr>
          <a:xfrm>
            <a:off x="2269375" y="2866651"/>
            <a:ext cx="1322100" cy="76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8" name="Google Shape;1008;p62"/>
          <p:cNvCxnSpPr>
            <a:stCxn id="1009" idx="3"/>
          </p:cNvCxnSpPr>
          <p:nvPr/>
        </p:nvCxnSpPr>
        <p:spPr>
          <a:xfrm flipH="1" rot="10800000">
            <a:off x="2269375" y="3630908"/>
            <a:ext cx="1322400" cy="762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9" name="Google Shape;1009;p62"/>
          <p:cNvSpPr/>
          <p:nvPr/>
        </p:nvSpPr>
        <p:spPr>
          <a:xfrm>
            <a:off x="1984375" y="42513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0" name="Google Shape;1010;p62"/>
          <p:cNvCxnSpPr/>
          <p:nvPr/>
        </p:nvCxnSpPr>
        <p:spPr>
          <a:xfrm flipH="1" rot="10800000">
            <a:off x="2558725" y="3952000"/>
            <a:ext cx="796500" cy="459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1" name="Google Shape;1011;p62"/>
          <p:cNvSpPr/>
          <p:nvPr/>
        </p:nvSpPr>
        <p:spPr>
          <a:xfrm>
            <a:off x="2899775" y="4251300"/>
            <a:ext cx="1100400" cy="733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62"/>
          <p:cNvSpPr/>
          <p:nvPr/>
        </p:nvSpPr>
        <p:spPr>
          <a:xfrm>
            <a:off x="4166625" y="3094938"/>
            <a:ext cx="1892100" cy="535800"/>
          </a:xfrm>
          <a:prstGeom prst="wedgeRoundRectCallout">
            <a:avLst>
              <a:gd fmla="val -59294" name="adj1"/>
              <a:gd fmla="val 55106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R2 is the next-hop. Accept!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13" name="Google Shape;1013;p62"/>
          <p:cNvGraphicFramePr/>
          <p:nvPr/>
        </p:nvGraphicFramePr>
        <p:xfrm>
          <a:off x="6380282" y="326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668600"/>
                <a:gridCol w="610050"/>
                <a:gridCol w="11135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014" name="Google Shape;1014;p62"/>
          <p:cNvGraphicFramePr/>
          <p:nvPr/>
        </p:nvGraphicFramePr>
        <p:xfrm>
          <a:off x="6380282" y="326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668600"/>
                <a:gridCol w="610050"/>
                <a:gridCol w="11135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=9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015" name="Google Shape;1015;p62"/>
          <p:cNvSpPr/>
          <p:nvPr/>
        </p:nvSpPr>
        <p:spPr>
          <a:xfrm>
            <a:off x="4074475" y="4449300"/>
            <a:ext cx="3921900" cy="535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Hi, it's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again. I know I said A is 3 away from me earlier, but that's changed. Now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p62"/>
          <p:cNvSpPr txBox="1"/>
          <p:nvPr/>
        </p:nvSpPr>
        <p:spPr>
          <a:xfrm>
            <a:off x="4074475" y="4185575"/>
            <a:ext cx="3335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What R2 is really saying: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6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Convergence</a:t>
            </a:r>
            <a:endParaRPr/>
          </a:p>
        </p:txBody>
      </p:sp>
      <p:sp>
        <p:nvSpPr>
          <p:cNvPr id="1022" name="Google Shape;1022;p6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the network never changes: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running this protocol for some time, it will </a:t>
            </a:r>
            <a:r>
              <a:rPr b="1" lang="en"/>
              <a:t>converge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Everyone's forwarding table has the least-cost next hop.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future announcements will be rejected.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a change happens (e.g. a link goes down):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new announcements are sent.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forwarding tables are updated.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Eventually, we converge again to the new routing state.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network topology is constantly changing, so routers run the protocol </a:t>
            </a:r>
            <a:r>
              <a:rPr i="1" lang="en"/>
              <a:t>indefinitely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Steady-state</a:t>
            </a:r>
            <a:r>
              <a:rPr lang="en"/>
              <a:t> occurs when the network has converged.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steady-state, everything stays the same until the next topology change.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6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028" name="Google Shape;1028;p6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For each destination: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if: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The</a:t>
            </a:r>
            <a:r>
              <a:rPr lang="en">
                <a:solidFill>
                  <a:schemeClr val="accent2"/>
                </a:solidFill>
              </a:rPr>
              <a:t>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Then, advertise to all your neighbors.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6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034" name="Google Shape;1034;p6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3: Resending</a:t>
            </a:r>
            <a:endParaRPr/>
          </a:p>
        </p:txBody>
      </p:sp>
      <p:sp>
        <p:nvSpPr>
          <p:cNvPr id="1035" name="Google Shape;1035;p6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</a:t>
            </a:r>
            <a:r>
              <a:rPr lang="en"/>
              <a:t>, CS 168, </a:t>
            </a:r>
            <a:r>
              <a:rPr lang="en"/>
              <a:t>Spring 2025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6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Ensuring Reliability</a:t>
            </a:r>
            <a:endParaRPr/>
          </a:p>
        </p:txBody>
      </p:sp>
      <p:sp>
        <p:nvSpPr>
          <p:cNvPr id="1041" name="Google Shape;1041;p66"/>
          <p:cNvSpPr txBox="1"/>
          <p:nvPr>
            <p:ph idx="1" type="body"/>
          </p:nvPr>
        </p:nvSpPr>
        <p:spPr>
          <a:xfrm>
            <a:off x="107050" y="402200"/>
            <a:ext cx="8909700" cy="18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Packets can get dropped.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Resend advertisements every </a:t>
            </a:r>
            <a:r>
              <a:rPr i="1" lang="en"/>
              <a:t>X</a:t>
            </a:r>
            <a:r>
              <a:rPr lang="en"/>
              <a:t> seconds.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X</a:t>
            </a:r>
            <a:r>
              <a:rPr lang="en"/>
              <a:t> is the "advertisement interval."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should work eventually, assuming the link is functional (&gt;0% delivery rate).</a:t>
            </a:r>
            <a:endParaRPr/>
          </a:p>
        </p:txBody>
      </p:sp>
      <p:sp>
        <p:nvSpPr>
          <p:cNvPr id="1042" name="Google Shape;1042;p66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3" name="Google Shape;1043;p66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4" name="Google Shape;1044;p66"/>
          <p:cNvCxnSpPr>
            <a:stCxn id="1043" idx="6"/>
            <a:endCxn id="1042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5" name="Google Shape;1045;p66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6" name="Google Shape;1046;p66"/>
          <p:cNvCxnSpPr>
            <a:stCxn id="1042" idx="3"/>
            <a:endCxn id="1045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7" name="Google Shape;1047;p66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8" name="Google Shape;1048;p66"/>
          <p:cNvCxnSpPr>
            <a:stCxn id="1045" idx="3"/>
            <a:endCxn id="1047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049" name="Google Shape;1049;p66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050" name="Google Shape;1050;p66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051" name="Google Shape;1051;p66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cxnSp>
        <p:nvCxnSpPr>
          <p:cNvPr id="1052" name="Google Shape;1052;p66"/>
          <p:cNvCxnSpPr/>
          <p:nvPr/>
        </p:nvCxnSpPr>
        <p:spPr>
          <a:xfrm>
            <a:off x="3189445" y="3756475"/>
            <a:ext cx="13935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3" name="Google Shape;1053;p66"/>
          <p:cNvSpPr/>
          <p:nvPr/>
        </p:nvSpPr>
        <p:spPr>
          <a:xfrm>
            <a:off x="3336000" y="2920750"/>
            <a:ext cx="1100400" cy="7338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66"/>
          <p:cNvSpPr/>
          <p:nvPr/>
        </p:nvSpPr>
        <p:spPr>
          <a:xfrm>
            <a:off x="5150100" y="3058513"/>
            <a:ext cx="1892100" cy="535800"/>
          </a:xfrm>
          <a:prstGeom prst="wedgeRoundRectCallout">
            <a:avLst>
              <a:gd fmla="val -59294" name="adj1"/>
              <a:gd fmla="val 55106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Huh? Did someone say something?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5" name="Google Shape;1055;p66"/>
          <p:cNvSpPr txBox="1"/>
          <p:nvPr/>
        </p:nvSpPr>
        <p:spPr>
          <a:xfrm rot="-2700000">
            <a:off x="3433510" y="3136822"/>
            <a:ext cx="905380" cy="30165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Dropped!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6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061" name="Google Shape;1061;p6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if: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</a:t>
            </a:r>
            <a:r>
              <a:rPr lang="en">
                <a:solidFill>
                  <a:schemeClr val="accent2"/>
                </a:solidFill>
              </a:rPr>
              <a:t>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68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4: Expiring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067" name="Google Shape;1067;p6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4: Expiring</a:t>
            </a:r>
            <a:endParaRPr/>
          </a:p>
        </p:txBody>
      </p:sp>
      <p:sp>
        <p:nvSpPr>
          <p:cNvPr id="1068" name="Google Shape;1068;p6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2025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6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074" name="Google Shape;1074;p69"/>
          <p:cNvSpPr txBox="1"/>
          <p:nvPr>
            <p:ph idx="1" type="body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Links and routers can fail.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Each route has a finite </a:t>
            </a:r>
            <a:r>
              <a:rPr b="1" lang="en"/>
              <a:t>time to live (TTL)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advertisements help us confirm that a route still exists.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get an advertisement, reset ("recharge") the TTL.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link goes down, we stop getting periodic updates, and the TTL will expire.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TTL expires, delete the entry from the table.</a:t>
            </a:r>
            <a:endParaRPr/>
          </a:p>
        </p:txBody>
      </p:sp>
      <p:sp>
        <p:nvSpPr>
          <p:cNvPr id="1075" name="Google Shape;1075;p69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6" name="Google Shape;1076;p69"/>
          <p:cNvCxnSpPr>
            <a:stCxn id="1077" idx="3"/>
            <a:endCxn id="1075" idx="1"/>
          </p:cNvCxnSpPr>
          <p:nvPr/>
        </p:nvCxnSpPr>
        <p:spPr>
          <a:xfrm flipH="1" rot="10800000">
            <a:off x="1224263" y="4027408"/>
            <a:ext cx="1550700" cy="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7" name="Google Shape;1077;p69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8" name="Google Shape;1078;p69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fmla="val -59294" name="adj1"/>
              <a:gd fmla="val 55106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Didn't have a path to A. Accept!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79" name="Google Shape;1079;p69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456225"/>
                <a:gridCol w="416275"/>
                <a:gridCol w="1051850"/>
                <a:gridCol w="467800"/>
              </a:tblGrid>
              <a:tr h="1219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cxnSp>
        <p:nvCxnSpPr>
          <p:cNvPr id="1080" name="Google Shape;1080;p69"/>
          <p:cNvCxnSpPr/>
          <p:nvPr/>
        </p:nvCxnSpPr>
        <p:spPr>
          <a:xfrm>
            <a:off x="1466525" y="4170800"/>
            <a:ext cx="1066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1" name="Google Shape;1081;p69"/>
          <p:cNvSpPr/>
          <p:nvPr/>
        </p:nvSpPr>
        <p:spPr>
          <a:xfrm>
            <a:off x="1270925" y="4313300"/>
            <a:ext cx="1457400" cy="494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82" name="Google Shape;1082;p69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456225"/>
                <a:gridCol w="416275"/>
                <a:gridCol w="1051850"/>
                <a:gridCol w="467800"/>
              </a:tblGrid>
              <a:tr h="1219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083" name="Google Shape;1083;p6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4" name="Google Shape;1084;p69"/>
          <p:cNvSpPr txBox="1"/>
          <p:nvPr/>
        </p:nvSpPr>
        <p:spPr>
          <a:xfrm>
            <a:off x="5313100" y="4419775"/>
            <a:ext cx="2893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Need another confirmation of this route in the next 11 seconds.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5" name="Google Shape;1085;p69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6" name="Google Shape;1086;p69"/>
          <p:cNvCxnSpPr>
            <a:stCxn id="1085" idx="6"/>
            <a:endCxn id="107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7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092" name="Google Shape;1092;p70"/>
          <p:cNvSpPr txBox="1"/>
          <p:nvPr>
            <p:ph idx="1" type="body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Links and routers can fail.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Each route has a finite </a:t>
            </a:r>
            <a:r>
              <a:rPr b="1" lang="en"/>
              <a:t>time to live (TTL)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advertisements help us confirm that a route still exists.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get an advertisement, reset ("recharge") the TTL.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link goes down, we stop getting periodic updates, and the TTL will expire.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TTL expires, delete the entry from the table.</a:t>
            </a:r>
            <a:endParaRPr/>
          </a:p>
        </p:txBody>
      </p:sp>
      <p:graphicFrame>
        <p:nvGraphicFramePr>
          <p:cNvPr id="1093" name="Google Shape;1093;p70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456225"/>
                <a:gridCol w="416275"/>
                <a:gridCol w="1051850"/>
                <a:gridCol w="467800"/>
              </a:tblGrid>
              <a:tr h="1219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094" name="Google Shape;1094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5" name="Google Shape;1095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6" name="Google Shape;1096;p70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8" name="Google Shape;1098;p70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9" name="Google Shape;1099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0" name="Google Shape;1100;p70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1" name="Google Shape;1101;p70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2" name="Google Shape;1102;p70"/>
          <p:cNvCxnSpPr>
            <a:stCxn id="1103" idx="3"/>
            <a:endCxn id="1101" idx="1"/>
          </p:cNvCxnSpPr>
          <p:nvPr/>
        </p:nvCxnSpPr>
        <p:spPr>
          <a:xfrm flipH="1" rot="10800000">
            <a:off x="1224263" y="4027408"/>
            <a:ext cx="1550700" cy="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3" name="Google Shape;1103;p70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70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5" name="Google Shape;1105;p70"/>
          <p:cNvCxnSpPr>
            <a:stCxn id="1104" idx="6"/>
            <a:endCxn id="1103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7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111" name="Google Shape;1111;p71"/>
          <p:cNvSpPr txBox="1"/>
          <p:nvPr>
            <p:ph idx="1" type="body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Links and routers can fail.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Each route has a finite </a:t>
            </a:r>
            <a:r>
              <a:rPr b="1" lang="en"/>
              <a:t>time to live (TTL)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advertisements help us confirm that a route still exists.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get an advertisement, reset ("recharge") the TTL.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link goes down, we stop getting periodic updates, and the TTL will expire.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TTL expires, delete the entry from the table.</a:t>
            </a:r>
            <a:endParaRPr/>
          </a:p>
        </p:txBody>
      </p:sp>
      <p:graphicFrame>
        <p:nvGraphicFramePr>
          <p:cNvPr id="1112" name="Google Shape;1112;p71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456225"/>
                <a:gridCol w="416275"/>
                <a:gridCol w="1051850"/>
                <a:gridCol w="467800"/>
              </a:tblGrid>
              <a:tr h="1219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113" name="Google Shape;1113;p7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71"/>
          <p:cNvSpPr txBox="1"/>
          <p:nvPr/>
        </p:nvSpPr>
        <p:spPr>
          <a:xfrm>
            <a:off x="5313100" y="4419775"/>
            <a:ext cx="2893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 got a confirmation!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Reset TTL back to 11.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5" name="Google Shape;1115;p71"/>
          <p:cNvSpPr/>
          <p:nvPr/>
        </p:nvSpPr>
        <p:spPr>
          <a:xfrm>
            <a:off x="1047875" y="4313300"/>
            <a:ext cx="1903500" cy="494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still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still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6" name="Google Shape;1116;p71"/>
          <p:cNvCxnSpPr/>
          <p:nvPr/>
        </p:nvCxnSpPr>
        <p:spPr>
          <a:xfrm>
            <a:off x="1466525" y="4170800"/>
            <a:ext cx="1066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7" name="Google Shape;1117;p71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8" name="Google Shape;1118;p71"/>
          <p:cNvCxnSpPr>
            <a:stCxn id="1119" idx="3"/>
            <a:endCxn id="1117" idx="1"/>
          </p:cNvCxnSpPr>
          <p:nvPr/>
        </p:nvCxnSpPr>
        <p:spPr>
          <a:xfrm flipH="1" rot="10800000">
            <a:off x="1224263" y="4027408"/>
            <a:ext cx="1550700" cy="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9" name="Google Shape;1119;p71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0" name="Google Shape;1120;p71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1" name="Google Shape;1121;p71"/>
          <p:cNvCxnSpPr>
            <a:stCxn id="1120" idx="6"/>
            <a:endCxn id="1119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7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127" name="Google Shape;1127;p72"/>
          <p:cNvSpPr txBox="1"/>
          <p:nvPr>
            <p:ph idx="1" type="body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Links and routers can fail.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Each route has a finite </a:t>
            </a:r>
            <a:r>
              <a:rPr b="1" lang="en"/>
              <a:t>time to live (TTL)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advertisements help us confirm that a route still exists.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get an advertisement, reset ("recharge") the TTL.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link goes down, we stop getting periodic updates, and the TTL will expire.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TTL expires, delete the entry from the table.</a:t>
            </a:r>
            <a:endParaRPr/>
          </a:p>
        </p:txBody>
      </p:sp>
      <p:graphicFrame>
        <p:nvGraphicFramePr>
          <p:cNvPr id="1128" name="Google Shape;1128;p72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456225"/>
                <a:gridCol w="416275"/>
                <a:gridCol w="1051850"/>
                <a:gridCol w="467800"/>
              </a:tblGrid>
              <a:tr h="1219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129" name="Google Shape;1129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0" name="Google Shape;1130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1" name="Google Shape;1131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2" name="Google Shape;1132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3" name="Google Shape;1133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4" name="Google Shape;1134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5" name="Google Shape;1135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6" name="Google Shape;1136;p72"/>
          <p:cNvSpPr txBox="1"/>
          <p:nvPr/>
        </p:nvSpPr>
        <p:spPr>
          <a:xfrm>
            <a:off x="450125" y="4209000"/>
            <a:ext cx="5775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7" name="Google Shape;1137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9" name="Google Shape;1139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1" name="Google Shape;1141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2" name="Google Shape;1142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3" name="Google Shape;1143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4" name="Google Shape;1144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5" name="Google Shape;1145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6" name="Google Shape;1146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7" name="Google Shape;1147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9" name="Google Shape;1149;p72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0" name="Google Shape;1150;p72"/>
          <p:cNvCxnSpPr>
            <a:stCxn id="1151" idx="3"/>
            <a:endCxn id="1149" idx="1"/>
          </p:cNvCxnSpPr>
          <p:nvPr/>
        </p:nvCxnSpPr>
        <p:spPr>
          <a:xfrm flipH="1" rot="10800000">
            <a:off x="1224263" y="4027408"/>
            <a:ext cx="1550700" cy="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1" name="Google Shape;1151;p72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2" name="Google Shape;1152;p72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3" name="Google Shape;1153;p72"/>
          <p:cNvCxnSpPr>
            <a:stCxn id="1152" idx="6"/>
            <a:endCxn id="1151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7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159" name="Google Shape;1159;p73"/>
          <p:cNvSpPr txBox="1"/>
          <p:nvPr>
            <p:ph idx="1" type="body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Links and routers can fail.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Each route has a finite </a:t>
            </a:r>
            <a:r>
              <a:rPr b="1" lang="en"/>
              <a:t>time to live (TTL)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advertisements help us confirm that a route still exists.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get an advertisement, reset ("recharge") the TTL.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link goes down, we stop getting periodic updates, and the TTL will expire.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TTL expires, delete the entry from the table.</a:t>
            </a:r>
            <a:endParaRPr/>
          </a:p>
        </p:txBody>
      </p:sp>
      <p:graphicFrame>
        <p:nvGraphicFramePr>
          <p:cNvPr id="1160" name="Google Shape;1160;p73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456225"/>
                <a:gridCol w="416275"/>
                <a:gridCol w="1051850"/>
                <a:gridCol w="467800"/>
              </a:tblGrid>
              <a:tr h="1219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161" name="Google Shape;1161;p73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2" name="Google Shape;1162;p73"/>
          <p:cNvSpPr txBox="1"/>
          <p:nvPr/>
        </p:nvSpPr>
        <p:spPr>
          <a:xfrm>
            <a:off x="5313100" y="4419775"/>
            <a:ext cx="289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 Delete expired entry.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3" name="Google Shape;1163;p73"/>
          <p:cNvCxnSpPr/>
          <p:nvPr/>
        </p:nvCxnSpPr>
        <p:spPr>
          <a:xfrm>
            <a:off x="5503225" y="4233875"/>
            <a:ext cx="26481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4" name="Google Shape;1164;p73"/>
          <p:cNvSpPr txBox="1"/>
          <p:nvPr/>
        </p:nvSpPr>
        <p:spPr>
          <a:xfrm>
            <a:off x="450125" y="4209000"/>
            <a:ext cx="5775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5" name="Google Shape;1165;p73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6" name="Google Shape;1166;p73"/>
          <p:cNvCxnSpPr>
            <a:stCxn id="1167" idx="3"/>
            <a:endCxn id="1165" idx="1"/>
          </p:cNvCxnSpPr>
          <p:nvPr/>
        </p:nvCxnSpPr>
        <p:spPr>
          <a:xfrm flipH="1" rot="10800000">
            <a:off x="1224263" y="4027408"/>
            <a:ext cx="1550700" cy="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7" name="Google Shape;1167;p73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8" name="Google Shape;1168;p73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9" name="Google Shape;1169;p73"/>
          <p:cNvCxnSpPr>
            <a:stCxn id="1168" idx="6"/>
            <a:endCxn id="116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7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Timers</a:t>
            </a:r>
            <a:endParaRPr/>
          </a:p>
        </p:txBody>
      </p:sp>
      <p:sp>
        <p:nvSpPr>
          <p:cNvPr id="1175" name="Google Shape;1175;p7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maintain multiple timers: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Advertisement interval: How long before we advertise routes to neighbors.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Usually one timer for all entries in the table.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TTL: How long before we expire a route.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Each table entry has its own TTL.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7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181" name="Google Shape;1181;p7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</a:t>
            </a:r>
            <a:r>
              <a:rPr lang="en">
                <a:solidFill>
                  <a:schemeClr val="accent2"/>
                </a:solidFill>
              </a:rPr>
              <a:t>and reset TTL </a:t>
            </a:r>
            <a:r>
              <a:rPr lang="en"/>
              <a:t>if: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If a table entry expires, delete it. </a:t>
            </a:r>
            <a:r>
              <a:rPr lang="en" sz="1400">
                <a:solidFill>
                  <a:schemeClr val="accent3"/>
                </a:solidFill>
              </a:rPr>
              <a:t>(#4)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This is a mostly-functional protocol now.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Let's add some optimizations for faster convergence.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76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Correctness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5: Poison Expired Routes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187" name="Google Shape;1187;p76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5: Poison Expired Routes</a:t>
            </a:r>
            <a:endParaRPr/>
          </a:p>
        </p:txBody>
      </p:sp>
      <p:sp>
        <p:nvSpPr>
          <p:cNvPr id="1188" name="Google Shape;1188;p76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</a:t>
            </a:r>
            <a:r>
              <a:rPr lang="en"/>
              <a:t>, CS 168, Spring 2025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7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194" name="Google Shape;1194;p77"/>
          <p:cNvSpPr txBox="1"/>
          <p:nvPr>
            <p:ph idx="1" type="body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Waiting for routes to expire is slow. Let's watch the demo again.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is offering a new path to A, but R3 has to wait for the old busted route to expire before accepting the new path.</a:t>
            </a:r>
            <a:endParaRPr/>
          </a:p>
        </p:txBody>
      </p:sp>
      <p:graphicFrame>
        <p:nvGraphicFramePr>
          <p:cNvPr id="1195" name="Google Shape;1195;p77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456225"/>
                <a:gridCol w="416275"/>
                <a:gridCol w="1051850"/>
                <a:gridCol w="467800"/>
              </a:tblGrid>
              <a:tr h="1219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196" name="Google Shape;1196;p77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77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12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p77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9" name="Google Shape;1199;p77"/>
          <p:cNvCxnSpPr>
            <a:stCxn id="1200" idx="3"/>
            <a:endCxn id="1198" idx="1"/>
          </p:cNvCxnSpPr>
          <p:nvPr/>
        </p:nvCxnSpPr>
        <p:spPr>
          <a:xfrm flipH="1" rot="10800000">
            <a:off x="1224263" y="4027408"/>
            <a:ext cx="1550700" cy="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0" name="Google Shape;1200;p77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Google Shape;1201;p77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2" name="Google Shape;1202;p77"/>
          <p:cNvCxnSpPr>
            <a:stCxn id="1201" idx="3"/>
            <a:endCxn id="1198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Google Shape;1203;p77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4" name="Google Shape;1204;p77"/>
          <p:cNvCxnSpPr>
            <a:stCxn id="1203" idx="6"/>
            <a:endCxn id="1200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5" name="Google Shape;1205;p77"/>
          <p:cNvCxnSpPr>
            <a:stCxn id="1203" idx="0"/>
            <a:endCxn id="1201" idx="1"/>
          </p:cNvCxnSpPr>
          <p:nvPr/>
        </p:nvCxnSpPr>
        <p:spPr>
          <a:xfrm flipH="1" rot="10800000">
            <a:off x="395963" y="3190100"/>
            <a:ext cx="543300" cy="69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6" name="Google Shape;1206;p77"/>
          <p:cNvSpPr txBox="1"/>
          <p:nvPr/>
        </p:nvSpPr>
        <p:spPr>
          <a:xfrm>
            <a:off x="4997650" y="2776700"/>
            <a:ext cx="3524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Assume that by t=3, R3 knows a route to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7" name="Google Shape;1207;p77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8" name="Google Shape;1208;p77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11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9" name="Google Shape;1209;p77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7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215" name="Google Shape;1215;p78"/>
          <p:cNvSpPr txBox="1"/>
          <p:nvPr>
            <p:ph idx="1" type="body"/>
          </p:nvPr>
        </p:nvSpPr>
        <p:spPr>
          <a:xfrm>
            <a:off x="107050" y="402200"/>
            <a:ext cx="8909700" cy="13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Waiting for routes to expire is slow. Let's watch the demo again.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is offering a new path to A, but R3 has to wait for the old busted route to expire before accepting the new path.</a:t>
            </a:r>
            <a:endParaRPr/>
          </a:p>
        </p:txBody>
      </p:sp>
      <p:graphicFrame>
        <p:nvGraphicFramePr>
          <p:cNvPr id="1216" name="Google Shape;1216;p78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456225"/>
                <a:gridCol w="416275"/>
                <a:gridCol w="1051850"/>
                <a:gridCol w="467800"/>
              </a:tblGrid>
              <a:tr h="1219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217" name="Google Shape;1217;p78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8" name="Google Shape;1218;p78"/>
          <p:cNvSpPr txBox="1"/>
          <p:nvPr/>
        </p:nvSpPr>
        <p:spPr>
          <a:xfrm>
            <a:off x="4219450" y="1785000"/>
            <a:ext cx="4363500" cy="13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Pause right here.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At this point, we know the path via R2 is busted.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But R3 won't know until the timeout 10s later.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If R3 knew now, it could accept the new path. Instead, R3 rejects the new path, thinking the busted path is still valid.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9" name="Google Shape;1219;p78"/>
          <p:cNvSpPr txBox="1"/>
          <p:nvPr/>
        </p:nvSpPr>
        <p:spPr>
          <a:xfrm>
            <a:off x="467225" y="4170800"/>
            <a:ext cx="543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0" name="Google Shape;1220;p78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fmla="val -59294" name="adj1"/>
              <a:gd fmla="val 55106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thanks, I already have a cost 2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1" name="Google Shape;1221;p78"/>
          <p:cNvCxnSpPr/>
          <p:nvPr/>
        </p:nvCxnSpPr>
        <p:spPr>
          <a:xfrm>
            <a:off x="1544750" y="3211375"/>
            <a:ext cx="900900" cy="486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2" name="Google Shape;1222;p78"/>
          <p:cNvSpPr/>
          <p:nvPr/>
        </p:nvSpPr>
        <p:spPr>
          <a:xfrm>
            <a:off x="2025375" y="2942750"/>
            <a:ext cx="1457400" cy="494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3" name="Google Shape;1223;p78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4" name="Google Shape;1224;p78"/>
          <p:cNvCxnSpPr>
            <a:stCxn id="1225" idx="3"/>
            <a:endCxn id="1223" idx="1"/>
          </p:cNvCxnSpPr>
          <p:nvPr/>
        </p:nvCxnSpPr>
        <p:spPr>
          <a:xfrm flipH="1" rot="10800000">
            <a:off x="1224263" y="4027408"/>
            <a:ext cx="1550700" cy="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5" name="Google Shape;1225;p78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6" name="Google Shape;1226;p78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7" name="Google Shape;1227;p78"/>
          <p:cNvCxnSpPr>
            <a:stCxn id="1226" idx="3"/>
            <a:endCxn id="1223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8" name="Google Shape;1228;p78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9" name="Google Shape;1229;p78"/>
          <p:cNvCxnSpPr>
            <a:stCxn id="1228" idx="6"/>
            <a:endCxn id="1225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78"/>
          <p:cNvCxnSpPr>
            <a:stCxn id="1228" idx="0"/>
            <a:endCxn id="1226" idx="1"/>
          </p:cNvCxnSpPr>
          <p:nvPr/>
        </p:nvCxnSpPr>
        <p:spPr>
          <a:xfrm flipH="1" rot="10800000">
            <a:off x="395963" y="3190100"/>
            <a:ext cx="543300" cy="69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5" name="Google Shape;1235;p79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456225"/>
                <a:gridCol w="416275"/>
                <a:gridCol w="1051850"/>
                <a:gridCol w="467800"/>
              </a:tblGrid>
              <a:tr h="1219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236" name="Google Shape;1236;p79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7" name="Google Shape;1237;p79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8" name="Google Shape;1238;p79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9" name="Google Shape;1239;p7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0" name="Google Shape;1240;p7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1" name="Google Shape;1241;p7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2" name="Google Shape;1242;p7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3" name="Google Shape;1243;p7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244" name="Google Shape;1244;p79"/>
          <p:cNvSpPr txBox="1"/>
          <p:nvPr>
            <p:ph idx="1" type="body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Waiting for routes to expire is slow. Let's watch the demo again.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is offering a new path to A, but R3 has to wait for the old busted route to expire before accepting the new path.</a:t>
            </a:r>
            <a:endParaRPr/>
          </a:p>
        </p:txBody>
      </p:sp>
      <p:sp>
        <p:nvSpPr>
          <p:cNvPr id="1245" name="Google Shape;1245;p79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6" name="Google Shape;1246;p79"/>
          <p:cNvCxnSpPr>
            <a:stCxn id="1247" idx="3"/>
            <a:endCxn id="1245" idx="1"/>
          </p:cNvCxnSpPr>
          <p:nvPr/>
        </p:nvCxnSpPr>
        <p:spPr>
          <a:xfrm flipH="1" rot="10800000">
            <a:off x="1224263" y="4027408"/>
            <a:ext cx="1550700" cy="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7" name="Google Shape;1247;p79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8" name="Google Shape;1248;p79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9" name="Google Shape;1249;p79"/>
          <p:cNvCxnSpPr>
            <a:stCxn id="1248" idx="3"/>
            <a:endCxn id="1245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0" name="Google Shape;1250;p79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1" name="Google Shape;1251;p79"/>
          <p:cNvCxnSpPr>
            <a:stCxn id="1250" idx="6"/>
            <a:endCxn id="124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52" name="Google Shape;1252;p79"/>
          <p:cNvCxnSpPr>
            <a:stCxn id="1250" idx="0"/>
            <a:endCxn id="1248" idx="1"/>
          </p:cNvCxnSpPr>
          <p:nvPr/>
        </p:nvCxnSpPr>
        <p:spPr>
          <a:xfrm flipH="1" rot="10800000">
            <a:off x="395963" y="3190100"/>
            <a:ext cx="543300" cy="69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8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258" name="Google Shape;1258;p80"/>
          <p:cNvSpPr txBox="1"/>
          <p:nvPr>
            <p:ph idx="1" type="body"/>
          </p:nvPr>
        </p:nvSpPr>
        <p:spPr>
          <a:xfrm>
            <a:off x="107050" y="402200"/>
            <a:ext cx="8909700" cy="13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Waiting for routes to expire is slow. Let's watch the demo again.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is offering a new path to A, but R3 has to wait for the old busted route to expire before accepting the new path.</a:t>
            </a:r>
            <a:endParaRPr/>
          </a:p>
        </p:txBody>
      </p:sp>
      <p:graphicFrame>
        <p:nvGraphicFramePr>
          <p:cNvPr id="1259" name="Google Shape;1259;p80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456225"/>
                <a:gridCol w="416275"/>
                <a:gridCol w="1051850"/>
                <a:gridCol w="467800"/>
              </a:tblGrid>
              <a:tr h="1219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260" name="Google Shape;1260;p8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1" name="Google Shape;1261;p80"/>
          <p:cNvSpPr txBox="1"/>
          <p:nvPr/>
        </p:nvSpPr>
        <p:spPr>
          <a:xfrm>
            <a:off x="4219450" y="1785000"/>
            <a:ext cx="4363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Again, R3 is forced to reject this new path, because it's still waiting for the busted path to time out.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2" name="Google Shape;1262;p80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fmla="val -59294" name="adj1"/>
              <a:gd fmla="val 55106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thanks, I already have a cost 2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3" name="Google Shape;1263;p80"/>
          <p:cNvCxnSpPr/>
          <p:nvPr/>
        </p:nvCxnSpPr>
        <p:spPr>
          <a:xfrm>
            <a:off x="1544750" y="3211375"/>
            <a:ext cx="900900" cy="486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4" name="Google Shape;1264;p80"/>
          <p:cNvSpPr/>
          <p:nvPr/>
        </p:nvSpPr>
        <p:spPr>
          <a:xfrm>
            <a:off x="2025375" y="2942750"/>
            <a:ext cx="1457400" cy="494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5" name="Google Shape;1265;p80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6" name="Google Shape;1266;p80"/>
          <p:cNvCxnSpPr>
            <a:stCxn id="1267" idx="3"/>
            <a:endCxn id="1265" idx="1"/>
          </p:cNvCxnSpPr>
          <p:nvPr/>
        </p:nvCxnSpPr>
        <p:spPr>
          <a:xfrm flipH="1" rot="10800000">
            <a:off x="1224263" y="4027408"/>
            <a:ext cx="1550700" cy="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7" name="Google Shape;1267;p80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8" name="Google Shape;1268;p80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9" name="Google Shape;1269;p80"/>
          <p:cNvCxnSpPr>
            <a:stCxn id="1268" idx="3"/>
            <a:endCxn id="1265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0" name="Google Shape;1270;p80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1" name="Google Shape;1271;p80"/>
          <p:cNvCxnSpPr>
            <a:stCxn id="1270" idx="6"/>
            <a:endCxn id="126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72" name="Google Shape;1272;p80"/>
          <p:cNvCxnSpPr>
            <a:stCxn id="1270" idx="0"/>
            <a:endCxn id="1268" idx="1"/>
          </p:cNvCxnSpPr>
          <p:nvPr/>
        </p:nvCxnSpPr>
        <p:spPr>
          <a:xfrm flipH="1" rot="10800000">
            <a:off x="395963" y="3190100"/>
            <a:ext cx="543300" cy="69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7" name="Google Shape;1277;p81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456225"/>
                <a:gridCol w="416275"/>
                <a:gridCol w="1051850"/>
                <a:gridCol w="467800"/>
              </a:tblGrid>
              <a:tr h="1219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278" name="Google Shape;1278;p81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9" name="Google Shape;1279;p81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0" name="Google Shape;1280;p81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1" name="Google Shape;1281;p8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2" name="Google Shape;1282;p8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3" name="Google Shape;1283;p8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4" name="Google Shape;1284;p8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5" name="Google Shape;1285;p8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286" name="Google Shape;1286;p81"/>
          <p:cNvSpPr txBox="1"/>
          <p:nvPr>
            <p:ph idx="1" type="body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Waiting for routes to expire is slow. Let's watch the demo again.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is offering a new path to A, but R3 has to wait for the old busted route to expire before accepting the new path.</a:t>
            </a:r>
            <a:endParaRPr/>
          </a:p>
        </p:txBody>
      </p:sp>
      <p:sp>
        <p:nvSpPr>
          <p:cNvPr id="1287" name="Google Shape;1287;p81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8" name="Google Shape;1288;p81"/>
          <p:cNvCxnSpPr>
            <a:stCxn id="1289" idx="3"/>
            <a:endCxn id="1287" idx="1"/>
          </p:cNvCxnSpPr>
          <p:nvPr/>
        </p:nvCxnSpPr>
        <p:spPr>
          <a:xfrm flipH="1" rot="10800000">
            <a:off x="1224263" y="4027408"/>
            <a:ext cx="1550700" cy="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9" name="Google Shape;1289;p81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0" name="Google Shape;1290;p81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1" name="Google Shape;1291;p81"/>
          <p:cNvCxnSpPr>
            <a:stCxn id="1290" idx="3"/>
            <a:endCxn id="1287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2" name="Google Shape;1292;p81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3" name="Google Shape;1293;p81"/>
          <p:cNvCxnSpPr>
            <a:stCxn id="1292" idx="6"/>
            <a:endCxn id="1289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94" name="Google Shape;1294;p81"/>
          <p:cNvCxnSpPr>
            <a:stCxn id="1292" idx="0"/>
            <a:endCxn id="1290" idx="1"/>
          </p:cNvCxnSpPr>
          <p:nvPr/>
        </p:nvCxnSpPr>
        <p:spPr>
          <a:xfrm flipH="1" rot="10800000">
            <a:off x="395963" y="3190100"/>
            <a:ext cx="543300" cy="69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8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300" name="Google Shape;1300;p82"/>
          <p:cNvSpPr txBox="1"/>
          <p:nvPr>
            <p:ph idx="1" type="body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Waiting for routes to expire is slow. Let's watch the demo again.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is offering a new path to A, but R3 has to wait for the old busted route to expire before accepting the new path.</a:t>
            </a:r>
            <a:endParaRPr/>
          </a:p>
        </p:txBody>
      </p:sp>
      <p:graphicFrame>
        <p:nvGraphicFramePr>
          <p:cNvPr id="1301" name="Google Shape;1301;p82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456225"/>
                <a:gridCol w="416275"/>
                <a:gridCol w="1051850"/>
                <a:gridCol w="467800"/>
              </a:tblGrid>
              <a:tr h="1219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302" name="Google Shape;1302;p8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3" name="Google Shape;1303;p82"/>
          <p:cNvSpPr txBox="1"/>
          <p:nvPr/>
        </p:nvSpPr>
        <p:spPr>
          <a:xfrm>
            <a:off x="5313100" y="4419775"/>
            <a:ext cx="289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 Delete expired entry.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4" name="Google Shape;1304;p82"/>
          <p:cNvCxnSpPr/>
          <p:nvPr/>
        </p:nvCxnSpPr>
        <p:spPr>
          <a:xfrm>
            <a:off x="5503225" y="4233875"/>
            <a:ext cx="26481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5" name="Google Shape;1305;p82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6" name="Google Shape;1306;p82"/>
          <p:cNvCxnSpPr>
            <a:stCxn id="1307" idx="3"/>
            <a:endCxn id="1305" idx="1"/>
          </p:cNvCxnSpPr>
          <p:nvPr/>
        </p:nvCxnSpPr>
        <p:spPr>
          <a:xfrm flipH="1" rot="10800000">
            <a:off x="1224263" y="4027408"/>
            <a:ext cx="1550700" cy="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7" name="Google Shape;1307;p82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8" name="Google Shape;1308;p82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9" name="Google Shape;1309;p82"/>
          <p:cNvCxnSpPr>
            <a:stCxn id="1308" idx="3"/>
            <a:endCxn id="1305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0" name="Google Shape;1310;p82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1" name="Google Shape;1311;p82"/>
          <p:cNvCxnSpPr>
            <a:stCxn id="1310" idx="6"/>
            <a:endCxn id="130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12" name="Google Shape;1312;p82"/>
          <p:cNvCxnSpPr>
            <a:stCxn id="1310" idx="0"/>
            <a:endCxn id="1308" idx="1"/>
          </p:cNvCxnSpPr>
          <p:nvPr/>
        </p:nvCxnSpPr>
        <p:spPr>
          <a:xfrm flipH="1" rot="10800000">
            <a:off x="395963" y="3190100"/>
            <a:ext cx="543300" cy="69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3" name="Google Shape;1313;p82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fmla="val -59294" name="adj1"/>
              <a:gd fmla="val 55106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Sure, I'll accept, my old path just expired.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4" name="Google Shape;1314;p82"/>
          <p:cNvCxnSpPr/>
          <p:nvPr/>
        </p:nvCxnSpPr>
        <p:spPr>
          <a:xfrm>
            <a:off x="1544750" y="3211375"/>
            <a:ext cx="900900" cy="486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5" name="Google Shape;1315;p82"/>
          <p:cNvSpPr/>
          <p:nvPr/>
        </p:nvSpPr>
        <p:spPr>
          <a:xfrm>
            <a:off x="2025375" y="2942750"/>
            <a:ext cx="1457400" cy="494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6" name="Google Shape;1316;p82"/>
          <p:cNvSpPr txBox="1"/>
          <p:nvPr/>
        </p:nvSpPr>
        <p:spPr>
          <a:xfrm>
            <a:off x="4981450" y="2166000"/>
            <a:ext cx="3268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Can we alert R3 of the failure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sooner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so it can delete the old busted path earlier (and start accepting new paths)?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8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Poison for Fast Route Expiry</a:t>
            </a:r>
            <a:endParaRPr/>
          </a:p>
        </p:txBody>
      </p:sp>
      <p:sp>
        <p:nvSpPr>
          <p:cNvPr id="1322" name="Google Shape;1322;p8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Waiting for routes to expire is slow.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keep a busted path in the forwarding table for a long time.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Packets might get lost during this time.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You might advertise that busted route to other people.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might reject new paths, thinking the busted path is still valid.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Could have converged on a better path earlier.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problem: When something fails, nobody's reporting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</a:t>
            </a:r>
            <a:r>
              <a:rPr b="1" lang="en"/>
              <a:t>Poison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Explicitly advertise that a path is busted.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path with cost infinity represents a busted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path propagates just like any other path.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Routers accept the poison path to invalidate the route.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much faster than waiting for timeouts!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8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Poison for Fast Route Expiry</a:t>
            </a:r>
            <a:endParaRPr/>
          </a:p>
        </p:txBody>
      </p:sp>
      <p:sp>
        <p:nvSpPr>
          <p:cNvPr id="1328" name="Google Shape;1328;p84"/>
          <p:cNvSpPr txBox="1"/>
          <p:nvPr>
            <p:ph idx="1" type="body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lets us detect busted routes faster. Let's watch the demo again.</a:t>
            </a:r>
            <a:endParaRPr/>
          </a:p>
        </p:txBody>
      </p:sp>
      <p:graphicFrame>
        <p:nvGraphicFramePr>
          <p:cNvPr id="1329" name="Google Shape;1329;p84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456225"/>
                <a:gridCol w="416275"/>
                <a:gridCol w="1051850"/>
                <a:gridCol w="467800"/>
              </a:tblGrid>
              <a:tr h="1219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330" name="Google Shape;1330;p84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1" name="Google Shape;1331;p84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12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2" name="Google Shape;1332;p84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3" name="Google Shape;1333;p84"/>
          <p:cNvCxnSpPr>
            <a:stCxn id="1334" idx="3"/>
            <a:endCxn id="1332" idx="1"/>
          </p:cNvCxnSpPr>
          <p:nvPr/>
        </p:nvCxnSpPr>
        <p:spPr>
          <a:xfrm flipH="1" rot="10800000">
            <a:off x="1224263" y="4027408"/>
            <a:ext cx="1550700" cy="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4" name="Google Shape;1334;p84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5" name="Google Shape;1335;p84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6" name="Google Shape;1336;p84"/>
          <p:cNvCxnSpPr>
            <a:stCxn id="1335" idx="3"/>
            <a:endCxn id="1332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7" name="Google Shape;1337;p84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8" name="Google Shape;1338;p84"/>
          <p:cNvCxnSpPr>
            <a:stCxn id="1337" idx="6"/>
            <a:endCxn id="1334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9" name="Google Shape;1339;p84"/>
          <p:cNvCxnSpPr>
            <a:stCxn id="1337" idx="0"/>
            <a:endCxn id="1335" idx="1"/>
          </p:cNvCxnSpPr>
          <p:nvPr/>
        </p:nvCxnSpPr>
        <p:spPr>
          <a:xfrm flipH="1" rot="10800000">
            <a:off x="395963" y="3190100"/>
            <a:ext cx="543300" cy="69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0" name="Google Shape;1340;p84"/>
          <p:cNvSpPr txBox="1"/>
          <p:nvPr/>
        </p:nvSpPr>
        <p:spPr>
          <a:xfrm>
            <a:off x="4997650" y="2776700"/>
            <a:ext cx="3524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Assume that by t=3, R3 knows a route to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1" name="Google Shape;1341;p84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2" name="Google Shape;1342;p84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11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3" name="Google Shape;1343;p84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8" name="Google Shape;1348;p85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456225"/>
                <a:gridCol w="416275"/>
                <a:gridCol w="1051850"/>
                <a:gridCol w="467800"/>
              </a:tblGrid>
              <a:tr h="1219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49" name="Google Shape;1349;p8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Poison for Fast Route Expiry</a:t>
            </a:r>
            <a:endParaRPr/>
          </a:p>
        </p:txBody>
      </p:sp>
      <p:sp>
        <p:nvSpPr>
          <p:cNvPr id="1350" name="Google Shape;1350;p85"/>
          <p:cNvSpPr txBox="1"/>
          <p:nvPr>
            <p:ph idx="1" type="body"/>
          </p:nvPr>
        </p:nvSpPr>
        <p:spPr>
          <a:xfrm>
            <a:off x="107050" y="402200"/>
            <a:ext cx="8909700" cy="13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lets us detect busted routes faster. Let's watch the demo again.</a:t>
            </a:r>
            <a:endParaRPr/>
          </a:p>
        </p:txBody>
      </p:sp>
      <p:sp>
        <p:nvSpPr>
          <p:cNvPr id="1351" name="Google Shape;1351;p85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2" name="Google Shape;1352;p85"/>
          <p:cNvSpPr txBox="1"/>
          <p:nvPr/>
        </p:nvSpPr>
        <p:spPr>
          <a:xfrm>
            <a:off x="4397500" y="4455575"/>
            <a:ext cx="4078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 updates the table to indicate the path is busted. TTL recharges, just like any other update.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3" name="Google Shape;1353;p85"/>
          <p:cNvSpPr txBox="1"/>
          <p:nvPr/>
        </p:nvSpPr>
        <p:spPr>
          <a:xfrm>
            <a:off x="467225" y="4170800"/>
            <a:ext cx="543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4" name="Google Shape;1354;p85"/>
          <p:cNvSpPr/>
          <p:nvPr/>
        </p:nvSpPr>
        <p:spPr>
          <a:xfrm>
            <a:off x="3350125" y="3491450"/>
            <a:ext cx="1805700" cy="535800"/>
          </a:xfrm>
          <a:prstGeom prst="wedgeRoundRectCallout">
            <a:avLst>
              <a:gd fmla="val -59294" name="adj1"/>
              <a:gd fmla="val 55106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Looks like the path via R2 is busted.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5" name="Google Shape;1355;p85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6" name="Google Shape;1356;p85"/>
          <p:cNvCxnSpPr>
            <a:stCxn id="1357" idx="3"/>
            <a:endCxn id="1355" idx="1"/>
          </p:cNvCxnSpPr>
          <p:nvPr/>
        </p:nvCxnSpPr>
        <p:spPr>
          <a:xfrm flipH="1" rot="10800000">
            <a:off x="1224263" y="4027408"/>
            <a:ext cx="1550700" cy="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7" name="Google Shape;1357;p85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8" name="Google Shape;1358;p85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9" name="Google Shape;1359;p85"/>
          <p:cNvCxnSpPr>
            <a:stCxn id="1358" idx="3"/>
            <a:endCxn id="1355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0" name="Google Shape;1360;p85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1" name="Google Shape;1361;p85"/>
          <p:cNvCxnSpPr>
            <a:stCxn id="1360" idx="6"/>
            <a:endCxn id="135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62" name="Google Shape;1362;p85"/>
          <p:cNvCxnSpPr>
            <a:stCxn id="1360" idx="0"/>
            <a:endCxn id="1358" idx="1"/>
          </p:cNvCxnSpPr>
          <p:nvPr/>
        </p:nvCxnSpPr>
        <p:spPr>
          <a:xfrm flipH="1" rot="10800000">
            <a:off x="395963" y="3190100"/>
            <a:ext cx="543300" cy="69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3" name="Google Shape;1363;p85"/>
          <p:cNvSpPr/>
          <p:nvPr/>
        </p:nvSpPr>
        <p:spPr>
          <a:xfrm>
            <a:off x="1224275" y="4313300"/>
            <a:ext cx="1550700" cy="494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4" name="Google Shape;1364;p85"/>
          <p:cNvCxnSpPr/>
          <p:nvPr/>
        </p:nvCxnSpPr>
        <p:spPr>
          <a:xfrm>
            <a:off x="1466525" y="4170800"/>
            <a:ext cx="1066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365" name="Google Shape;1365;p85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456225"/>
                <a:gridCol w="416275"/>
                <a:gridCol w="1051850"/>
                <a:gridCol w="467800"/>
              </a:tblGrid>
              <a:tr h="1219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0" name="Google Shape;1370;p86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456225"/>
                <a:gridCol w="416275"/>
                <a:gridCol w="1051850"/>
                <a:gridCol w="467800"/>
              </a:tblGrid>
              <a:tr h="1219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1" name="Google Shape;1371;p86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456225"/>
                <a:gridCol w="416275"/>
                <a:gridCol w="1051850"/>
                <a:gridCol w="467800"/>
              </a:tblGrid>
              <a:tr h="1219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372" name="Google Shape;1372;p8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Poison for Fast Route Expiry</a:t>
            </a:r>
            <a:endParaRPr/>
          </a:p>
        </p:txBody>
      </p:sp>
      <p:sp>
        <p:nvSpPr>
          <p:cNvPr id="1373" name="Google Shape;1373;p86"/>
          <p:cNvSpPr txBox="1"/>
          <p:nvPr>
            <p:ph idx="1" type="body"/>
          </p:nvPr>
        </p:nvSpPr>
        <p:spPr>
          <a:xfrm>
            <a:off x="107050" y="402200"/>
            <a:ext cx="8909700" cy="13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lets us detect busted routes faster. Let's watch the demo again.</a:t>
            </a:r>
            <a:endParaRPr/>
          </a:p>
        </p:txBody>
      </p:sp>
      <p:sp>
        <p:nvSpPr>
          <p:cNvPr id="1374" name="Google Shape;1374;p86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5" name="Google Shape;1375;p86"/>
          <p:cNvSpPr txBox="1"/>
          <p:nvPr/>
        </p:nvSpPr>
        <p:spPr>
          <a:xfrm>
            <a:off x="4219450" y="1785000"/>
            <a:ext cx="4363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 was able to accept the new route way earlier!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t=6 with poison, t=16 without poison.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6" name="Google Shape;1376;p86"/>
          <p:cNvSpPr txBox="1"/>
          <p:nvPr/>
        </p:nvSpPr>
        <p:spPr>
          <a:xfrm>
            <a:off x="467225" y="4170800"/>
            <a:ext cx="543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7" name="Google Shape;1377;p86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fmla="val -59294" name="adj1"/>
              <a:gd fmla="val 55106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Sure, I'll accept, that's better than infinity.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8" name="Google Shape;1378;p86"/>
          <p:cNvCxnSpPr/>
          <p:nvPr/>
        </p:nvCxnSpPr>
        <p:spPr>
          <a:xfrm>
            <a:off x="1544750" y="3211375"/>
            <a:ext cx="900900" cy="486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9" name="Google Shape;1379;p86"/>
          <p:cNvSpPr/>
          <p:nvPr/>
        </p:nvSpPr>
        <p:spPr>
          <a:xfrm>
            <a:off x="2025375" y="2942750"/>
            <a:ext cx="1457400" cy="494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0" name="Google Shape;1380;p86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1" name="Google Shape;1381;p86"/>
          <p:cNvCxnSpPr>
            <a:stCxn id="1382" idx="3"/>
            <a:endCxn id="1380" idx="1"/>
          </p:cNvCxnSpPr>
          <p:nvPr/>
        </p:nvCxnSpPr>
        <p:spPr>
          <a:xfrm flipH="1" rot="10800000">
            <a:off x="1224263" y="4027408"/>
            <a:ext cx="1550700" cy="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2" name="Google Shape;1382;p86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3" name="Google Shape;1383;p86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4" name="Google Shape;1384;p86"/>
          <p:cNvCxnSpPr>
            <a:stCxn id="1383" idx="3"/>
            <a:endCxn id="1380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5" name="Google Shape;1385;p86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6" name="Google Shape;1386;p86"/>
          <p:cNvCxnSpPr>
            <a:stCxn id="1385" idx="6"/>
            <a:endCxn id="1382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87" name="Google Shape;1387;p86"/>
          <p:cNvCxnSpPr>
            <a:stCxn id="1385" idx="0"/>
            <a:endCxn id="1383" idx="1"/>
          </p:cNvCxnSpPr>
          <p:nvPr/>
        </p:nvCxnSpPr>
        <p:spPr>
          <a:xfrm flipH="1" rot="10800000">
            <a:off x="395963" y="3190100"/>
            <a:ext cx="543300" cy="69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8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Accepting and Advertising Poison</a:t>
            </a:r>
            <a:endParaRPr/>
          </a:p>
        </p:txBody>
      </p:sp>
      <p:sp>
        <p:nvSpPr>
          <p:cNvPr id="1393" name="Google Shape;1393;p8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Where does poison come from?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of your routes times out.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notice a local failure, e.g. one of your links goes down.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one of those occurs: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Poison the entry: Set cost to infinity, reset TTL.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the poison to your neighbors.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8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Accepting and Advertising Poison</a:t>
            </a:r>
            <a:endParaRPr/>
          </a:p>
        </p:txBody>
      </p:sp>
      <p:sp>
        <p:nvSpPr>
          <p:cNvPr id="1399" name="Google Shape;1399;p88"/>
          <p:cNvSpPr txBox="1"/>
          <p:nvPr>
            <p:ph idx="1" type="body"/>
          </p:nvPr>
        </p:nvSpPr>
        <p:spPr>
          <a:xfrm>
            <a:off x="107050" y="402200"/>
            <a:ext cx="8909700" cy="3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you get a poison advertisement from the current next-hop: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Accept it, even if you have a better path.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Because the next-hop is telling you that the route no longer exists.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Similar to Rule #2: accept worse paths from current next-hop.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you update the table with a poison route: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Reset the TTL, just like any other table update.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the poison to your neighbors, so they also know about the busted route.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Don't forward packets along a poisoned route.</a:t>
            </a:r>
            <a:endParaRPr/>
          </a:p>
        </p:txBody>
      </p:sp>
      <p:graphicFrame>
        <p:nvGraphicFramePr>
          <p:cNvPr id="1400" name="Google Shape;1400;p88"/>
          <p:cNvGraphicFramePr/>
          <p:nvPr/>
        </p:nvGraphicFramePr>
        <p:xfrm>
          <a:off x="1288844" y="427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401" name="Google Shape;1401;p88"/>
          <p:cNvCxnSpPr/>
          <p:nvPr/>
        </p:nvCxnSpPr>
        <p:spPr>
          <a:xfrm rot="10800000">
            <a:off x="3293000" y="4493925"/>
            <a:ext cx="59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2" name="Google Shape;1402;p88"/>
          <p:cNvSpPr txBox="1"/>
          <p:nvPr/>
        </p:nvSpPr>
        <p:spPr>
          <a:xfrm>
            <a:off x="3927375" y="4358475"/>
            <a:ext cx="166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Don't forward to R1.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8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408" name="Google Shape;1408;p8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you hear an advertisement, update table and reset TTL if: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/>
            </a:br>
            <a:r>
              <a:rPr lang="en">
                <a:solidFill>
                  <a:schemeClr val="accent2"/>
                </a:solidFill>
              </a:rPr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a table entry expires, </a:t>
            </a:r>
            <a:r>
              <a:rPr lang="en">
                <a:solidFill>
                  <a:schemeClr val="accent2"/>
                </a:solidFill>
              </a:rPr>
              <a:t>make the entry poison and advertise it</a:t>
            </a:r>
            <a:r>
              <a:rPr lang="en">
                <a:solidFill>
                  <a:srgbClr val="000000"/>
                </a:solidFill>
              </a:rPr>
              <a:t>. </a:t>
            </a:r>
            <a:r>
              <a:rPr lang="en" sz="1400">
                <a:solidFill>
                  <a:schemeClr val="accent3"/>
                </a:solidFill>
              </a:rPr>
              <a:t>(#4, #5)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9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6A:</a:t>
            </a:r>
            <a:br>
              <a:rPr lang="en"/>
            </a:br>
            <a:r>
              <a:rPr lang="en"/>
              <a:t>Split Horizon</a:t>
            </a:r>
            <a:endParaRPr/>
          </a:p>
        </p:txBody>
      </p:sp>
      <p:sp>
        <p:nvSpPr>
          <p:cNvPr id="1414" name="Google Shape;1414;p90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Correctness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6A: Split Horizon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415" name="Google Shape;1415;p9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</a:t>
            </a:r>
            <a:r>
              <a:rPr lang="en"/>
              <a:t>, CS 168, Spring 2025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9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21" name="Google Shape;1421;p91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2" name="Google Shape;1422;p91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3" name="Google Shape;1423;p91"/>
          <p:cNvCxnSpPr>
            <a:stCxn id="1422" idx="6"/>
            <a:endCxn id="1421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4" name="Google Shape;1424;p91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5" name="Google Shape;1425;p91"/>
          <p:cNvCxnSpPr>
            <a:stCxn id="1421" idx="3"/>
            <a:endCxn id="1424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6" name="Google Shape;1426;p91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7" name="Google Shape;1427;p91"/>
          <p:cNvCxnSpPr>
            <a:stCxn id="1424" idx="3"/>
            <a:endCxn id="1426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428" name="Google Shape;1428;p91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429" name="Google Shape;1429;p91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430" name="Google Shape;1430;p91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431" name="Google Shape;1431;p91"/>
          <p:cNvSpPr txBox="1"/>
          <p:nvPr/>
        </p:nvSpPr>
        <p:spPr>
          <a:xfrm>
            <a:off x="657600" y="2738925"/>
            <a:ext cx="6438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 ran the algorithm for some time, and we converged to this steady-state.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All subsequent advertisements will be rejected.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9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37" name="Google Shape;1437;p92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8" name="Google Shape;1438;p92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9" name="Google Shape;1439;p92"/>
          <p:cNvCxnSpPr>
            <a:stCxn id="1438" idx="6"/>
            <a:endCxn id="1437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0" name="Google Shape;1440;p92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1" name="Google Shape;1441;p92"/>
          <p:cNvCxnSpPr>
            <a:stCxn id="1437" idx="3"/>
            <a:endCxn id="1440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2" name="Google Shape;1442;p92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3" name="Google Shape;1443;p92"/>
          <p:cNvCxnSpPr>
            <a:stCxn id="1440" idx="3"/>
            <a:endCxn id="1442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444" name="Google Shape;1444;p92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445" name="Google Shape;1445;p92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446" name="Google Shape;1446;p92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cxnSp>
        <p:nvCxnSpPr>
          <p:cNvPr id="1447" name="Google Shape;1447;p92"/>
          <p:cNvCxnSpPr/>
          <p:nvPr/>
        </p:nvCxnSpPr>
        <p:spPr>
          <a:xfrm>
            <a:off x="5246845" y="3680275"/>
            <a:ext cx="1393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48" name="Google Shape;1448;p92"/>
          <p:cNvSpPr/>
          <p:nvPr/>
        </p:nvSpPr>
        <p:spPr>
          <a:xfrm>
            <a:off x="5393400" y="2844550"/>
            <a:ext cx="1100400" cy="733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9" name="Google Shape;1449;p92"/>
          <p:cNvSpPr/>
          <p:nvPr/>
        </p:nvSpPr>
        <p:spPr>
          <a:xfrm>
            <a:off x="2888650" y="2780200"/>
            <a:ext cx="2341200" cy="553800"/>
          </a:xfrm>
          <a:prstGeom prst="wedgeRoundRectCallout">
            <a:avLst>
              <a:gd fmla="val 37452" name="adj1"/>
              <a:gd fmla="val 89210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Rejected. I have cost 2, and you're offering cost 1+3=4.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4" name="Google Shape;1454;p93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455" name="Google Shape;1455;p93"/>
          <p:cNvCxnSpPr>
            <a:stCxn id="1456" idx="3"/>
            <a:endCxn id="1457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58" name="Google Shape;1458;p9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56" name="Google Shape;1456;p93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9" name="Google Shape;1459;p93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0" name="Google Shape;1460;p93"/>
          <p:cNvCxnSpPr>
            <a:stCxn id="1459" idx="6"/>
            <a:endCxn id="1456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7" name="Google Shape;1457;p93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1" name="Google Shape;1461;p93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2" name="Google Shape;1462;p93"/>
          <p:cNvCxnSpPr>
            <a:stCxn id="1457" idx="3"/>
            <a:endCxn id="1461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463" name="Google Shape;1463;p93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464" name="Google Shape;1464;p93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65" name="Google Shape;1465;p93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466" name="Google Shape;1466;p93"/>
          <p:cNvSpPr txBox="1"/>
          <p:nvPr/>
        </p:nvSpPr>
        <p:spPr>
          <a:xfrm>
            <a:off x="657600" y="2738925"/>
            <a:ext cx="6438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link goes down, and R2's entry expires (no more updates from R1).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What happens now?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71" name="Google Shape;1471;p94"/>
          <p:cNvCxnSpPr>
            <a:stCxn id="1472" idx="3"/>
            <a:endCxn id="1473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74" name="Google Shape;1474;p9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72" name="Google Shape;1472;p94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5" name="Google Shape;1475;p94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6" name="Google Shape;1476;p94"/>
          <p:cNvCxnSpPr>
            <a:stCxn id="1475" idx="6"/>
            <a:endCxn id="1472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3" name="Google Shape;1473;p94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7" name="Google Shape;1477;p94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8" name="Google Shape;1478;p94"/>
          <p:cNvCxnSpPr>
            <a:stCxn id="1473" idx="3"/>
            <a:endCxn id="1477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479" name="Google Shape;1479;p94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480" name="Google Shape;1480;p94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481" name="Google Shape;1481;p94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cxnSp>
        <p:nvCxnSpPr>
          <p:cNvPr id="1482" name="Google Shape;1482;p94"/>
          <p:cNvCxnSpPr/>
          <p:nvPr/>
        </p:nvCxnSpPr>
        <p:spPr>
          <a:xfrm>
            <a:off x="5246845" y="3756475"/>
            <a:ext cx="1393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83" name="Google Shape;1483;p94"/>
          <p:cNvSpPr/>
          <p:nvPr/>
        </p:nvSpPr>
        <p:spPr>
          <a:xfrm>
            <a:off x="5393400" y="2920750"/>
            <a:ext cx="1100400" cy="733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4" name="Google Shape;1484;p94"/>
          <p:cNvSpPr/>
          <p:nvPr/>
        </p:nvSpPr>
        <p:spPr>
          <a:xfrm>
            <a:off x="2888650" y="2856400"/>
            <a:ext cx="2341200" cy="553800"/>
          </a:xfrm>
          <a:prstGeom prst="wedgeRoundRectCallout">
            <a:avLst>
              <a:gd fmla="val 37452" name="adj1"/>
              <a:gd fmla="val 89210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My table's empty, so that sounds good to me.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485" name="Google Shape;1485;p94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0" name="Google Shape;1490;p95"/>
          <p:cNvCxnSpPr>
            <a:stCxn id="1491" idx="3"/>
            <a:endCxn id="1492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graphicFrame>
        <p:nvGraphicFramePr>
          <p:cNvPr id="1493" name="Google Shape;1493;p95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94" name="Google Shape;1494;p9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91" name="Google Shape;1491;p95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5" name="Google Shape;1495;p95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6" name="Google Shape;1496;p95"/>
          <p:cNvCxnSpPr>
            <a:stCxn id="1495" idx="6"/>
            <a:endCxn id="1491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2" name="Google Shape;1492;p95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7" name="Google Shape;1497;p95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8" name="Google Shape;1498;p95"/>
          <p:cNvCxnSpPr>
            <a:stCxn id="1492" idx="3"/>
            <a:endCxn id="1497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499" name="Google Shape;1499;p95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500" name="Google Shape;1500;p95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cxnSp>
        <p:nvCxnSpPr>
          <p:cNvPr id="1501" name="Google Shape;1501;p95"/>
          <p:cNvCxnSpPr/>
          <p:nvPr/>
        </p:nvCxnSpPr>
        <p:spPr>
          <a:xfrm rot="10800000">
            <a:off x="5114875" y="3794008"/>
            <a:ext cx="5952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502" name="Google Shape;1502;p95"/>
          <p:cNvSpPr txBox="1"/>
          <p:nvPr/>
        </p:nvSpPr>
        <p:spPr>
          <a:xfrm>
            <a:off x="5120875" y="36169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3" name="Google Shape;1503;p95"/>
          <p:cNvCxnSpPr/>
          <p:nvPr/>
        </p:nvCxnSpPr>
        <p:spPr>
          <a:xfrm rot="10800000">
            <a:off x="6181675" y="3794008"/>
            <a:ext cx="5952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4" name="Google Shape;1504;p95"/>
          <p:cNvSpPr txBox="1"/>
          <p:nvPr/>
        </p:nvSpPr>
        <p:spPr>
          <a:xfrm>
            <a:off x="6187675" y="36169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5" name="Google Shape;1505;p95"/>
          <p:cNvSpPr txBox="1"/>
          <p:nvPr/>
        </p:nvSpPr>
        <p:spPr>
          <a:xfrm>
            <a:off x="4855650" y="3084450"/>
            <a:ext cx="217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 made a routing loop!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10" name="Google Shape;1510;p96"/>
          <p:cNvCxnSpPr>
            <a:stCxn id="1511" idx="3"/>
            <a:endCxn id="1512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13" name="Google Shape;1513;p9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511" name="Google Shape;1511;p96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4" name="Google Shape;1514;p96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5" name="Google Shape;1515;p96"/>
          <p:cNvCxnSpPr>
            <a:stCxn id="1514" idx="6"/>
            <a:endCxn id="1511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2" name="Google Shape;1512;p96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6" name="Google Shape;1516;p96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7" name="Google Shape;1517;p96"/>
          <p:cNvCxnSpPr>
            <a:stCxn id="1512" idx="3"/>
            <a:endCxn id="1516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518" name="Google Shape;1518;p96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519" name="Google Shape;1519;p96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520" name="Google Shape;1520;p96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cxnSp>
        <p:nvCxnSpPr>
          <p:cNvPr id="1521" name="Google Shape;1521;p96"/>
          <p:cNvCxnSpPr/>
          <p:nvPr/>
        </p:nvCxnSpPr>
        <p:spPr>
          <a:xfrm>
            <a:off x="5246845" y="3756475"/>
            <a:ext cx="1393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522" name="Google Shape;1522;p96"/>
          <p:cNvSpPr/>
          <p:nvPr/>
        </p:nvSpPr>
        <p:spPr>
          <a:xfrm>
            <a:off x="5393400" y="2920750"/>
            <a:ext cx="1100400" cy="733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3" name="Google Shape;1523;p96"/>
          <p:cNvSpPr/>
          <p:nvPr/>
        </p:nvSpPr>
        <p:spPr>
          <a:xfrm>
            <a:off x="2888650" y="2856400"/>
            <a:ext cx="2341200" cy="553800"/>
          </a:xfrm>
          <a:prstGeom prst="wedgeRoundRectCallout">
            <a:avLst>
              <a:gd fmla="val 37452" name="adj1"/>
              <a:gd fmla="val 89210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My table's empty, so that sounds good to me.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24" name="Google Shape;1524;p96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525" name="Google Shape;1525;p96"/>
          <p:cNvSpPr txBox="1"/>
          <p:nvPr>
            <p:ph idx="1" type="body"/>
          </p:nvPr>
        </p:nvSpPr>
        <p:spPr>
          <a:xfrm>
            <a:off x="107050" y="402200"/>
            <a:ext cx="8909700" cy="22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 ("me" = R2):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gave R3 a path via me, and R3 accepted.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R3 turned around and gave me that same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I'm being offered a path that goes through myself!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Normally, I would never accept, because a path with a loop is longer.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if I lost my earlier route, I might accept and create a loop.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9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Split Horizon – The Problem</a:t>
            </a:r>
            <a:endParaRPr/>
          </a:p>
        </p:txBody>
      </p:sp>
      <p:sp>
        <p:nvSpPr>
          <p:cNvPr id="1531" name="Google Shape;1531;p9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split horizon problem: When I give someone a path, they advertise it back to me.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 goes from me → them → 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 with extra loop is always longer, so I'd never accept.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if I lost my earlier routes, I might accept.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might not realize the path is going through me.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Don't advertise a path back to the person who gave it to you.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advertises a route to 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 can advertise that route to everybody </a:t>
            </a:r>
            <a:r>
              <a:rPr i="1" lang="en"/>
              <a:t>except A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generally: Don't advertise paths back to the next-hop (the person who gave you the path).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9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537" name="Google Shape;1537;p9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For each destination: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you hear an advertisement, update table and reset TTL if: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The destination isn't in the table.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But don't advertise back to the next-hop. </a:t>
            </a:r>
            <a:r>
              <a:rPr lang="en" sz="1400">
                <a:solidFill>
                  <a:schemeClr val="accent3"/>
                </a:solidFill>
              </a:rPr>
              <a:t>(#6A)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a table entry expires, make the entry poison and advertise it. </a:t>
            </a:r>
            <a:r>
              <a:rPr lang="en" sz="1400">
                <a:solidFill>
                  <a:schemeClr val="accent3"/>
                </a:solidFill>
              </a:rPr>
              <a:t>(#4, #5)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9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6B:</a:t>
            </a:r>
            <a:br>
              <a:rPr lang="en"/>
            </a:br>
            <a:r>
              <a:rPr lang="en"/>
              <a:t>Poison Reverse</a:t>
            </a:r>
            <a:endParaRPr/>
          </a:p>
        </p:txBody>
      </p:sp>
      <p:sp>
        <p:nvSpPr>
          <p:cNvPr id="1543" name="Google Shape;1543;p99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Correctness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6B: Poison Reverse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544" name="Google Shape;1544;p9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2025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10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 Reverse</a:t>
            </a:r>
            <a:endParaRPr/>
          </a:p>
        </p:txBody>
      </p:sp>
      <p:sp>
        <p:nvSpPr>
          <p:cNvPr id="1550" name="Google Shape;1550;p10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If R1 gives me a route, don't advertise it to R1.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Don't tell R1 anything.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reverse: If R1 gives me a route, advertise poison back to R1.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Explicitly tell R1: "Do not forward packets to me."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reverse is an alternative way to avoid routing loops.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10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 Reverse vs. Split Horizon</a:t>
            </a:r>
            <a:endParaRPr/>
          </a:p>
        </p:txBody>
      </p:sp>
      <p:sp>
        <p:nvSpPr>
          <p:cNvPr id="1556" name="Google Shape;1556;p101"/>
          <p:cNvSpPr/>
          <p:nvPr/>
        </p:nvSpPr>
        <p:spPr>
          <a:xfrm>
            <a:off x="1971188" y="1729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7" name="Google Shape;1557;p101"/>
          <p:cNvCxnSpPr>
            <a:stCxn id="1558" idx="3"/>
            <a:endCxn id="1556" idx="1"/>
          </p:cNvCxnSpPr>
          <p:nvPr/>
        </p:nvCxnSpPr>
        <p:spPr>
          <a:xfrm>
            <a:off x="605888" y="1872050"/>
            <a:ext cx="1365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9" name="Google Shape;1559;p101"/>
          <p:cNvCxnSpPr/>
          <p:nvPr/>
        </p:nvCxnSpPr>
        <p:spPr>
          <a:xfrm>
            <a:off x="736438" y="1770125"/>
            <a:ext cx="1045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0" name="Google Shape;1560;p101"/>
          <p:cNvSpPr/>
          <p:nvPr/>
        </p:nvSpPr>
        <p:spPr>
          <a:xfrm>
            <a:off x="834288" y="1133300"/>
            <a:ext cx="781200" cy="534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can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1" name="Google Shape;1561;p101"/>
          <p:cNvCxnSpPr>
            <a:stCxn id="1556" idx="3"/>
          </p:cNvCxnSpPr>
          <p:nvPr/>
        </p:nvCxnSpPr>
        <p:spPr>
          <a:xfrm flipH="1" rot="10800000">
            <a:off x="2256188" y="1215950"/>
            <a:ext cx="656100" cy="656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2" name="Google Shape;1562;p101"/>
          <p:cNvCxnSpPr>
            <a:stCxn id="1556" idx="3"/>
          </p:cNvCxnSpPr>
          <p:nvPr/>
        </p:nvCxnSpPr>
        <p:spPr>
          <a:xfrm flipH="1" rot="10800000">
            <a:off x="2256188" y="1659350"/>
            <a:ext cx="793800" cy="21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3" name="Google Shape;1563;p101"/>
          <p:cNvCxnSpPr>
            <a:stCxn id="1556" idx="3"/>
          </p:cNvCxnSpPr>
          <p:nvPr/>
        </p:nvCxnSpPr>
        <p:spPr>
          <a:xfrm>
            <a:off x="2256188" y="1872050"/>
            <a:ext cx="756900" cy="202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4" name="Google Shape;1564;p101"/>
          <p:cNvCxnSpPr>
            <a:stCxn id="1556" idx="3"/>
          </p:cNvCxnSpPr>
          <p:nvPr/>
        </p:nvCxnSpPr>
        <p:spPr>
          <a:xfrm>
            <a:off x="2256188" y="1872050"/>
            <a:ext cx="638400" cy="638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5" name="Google Shape;1565;p101"/>
          <p:cNvSpPr txBox="1"/>
          <p:nvPr/>
        </p:nvSpPr>
        <p:spPr>
          <a:xfrm>
            <a:off x="605975" y="572450"/>
            <a:ext cx="331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Split Horizon: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6" name="Google Shape;1566;p101"/>
          <p:cNvCxnSpPr>
            <a:stCxn id="1567" idx="3"/>
            <a:endCxn id="1568" idx="1"/>
          </p:cNvCxnSpPr>
          <p:nvPr/>
        </p:nvCxnSpPr>
        <p:spPr>
          <a:xfrm>
            <a:off x="5189988" y="1872050"/>
            <a:ext cx="1365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9" name="Google Shape;1569;p101"/>
          <p:cNvCxnSpPr/>
          <p:nvPr/>
        </p:nvCxnSpPr>
        <p:spPr>
          <a:xfrm>
            <a:off x="5320538" y="1771325"/>
            <a:ext cx="1045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0" name="Google Shape;1570;p101"/>
          <p:cNvSpPr/>
          <p:nvPr/>
        </p:nvSpPr>
        <p:spPr>
          <a:xfrm>
            <a:off x="5418388" y="1134500"/>
            <a:ext cx="781200" cy="534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can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1" name="Google Shape;1571;p101"/>
          <p:cNvSpPr txBox="1"/>
          <p:nvPr/>
        </p:nvSpPr>
        <p:spPr>
          <a:xfrm>
            <a:off x="5190000" y="572450"/>
            <a:ext cx="331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Poison Reverse: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8" name="Google Shape;1568;p101"/>
          <p:cNvSpPr/>
          <p:nvPr/>
        </p:nvSpPr>
        <p:spPr>
          <a:xfrm>
            <a:off x="6555288" y="1729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2" name="Google Shape;1572;p101"/>
          <p:cNvCxnSpPr>
            <a:stCxn id="1568" idx="3"/>
          </p:cNvCxnSpPr>
          <p:nvPr/>
        </p:nvCxnSpPr>
        <p:spPr>
          <a:xfrm flipH="1" rot="10800000">
            <a:off x="6840288" y="1215950"/>
            <a:ext cx="656100" cy="656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3" name="Google Shape;1573;p101"/>
          <p:cNvCxnSpPr>
            <a:stCxn id="1568" idx="3"/>
          </p:cNvCxnSpPr>
          <p:nvPr/>
        </p:nvCxnSpPr>
        <p:spPr>
          <a:xfrm flipH="1" rot="10800000">
            <a:off x="6840288" y="1659350"/>
            <a:ext cx="793800" cy="21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4" name="Google Shape;1574;p101"/>
          <p:cNvCxnSpPr>
            <a:stCxn id="1568" idx="3"/>
          </p:cNvCxnSpPr>
          <p:nvPr/>
        </p:nvCxnSpPr>
        <p:spPr>
          <a:xfrm>
            <a:off x="6840288" y="1872050"/>
            <a:ext cx="756900" cy="202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5" name="Google Shape;1575;p101"/>
          <p:cNvCxnSpPr>
            <a:stCxn id="1568" idx="3"/>
          </p:cNvCxnSpPr>
          <p:nvPr/>
        </p:nvCxnSpPr>
        <p:spPr>
          <a:xfrm>
            <a:off x="6840288" y="1872050"/>
            <a:ext cx="638400" cy="638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6" name="Google Shape;1576;p101"/>
          <p:cNvSpPr/>
          <p:nvPr/>
        </p:nvSpPr>
        <p:spPr>
          <a:xfrm>
            <a:off x="1971188" y="3405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7" name="Google Shape;1577;p101"/>
          <p:cNvCxnSpPr>
            <a:stCxn id="1578" idx="3"/>
            <a:endCxn id="1576" idx="1"/>
          </p:cNvCxnSpPr>
          <p:nvPr/>
        </p:nvCxnSpPr>
        <p:spPr>
          <a:xfrm>
            <a:off x="605888" y="3548450"/>
            <a:ext cx="1365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9" name="Google Shape;1579;p101"/>
          <p:cNvCxnSpPr/>
          <p:nvPr/>
        </p:nvCxnSpPr>
        <p:spPr>
          <a:xfrm flipH="1" rot="10800000">
            <a:off x="2441450" y="2866075"/>
            <a:ext cx="386400" cy="386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0" name="Google Shape;1580;p101"/>
          <p:cNvCxnSpPr>
            <a:stCxn id="1576" idx="3"/>
          </p:cNvCxnSpPr>
          <p:nvPr/>
        </p:nvCxnSpPr>
        <p:spPr>
          <a:xfrm flipH="1" rot="10800000">
            <a:off x="2256188" y="2892350"/>
            <a:ext cx="656100" cy="656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1" name="Google Shape;1581;p101"/>
          <p:cNvCxnSpPr>
            <a:stCxn id="1576" idx="3"/>
          </p:cNvCxnSpPr>
          <p:nvPr/>
        </p:nvCxnSpPr>
        <p:spPr>
          <a:xfrm flipH="1" rot="10800000">
            <a:off x="2256188" y="3335750"/>
            <a:ext cx="793800" cy="21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2" name="Google Shape;1582;p101"/>
          <p:cNvCxnSpPr>
            <a:stCxn id="1576" idx="3"/>
          </p:cNvCxnSpPr>
          <p:nvPr/>
        </p:nvCxnSpPr>
        <p:spPr>
          <a:xfrm>
            <a:off x="2256188" y="3548450"/>
            <a:ext cx="756900" cy="202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3" name="Google Shape;1583;p101"/>
          <p:cNvCxnSpPr>
            <a:stCxn id="1576" idx="3"/>
          </p:cNvCxnSpPr>
          <p:nvPr/>
        </p:nvCxnSpPr>
        <p:spPr>
          <a:xfrm>
            <a:off x="2256188" y="3548450"/>
            <a:ext cx="638400" cy="638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4" name="Google Shape;1584;p101"/>
          <p:cNvCxnSpPr/>
          <p:nvPr/>
        </p:nvCxnSpPr>
        <p:spPr>
          <a:xfrm flipH="1" rot="10800000">
            <a:off x="2493238" y="3273050"/>
            <a:ext cx="496500" cy="132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5" name="Google Shape;1585;p101"/>
          <p:cNvCxnSpPr/>
          <p:nvPr/>
        </p:nvCxnSpPr>
        <p:spPr>
          <a:xfrm>
            <a:off x="2510488" y="3549650"/>
            <a:ext cx="462000" cy="123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6" name="Google Shape;1586;p101"/>
          <p:cNvSpPr/>
          <p:nvPr/>
        </p:nvSpPr>
        <p:spPr>
          <a:xfrm>
            <a:off x="3143288" y="2892350"/>
            <a:ext cx="781200" cy="534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can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7" name="Google Shape;1587;p101"/>
          <p:cNvCxnSpPr/>
          <p:nvPr/>
        </p:nvCxnSpPr>
        <p:spPr>
          <a:xfrm>
            <a:off x="2511650" y="3690950"/>
            <a:ext cx="319800" cy="319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8" name="Google Shape;1588;p101"/>
          <p:cNvSpPr/>
          <p:nvPr/>
        </p:nvSpPr>
        <p:spPr>
          <a:xfrm>
            <a:off x="6555288" y="34279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9" name="Google Shape;1589;p101"/>
          <p:cNvCxnSpPr>
            <a:stCxn id="1590" idx="3"/>
            <a:endCxn id="1588" idx="1"/>
          </p:cNvCxnSpPr>
          <p:nvPr/>
        </p:nvCxnSpPr>
        <p:spPr>
          <a:xfrm>
            <a:off x="5189988" y="3570425"/>
            <a:ext cx="1365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1" name="Google Shape;1591;p101"/>
          <p:cNvCxnSpPr/>
          <p:nvPr/>
        </p:nvCxnSpPr>
        <p:spPr>
          <a:xfrm flipH="1" rot="10800000">
            <a:off x="7025550" y="2888050"/>
            <a:ext cx="386400" cy="386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2" name="Google Shape;1592;p101"/>
          <p:cNvCxnSpPr>
            <a:stCxn id="1588" idx="3"/>
          </p:cNvCxnSpPr>
          <p:nvPr/>
        </p:nvCxnSpPr>
        <p:spPr>
          <a:xfrm flipH="1" rot="10800000">
            <a:off x="6840288" y="2914325"/>
            <a:ext cx="656100" cy="656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3" name="Google Shape;1593;p101"/>
          <p:cNvCxnSpPr>
            <a:stCxn id="1588" idx="3"/>
          </p:cNvCxnSpPr>
          <p:nvPr/>
        </p:nvCxnSpPr>
        <p:spPr>
          <a:xfrm flipH="1" rot="10800000">
            <a:off x="6840288" y="3357725"/>
            <a:ext cx="793800" cy="21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4" name="Google Shape;1594;p101"/>
          <p:cNvCxnSpPr>
            <a:stCxn id="1588" idx="3"/>
          </p:cNvCxnSpPr>
          <p:nvPr/>
        </p:nvCxnSpPr>
        <p:spPr>
          <a:xfrm>
            <a:off x="6840288" y="3570425"/>
            <a:ext cx="756900" cy="202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5" name="Google Shape;1595;p101"/>
          <p:cNvCxnSpPr>
            <a:stCxn id="1588" idx="3"/>
          </p:cNvCxnSpPr>
          <p:nvPr/>
        </p:nvCxnSpPr>
        <p:spPr>
          <a:xfrm>
            <a:off x="6840288" y="3570425"/>
            <a:ext cx="638400" cy="638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6" name="Google Shape;1596;p101"/>
          <p:cNvCxnSpPr/>
          <p:nvPr/>
        </p:nvCxnSpPr>
        <p:spPr>
          <a:xfrm flipH="1" rot="10800000">
            <a:off x="7077338" y="3295025"/>
            <a:ext cx="496500" cy="132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7" name="Google Shape;1597;p101"/>
          <p:cNvCxnSpPr/>
          <p:nvPr/>
        </p:nvCxnSpPr>
        <p:spPr>
          <a:xfrm>
            <a:off x="7094588" y="3571625"/>
            <a:ext cx="462000" cy="123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8" name="Google Shape;1598;p101"/>
          <p:cNvSpPr/>
          <p:nvPr/>
        </p:nvSpPr>
        <p:spPr>
          <a:xfrm>
            <a:off x="7727388" y="2914325"/>
            <a:ext cx="781200" cy="534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can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9" name="Google Shape;1599;p101"/>
          <p:cNvCxnSpPr/>
          <p:nvPr/>
        </p:nvCxnSpPr>
        <p:spPr>
          <a:xfrm>
            <a:off x="7095750" y="3712925"/>
            <a:ext cx="319800" cy="319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0" name="Google Shape;1600;p101"/>
          <p:cNvCxnSpPr/>
          <p:nvPr/>
        </p:nvCxnSpPr>
        <p:spPr>
          <a:xfrm>
            <a:off x="5320538" y="3447725"/>
            <a:ext cx="1045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601" name="Google Shape;1601;p101"/>
          <p:cNvSpPr/>
          <p:nvPr/>
        </p:nvSpPr>
        <p:spPr>
          <a:xfrm>
            <a:off x="5418388" y="2810900"/>
            <a:ext cx="781200" cy="534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cannot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2" name="Google Shape;1602;p101"/>
          <p:cNvSpPr txBox="1"/>
          <p:nvPr/>
        </p:nvSpPr>
        <p:spPr>
          <a:xfrm>
            <a:off x="605975" y="4306250"/>
            <a:ext cx="33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Don't advertise anything back to R1.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3" name="Google Shape;1603;p101"/>
          <p:cNvSpPr txBox="1"/>
          <p:nvPr/>
        </p:nvSpPr>
        <p:spPr>
          <a:xfrm>
            <a:off x="5190000" y="4306250"/>
            <a:ext cx="33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Explicitly advertise poison back to R1.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8" name="Google Shape;1558;p101"/>
          <p:cNvSpPr/>
          <p:nvPr/>
        </p:nvSpPr>
        <p:spPr>
          <a:xfrm>
            <a:off x="320888" y="1729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7" name="Google Shape;1567;p101"/>
          <p:cNvSpPr/>
          <p:nvPr/>
        </p:nvSpPr>
        <p:spPr>
          <a:xfrm>
            <a:off x="4904988" y="1729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8" name="Google Shape;1578;p101"/>
          <p:cNvSpPr/>
          <p:nvPr/>
        </p:nvSpPr>
        <p:spPr>
          <a:xfrm>
            <a:off x="320888" y="3405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0" name="Google Shape;1590;p101"/>
          <p:cNvSpPr/>
          <p:nvPr/>
        </p:nvSpPr>
        <p:spPr>
          <a:xfrm>
            <a:off x="4904988" y="34279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4" name="Google Shape;1604;p101"/>
          <p:cNvCxnSpPr/>
          <p:nvPr/>
        </p:nvCxnSpPr>
        <p:spPr>
          <a:xfrm>
            <a:off x="4376350" y="506275"/>
            <a:ext cx="0" cy="442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10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 Reverse</a:t>
            </a:r>
            <a:endParaRPr/>
          </a:p>
        </p:txBody>
      </p:sp>
      <p:sp>
        <p:nvSpPr>
          <p:cNvPr id="1610" name="Google Shape;1610;p102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1" name="Google Shape;1611;p102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2" name="Google Shape;1612;p102"/>
          <p:cNvCxnSpPr>
            <a:stCxn id="1611" idx="6"/>
            <a:endCxn id="1610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3" name="Google Shape;1613;p102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4" name="Google Shape;1614;p102"/>
          <p:cNvCxnSpPr>
            <a:stCxn id="1610" idx="3"/>
            <a:endCxn id="1613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5" name="Google Shape;1615;p102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6" name="Google Shape;1616;p102"/>
          <p:cNvCxnSpPr>
            <a:stCxn id="1613" idx="3"/>
            <a:endCxn id="1615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617" name="Google Shape;1617;p102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618" name="Google Shape;1618;p102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619" name="Google Shape;1619;p102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620" name="Google Shape;1620;p102"/>
          <p:cNvSpPr txBox="1"/>
          <p:nvPr/>
        </p:nvSpPr>
        <p:spPr>
          <a:xfrm>
            <a:off x="657600" y="2738925"/>
            <a:ext cx="6438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Let's watch the demo again, but with poison reverse this time.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 before, we first reach steady state.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5" name="Google Shape;1625;p103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626" name="Google Shape;1626;p103"/>
          <p:cNvCxnSpPr>
            <a:stCxn id="1627" idx="3"/>
            <a:endCxn id="1628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29" name="Google Shape;1629;p10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Poison Reverse</a:t>
            </a:r>
            <a:endParaRPr/>
          </a:p>
        </p:txBody>
      </p:sp>
      <p:sp>
        <p:nvSpPr>
          <p:cNvPr id="1627" name="Google Shape;1627;p103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0" name="Google Shape;1630;p103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1" name="Google Shape;1631;p103"/>
          <p:cNvCxnSpPr>
            <a:stCxn id="1630" idx="6"/>
            <a:endCxn id="1627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8" name="Google Shape;1628;p103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2" name="Google Shape;1632;p103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3" name="Google Shape;1633;p103"/>
          <p:cNvCxnSpPr>
            <a:stCxn id="1628" idx="3"/>
            <a:endCxn id="1632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634" name="Google Shape;1634;p103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635" name="Google Shape;1635;p103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36" name="Google Shape;1636;p103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637" name="Google Shape;1637;p103"/>
          <p:cNvSpPr txBox="1"/>
          <p:nvPr/>
        </p:nvSpPr>
        <p:spPr>
          <a:xfrm>
            <a:off x="657600" y="2738925"/>
            <a:ext cx="6438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link goes down, and R2's entry expires (no more updates from R1).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What happens now?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2" name="Google Shape;1642;p104"/>
          <p:cNvCxnSpPr>
            <a:stCxn id="1643" idx="3"/>
            <a:endCxn id="1644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45" name="Google Shape;1645;p10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Poison Reverse</a:t>
            </a:r>
            <a:endParaRPr/>
          </a:p>
        </p:txBody>
      </p:sp>
      <p:sp>
        <p:nvSpPr>
          <p:cNvPr id="1643" name="Google Shape;1643;p104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6" name="Google Shape;1646;p104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7" name="Google Shape;1647;p104"/>
          <p:cNvCxnSpPr>
            <a:stCxn id="1646" idx="6"/>
            <a:endCxn id="1643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4" name="Google Shape;1644;p104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8" name="Google Shape;1648;p104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9" name="Google Shape;1649;p104"/>
          <p:cNvCxnSpPr>
            <a:stCxn id="1644" idx="3"/>
            <a:endCxn id="1648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650" name="Google Shape;1650;p104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651" name="Google Shape;1651;p104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652" name="Google Shape;1652;p104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cxnSp>
        <p:nvCxnSpPr>
          <p:cNvPr id="1653" name="Google Shape;1653;p104"/>
          <p:cNvCxnSpPr/>
          <p:nvPr/>
        </p:nvCxnSpPr>
        <p:spPr>
          <a:xfrm>
            <a:off x="5246845" y="3756475"/>
            <a:ext cx="1393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654" name="Google Shape;1654;p104"/>
          <p:cNvSpPr/>
          <p:nvPr/>
        </p:nvSpPr>
        <p:spPr>
          <a:xfrm>
            <a:off x="5393400" y="2920750"/>
            <a:ext cx="1100400" cy="733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5" name="Google Shape;1655;p104"/>
          <p:cNvSpPr/>
          <p:nvPr/>
        </p:nvSpPr>
        <p:spPr>
          <a:xfrm>
            <a:off x="2888650" y="2856400"/>
            <a:ext cx="2341200" cy="553800"/>
          </a:xfrm>
          <a:prstGeom prst="wedgeRoundRectCallout">
            <a:avLst>
              <a:gd fmla="val 37452" name="adj1"/>
              <a:gd fmla="val 89210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My table's empty, so that sounds good to me.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56" name="Google Shape;1656;p104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657" name="Google Shape;1657;p104"/>
          <p:cNvSpPr txBox="1"/>
          <p:nvPr>
            <p:ph idx="1" type="body"/>
          </p:nvPr>
        </p:nvSpPr>
        <p:spPr>
          <a:xfrm>
            <a:off x="107050" y="402200"/>
            <a:ext cx="8909700" cy="12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R2's table now explicitly says: Do not send packets to R3.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R3 would just send the packet back to R2.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10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 Reverse vs. Split Horizon</a:t>
            </a:r>
            <a:endParaRPr/>
          </a:p>
        </p:txBody>
      </p:sp>
      <p:sp>
        <p:nvSpPr>
          <p:cNvPr id="1663" name="Google Shape;1663;p105"/>
          <p:cNvSpPr txBox="1"/>
          <p:nvPr>
            <p:ph idx="1" type="body"/>
          </p:nvPr>
        </p:nvSpPr>
        <p:spPr>
          <a:xfrm>
            <a:off x="107050" y="402200"/>
            <a:ext cx="8909700" cy="18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end up with a routing loop somehow.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No poison is sent.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Loop stays until the routes expire.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64" name="Google Shape;1664;p105"/>
          <p:cNvGraphicFramePr/>
          <p:nvPr/>
        </p:nvGraphicFramePr>
        <p:xfrm>
          <a:off x="2043944" y="412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65" name="Google Shape;1665;p105"/>
          <p:cNvSpPr/>
          <p:nvPr/>
        </p:nvSpPr>
        <p:spPr>
          <a:xfrm>
            <a:off x="2819200" y="36100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6" name="Google Shape;1666;p105"/>
          <p:cNvSpPr/>
          <p:nvPr/>
        </p:nvSpPr>
        <p:spPr>
          <a:xfrm>
            <a:off x="6019600" y="36100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7" name="Google Shape;1667;p105"/>
          <p:cNvCxnSpPr>
            <a:stCxn id="1665" idx="3"/>
            <a:endCxn id="1666" idx="1"/>
          </p:cNvCxnSpPr>
          <p:nvPr/>
        </p:nvCxnSpPr>
        <p:spPr>
          <a:xfrm>
            <a:off x="3104200" y="3752575"/>
            <a:ext cx="2915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668" name="Google Shape;1668;p105"/>
          <p:cNvGraphicFramePr/>
          <p:nvPr/>
        </p:nvGraphicFramePr>
        <p:xfrm>
          <a:off x="5244344" y="412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669" name="Google Shape;1669;p105"/>
          <p:cNvSpPr/>
          <p:nvPr/>
        </p:nvSpPr>
        <p:spPr>
          <a:xfrm>
            <a:off x="696600" y="2957025"/>
            <a:ext cx="2054400" cy="552900"/>
          </a:xfrm>
          <a:prstGeom prst="wedgeRoundRectCallout">
            <a:avLst>
              <a:gd fmla="val 59886" name="adj1"/>
              <a:gd fmla="val 52885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got this route from R3, so don't send it to R3.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0" name="Google Shape;1670;p105"/>
          <p:cNvSpPr/>
          <p:nvPr/>
        </p:nvSpPr>
        <p:spPr>
          <a:xfrm>
            <a:off x="6286225" y="2957025"/>
            <a:ext cx="2054400" cy="552900"/>
          </a:xfrm>
          <a:prstGeom prst="wedgeRoundRectCallout">
            <a:avLst>
              <a:gd fmla="val -58083" name="adj1"/>
              <a:gd fmla="val 50276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got this route from R2, so don't send it to R2.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10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 Reverse vs. Split Horizon</a:t>
            </a:r>
            <a:endParaRPr/>
          </a:p>
        </p:txBody>
      </p:sp>
      <p:sp>
        <p:nvSpPr>
          <p:cNvPr id="1676" name="Google Shape;1676;p106"/>
          <p:cNvSpPr txBox="1"/>
          <p:nvPr>
            <p:ph idx="1" type="body"/>
          </p:nvPr>
        </p:nvSpPr>
        <p:spPr>
          <a:xfrm>
            <a:off x="107050" y="402200"/>
            <a:ext cx="8909700" cy="21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end up with a routing loop somehow.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reverse: R3 explicitly sends poison back to R2.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Loop is immediately eliminated!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Faster than split horizon.</a:t>
            </a:r>
            <a:endParaRPr/>
          </a:p>
        </p:txBody>
      </p:sp>
      <p:graphicFrame>
        <p:nvGraphicFramePr>
          <p:cNvPr id="1677" name="Google Shape;1677;p106"/>
          <p:cNvGraphicFramePr/>
          <p:nvPr/>
        </p:nvGraphicFramePr>
        <p:xfrm>
          <a:off x="2043944" y="412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8" name="Google Shape;1678;p106"/>
          <p:cNvSpPr/>
          <p:nvPr/>
        </p:nvSpPr>
        <p:spPr>
          <a:xfrm>
            <a:off x="2819200" y="36100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9" name="Google Shape;1679;p106"/>
          <p:cNvSpPr/>
          <p:nvPr/>
        </p:nvSpPr>
        <p:spPr>
          <a:xfrm>
            <a:off x="6019600" y="36100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0" name="Google Shape;1680;p106"/>
          <p:cNvCxnSpPr>
            <a:stCxn id="1678" idx="3"/>
            <a:endCxn id="1679" idx="1"/>
          </p:cNvCxnSpPr>
          <p:nvPr/>
        </p:nvCxnSpPr>
        <p:spPr>
          <a:xfrm>
            <a:off x="3104200" y="3752575"/>
            <a:ext cx="2915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681" name="Google Shape;1681;p106"/>
          <p:cNvGraphicFramePr/>
          <p:nvPr/>
        </p:nvGraphicFramePr>
        <p:xfrm>
          <a:off x="5244344" y="412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cxnSp>
        <p:nvCxnSpPr>
          <p:cNvPr id="1682" name="Google Shape;1682;p106"/>
          <p:cNvCxnSpPr/>
          <p:nvPr/>
        </p:nvCxnSpPr>
        <p:spPr>
          <a:xfrm>
            <a:off x="4561045" y="3658950"/>
            <a:ext cx="1393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683" name="Google Shape;1683;p106"/>
          <p:cNvSpPr/>
          <p:nvPr/>
        </p:nvSpPr>
        <p:spPr>
          <a:xfrm>
            <a:off x="4707600" y="2823225"/>
            <a:ext cx="1100400" cy="733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4" name="Google Shape;1684;p106"/>
          <p:cNvSpPr/>
          <p:nvPr/>
        </p:nvSpPr>
        <p:spPr>
          <a:xfrm>
            <a:off x="1026275" y="2955900"/>
            <a:ext cx="1724700" cy="553800"/>
          </a:xfrm>
          <a:prstGeom prst="wedgeRoundRectCallout">
            <a:avLst>
              <a:gd fmla="val 59886" name="adj1"/>
              <a:gd fmla="val 52885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R3 is my next-hop, so I accept.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85" name="Google Shape;1685;p106"/>
          <p:cNvGraphicFramePr/>
          <p:nvPr/>
        </p:nvGraphicFramePr>
        <p:xfrm>
          <a:off x="2043944" y="412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686" name="Google Shape;1686;p106"/>
          <p:cNvSpPr/>
          <p:nvPr/>
        </p:nvSpPr>
        <p:spPr>
          <a:xfrm>
            <a:off x="6286225" y="2957025"/>
            <a:ext cx="2054400" cy="552900"/>
          </a:xfrm>
          <a:prstGeom prst="wedgeRoundRectCallout">
            <a:avLst>
              <a:gd fmla="val -58083" name="adj1"/>
              <a:gd fmla="val 50276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got this route from R2, so send poison to R2.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10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692" name="Google Shape;1692;p10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and reset TTL if: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/>
            </a:br>
            <a:r>
              <a:rPr lang="en"/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But don't advertise back to the next-hop. </a:t>
            </a:r>
            <a:r>
              <a:rPr lang="en" sz="1400">
                <a:solidFill>
                  <a:schemeClr val="accent3"/>
                </a:solidFill>
              </a:rPr>
              <a:t>(#6A)</a:t>
            </a:r>
            <a:endParaRPr sz="1400">
              <a:solidFill>
                <a:schemeClr val="accent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...Or, advertise poison back to the next-hop. </a:t>
            </a:r>
            <a:r>
              <a:rPr lang="en" sz="1400">
                <a:solidFill>
                  <a:schemeClr val="accent3"/>
                </a:solidFill>
              </a:rPr>
              <a:t>(#6B)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table entry expires, make the entry poison and advertise it. </a:t>
            </a:r>
            <a:r>
              <a:rPr lang="en" sz="1400">
                <a:solidFill>
                  <a:schemeClr val="accent3"/>
                </a:solidFill>
              </a:rPr>
              <a:t>(#4, #5)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10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7: Count to Infinity</a:t>
            </a:r>
            <a:endParaRPr/>
          </a:p>
        </p:txBody>
      </p:sp>
      <p:sp>
        <p:nvSpPr>
          <p:cNvPr id="1698" name="Google Shape;1698;p108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Correctness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7: Count To Infinity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99" name="Google Shape;1699;p10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</a:t>
            </a:r>
            <a:r>
              <a:rPr lang="en"/>
              <a:t>, CS 168, Spring 2025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10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 to Infinity – The Problem</a:t>
            </a:r>
            <a:endParaRPr/>
          </a:p>
        </p:txBody>
      </p:sp>
      <p:sp>
        <p:nvSpPr>
          <p:cNvPr id="1705" name="Google Shape;1705;p10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(or poison reverse) helps us avoid length-2 loops.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forwards to R2.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R2 forwards to R1.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 we can still get routing loops with 3 or more routers.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11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11" name="Google Shape;1711;p110"/>
          <p:cNvSpPr txBox="1"/>
          <p:nvPr>
            <p:ph idx="1" type="body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the tables reach steady-state.</a:t>
            </a:r>
            <a:endParaRPr/>
          </a:p>
        </p:txBody>
      </p:sp>
      <p:sp>
        <p:nvSpPr>
          <p:cNvPr id="1712" name="Google Shape;1712;p110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3" name="Google Shape;1713;p110"/>
          <p:cNvCxnSpPr>
            <a:stCxn id="1714" idx="1"/>
            <a:endCxn id="1712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715" name="Google Shape;1715;p110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716" name="Google Shape;1716;p110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717" name="Google Shape;1717;p110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718" name="Google Shape;1718;p110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9" name="Google Shape;1719;p110"/>
          <p:cNvCxnSpPr>
            <a:stCxn id="1718" idx="2"/>
            <a:endCxn id="1720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0" name="Google Shape;1720;p110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4" name="Google Shape;1714;p110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1" name="Google Shape;1721;p110"/>
          <p:cNvCxnSpPr>
            <a:stCxn id="1718" idx="1"/>
            <a:endCxn id="1714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2" name="Google Shape;1722;p110"/>
          <p:cNvCxnSpPr>
            <a:stCxn id="1720" idx="1"/>
            <a:endCxn id="1714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111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8" name="Google Shape;1728;p111"/>
          <p:cNvCxnSpPr>
            <a:stCxn id="1729" idx="1"/>
            <a:endCxn id="173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31" name="Google Shape;1731;p1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32" name="Google Shape;1732;p111"/>
          <p:cNvSpPr txBox="1"/>
          <p:nvPr>
            <p:ph idx="1" type="body"/>
          </p:nvPr>
        </p:nvSpPr>
        <p:spPr>
          <a:xfrm>
            <a:off x="107050" y="402200"/>
            <a:ext cx="8909700" cy="14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Link goes down! A now unreachable.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R3 updates table and sends poison.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reaches R2, but not R1!</a:t>
            </a:r>
            <a:endParaRPr/>
          </a:p>
        </p:txBody>
      </p:sp>
      <p:sp>
        <p:nvSpPr>
          <p:cNvPr id="1733" name="Google Shape;1733;p111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4" name="Google Shape;1734;p111"/>
          <p:cNvCxnSpPr>
            <a:stCxn id="1733" idx="2"/>
            <a:endCxn id="173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5" name="Google Shape;1735;p111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9" name="Google Shape;1729;p111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6" name="Google Shape;1736;p111"/>
          <p:cNvCxnSpPr>
            <a:stCxn id="1733" idx="1"/>
            <a:endCxn id="172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7" name="Google Shape;1737;p111"/>
          <p:cNvCxnSpPr>
            <a:stCxn id="1735" idx="1"/>
            <a:endCxn id="172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0" name="Google Shape;1730;p111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738" name="Google Shape;1738;p111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739" name="Google Shape;1739;p111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740" name="Google Shape;1740;p111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741" name="Google Shape;1741;p111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742" name="Google Shape;1742;p111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3" name="Google Shape;1743;p111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4" name="Google Shape;1744;p111"/>
          <p:cNvSpPr txBox="1"/>
          <p:nvPr/>
        </p:nvSpPr>
        <p:spPr>
          <a:xfrm rot="-899921">
            <a:off x="3320851" y="2695145"/>
            <a:ext cx="905343" cy="30156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Dropped!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5" name="Google Shape;1745;p111"/>
          <p:cNvCxnSpPr/>
          <p:nvPr/>
        </p:nvCxnSpPr>
        <p:spPr>
          <a:xfrm flipH="1" rot="10800000">
            <a:off x="4115675" y="2842818"/>
            <a:ext cx="953100" cy="5502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746" name="Google Shape;1746;p111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51" name="Google Shape;1751;p112"/>
          <p:cNvCxnSpPr>
            <a:stCxn id="1752" idx="1"/>
            <a:endCxn id="1753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54" name="Google Shape;1754;p1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55" name="Google Shape;1755;p112"/>
          <p:cNvSpPr txBox="1"/>
          <p:nvPr>
            <p:ph idx="1" type="body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At this point, R3 and R2 know A is unreachable.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 R1 still thinks there's a path to A!</a:t>
            </a:r>
            <a:endParaRPr/>
          </a:p>
        </p:txBody>
      </p:sp>
      <p:sp>
        <p:nvSpPr>
          <p:cNvPr id="1753" name="Google Shape;1753;p112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6" name="Google Shape;1756;p112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57" name="Google Shape;1757;p112"/>
          <p:cNvCxnSpPr>
            <a:stCxn id="1756" idx="2"/>
            <a:endCxn id="1758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8" name="Google Shape;1758;p112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2" name="Google Shape;1752;p112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59" name="Google Shape;1759;p112"/>
          <p:cNvCxnSpPr>
            <a:stCxn id="1756" idx="1"/>
            <a:endCxn id="1752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0" name="Google Shape;1760;p112"/>
          <p:cNvCxnSpPr>
            <a:stCxn id="1758" idx="1"/>
            <a:endCxn id="1752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761" name="Google Shape;1761;p112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62" name="Google Shape;1762;p112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763" name="Google Shape;1763;p112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8" name="Google Shape;1768;p113"/>
          <p:cNvCxnSpPr>
            <a:stCxn id="1769" idx="1"/>
            <a:endCxn id="177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71" name="Google Shape;1771;p11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72" name="Google Shape;1772;p113"/>
          <p:cNvSpPr txBox="1"/>
          <p:nvPr>
            <p:ph idx="1" type="body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R1 announces it can reach A.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R1's path came from R3, so don't tell R3.</a:t>
            </a:r>
            <a:endParaRPr/>
          </a:p>
        </p:txBody>
      </p:sp>
      <p:sp>
        <p:nvSpPr>
          <p:cNvPr id="1770" name="Google Shape;1770;p113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3" name="Google Shape;1773;p113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4" name="Google Shape;1774;p113"/>
          <p:cNvCxnSpPr>
            <a:stCxn id="1773" idx="2"/>
            <a:endCxn id="177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5" name="Google Shape;1775;p113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9" name="Google Shape;1769;p113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6" name="Google Shape;1776;p113"/>
          <p:cNvCxnSpPr>
            <a:stCxn id="1773" idx="1"/>
            <a:endCxn id="176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7" name="Google Shape;1777;p113"/>
          <p:cNvCxnSpPr>
            <a:stCxn id="1775" idx="1"/>
            <a:endCxn id="176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778" name="Google Shape;1778;p113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79" name="Google Shape;1779;p113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780" name="Google Shape;1780;p113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81" name="Google Shape;1781;p113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2" name="Google Shape;1782;p113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783" name="Google Shape;1783;p113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8" name="Google Shape;1788;p114"/>
          <p:cNvCxnSpPr>
            <a:stCxn id="1789" idx="1"/>
            <a:endCxn id="179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91" name="Google Shape;1791;p11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92" name="Google Shape;1792;p114"/>
          <p:cNvSpPr txBox="1"/>
          <p:nvPr>
            <p:ph idx="1" type="body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R2 announces it can reach A.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R2's path came from R1, so don't tell R1.</a:t>
            </a:r>
            <a:endParaRPr/>
          </a:p>
        </p:txBody>
      </p:sp>
      <p:sp>
        <p:nvSpPr>
          <p:cNvPr id="1790" name="Google Shape;1790;p114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3" name="Google Shape;1793;p114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4" name="Google Shape;1794;p114"/>
          <p:cNvCxnSpPr>
            <a:stCxn id="1793" idx="2"/>
            <a:endCxn id="179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5" name="Google Shape;1795;p114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9" name="Google Shape;1789;p114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6" name="Google Shape;1796;p114"/>
          <p:cNvCxnSpPr>
            <a:stCxn id="1793" idx="1"/>
            <a:endCxn id="178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7" name="Google Shape;1797;p114"/>
          <p:cNvCxnSpPr>
            <a:stCxn id="1795" idx="1"/>
            <a:endCxn id="178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798" name="Google Shape;1798;p114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99" name="Google Shape;1799;p114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800" name="Google Shape;1800;p114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01" name="Google Shape;1801;p114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02" name="Google Shape;1802;p114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803" name="Google Shape;1803;p114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8" name="Google Shape;1808;p115"/>
          <p:cNvCxnSpPr>
            <a:stCxn id="1809" idx="1"/>
            <a:endCxn id="181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11" name="Google Shape;1811;p11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12" name="Google Shape;1812;p115"/>
          <p:cNvSpPr txBox="1"/>
          <p:nvPr>
            <p:ph idx="1" type="body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R3 announces it can reach A.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R3's path came from R2, so don't tell R2.</a:t>
            </a:r>
            <a:endParaRPr/>
          </a:p>
        </p:txBody>
      </p:sp>
      <p:sp>
        <p:nvSpPr>
          <p:cNvPr id="1810" name="Google Shape;1810;p115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3" name="Google Shape;1813;p115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4" name="Google Shape;1814;p115"/>
          <p:cNvCxnSpPr>
            <a:stCxn id="1813" idx="2"/>
            <a:endCxn id="181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5" name="Google Shape;1815;p115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9" name="Google Shape;1809;p115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6" name="Google Shape;1816;p115"/>
          <p:cNvCxnSpPr>
            <a:stCxn id="1813" idx="1"/>
            <a:endCxn id="180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7" name="Google Shape;1817;p115"/>
          <p:cNvCxnSpPr>
            <a:stCxn id="1815" idx="1"/>
            <a:endCxn id="180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818" name="Google Shape;1818;p115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9" name="Google Shape;1819;p115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20" name="Google Shape;1820;p115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21" name="Google Shape;1821;p115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2" name="Google Shape;1822;p115"/>
          <p:cNvCxnSpPr/>
          <p:nvPr/>
        </p:nvCxnSpPr>
        <p:spPr>
          <a:xfrm flipH="1" rot="10800000">
            <a:off x="4115675" y="2831869"/>
            <a:ext cx="953100" cy="550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823" name="Google Shape;1823;p115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8" name="Google Shape;1828;p116"/>
          <p:cNvCxnSpPr>
            <a:stCxn id="1829" idx="1"/>
            <a:endCxn id="183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31" name="Google Shape;1831;p11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32" name="Google Shape;1832;p116"/>
          <p:cNvSpPr txBox="1"/>
          <p:nvPr>
            <p:ph idx="1" type="body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830" name="Google Shape;1830;p116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3" name="Google Shape;1833;p116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4" name="Google Shape;1834;p116"/>
          <p:cNvCxnSpPr>
            <a:stCxn id="1833" idx="2"/>
            <a:endCxn id="183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5" name="Google Shape;1835;p116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9" name="Google Shape;1829;p116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6" name="Google Shape;1836;p116"/>
          <p:cNvCxnSpPr>
            <a:stCxn id="1833" idx="1"/>
            <a:endCxn id="182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7" name="Google Shape;1837;p116"/>
          <p:cNvCxnSpPr>
            <a:stCxn id="1835" idx="1"/>
            <a:endCxn id="182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838" name="Google Shape;1838;p116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39" name="Google Shape;1839;p116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40" name="Google Shape;1840;p116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41" name="Google Shape;1841;p116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2" name="Google Shape;1842;p116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843" name="Google Shape;1843;p116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8" name="Google Shape;1848;p117"/>
          <p:cNvCxnSpPr>
            <a:stCxn id="1849" idx="1"/>
            <a:endCxn id="185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51" name="Google Shape;1851;p11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52" name="Google Shape;1852;p117"/>
          <p:cNvSpPr txBox="1"/>
          <p:nvPr>
            <p:ph idx="1" type="body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850" name="Google Shape;1850;p117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3" name="Google Shape;1853;p117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4" name="Google Shape;1854;p117"/>
          <p:cNvCxnSpPr>
            <a:stCxn id="1853" idx="2"/>
            <a:endCxn id="185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5" name="Google Shape;1855;p117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9" name="Google Shape;1849;p117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6" name="Google Shape;1856;p117"/>
          <p:cNvCxnSpPr>
            <a:stCxn id="1853" idx="1"/>
            <a:endCxn id="184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7" name="Google Shape;1857;p117"/>
          <p:cNvCxnSpPr>
            <a:stCxn id="1855" idx="1"/>
            <a:endCxn id="184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858" name="Google Shape;1858;p117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9" name="Google Shape;1859;p117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60" name="Google Shape;1860;p117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61" name="Google Shape;1861;p117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62" name="Google Shape;1862;p117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863" name="Google Shape;1863;p117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8" name="Google Shape;1868;p118"/>
          <p:cNvCxnSpPr>
            <a:stCxn id="1869" idx="1"/>
            <a:endCxn id="187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71" name="Google Shape;1871;p11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72" name="Google Shape;1872;p118"/>
          <p:cNvSpPr txBox="1"/>
          <p:nvPr>
            <p:ph idx="1" type="body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870" name="Google Shape;1870;p118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3" name="Google Shape;1873;p118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4" name="Google Shape;1874;p118"/>
          <p:cNvCxnSpPr>
            <a:stCxn id="1873" idx="2"/>
            <a:endCxn id="187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5" name="Google Shape;1875;p118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9" name="Google Shape;1869;p118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6" name="Google Shape;1876;p118"/>
          <p:cNvCxnSpPr>
            <a:stCxn id="1873" idx="1"/>
            <a:endCxn id="186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7" name="Google Shape;1877;p118"/>
          <p:cNvCxnSpPr>
            <a:stCxn id="1875" idx="1"/>
            <a:endCxn id="186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878" name="Google Shape;1878;p118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79" name="Google Shape;1879;p118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0" name="Google Shape;1880;p118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81" name="Google Shape;1881;p118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2" name="Google Shape;1882;p118"/>
          <p:cNvCxnSpPr/>
          <p:nvPr/>
        </p:nvCxnSpPr>
        <p:spPr>
          <a:xfrm flipH="1" rot="10800000">
            <a:off x="4115675" y="2831869"/>
            <a:ext cx="953100" cy="550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883" name="Google Shape;1883;p118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8" name="Google Shape;1888;p119"/>
          <p:cNvCxnSpPr>
            <a:stCxn id="1889" idx="1"/>
            <a:endCxn id="189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91" name="Google Shape;1891;p11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92" name="Google Shape;1892;p119"/>
          <p:cNvSpPr txBox="1"/>
          <p:nvPr>
            <p:ph idx="1" type="body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890" name="Google Shape;1890;p119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3" name="Google Shape;1893;p119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4" name="Google Shape;1894;p119"/>
          <p:cNvCxnSpPr>
            <a:stCxn id="1893" idx="2"/>
            <a:endCxn id="189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5" name="Google Shape;1895;p119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9" name="Google Shape;1889;p119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6" name="Google Shape;1896;p119"/>
          <p:cNvCxnSpPr>
            <a:stCxn id="1893" idx="1"/>
            <a:endCxn id="188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7" name="Google Shape;1897;p119"/>
          <p:cNvCxnSpPr>
            <a:stCxn id="1895" idx="1"/>
            <a:endCxn id="188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898" name="Google Shape;1898;p119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99" name="Google Shape;1899;p119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00" name="Google Shape;1900;p119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01" name="Google Shape;1901;p119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02" name="Google Shape;1902;p119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903" name="Google Shape;1903;p119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8" name="Google Shape;1908;p120"/>
          <p:cNvCxnSpPr>
            <a:stCxn id="1909" idx="1"/>
            <a:endCxn id="191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11" name="Google Shape;1911;p12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912" name="Google Shape;1912;p120"/>
          <p:cNvSpPr txBox="1"/>
          <p:nvPr>
            <p:ph idx="1" type="body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910" name="Google Shape;1910;p120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3" name="Google Shape;1913;p120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4" name="Google Shape;1914;p120"/>
          <p:cNvCxnSpPr>
            <a:stCxn id="1913" idx="2"/>
            <a:endCxn id="191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5" name="Google Shape;1915;p120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9" name="Google Shape;1909;p120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6" name="Google Shape;1916;p120"/>
          <p:cNvCxnSpPr>
            <a:stCxn id="1913" idx="1"/>
            <a:endCxn id="190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7" name="Google Shape;1917;p120"/>
          <p:cNvCxnSpPr>
            <a:stCxn id="1915" idx="1"/>
            <a:endCxn id="190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918" name="Google Shape;1918;p120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19" name="Google Shape;1919;p120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20" name="Google Shape;1920;p120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21" name="Google Shape;1921;p120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22" name="Google Shape;1922;p120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1923" name="Google Shape;1923;p120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28" name="Google Shape;1928;p121"/>
          <p:cNvCxnSpPr>
            <a:stCxn id="1929" idx="1"/>
            <a:endCxn id="193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31" name="Google Shape;1931;p12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932" name="Google Shape;1932;p121"/>
          <p:cNvSpPr txBox="1"/>
          <p:nvPr>
            <p:ph idx="1" type="body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930" name="Google Shape;1930;p121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3" name="Google Shape;1933;p121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4" name="Google Shape;1934;p121"/>
          <p:cNvCxnSpPr>
            <a:stCxn id="1933" idx="2"/>
            <a:endCxn id="193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5" name="Google Shape;1935;p121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9" name="Google Shape;1929;p121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6" name="Google Shape;1936;p121"/>
          <p:cNvCxnSpPr>
            <a:stCxn id="1933" idx="1"/>
            <a:endCxn id="192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7" name="Google Shape;1937;p121"/>
          <p:cNvCxnSpPr>
            <a:stCxn id="1935" idx="1"/>
            <a:endCxn id="192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938" name="Google Shape;1938;p121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39" name="Google Shape;1939;p121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40" name="Google Shape;1940;p121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41" name="Google Shape;1941;p121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42" name="Google Shape;1942;p121"/>
          <p:cNvCxnSpPr/>
          <p:nvPr/>
        </p:nvCxnSpPr>
        <p:spPr>
          <a:xfrm flipH="1" rot="10800000">
            <a:off x="4115675" y="2831869"/>
            <a:ext cx="953100" cy="550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943" name="Google Shape;1943;p121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12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 to Infinity – The Problem</a:t>
            </a:r>
            <a:endParaRPr/>
          </a:p>
        </p:txBody>
      </p:sp>
      <p:sp>
        <p:nvSpPr>
          <p:cNvPr id="1949" name="Google Shape;1949;p122"/>
          <p:cNvSpPr txBox="1"/>
          <p:nvPr>
            <p:ph idx="1" type="body"/>
          </p:nvPr>
        </p:nvSpPr>
        <p:spPr>
          <a:xfrm>
            <a:off x="107050" y="402200"/>
            <a:ext cx="8909700" cy="20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problem, restated: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Poison wasn't propagated properly. A router had a busted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Busted path is advertised in a loop.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won't save us.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We're never advertising a path back to the next-hop.</a:t>
            </a:r>
            <a:endParaRPr/>
          </a:p>
        </p:txBody>
      </p:sp>
      <p:sp>
        <p:nvSpPr>
          <p:cNvPr id="1950" name="Google Shape;1950;p122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1" name="Google Shape;1951;p122"/>
          <p:cNvCxnSpPr>
            <a:stCxn id="1950" idx="2"/>
            <a:endCxn id="1952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2" name="Google Shape;1952;p122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3" name="Google Shape;1953;p122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4" name="Google Shape;1954;p122"/>
          <p:cNvCxnSpPr>
            <a:stCxn id="1950" idx="1"/>
            <a:endCxn id="1953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5" name="Google Shape;1955;p122"/>
          <p:cNvCxnSpPr>
            <a:stCxn id="1952" idx="1"/>
            <a:endCxn id="1953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6" name="Google Shape;1956;p122"/>
          <p:cNvCxnSpPr/>
          <p:nvPr/>
        </p:nvCxnSpPr>
        <p:spPr>
          <a:xfrm flipH="1" rot="10800000">
            <a:off x="4115675" y="2831869"/>
            <a:ext cx="953100" cy="550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7" name="Google Shape;1957;p122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58" name="Google Shape;1958;p122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9" name="Google Shape;1959;p122"/>
          <p:cNvSpPr/>
          <p:nvPr/>
        </p:nvSpPr>
        <p:spPr>
          <a:xfrm>
            <a:off x="5735475" y="3221850"/>
            <a:ext cx="232200" cy="223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0" name="Google Shape;1960;p122"/>
          <p:cNvSpPr/>
          <p:nvPr/>
        </p:nvSpPr>
        <p:spPr>
          <a:xfrm>
            <a:off x="5735475" y="3526650"/>
            <a:ext cx="232200" cy="223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1" name="Google Shape;1961;p122"/>
          <p:cNvSpPr/>
          <p:nvPr/>
        </p:nvSpPr>
        <p:spPr>
          <a:xfrm>
            <a:off x="5735475" y="3831450"/>
            <a:ext cx="232200" cy="223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8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2" name="Google Shape;1962;p122"/>
          <p:cNvSpPr/>
          <p:nvPr/>
        </p:nvSpPr>
        <p:spPr>
          <a:xfrm>
            <a:off x="4643350" y="4413675"/>
            <a:ext cx="232200" cy="223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3" name="Google Shape;1963;p122"/>
          <p:cNvSpPr/>
          <p:nvPr/>
        </p:nvSpPr>
        <p:spPr>
          <a:xfrm>
            <a:off x="4338550" y="4261275"/>
            <a:ext cx="232200" cy="223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6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4" name="Google Shape;1964;p122"/>
          <p:cNvSpPr/>
          <p:nvPr/>
        </p:nvSpPr>
        <p:spPr>
          <a:xfrm>
            <a:off x="4033750" y="4108875"/>
            <a:ext cx="232200" cy="223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9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5" name="Google Shape;1965;p122"/>
          <p:cNvSpPr/>
          <p:nvPr/>
        </p:nvSpPr>
        <p:spPr>
          <a:xfrm>
            <a:off x="4643350" y="2661075"/>
            <a:ext cx="232200" cy="223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6" name="Google Shape;1966;p122"/>
          <p:cNvSpPr/>
          <p:nvPr/>
        </p:nvSpPr>
        <p:spPr>
          <a:xfrm>
            <a:off x="4338550" y="2813475"/>
            <a:ext cx="232200" cy="223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7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7" name="Google Shape;1967;p122"/>
          <p:cNvSpPr/>
          <p:nvPr/>
        </p:nvSpPr>
        <p:spPr>
          <a:xfrm>
            <a:off x="4033750" y="2965875"/>
            <a:ext cx="232200" cy="223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12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 to Infinity – Solution</a:t>
            </a:r>
            <a:endParaRPr/>
          </a:p>
        </p:txBody>
      </p:sp>
      <p:sp>
        <p:nvSpPr>
          <p:cNvPr id="1973" name="Google Shape;1973;p12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Enforce a maximum cost.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15 is a common choice.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numbers ≥ 16 are considered infinity.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Result: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Loop will stop when all costs reach 16.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Busted path will expire, or get replaced by another non-infinite-cost path.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7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8" name="Google Shape;1978;p124"/>
          <p:cNvCxnSpPr>
            <a:stCxn id="1979" idx="1"/>
            <a:endCxn id="198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81" name="Google Shape;1981;p12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1982" name="Google Shape;1982;p124"/>
          <p:cNvSpPr txBox="1"/>
          <p:nvPr>
            <p:ph idx="1" type="body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1980" name="Google Shape;1980;p124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3" name="Google Shape;1983;p124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4" name="Google Shape;1984;p124"/>
          <p:cNvCxnSpPr>
            <a:stCxn id="1983" idx="2"/>
            <a:endCxn id="198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5" name="Google Shape;1985;p124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9" name="Google Shape;1979;p124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6" name="Google Shape;1986;p124"/>
          <p:cNvCxnSpPr>
            <a:stCxn id="1983" idx="1"/>
            <a:endCxn id="197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7" name="Google Shape;1987;p124"/>
          <p:cNvCxnSpPr>
            <a:stCxn id="1985" idx="1"/>
            <a:endCxn id="197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988" name="Google Shape;1988;p124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89" name="Google Shape;1989;p124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90" name="Google Shape;1990;p124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91" name="Google Shape;1991;p124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92" name="Google Shape;1992;p124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993" name="Google Shape;1993;p124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8" name="Google Shape;1998;p125"/>
          <p:cNvCxnSpPr>
            <a:stCxn id="1999" idx="1"/>
            <a:endCxn id="200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01" name="Google Shape;2001;p12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02" name="Google Shape;2002;p125"/>
          <p:cNvSpPr txBox="1"/>
          <p:nvPr>
            <p:ph idx="1" type="body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00" name="Google Shape;2000;p125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3" name="Google Shape;2003;p125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4" name="Google Shape;2004;p125"/>
          <p:cNvCxnSpPr>
            <a:stCxn id="2003" idx="2"/>
            <a:endCxn id="200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5" name="Google Shape;2005;p125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9" name="Google Shape;1999;p125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6" name="Google Shape;2006;p125"/>
          <p:cNvCxnSpPr>
            <a:stCxn id="2003" idx="1"/>
            <a:endCxn id="199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7" name="Google Shape;2007;p125"/>
          <p:cNvCxnSpPr>
            <a:stCxn id="2005" idx="1"/>
            <a:endCxn id="199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008" name="Google Shape;2008;p125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09" name="Google Shape;2009;p125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10" name="Google Shape;2010;p125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11" name="Google Shape;2011;p125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12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12" name="Google Shape;2012;p125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2013" name="Google Shape;2013;p125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18" name="Google Shape;2018;p126"/>
          <p:cNvCxnSpPr>
            <a:stCxn id="2019" idx="1"/>
            <a:endCxn id="202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21" name="Google Shape;2021;p1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22" name="Google Shape;2022;p126"/>
          <p:cNvSpPr txBox="1"/>
          <p:nvPr>
            <p:ph idx="1" type="body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20" name="Google Shape;2020;p126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3" name="Google Shape;2023;p126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4" name="Google Shape;2024;p126"/>
          <p:cNvCxnSpPr>
            <a:stCxn id="2023" idx="2"/>
            <a:endCxn id="202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5" name="Google Shape;2025;p126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9" name="Google Shape;2019;p126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6" name="Google Shape;2026;p126"/>
          <p:cNvCxnSpPr>
            <a:stCxn id="2023" idx="1"/>
            <a:endCxn id="201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7" name="Google Shape;2027;p126"/>
          <p:cNvCxnSpPr>
            <a:stCxn id="2025" idx="1"/>
            <a:endCxn id="201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028" name="Google Shape;2028;p126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29" name="Google Shape;2029;p126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30" name="Google Shape;2030;p126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31" name="Google Shape;2031;p126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13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32" name="Google Shape;2032;p126"/>
          <p:cNvCxnSpPr/>
          <p:nvPr/>
        </p:nvCxnSpPr>
        <p:spPr>
          <a:xfrm flipH="1" rot="10800000">
            <a:off x="4115675" y="2831869"/>
            <a:ext cx="953100" cy="550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033" name="Google Shape;2033;p126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8" name="Google Shape;2038;p127"/>
          <p:cNvCxnSpPr>
            <a:stCxn id="2039" idx="1"/>
            <a:endCxn id="204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41" name="Google Shape;2041;p1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42" name="Google Shape;2042;p127"/>
          <p:cNvSpPr txBox="1"/>
          <p:nvPr>
            <p:ph idx="1" type="body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40" name="Google Shape;2040;p127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3" name="Google Shape;2043;p127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4" name="Google Shape;2044;p127"/>
          <p:cNvCxnSpPr>
            <a:stCxn id="2043" idx="2"/>
            <a:endCxn id="204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5" name="Google Shape;2045;p127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9" name="Google Shape;2039;p127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6" name="Google Shape;2046;p127"/>
          <p:cNvCxnSpPr>
            <a:stCxn id="2043" idx="1"/>
            <a:endCxn id="203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7" name="Google Shape;2047;p127"/>
          <p:cNvCxnSpPr>
            <a:stCxn id="2045" idx="1"/>
            <a:endCxn id="203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048" name="Google Shape;2048;p127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49" name="Google Shape;2049;p127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50" name="Google Shape;2050;p127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51" name="Google Shape;2051;p127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14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52" name="Google Shape;2052;p127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053" name="Google Shape;2053;p127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8" name="Google Shape;2058;p128"/>
          <p:cNvCxnSpPr>
            <a:stCxn id="2059" idx="1"/>
            <a:endCxn id="206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61" name="Google Shape;2061;p1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62" name="Google Shape;2062;p128"/>
          <p:cNvSpPr txBox="1"/>
          <p:nvPr>
            <p:ph idx="1" type="body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60" name="Google Shape;2060;p128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3" name="Google Shape;2063;p128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64" name="Google Shape;2064;p128"/>
          <p:cNvCxnSpPr>
            <a:stCxn id="2063" idx="2"/>
            <a:endCxn id="206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5" name="Google Shape;2065;p128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9" name="Google Shape;2059;p128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66" name="Google Shape;2066;p128"/>
          <p:cNvCxnSpPr>
            <a:stCxn id="2063" idx="1"/>
            <a:endCxn id="205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7" name="Google Shape;2067;p128"/>
          <p:cNvCxnSpPr>
            <a:stCxn id="2065" idx="1"/>
            <a:endCxn id="205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068" name="Google Shape;2068;p128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69" name="Google Shape;2069;p128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70" name="Google Shape;2070;p128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071" name="Google Shape;2071;p128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2072" name="Google Shape;2072;p128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trike="sng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2073" name="Google Shape;2073;p128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78" name="Google Shape;2078;p129"/>
          <p:cNvCxnSpPr>
            <a:stCxn id="2079" idx="1"/>
            <a:endCxn id="208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81" name="Google Shape;2081;p12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82" name="Google Shape;2082;p129"/>
          <p:cNvSpPr txBox="1"/>
          <p:nvPr>
            <p:ph idx="1" type="body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80" name="Google Shape;2080;p129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3" name="Google Shape;2083;p129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4" name="Google Shape;2084;p129"/>
          <p:cNvCxnSpPr>
            <a:stCxn id="2083" idx="2"/>
            <a:endCxn id="208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5" name="Google Shape;2085;p129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9" name="Google Shape;2079;p129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6" name="Google Shape;2086;p129"/>
          <p:cNvCxnSpPr>
            <a:stCxn id="2083" idx="1"/>
            <a:endCxn id="207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7" name="Google Shape;2087;p129"/>
          <p:cNvCxnSpPr>
            <a:stCxn id="2085" idx="1"/>
            <a:endCxn id="207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088" name="Google Shape;2088;p129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89" name="Google Shape;2089;p129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90" name="Google Shape;2090;p129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91" name="Google Shape;2091;p129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2" name="Google Shape;2092;p129"/>
          <p:cNvCxnSpPr/>
          <p:nvPr/>
        </p:nvCxnSpPr>
        <p:spPr>
          <a:xfrm flipH="1" rot="10800000">
            <a:off x="4115675" y="2831869"/>
            <a:ext cx="953100" cy="550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093" name="Google Shape;2093;p129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8" name="Google Shape;2098;p130"/>
          <p:cNvCxnSpPr>
            <a:stCxn id="2099" idx="1"/>
            <a:endCxn id="210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01" name="Google Shape;2101;p1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102" name="Google Shape;2102;p130"/>
          <p:cNvSpPr txBox="1"/>
          <p:nvPr>
            <p:ph idx="1" type="body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100" name="Google Shape;2100;p130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3" name="Google Shape;2103;p130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04" name="Google Shape;2104;p130"/>
          <p:cNvCxnSpPr>
            <a:stCxn id="2103" idx="2"/>
            <a:endCxn id="210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5" name="Google Shape;2105;p130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9" name="Google Shape;2099;p130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06" name="Google Shape;2106;p130"/>
          <p:cNvCxnSpPr>
            <a:stCxn id="2103" idx="1"/>
            <a:endCxn id="209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7" name="Google Shape;2107;p130"/>
          <p:cNvCxnSpPr>
            <a:stCxn id="2105" idx="1"/>
            <a:endCxn id="209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108" name="Google Shape;2108;p130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09" name="Google Shape;2109;p130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10" name="Google Shape;2110;p130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11" name="Google Shape;2111;p130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2" name="Google Shape;2112;p130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113" name="Google Shape;2113;p130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7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8" name="Google Shape;2118;p131"/>
          <p:cNvCxnSpPr>
            <a:stCxn id="2119" idx="1"/>
            <a:endCxn id="212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21" name="Google Shape;2121;p13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122" name="Google Shape;2122;p131"/>
          <p:cNvSpPr txBox="1"/>
          <p:nvPr>
            <p:ph idx="1" type="body"/>
          </p:nvPr>
        </p:nvSpPr>
        <p:spPr>
          <a:xfrm>
            <a:off x="107050" y="402200"/>
            <a:ext cx="8909700" cy="19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We've reached steady state!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Future advertisements won't change the tables.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Routes for A will soon expire.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Or, if another route to A appears, it'll replace the infinite-cost entry.</a:t>
            </a:r>
            <a:endParaRPr/>
          </a:p>
        </p:txBody>
      </p:sp>
      <p:sp>
        <p:nvSpPr>
          <p:cNvPr id="2120" name="Google Shape;2120;p131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3" name="Google Shape;2123;p131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4" name="Google Shape;2124;p131"/>
          <p:cNvCxnSpPr>
            <a:stCxn id="2123" idx="2"/>
            <a:endCxn id="212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5" name="Google Shape;2125;p131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9" name="Google Shape;2119;p131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6" name="Google Shape;2126;p131"/>
          <p:cNvCxnSpPr>
            <a:stCxn id="2123" idx="1"/>
            <a:endCxn id="211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7" name="Google Shape;2127;p131"/>
          <p:cNvCxnSpPr>
            <a:stCxn id="2125" idx="1"/>
            <a:endCxn id="211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128" name="Google Shape;2128;p131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29" name="Google Shape;2129;p131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30" name="Google Shape;2130;p131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{A2E6DB30-6B95-439D-8715-D835B7F99166}</a:tableStyleId>
              </a:tblPr>
              <a:tblGrid>
                <a:gridCol w="544800"/>
                <a:gridCol w="497075"/>
                <a:gridCol w="7936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p1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2136" name="Google Shape;2136;p13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and reset TTL if: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/>
            </a:br>
            <a:r>
              <a:rPr lang="en"/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But don't advertise back to the next-hop. </a:t>
            </a:r>
            <a:r>
              <a:rPr lang="en" sz="1400">
                <a:solidFill>
                  <a:schemeClr val="accent3"/>
                </a:solidFill>
              </a:rPr>
              <a:t>(#6A)</a:t>
            </a:r>
            <a:endParaRPr sz="1400">
              <a:solidFill>
                <a:schemeClr val="accent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...Or, advertise poison back to the next-hop. </a:t>
            </a:r>
            <a:r>
              <a:rPr lang="en" sz="1400">
                <a:solidFill>
                  <a:schemeClr val="accent3"/>
                </a:solidFill>
              </a:rPr>
              <a:t>(#6B)</a:t>
            </a:r>
            <a:endParaRPr>
              <a:solidFill>
                <a:schemeClr val="accent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Any cost ≥ 16 is advertised as ∞. </a:t>
            </a:r>
            <a:r>
              <a:rPr lang="en" sz="1400">
                <a:solidFill>
                  <a:schemeClr val="accent3"/>
                </a:solidFill>
              </a:rPr>
              <a:t>(#7)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table entry expires, make the entry poison and advertise it. </a:t>
            </a:r>
            <a:r>
              <a:rPr lang="en" sz="1400">
                <a:solidFill>
                  <a:schemeClr val="accent3"/>
                </a:solidFill>
              </a:rPr>
              <a:t>(#4, #5)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p13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Eventful Updates</a:t>
            </a:r>
            <a:endParaRPr/>
          </a:p>
        </p:txBody>
      </p:sp>
      <p:sp>
        <p:nvSpPr>
          <p:cNvPr id="2142" name="Google Shape;2142;p133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Correctness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Eventful Updates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3" name="Google Shape;2143;p13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</a:t>
            </a:r>
            <a:r>
              <a:rPr lang="en"/>
              <a:t>, CS 168, Spring 2025</a:t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p13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Eventful Updates</a:t>
            </a:r>
            <a:endParaRPr/>
          </a:p>
        </p:txBody>
      </p:sp>
      <p:sp>
        <p:nvSpPr>
          <p:cNvPr id="2149" name="Google Shape;2149;p13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do we send advertisements?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the table changes (</a:t>
            </a:r>
            <a:r>
              <a:rPr b="1" lang="en"/>
              <a:t>triggered updates</a:t>
            </a:r>
            <a:r>
              <a:rPr lang="en"/>
              <a:t>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accept a new advertisement.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a new link is added.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Add static routes and advertise them.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a link goes down.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Poison routes and advertise poison.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Periodically (once every "advertisement interval").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table entry expires.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Triggered updates are an optimization.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 of advertising when the table changes, we could just wait for the interval. Protocol is still correct.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Triggered updates help us converge faster.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1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Completed Distance-Vector Algorithm</a:t>
            </a:r>
            <a:endParaRPr/>
          </a:p>
        </p:txBody>
      </p:sp>
      <p:sp>
        <p:nvSpPr>
          <p:cNvPr id="2155" name="Google Shape;2155;p13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each destination: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and reset TTL if: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/>
            </a:br>
            <a:r>
              <a:rPr lang="en"/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But don't advertise back to the next-hop. </a:t>
            </a:r>
            <a:r>
              <a:rPr lang="en" sz="1400">
                <a:solidFill>
                  <a:schemeClr val="accent3"/>
                </a:solidFill>
              </a:rPr>
              <a:t>(#6A)</a:t>
            </a:r>
            <a:endParaRPr sz="1400">
              <a:solidFill>
                <a:schemeClr val="accent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...Or, advertise poison back to the next-hop. </a:t>
            </a:r>
            <a:r>
              <a:rPr lang="en" sz="1400">
                <a:solidFill>
                  <a:schemeClr val="accent3"/>
                </a:solidFill>
              </a:rPr>
              <a:t>(#6B)</a:t>
            </a:r>
            <a:endParaRPr sz="1400">
              <a:solidFill>
                <a:schemeClr val="accent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Any cost ≥ 16 is advertised as ∞.</a:t>
            </a:r>
            <a:r>
              <a:rPr lang="en">
                <a:solidFill>
                  <a:schemeClr val="accent2"/>
                </a:solidFill>
              </a:rPr>
              <a:t> </a:t>
            </a:r>
            <a:r>
              <a:rPr lang="en" sz="1400">
                <a:solidFill>
                  <a:schemeClr val="accent3"/>
                </a:solidFill>
              </a:rPr>
              <a:t>(#7)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table entry expires, make the entry poison and advertise it. </a:t>
            </a:r>
            <a:r>
              <a:rPr lang="en" sz="1400">
                <a:solidFill>
                  <a:schemeClr val="accent3"/>
                </a:solidFill>
              </a:rPr>
              <a:t>(#3, #5)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1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Distance-Vector Rules</a:t>
            </a:r>
            <a:endParaRPr/>
          </a:p>
        </p:txBody>
      </p:sp>
      <p:sp>
        <p:nvSpPr>
          <p:cNvPr id="2161" name="Google Shape;2161;p13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1. Bellman-Ford Updates</a:t>
            </a:r>
            <a:r>
              <a:rPr lang="en"/>
              <a:t>: Accept if </a:t>
            </a:r>
            <a:r>
              <a:rPr lang="en" sz="1500"/>
              <a:t>advertised cost + link cost to neighbor &lt; best-known cost.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2. Updates From Next-Hop</a:t>
            </a:r>
            <a:r>
              <a:rPr lang="en"/>
              <a:t>: Accept if advertisement is from next hop.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3. Resending</a:t>
            </a:r>
            <a:r>
              <a:rPr lang="en"/>
              <a:t>: Advertise periodically.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4. Expiring</a:t>
            </a:r>
            <a:r>
              <a:rPr lang="en"/>
              <a:t>: Expire an entry if TTL runs out.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5. Poison Expired Routes</a:t>
            </a:r>
            <a:r>
              <a:rPr lang="en"/>
              <a:t>: Send poison if an entry expires.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6A. Split Horizon</a:t>
            </a:r>
            <a:r>
              <a:rPr lang="en"/>
              <a:t>: Don't advertise path back to the person who gave it to you.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6B. Poison Reverse</a:t>
            </a:r>
            <a:r>
              <a:rPr lang="en"/>
              <a:t>: Send poison back to the person who gave you the path.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7. Count To Infinity</a:t>
            </a:r>
            <a:r>
              <a:rPr lang="en"/>
              <a:t>: Any cost ≥ 16 is advertised as ∞.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is now a pretty good routing protocol!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